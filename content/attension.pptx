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Default Extension="png" ContentType="image/png"/>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7772400" cy="10058400"/>
  <p:notesSz cx="7772400" cy="10058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69215">
              <a:lnSpc>
                <a:spcPct val="100000"/>
              </a:lnSpc>
              <a:spcBef>
                <a:spcPts val="20"/>
              </a:spcBef>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69215">
              <a:lnSpc>
                <a:spcPct val="100000"/>
              </a:lnSpc>
              <a:spcBef>
                <a:spcPts val="20"/>
              </a:spcBef>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idx="2" sz="half"/>
          </p:nvPr>
        </p:nvSpPr>
        <p:spPr>
          <a:xfrm>
            <a:off x="388620" y="2313432"/>
            <a:ext cx="3380994" cy="6638544"/>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002786" y="2313432"/>
            <a:ext cx="3380994" cy="6638544"/>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69215">
              <a:lnSpc>
                <a:spcPct val="100000"/>
              </a:lnSpc>
              <a:spcBef>
                <a:spcPts val="20"/>
              </a:spcBef>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69215">
              <a:lnSpc>
                <a:spcPct val="100000"/>
              </a:lnSpc>
              <a:spcBef>
                <a:spcPts val="20"/>
              </a:spcBef>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000" b="0" i="0">
                <a:solidFill>
                  <a:schemeClr val="tx1"/>
                </a:solidFill>
                <a:latin typeface="Times New Roman"/>
                <a:cs typeface="Times New Roman"/>
              </a:defRPr>
            </a:lvl1pPr>
          </a:lstStyle>
          <a:p>
            <a:pPr marL="69215">
              <a:lnSpc>
                <a:spcPct val="100000"/>
              </a:lnSpc>
              <a:spcBef>
                <a:spcPts val="20"/>
              </a:spcBef>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3784841" y="9393968"/>
            <a:ext cx="215900" cy="178434"/>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pPr marL="69215">
              <a:lnSpc>
                <a:spcPct val="100000"/>
              </a:lnSpc>
              <a:spcBef>
                <a:spcPts val="20"/>
              </a:spcBef>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mailto:avaswani@google.com" TargetMode="External"/><Relationship Id="rId3" Type="http://schemas.openxmlformats.org/officeDocument/2006/relationships/hyperlink" Target="mailto:noam@google.com" TargetMode="External"/><Relationship Id="rId4" Type="http://schemas.openxmlformats.org/officeDocument/2006/relationships/hyperlink" Target="mailto:nikip@google.com" TargetMode="External"/><Relationship Id="rId5" Type="http://schemas.openxmlformats.org/officeDocument/2006/relationships/hyperlink" Target="mailto:usz@google.com" TargetMode="External"/><Relationship Id="rId6" Type="http://schemas.openxmlformats.org/officeDocument/2006/relationships/hyperlink" Target="mailto:llion@google.com" TargetMode="External"/><Relationship Id="rId7" Type="http://schemas.openxmlformats.org/officeDocument/2006/relationships/hyperlink" Target="mailto:aidan@cs.toronto.edu" TargetMode="External"/><Relationship Id="rId8" Type="http://schemas.openxmlformats.org/officeDocument/2006/relationships/hyperlink" Target="mailto:lukaszkaiser@google.com" TargetMode="External"/><Relationship Id="rId9" Type="http://schemas.openxmlformats.org/officeDocument/2006/relationships/hyperlink" Target="mailto:illia.polosukhin@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github.com/tensorflow/tensor2tenso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371600" y="1005839"/>
            <a:ext cx="5029200" cy="50800"/>
          </a:xfrm>
          <a:custGeom>
            <a:avLst/>
            <a:gdLst/>
            <a:ahLst/>
            <a:cxnLst/>
            <a:rect l="l" t="t" r="r" b="b"/>
            <a:pathLst>
              <a:path w="5029200" h="50800">
                <a:moveTo>
                  <a:pt x="5029200" y="0"/>
                </a:moveTo>
                <a:lnTo>
                  <a:pt x="0" y="0"/>
                </a:lnTo>
                <a:lnTo>
                  <a:pt x="0" y="50609"/>
                </a:lnTo>
                <a:lnTo>
                  <a:pt x="5029200" y="50609"/>
                </a:lnTo>
                <a:lnTo>
                  <a:pt x="5029200" y="0"/>
                </a:lnTo>
                <a:close/>
              </a:path>
            </a:pathLst>
          </a:custGeom>
          <a:solidFill>
            <a:srgbClr val="000000"/>
          </a:solidFill>
        </p:spPr>
        <p:txBody>
          <a:bodyPr wrap="square" lIns="0" tIns="0" rIns="0" bIns="0" rtlCol="0"/>
          <a:lstStyle/>
          <a:p/>
        </p:txBody>
      </p:sp>
      <p:sp>
        <p:nvSpPr>
          <p:cNvPr id="3" name="object 3" descr=""/>
          <p:cNvSpPr txBox="1"/>
          <p:nvPr/>
        </p:nvSpPr>
        <p:spPr>
          <a:xfrm>
            <a:off x="2673197" y="1204361"/>
            <a:ext cx="2418715" cy="288290"/>
          </a:xfrm>
          <a:prstGeom prst="rect">
            <a:avLst/>
          </a:prstGeom>
        </p:spPr>
        <p:txBody>
          <a:bodyPr wrap="square" lIns="0" tIns="15240" rIns="0" bIns="0" rtlCol="0" vert="horz">
            <a:spAutoFit/>
          </a:bodyPr>
          <a:lstStyle/>
          <a:p>
            <a:pPr marL="12700">
              <a:lnSpc>
                <a:spcPct val="100000"/>
              </a:lnSpc>
              <a:spcBef>
                <a:spcPts val="120"/>
              </a:spcBef>
            </a:pPr>
            <a:r>
              <a:rPr dirty="0" sz="1700" b="1">
                <a:latin typeface="Times New Roman"/>
                <a:cs typeface="Times New Roman"/>
              </a:rPr>
              <a:t>Attention</a:t>
            </a:r>
            <a:r>
              <a:rPr dirty="0" sz="1700" spc="15" b="1">
                <a:latin typeface="Times New Roman"/>
                <a:cs typeface="Times New Roman"/>
              </a:rPr>
              <a:t> </a:t>
            </a:r>
            <a:r>
              <a:rPr dirty="0" sz="1700" b="1">
                <a:latin typeface="Times New Roman"/>
                <a:cs typeface="Times New Roman"/>
              </a:rPr>
              <a:t>Is</a:t>
            </a:r>
            <a:r>
              <a:rPr dirty="0" sz="1700" spc="15" b="1">
                <a:latin typeface="Times New Roman"/>
                <a:cs typeface="Times New Roman"/>
              </a:rPr>
              <a:t> </a:t>
            </a:r>
            <a:r>
              <a:rPr dirty="0" sz="1700" b="1">
                <a:latin typeface="Times New Roman"/>
                <a:cs typeface="Times New Roman"/>
              </a:rPr>
              <a:t>All</a:t>
            </a:r>
            <a:r>
              <a:rPr dirty="0" sz="1700" spc="20" b="1">
                <a:latin typeface="Times New Roman"/>
                <a:cs typeface="Times New Roman"/>
              </a:rPr>
              <a:t> </a:t>
            </a:r>
            <a:r>
              <a:rPr dirty="0" sz="1700" spc="-40" b="1">
                <a:latin typeface="Times New Roman"/>
                <a:cs typeface="Times New Roman"/>
              </a:rPr>
              <a:t>You</a:t>
            </a:r>
            <a:r>
              <a:rPr dirty="0" sz="1700" spc="15" b="1">
                <a:latin typeface="Times New Roman"/>
                <a:cs typeface="Times New Roman"/>
              </a:rPr>
              <a:t> </a:t>
            </a:r>
            <a:r>
              <a:rPr dirty="0" sz="1700" spc="-20" b="1">
                <a:latin typeface="Times New Roman"/>
                <a:cs typeface="Times New Roman"/>
              </a:rPr>
              <a:t>Need</a:t>
            </a:r>
            <a:endParaRPr sz="1700">
              <a:latin typeface="Times New Roman"/>
              <a:cs typeface="Times New Roman"/>
            </a:endParaRPr>
          </a:p>
        </p:txBody>
      </p:sp>
      <p:sp>
        <p:nvSpPr>
          <p:cNvPr id="4" name="object 4" descr=""/>
          <p:cNvSpPr/>
          <p:nvPr/>
        </p:nvSpPr>
        <p:spPr>
          <a:xfrm>
            <a:off x="1371600" y="1640217"/>
            <a:ext cx="5029200" cy="0"/>
          </a:xfrm>
          <a:custGeom>
            <a:avLst/>
            <a:gdLst/>
            <a:ahLst/>
            <a:cxnLst/>
            <a:rect l="l" t="t" r="r" b="b"/>
            <a:pathLst>
              <a:path w="5029200" h="0">
                <a:moveTo>
                  <a:pt x="0" y="0"/>
                </a:moveTo>
                <a:lnTo>
                  <a:pt x="5029200" y="0"/>
                </a:lnTo>
              </a:path>
            </a:pathLst>
          </a:custGeom>
          <a:ln w="12649">
            <a:solidFill>
              <a:srgbClr val="000000"/>
            </a:solidFill>
          </a:ln>
        </p:spPr>
        <p:txBody>
          <a:bodyPr wrap="square" lIns="0" tIns="0" rIns="0" bIns="0" rtlCol="0"/>
          <a:lstStyle/>
          <a:p/>
        </p:txBody>
      </p:sp>
      <p:sp>
        <p:nvSpPr>
          <p:cNvPr id="5" name="object 5" descr=""/>
          <p:cNvSpPr txBox="1"/>
          <p:nvPr/>
        </p:nvSpPr>
        <p:spPr>
          <a:xfrm>
            <a:off x="1443748" y="2320739"/>
            <a:ext cx="1338580" cy="454659"/>
          </a:xfrm>
          <a:prstGeom prst="rect">
            <a:avLst/>
          </a:prstGeom>
        </p:spPr>
        <p:txBody>
          <a:bodyPr wrap="square" lIns="0" tIns="28575" rIns="0" bIns="0" rtlCol="0" vert="horz">
            <a:spAutoFit/>
          </a:bodyPr>
          <a:lstStyle/>
          <a:p>
            <a:pPr algn="ctr" marL="38100" marR="30480" indent="51435">
              <a:lnSpc>
                <a:spcPts val="1090"/>
              </a:lnSpc>
              <a:spcBef>
                <a:spcPts val="225"/>
              </a:spcBef>
            </a:pPr>
            <a:r>
              <a:rPr dirty="0" sz="1000" b="1">
                <a:latin typeface="Times New Roman"/>
                <a:cs typeface="Times New Roman"/>
              </a:rPr>
              <a:t>Ashish</a:t>
            </a:r>
            <a:r>
              <a:rPr dirty="0" sz="1000" spc="-5" b="1">
                <a:latin typeface="Times New Roman"/>
                <a:cs typeface="Times New Roman"/>
              </a:rPr>
              <a:t> </a:t>
            </a:r>
            <a:r>
              <a:rPr dirty="0" sz="1000" spc="-10" b="1">
                <a:latin typeface="Times New Roman"/>
                <a:cs typeface="Times New Roman"/>
              </a:rPr>
              <a:t>Vaswani</a:t>
            </a:r>
            <a:r>
              <a:rPr dirty="0" baseline="27777" sz="1050" spc="-15">
                <a:latin typeface="Cambria"/>
                <a:cs typeface="Cambria"/>
              </a:rPr>
              <a:t>∗</a:t>
            </a:r>
            <a:r>
              <a:rPr dirty="0" baseline="27777" sz="1050" spc="750">
                <a:latin typeface="Cambria"/>
                <a:cs typeface="Cambria"/>
              </a:rPr>
              <a:t> </a:t>
            </a:r>
            <a:r>
              <a:rPr dirty="0" sz="1000">
                <a:latin typeface="Times New Roman"/>
                <a:cs typeface="Times New Roman"/>
              </a:rPr>
              <a:t>Google</a:t>
            </a:r>
            <a:r>
              <a:rPr dirty="0" sz="1000" spc="-35">
                <a:latin typeface="Times New Roman"/>
                <a:cs typeface="Times New Roman"/>
              </a:rPr>
              <a:t> </a:t>
            </a:r>
            <a:r>
              <a:rPr dirty="0" sz="1000" spc="-10">
                <a:latin typeface="Times New Roman"/>
                <a:cs typeface="Times New Roman"/>
              </a:rPr>
              <a:t>Brain </a:t>
            </a:r>
            <a:r>
              <a:rPr dirty="0" sz="1000" spc="-10">
                <a:latin typeface="Cambria"/>
                <a:cs typeface="Cambria"/>
                <a:hlinkClick r:id="rId2"/>
              </a:rPr>
              <a:t>avaswani@google.com</a:t>
            </a:r>
            <a:endParaRPr sz="1000">
              <a:latin typeface="Cambria"/>
              <a:cs typeface="Cambria"/>
            </a:endParaRPr>
          </a:p>
        </p:txBody>
      </p:sp>
      <p:sp>
        <p:nvSpPr>
          <p:cNvPr id="6" name="object 6" descr=""/>
          <p:cNvSpPr txBox="1"/>
          <p:nvPr/>
        </p:nvSpPr>
        <p:spPr>
          <a:xfrm>
            <a:off x="2891688" y="2320739"/>
            <a:ext cx="1072515" cy="454659"/>
          </a:xfrm>
          <a:prstGeom prst="rect">
            <a:avLst/>
          </a:prstGeom>
        </p:spPr>
        <p:txBody>
          <a:bodyPr wrap="square" lIns="0" tIns="28575" rIns="0" bIns="0" rtlCol="0" vert="horz">
            <a:spAutoFit/>
          </a:bodyPr>
          <a:lstStyle/>
          <a:p>
            <a:pPr algn="ctr" marL="38100" marR="30480" indent="51435">
              <a:lnSpc>
                <a:spcPts val="1090"/>
              </a:lnSpc>
              <a:spcBef>
                <a:spcPts val="225"/>
              </a:spcBef>
            </a:pPr>
            <a:r>
              <a:rPr dirty="0" sz="1000" b="1">
                <a:latin typeface="Times New Roman"/>
                <a:cs typeface="Times New Roman"/>
              </a:rPr>
              <a:t>Noam</a:t>
            </a:r>
            <a:r>
              <a:rPr dirty="0" sz="1000" spc="-35" b="1">
                <a:latin typeface="Times New Roman"/>
                <a:cs typeface="Times New Roman"/>
              </a:rPr>
              <a:t> </a:t>
            </a:r>
            <a:r>
              <a:rPr dirty="0" sz="1000" spc="-10" b="1">
                <a:latin typeface="Times New Roman"/>
                <a:cs typeface="Times New Roman"/>
              </a:rPr>
              <a:t>Shazeer</a:t>
            </a:r>
            <a:r>
              <a:rPr dirty="0" baseline="27777" sz="1050" spc="-15">
                <a:latin typeface="Cambria"/>
                <a:cs typeface="Cambria"/>
              </a:rPr>
              <a:t>∗</a:t>
            </a:r>
            <a:r>
              <a:rPr dirty="0" baseline="27777" sz="1050" spc="750">
                <a:latin typeface="Cambria"/>
                <a:cs typeface="Cambria"/>
              </a:rPr>
              <a:t> </a:t>
            </a:r>
            <a:r>
              <a:rPr dirty="0" sz="1000">
                <a:latin typeface="Times New Roman"/>
                <a:cs typeface="Times New Roman"/>
              </a:rPr>
              <a:t>Google</a:t>
            </a:r>
            <a:r>
              <a:rPr dirty="0" sz="1000" spc="-35">
                <a:latin typeface="Times New Roman"/>
                <a:cs typeface="Times New Roman"/>
              </a:rPr>
              <a:t> </a:t>
            </a:r>
            <a:r>
              <a:rPr dirty="0" sz="1000" spc="-10">
                <a:latin typeface="Times New Roman"/>
                <a:cs typeface="Times New Roman"/>
              </a:rPr>
              <a:t>Brain </a:t>
            </a:r>
            <a:r>
              <a:rPr dirty="0" sz="1000" spc="-30">
                <a:latin typeface="Cambria"/>
                <a:cs typeface="Cambria"/>
                <a:hlinkClick r:id="rId3"/>
              </a:rPr>
              <a:t>noam@google.com</a:t>
            </a:r>
            <a:endParaRPr sz="1000">
              <a:latin typeface="Cambria"/>
              <a:cs typeface="Cambria"/>
            </a:endParaRPr>
          </a:p>
        </p:txBody>
      </p:sp>
      <p:sp>
        <p:nvSpPr>
          <p:cNvPr id="7" name="object 7" descr=""/>
          <p:cNvSpPr txBox="1"/>
          <p:nvPr/>
        </p:nvSpPr>
        <p:spPr>
          <a:xfrm>
            <a:off x="4073994" y="2320739"/>
            <a:ext cx="1139190" cy="454659"/>
          </a:xfrm>
          <a:prstGeom prst="rect">
            <a:avLst/>
          </a:prstGeom>
        </p:spPr>
        <p:txBody>
          <a:bodyPr wrap="square" lIns="0" tIns="28575" rIns="0" bIns="0" rtlCol="0" vert="horz">
            <a:spAutoFit/>
          </a:bodyPr>
          <a:lstStyle/>
          <a:p>
            <a:pPr algn="ctr" marL="37465" marR="30480" indent="51435">
              <a:lnSpc>
                <a:spcPts val="1090"/>
              </a:lnSpc>
              <a:spcBef>
                <a:spcPts val="225"/>
              </a:spcBef>
            </a:pPr>
            <a:r>
              <a:rPr dirty="0" sz="1000" b="1">
                <a:latin typeface="Times New Roman"/>
                <a:cs typeface="Times New Roman"/>
              </a:rPr>
              <a:t>Niki</a:t>
            </a:r>
            <a:r>
              <a:rPr dirty="0" sz="1000" spc="-5" b="1">
                <a:latin typeface="Times New Roman"/>
                <a:cs typeface="Times New Roman"/>
              </a:rPr>
              <a:t> </a:t>
            </a:r>
            <a:r>
              <a:rPr dirty="0" sz="1000" spc="-10" b="1">
                <a:latin typeface="Times New Roman"/>
                <a:cs typeface="Times New Roman"/>
              </a:rPr>
              <a:t>Parmar</a:t>
            </a:r>
            <a:r>
              <a:rPr dirty="0" baseline="27777" sz="1050" spc="-15">
                <a:latin typeface="Cambria"/>
                <a:cs typeface="Cambria"/>
              </a:rPr>
              <a:t>∗</a:t>
            </a:r>
            <a:r>
              <a:rPr dirty="0" baseline="27777" sz="1050" spc="750">
                <a:latin typeface="Cambria"/>
                <a:cs typeface="Cambria"/>
              </a:rPr>
              <a:t> </a:t>
            </a:r>
            <a:r>
              <a:rPr dirty="0" sz="1000">
                <a:latin typeface="Times New Roman"/>
                <a:cs typeface="Times New Roman"/>
              </a:rPr>
              <a:t>Google</a:t>
            </a:r>
            <a:r>
              <a:rPr dirty="0" sz="1000" spc="-35">
                <a:latin typeface="Times New Roman"/>
                <a:cs typeface="Times New Roman"/>
              </a:rPr>
              <a:t> </a:t>
            </a:r>
            <a:r>
              <a:rPr dirty="0" sz="1000" spc="-10">
                <a:latin typeface="Times New Roman"/>
                <a:cs typeface="Times New Roman"/>
              </a:rPr>
              <a:t>Research </a:t>
            </a:r>
            <a:r>
              <a:rPr dirty="0" sz="1000" spc="-10">
                <a:latin typeface="Cambria"/>
                <a:cs typeface="Cambria"/>
                <a:hlinkClick r:id="rId4"/>
              </a:rPr>
              <a:t>nikip@google.com</a:t>
            </a:r>
            <a:endParaRPr sz="1000">
              <a:latin typeface="Cambria"/>
              <a:cs typeface="Cambria"/>
            </a:endParaRPr>
          </a:p>
        </p:txBody>
      </p:sp>
      <p:sp>
        <p:nvSpPr>
          <p:cNvPr id="8" name="object 8" descr=""/>
          <p:cNvSpPr txBox="1"/>
          <p:nvPr/>
        </p:nvSpPr>
        <p:spPr>
          <a:xfrm>
            <a:off x="5322722" y="2320739"/>
            <a:ext cx="1029969" cy="454659"/>
          </a:xfrm>
          <a:prstGeom prst="rect">
            <a:avLst/>
          </a:prstGeom>
        </p:spPr>
        <p:txBody>
          <a:bodyPr wrap="square" lIns="0" tIns="28575" rIns="0" bIns="0" rtlCol="0" vert="horz">
            <a:spAutoFit/>
          </a:bodyPr>
          <a:lstStyle/>
          <a:p>
            <a:pPr marL="38100" marR="30480" indent="27305">
              <a:lnSpc>
                <a:spcPts val="1090"/>
              </a:lnSpc>
              <a:spcBef>
                <a:spcPts val="225"/>
              </a:spcBef>
            </a:pPr>
            <a:r>
              <a:rPr dirty="0" sz="1000" b="1">
                <a:latin typeface="Times New Roman"/>
                <a:cs typeface="Times New Roman"/>
              </a:rPr>
              <a:t>Jakob</a:t>
            </a:r>
            <a:r>
              <a:rPr dirty="0" sz="1000" spc="-40" b="1">
                <a:latin typeface="Times New Roman"/>
                <a:cs typeface="Times New Roman"/>
              </a:rPr>
              <a:t> </a:t>
            </a:r>
            <a:r>
              <a:rPr dirty="0" sz="1000" spc="-10" b="1">
                <a:latin typeface="Times New Roman"/>
                <a:cs typeface="Times New Roman"/>
              </a:rPr>
              <a:t>Uszkoreit</a:t>
            </a:r>
            <a:r>
              <a:rPr dirty="0" baseline="27777" sz="1050" spc="-15">
                <a:latin typeface="Cambria"/>
                <a:cs typeface="Cambria"/>
              </a:rPr>
              <a:t>∗</a:t>
            </a:r>
            <a:r>
              <a:rPr dirty="0" baseline="27777" sz="1050" spc="750">
                <a:latin typeface="Cambria"/>
                <a:cs typeface="Cambria"/>
              </a:rPr>
              <a:t> </a:t>
            </a:r>
            <a:r>
              <a:rPr dirty="0" sz="1000">
                <a:latin typeface="Times New Roman"/>
                <a:cs typeface="Times New Roman"/>
              </a:rPr>
              <a:t>Google</a:t>
            </a:r>
            <a:r>
              <a:rPr dirty="0" sz="1000" spc="-35">
                <a:latin typeface="Times New Roman"/>
                <a:cs typeface="Times New Roman"/>
              </a:rPr>
              <a:t> </a:t>
            </a:r>
            <a:r>
              <a:rPr dirty="0" sz="1000" spc="-10">
                <a:latin typeface="Times New Roman"/>
                <a:cs typeface="Times New Roman"/>
              </a:rPr>
              <a:t>Research </a:t>
            </a:r>
            <a:r>
              <a:rPr dirty="0" sz="1000" spc="-10">
                <a:latin typeface="Cambria"/>
                <a:cs typeface="Cambria"/>
                <a:hlinkClick r:id="rId5"/>
              </a:rPr>
              <a:t>usz@google.com</a:t>
            </a:r>
            <a:endParaRPr sz="1000">
              <a:latin typeface="Cambria"/>
              <a:cs typeface="Cambria"/>
            </a:endParaRPr>
          </a:p>
        </p:txBody>
      </p:sp>
      <p:sp>
        <p:nvSpPr>
          <p:cNvPr id="9" name="object 9" descr=""/>
          <p:cNvSpPr txBox="1"/>
          <p:nvPr/>
        </p:nvSpPr>
        <p:spPr>
          <a:xfrm>
            <a:off x="1573301" y="2955713"/>
            <a:ext cx="1139190" cy="454659"/>
          </a:xfrm>
          <a:prstGeom prst="rect">
            <a:avLst/>
          </a:prstGeom>
        </p:spPr>
        <p:txBody>
          <a:bodyPr wrap="square" lIns="0" tIns="28575" rIns="0" bIns="0" rtlCol="0" vert="horz">
            <a:spAutoFit/>
          </a:bodyPr>
          <a:lstStyle/>
          <a:p>
            <a:pPr algn="ctr" marL="37465" marR="30480" indent="51435">
              <a:lnSpc>
                <a:spcPts val="1090"/>
              </a:lnSpc>
              <a:spcBef>
                <a:spcPts val="225"/>
              </a:spcBef>
            </a:pPr>
            <a:r>
              <a:rPr dirty="0" sz="1000" b="1">
                <a:latin typeface="Times New Roman"/>
                <a:cs typeface="Times New Roman"/>
              </a:rPr>
              <a:t>Llion</a:t>
            </a:r>
            <a:r>
              <a:rPr dirty="0" sz="1000" spc="-5" b="1">
                <a:latin typeface="Times New Roman"/>
                <a:cs typeface="Times New Roman"/>
              </a:rPr>
              <a:t> </a:t>
            </a:r>
            <a:r>
              <a:rPr dirty="0" sz="1000" spc="-10" b="1">
                <a:latin typeface="Times New Roman"/>
                <a:cs typeface="Times New Roman"/>
              </a:rPr>
              <a:t>Jones</a:t>
            </a:r>
            <a:r>
              <a:rPr dirty="0" baseline="27777" sz="1050" spc="-15">
                <a:latin typeface="Cambria"/>
                <a:cs typeface="Cambria"/>
              </a:rPr>
              <a:t>∗</a:t>
            </a:r>
            <a:r>
              <a:rPr dirty="0" baseline="27777" sz="1050" spc="750">
                <a:latin typeface="Cambria"/>
                <a:cs typeface="Cambria"/>
              </a:rPr>
              <a:t> </a:t>
            </a:r>
            <a:r>
              <a:rPr dirty="0" sz="1000">
                <a:latin typeface="Times New Roman"/>
                <a:cs typeface="Times New Roman"/>
              </a:rPr>
              <a:t>Google</a:t>
            </a:r>
            <a:r>
              <a:rPr dirty="0" sz="1000" spc="-35">
                <a:latin typeface="Times New Roman"/>
                <a:cs typeface="Times New Roman"/>
              </a:rPr>
              <a:t> </a:t>
            </a:r>
            <a:r>
              <a:rPr dirty="0" sz="1000" spc="-10">
                <a:latin typeface="Times New Roman"/>
                <a:cs typeface="Times New Roman"/>
              </a:rPr>
              <a:t>Research </a:t>
            </a:r>
            <a:r>
              <a:rPr dirty="0" sz="1000" spc="-10">
                <a:latin typeface="Cambria"/>
                <a:cs typeface="Cambria"/>
                <a:hlinkClick r:id="rId6"/>
              </a:rPr>
              <a:t>llion@google.com</a:t>
            </a:r>
            <a:endParaRPr sz="1000">
              <a:latin typeface="Cambria"/>
              <a:cs typeface="Cambria"/>
            </a:endParaRPr>
          </a:p>
        </p:txBody>
      </p:sp>
      <p:sp>
        <p:nvSpPr>
          <p:cNvPr id="10" name="object 10" descr=""/>
          <p:cNvSpPr txBox="1"/>
          <p:nvPr/>
        </p:nvSpPr>
        <p:spPr>
          <a:xfrm>
            <a:off x="2951568" y="2955713"/>
            <a:ext cx="1404620" cy="454659"/>
          </a:xfrm>
          <a:prstGeom prst="rect">
            <a:avLst/>
          </a:prstGeom>
        </p:spPr>
        <p:txBody>
          <a:bodyPr wrap="square" lIns="0" tIns="28575" rIns="0" bIns="0" rtlCol="0" vert="horz">
            <a:spAutoFit/>
          </a:bodyPr>
          <a:lstStyle/>
          <a:p>
            <a:pPr algn="ctr" marL="37465" marR="30480" indent="45720">
              <a:lnSpc>
                <a:spcPts val="1090"/>
              </a:lnSpc>
              <a:spcBef>
                <a:spcPts val="225"/>
              </a:spcBef>
            </a:pPr>
            <a:r>
              <a:rPr dirty="0" sz="1000" b="1">
                <a:latin typeface="Times New Roman"/>
                <a:cs typeface="Times New Roman"/>
              </a:rPr>
              <a:t>Aidan N.</a:t>
            </a:r>
            <a:r>
              <a:rPr dirty="0" sz="1000" spc="5" b="1">
                <a:latin typeface="Times New Roman"/>
                <a:cs typeface="Times New Roman"/>
              </a:rPr>
              <a:t> </a:t>
            </a:r>
            <a:r>
              <a:rPr dirty="0" sz="1000" b="1">
                <a:latin typeface="Times New Roman"/>
                <a:cs typeface="Times New Roman"/>
              </a:rPr>
              <a:t>Gomez</a:t>
            </a:r>
            <a:r>
              <a:rPr dirty="0" baseline="27777" sz="1050">
                <a:latin typeface="Cambria"/>
                <a:cs typeface="Cambria"/>
              </a:rPr>
              <a:t>∗</a:t>
            </a:r>
            <a:r>
              <a:rPr dirty="0" baseline="27777" sz="1050" spc="254">
                <a:latin typeface="Cambria"/>
                <a:cs typeface="Cambria"/>
              </a:rPr>
              <a:t> </a:t>
            </a:r>
            <a:r>
              <a:rPr dirty="0" baseline="27777" sz="1050" spc="-75">
                <a:latin typeface="Cambria"/>
                <a:cs typeface="Cambria"/>
              </a:rPr>
              <a:t>†</a:t>
            </a:r>
            <a:r>
              <a:rPr dirty="0" baseline="27777" sz="1050" spc="750">
                <a:latin typeface="Cambria"/>
                <a:cs typeface="Cambria"/>
              </a:rPr>
              <a:t> </a:t>
            </a:r>
            <a:r>
              <a:rPr dirty="0" sz="1000" spc="-10">
                <a:latin typeface="Times New Roman"/>
                <a:cs typeface="Times New Roman"/>
              </a:rPr>
              <a:t>University</a:t>
            </a:r>
            <a:r>
              <a:rPr dirty="0" sz="1000" spc="-5">
                <a:latin typeface="Times New Roman"/>
                <a:cs typeface="Times New Roman"/>
              </a:rPr>
              <a:t> </a:t>
            </a:r>
            <a:r>
              <a:rPr dirty="0" sz="1000">
                <a:latin typeface="Times New Roman"/>
                <a:cs typeface="Times New Roman"/>
              </a:rPr>
              <a:t>of </a:t>
            </a:r>
            <a:r>
              <a:rPr dirty="0" sz="1000" spc="-10">
                <a:latin typeface="Times New Roman"/>
                <a:cs typeface="Times New Roman"/>
              </a:rPr>
              <a:t>Toronto </a:t>
            </a:r>
            <a:r>
              <a:rPr dirty="0" sz="1000" spc="40">
                <a:latin typeface="Cambria"/>
                <a:cs typeface="Cambria"/>
                <a:hlinkClick r:id="rId7"/>
              </a:rPr>
              <a:t>aidan@cs.toronto.edu</a:t>
            </a:r>
            <a:endParaRPr sz="1000">
              <a:latin typeface="Cambria"/>
              <a:cs typeface="Cambria"/>
            </a:endParaRPr>
          </a:p>
        </p:txBody>
      </p:sp>
      <p:sp>
        <p:nvSpPr>
          <p:cNvPr id="11" name="object 11" descr=""/>
          <p:cNvSpPr txBox="1"/>
          <p:nvPr/>
        </p:nvSpPr>
        <p:spPr>
          <a:xfrm>
            <a:off x="4595482" y="2955713"/>
            <a:ext cx="1604010" cy="454659"/>
          </a:xfrm>
          <a:prstGeom prst="rect">
            <a:avLst/>
          </a:prstGeom>
        </p:spPr>
        <p:txBody>
          <a:bodyPr wrap="square" lIns="0" tIns="12065" rIns="0" bIns="0" rtlCol="0" vert="horz">
            <a:spAutoFit/>
          </a:bodyPr>
          <a:lstStyle/>
          <a:p>
            <a:pPr algn="ctr" marL="51435">
              <a:lnSpc>
                <a:spcPts val="1145"/>
              </a:lnSpc>
              <a:spcBef>
                <a:spcPts val="95"/>
              </a:spcBef>
            </a:pPr>
            <a:r>
              <a:rPr dirty="0" sz="1000" b="1">
                <a:latin typeface="Times New Roman"/>
                <a:cs typeface="Times New Roman"/>
              </a:rPr>
              <a:t>Łukasz</a:t>
            </a:r>
            <a:r>
              <a:rPr dirty="0" sz="1000" spc="-5" b="1">
                <a:latin typeface="Times New Roman"/>
                <a:cs typeface="Times New Roman"/>
              </a:rPr>
              <a:t> </a:t>
            </a:r>
            <a:r>
              <a:rPr dirty="0" sz="1000" spc="-10" b="1">
                <a:latin typeface="Times New Roman"/>
                <a:cs typeface="Times New Roman"/>
              </a:rPr>
              <a:t>Kaiser</a:t>
            </a:r>
            <a:r>
              <a:rPr dirty="0" baseline="27777" sz="1050" spc="-15">
                <a:latin typeface="Cambria"/>
                <a:cs typeface="Cambria"/>
              </a:rPr>
              <a:t>∗</a:t>
            </a:r>
            <a:endParaRPr baseline="27777" sz="1050">
              <a:latin typeface="Cambria"/>
              <a:cs typeface="Cambria"/>
            </a:endParaRPr>
          </a:p>
          <a:p>
            <a:pPr algn="ctr">
              <a:lnSpc>
                <a:spcPts val="1090"/>
              </a:lnSpc>
            </a:pPr>
            <a:r>
              <a:rPr dirty="0" sz="1000">
                <a:latin typeface="Times New Roman"/>
                <a:cs typeface="Times New Roman"/>
              </a:rPr>
              <a:t>Google</a:t>
            </a:r>
            <a:r>
              <a:rPr dirty="0" sz="1000" spc="-35">
                <a:latin typeface="Times New Roman"/>
                <a:cs typeface="Times New Roman"/>
              </a:rPr>
              <a:t> </a:t>
            </a:r>
            <a:r>
              <a:rPr dirty="0" sz="1000" spc="-10">
                <a:latin typeface="Times New Roman"/>
                <a:cs typeface="Times New Roman"/>
              </a:rPr>
              <a:t>Brain</a:t>
            </a:r>
            <a:endParaRPr sz="1000">
              <a:latin typeface="Times New Roman"/>
              <a:cs typeface="Times New Roman"/>
            </a:endParaRPr>
          </a:p>
          <a:p>
            <a:pPr algn="ctr">
              <a:lnSpc>
                <a:spcPts val="1145"/>
              </a:lnSpc>
            </a:pPr>
            <a:r>
              <a:rPr dirty="0" sz="1000" spc="-10">
                <a:latin typeface="Cambria"/>
                <a:cs typeface="Cambria"/>
                <a:hlinkClick r:id="rId8"/>
              </a:rPr>
              <a:t>lukaszkaiser@google.com</a:t>
            </a:r>
            <a:endParaRPr sz="1000">
              <a:latin typeface="Cambria"/>
              <a:cs typeface="Cambria"/>
            </a:endParaRPr>
          </a:p>
        </p:txBody>
      </p:sp>
      <p:sp>
        <p:nvSpPr>
          <p:cNvPr id="12" name="object 12" descr=""/>
          <p:cNvSpPr/>
          <p:nvPr/>
        </p:nvSpPr>
        <p:spPr>
          <a:xfrm>
            <a:off x="1371600" y="7651432"/>
            <a:ext cx="1822450" cy="0"/>
          </a:xfrm>
          <a:custGeom>
            <a:avLst/>
            <a:gdLst/>
            <a:ahLst/>
            <a:cxnLst/>
            <a:rect l="l" t="t" r="r" b="b"/>
            <a:pathLst>
              <a:path w="1822450" h="0">
                <a:moveTo>
                  <a:pt x="0" y="0"/>
                </a:moveTo>
                <a:lnTo>
                  <a:pt x="1821967" y="0"/>
                </a:lnTo>
              </a:path>
            </a:pathLst>
          </a:custGeom>
          <a:ln w="5054">
            <a:solidFill>
              <a:srgbClr val="000000"/>
            </a:solidFill>
          </a:ln>
        </p:spPr>
        <p:txBody>
          <a:bodyPr wrap="square" lIns="0" tIns="0" rIns="0" bIns="0" rtlCol="0"/>
          <a:lstStyle/>
          <a:p/>
        </p:txBody>
      </p:sp>
      <p:sp>
        <p:nvSpPr>
          <p:cNvPr id="13" name="object 13" descr=""/>
          <p:cNvSpPr txBox="1"/>
          <p:nvPr/>
        </p:nvSpPr>
        <p:spPr>
          <a:xfrm>
            <a:off x="1308100" y="3590676"/>
            <a:ext cx="5160645" cy="5841365"/>
          </a:xfrm>
          <a:prstGeom prst="rect">
            <a:avLst/>
          </a:prstGeom>
        </p:spPr>
        <p:txBody>
          <a:bodyPr wrap="square" lIns="0" tIns="12065" rIns="0" bIns="0" rtlCol="0" vert="horz">
            <a:spAutoFit/>
          </a:bodyPr>
          <a:lstStyle/>
          <a:p>
            <a:pPr algn="ctr" marL="41910">
              <a:lnSpc>
                <a:spcPts val="1145"/>
              </a:lnSpc>
              <a:spcBef>
                <a:spcPts val="95"/>
              </a:spcBef>
            </a:pPr>
            <a:r>
              <a:rPr dirty="0" sz="1000" b="1">
                <a:latin typeface="Times New Roman"/>
                <a:cs typeface="Times New Roman"/>
              </a:rPr>
              <a:t>Illia</a:t>
            </a:r>
            <a:r>
              <a:rPr dirty="0" sz="1000" spc="10" b="1">
                <a:latin typeface="Times New Roman"/>
                <a:cs typeface="Times New Roman"/>
              </a:rPr>
              <a:t> </a:t>
            </a:r>
            <a:r>
              <a:rPr dirty="0" sz="1000" b="1">
                <a:latin typeface="Times New Roman"/>
                <a:cs typeface="Times New Roman"/>
              </a:rPr>
              <a:t>Polosukhin</a:t>
            </a:r>
            <a:r>
              <a:rPr dirty="0" baseline="27777" sz="1050">
                <a:latin typeface="Cambria"/>
                <a:cs typeface="Cambria"/>
              </a:rPr>
              <a:t>∗</a:t>
            </a:r>
            <a:r>
              <a:rPr dirty="0" baseline="27777" sz="1050" spc="270">
                <a:latin typeface="Cambria"/>
                <a:cs typeface="Cambria"/>
              </a:rPr>
              <a:t> </a:t>
            </a:r>
            <a:r>
              <a:rPr dirty="0" baseline="27777" sz="1050" spc="-75">
                <a:latin typeface="Cambria"/>
                <a:cs typeface="Cambria"/>
              </a:rPr>
              <a:t>‡</a:t>
            </a:r>
            <a:endParaRPr baseline="27777" sz="1050">
              <a:latin typeface="Cambria"/>
              <a:cs typeface="Cambria"/>
            </a:endParaRPr>
          </a:p>
          <a:p>
            <a:pPr algn="ctr">
              <a:lnSpc>
                <a:spcPts val="1145"/>
              </a:lnSpc>
            </a:pPr>
            <a:r>
              <a:rPr dirty="0" sz="1000" spc="50">
                <a:latin typeface="Cambria"/>
                <a:cs typeface="Cambria"/>
                <a:hlinkClick r:id="rId9"/>
              </a:rPr>
              <a:t>illia.polosukhin@gmail.com</a:t>
            </a:r>
            <a:endParaRPr sz="1000">
              <a:latin typeface="Cambria"/>
              <a:cs typeface="Cambria"/>
            </a:endParaRPr>
          </a:p>
          <a:p>
            <a:pPr>
              <a:lnSpc>
                <a:spcPct val="100000"/>
              </a:lnSpc>
            </a:pPr>
            <a:endParaRPr sz="1000">
              <a:latin typeface="Cambria"/>
              <a:cs typeface="Cambria"/>
            </a:endParaRPr>
          </a:p>
          <a:p>
            <a:pPr>
              <a:lnSpc>
                <a:spcPct val="100000"/>
              </a:lnSpc>
              <a:spcBef>
                <a:spcPts val="370"/>
              </a:spcBef>
            </a:pPr>
            <a:endParaRPr sz="1000">
              <a:latin typeface="Cambria"/>
              <a:cs typeface="Cambria"/>
            </a:endParaRPr>
          </a:p>
          <a:p>
            <a:pPr algn="ctr">
              <a:lnSpc>
                <a:spcPct val="100000"/>
              </a:lnSpc>
              <a:spcBef>
                <a:spcPts val="5"/>
              </a:spcBef>
            </a:pPr>
            <a:r>
              <a:rPr dirty="0" sz="1200" spc="-10" b="1">
                <a:latin typeface="Times New Roman"/>
                <a:cs typeface="Times New Roman"/>
              </a:rPr>
              <a:t>Abstract</a:t>
            </a:r>
            <a:endParaRPr sz="1200">
              <a:latin typeface="Times New Roman"/>
              <a:cs typeface="Times New Roman"/>
            </a:endParaRPr>
          </a:p>
          <a:p>
            <a:pPr algn="just" marL="518795" marR="494030">
              <a:lnSpc>
                <a:spcPts val="1090"/>
              </a:lnSpc>
              <a:spcBef>
                <a:spcPts val="1085"/>
              </a:spcBef>
            </a:pP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dominant</a:t>
            </a:r>
            <a:r>
              <a:rPr dirty="0" sz="1000" spc="45">
                <a:latin typeface="Times New Roman"/>
                <a:cs typeface="Times New Roman"/>
              </a:rPr>
              <a:t> </a:t>
            </a:r>
            <a:r>
              <a:rPr dirty="0" sz="1000">
                <a:latin typeface="Times New Roman"/>
                <a:cs typeface="Times New Roman"/>
              </a:rPr>
              <a:t>sequence</a:t>
            </a:r>
            <a:r>
              <a:rPr dirty="0" sz="1000" spc="45">
                <a:latin typeface="Times New Roman"/>
                <a:cs typeface="Times New Roman"/>
              </a:rPr>
              <a:t> </a:t>
            </a:r>
            <a:r>
              <a:rPr dirty="0" sz="1000">
                <a:latin typeface="Times New Roman"/>
                <a:cs typeface="Times New Roman"/>
              </a:rPr>
              <a:t>transduction</a:t>
            </a:r>
            <a:r>
              <a:rPr dirty="0" sz="1000" spc="40">
                <a:latin typeface="Times New Roman"/>
                <a:cs typeface="Times New Roman"/>
              </a:rPr>
              <a:t> </a:t>
            </a:r>
            <a:r>
              <a:rPr dirty="0" sz="1000">
                <a:latin typeface="Times New Roman"/>
                <a:cs typeface="Times New Roman"/>
              </a:rPr>
              <a:t>models</a:t>
            </a:r>
            <a:r>
              <a:rPr dirty="0" sz="1000" spc="45">
                <a:latin typeface="Times New Roman"/>
                <a:cs typeface="Times New Roman"/>
              </a:rPr>
              <a:t> </a:t>
            </a:r>
            <a:r>
              <a:rPr dirty="0" sz="1000">
                <a:latin typeface="Times New Roman"/>
                <a:cs typeface="Times New Roman"/>
              </a:rPr>
              <a:t>are</a:t>
            </a:r>
            <a:r>
              <a:rPr dirty="0" sz="1000" spc="45">
                <a:latin typeface="Times New Roman"/>
                <a:cs typeface="Times New Roman"/>
              </a:rPr>
              <a:t> </a:t>
            </a:r>
            <a:r>
              <a:rPr dirty="0" sz="1000">
                <a:latin typeface="Times New Roman"/>
                <a:cs typeface="Times New Roman"/>
              </a:rPr>
              <a:t>based</a:t>
            </a:r>
            <a:r>
              <a:rPr dirty="0" sz="1000" spc="40">
                <a:latin typeface="Times New Roman"/>
                <a:cs typeface="Times New Roman"/>
              </a:rPr>
              <a:t> </a:t>
            </a:r>
            <a:r>
              <a:rPr dirty="0" sz="1000">
                <a:latin typeface="Times New Roman"/>
                <a:cs typeface="Times New Roman"/>
              </a:rPr>
              <a:t>on</a:t>
            </a:r>
            <a:r>
              <a:rPr dirty="0" sz="1000" spc="45">
                <a:latin typeface="Times New Roman"/>
                <a:cs typeface="Times New Roman"/>
              </a:rPr>
              <a:t> </a:t>
            </a:r>
            <a:r>
              <a:rPr dirty="0" sz="1000">
                <a:latin typeface="Times New Roman"/>
                <a:cs typeface="Times New Roman"/>
              </a:rPr>
              <a:t>complex</a:t>
            </a:r>
            <a:r>
              <a:rPr dirty="0" sz="1000" spc="45">
                <a:latin typeface="Times New Roman"/>
                <a:cs typeface="Times New Roman"/>
              </a:rPr>
              <a:t> </a:t>
            </a:r>
            <a:r>
              <a:rPr dirty="0" sz="1000">
                <a:latin typeface="Times New Roman"/>
                <a:cs typeface="Times New Roman"/>
              </a:rPr>
              <a:t>recurrent</a:t>
            </a:r>
            <a:r>
              <a:rPr dirty="0" sz="1000" spc="40">
                <a:latin typeface="Times New Roman"/>
                <a:cs typeface="Times New Roman"/>
              </a:rPr>
              <a:t> </a:t>
            </a:r>
            <a:r>
              <a:rPr dirty="0" sz="1000" spc="-25">
                <a:latin typeface="Times New Roman"/>
                <a:cs typeface="Times New Roman"/>
              </a:rPr>
              <a:t>or </a:t>
            </a:r>
            <a:r>
              <a:rPr dirty="0" sz="1000">
                <a:latin typeface="Times New Roman"/>
                <a:cs typeface="Times New Roman"/>
              </a:rPr>
              <a:t>convolutional</a:t>
            </a:r>
            <a:r>
              <a:rPr dirty="0" sz="1000" spc="45">
                <a:latin typeface="Times New Roman"/>
                <a:cs typeface="Times New Roman"/>
              </a:rPr>
              <a:t> </a:t>
            </a:r>
            <a:r>
              <a:rPr dirty="0" sz="1000">
                <a:latin typeface="Times New Roman"/>
                <a:cs typeface="Times New Roman"/>
              </a:rPr>
              <a:t>neural</a:t>
            </a:r>
            <a:r>
              <a:rPr dirty="0" sz="1000" spc="45">
                <a:latin typeface="Times New Roman"/>
                <a:cs typeface="Times New Roman"/>
              </a:rPr>
              <a:t> </a:t>
            </a:r>
            <a:r>
              <a:rPr dirty="0" sz="1000">
                <a:latin typeface="Times New Roman"/>
                <a:cs typeface="Times New Roman"/>
              </a:rPr>
              <a:t>networks</a:t>
            </a:r>
            <a:r>
              <a:rPr dirty="0" sz="1000" spc="50">
                <a:latin typeface="Times New Roman"/>
                <a:cs typeface="Times New Roman"/>
              </a:rPr>
              <a:t> </a:t>
            </a:r>
            <a:r>
              <a:rPr dirty="0" sz="1000">
                <a:latin typeface="Times New Roman"/>
                <a:cs typeface="Times New Roman"/>
              </a:rPr>
              <a:t>that</a:t>
            </a:r>
            <a:r>
              <a:rPr dirty="0" sz="1000" spc="50">
                <a:latin typeface="Times New Roman"/>
                <a:cs typeface="Times New Roman"/>
              </a:rPr>
              <a:t> </a:t>
            </a:r>
            <a:r>
              <a:rPr dirty="0" sz="1000">
                <a:latin typeface="Times New Roman"/>
                <a:cs typeface="Times New Roman"/>
              </a:rPr>
              <a:t>include</a:t>
            </a:r>
            <a:r>
              <a:rPr dirty="0" sz="1000" spc="45">
                <a:latin typeface="Times New Roman"/>
                <a:cs typeface="Times New Roman"/>
              </a:rPr>
              <a:t> </a:t>
            </a:r>
            <a:r>
              <a:rPr dirty="0" sz="1000">
                <a:latin typeface="Times New Roman"/>
                <a:cs typeface="Times New Roman"/>
              </a:rPr>
              <a:t>an</a:t>
            </a:r>
            <a:r>
              <a:rPr dirty="0" sz="1000" spc="50">
                <a:latin typeface="Times New Roman"/>
                <a:cs typeface="Times New Roman"/>
              </a:rPr>
              <a:t> </a:t>
            </a:r>
            <a:r>
              <a:rPr dirty="0" sz="1000">
                <a:latin typeface="Times New Roman"/>
                <a:cs typeface="Times New Roman"/>
              </a:rPr>
              <a:t>encoder</a:t>
            </a:r>
            <a:r>
              <a:rPr dirty="0" sz="1000" spc="45">
                <a:latin typeface="Times New Roman"/>
                <a:cs typeface="Times New Roman"/>
              </a:rPr>
              <a:t> </a:t>
            </a:r>
            <a:r>
              <a:rPr dirty="0" sz="1000">
                <a:latin typeface="Times New Roman"/>
                <a:cs typeface="Times New Roman"/>
              </a:rPr>
              <a:t>and</a:t>
            </a:r>
            <a:r>
              <a:rPr dirty="0" sz="1000" spc="45">
                <a:latin typeface="Times New Roman"/>
                <a:cs typeface="Times New Roman"/>
              </a:rPr>
              <a:t> </a:t>
            </a:r>
            <a:r>
              <a:rPr dirty="0" sz="1000">
                <a:latin typeface="Times New Roman"/>
                <a:cs typeface="Times New Roman"/>
              </a:rPr>
              <a:t>a</a:t>
            </a:r>
            <a:r>
              <a:rPr dirty="0" sz="1000" spc="45">
                <a:latin typeface="Times New Roman"/>
                <a:cs typeface="Times New Roman"/>
              </a:rPr>
              <a:t> </a:t>
            </a:r>
            <a:r>
              <a:rPr dirty="0" sz="1000">
                <a:latin typeface="Times New Roman"/>
                <a:cs typeface="Times New Roman"/>
              </a:rPr>
              <a:t>decoder.</a:t>
            </a:r>
            <a:r>
              <a:rPr dirty="0" sz="1000" spc="204">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spc="-20">
                <a:latin typeface="Times New Roman"/>
                <a:cs typeface="Times New Roman"/>
              </a:rPr>
              <a:t>best </a:t>
            </a:r>
            <a:r>
              <a:rPr dirty="0" sz="1000">
                <a:latin typeface="Times New Roman"/>
                <a:cs typeface="Times New Roman"/>
              </a:rPr>
              <a:t>performing</a:t>
            </a:r>
            <a:r>
              <a:rPr dirty="0" sz="1000" spc="95">
                <a:latin typeface="Times New Roman"/>
                <a:cs typeface="Times New Roman"/>
              </a:rPr>
              <a:t> </a:t>
            </a:r>
            <a:r>
              <a:rPr dirty="0" sz="1000">
                <a:latin typeface="Times New Roman"/>
                <a:cs typeface="Times New Roman"/>
              </a:rPr>
              <a:t>models</a:t>
            </a:r>
            <a:r>
              <a:rPr dirty="0" sz="1000" spc="100">
                <a:latin typeface="Times New Roman"/>
                <a:cs typeface="Times New Roman"/>
              </a:rPr>
              <a:t> </a:t>
            </a:r>
            <a:r>
              <a:rPr dirty="0" sz="1000">
                <a:latin typeface="Times New Roman"/>
                <a:cs typeface="Times New Roman"/>
              </a:rPr>
              <a:t>also</a:t>
            </a:r>
            <a:r>
              <a:rPr dirty="0" sz="1000" spc="95">
                <a:latin typeface="Times New Roman"/>
                <a:cs typeface="Times New Roman"/>
              </a:rPr>
              <a:t> </a:t>
            </a:r>
            <a:r>
              <a:rPr dirty="0" sz="1000">
                <a:latin typeface="Times New Roman"/>
                <a:cs typeface="Times New Roman"/>
              </a:rPr>
              <a:t>connect</a:t>
            </a:r>
            <a:r>
              <a:rPr dirty="0" sz="1000" spc="10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encoder</a:t>
            </a:r>
            <a:r>
              <a:rPr dirty="0" sz="1000" spc="100">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a:latin typeface="Times New Roman"/>
                <a:cs typeface="Times New Roman"/>
              </a:rPr>
              <a:t>decoder</a:t>
            </a:r>
            <a:r>
              <a:rPr dirty="0" sz="1000" spc="95">
                <a:latin typeface="Times New Roman"/>
                <a:cs typeface="Times New Roman"/>
              </a:rPr>
              <a:t> </a:t>
            </a:r>
            <a:r>
              <a:rPr dirty="0" sz="1000">
                <a:latin typeface="Times New Roman"/>
                <a:cs typeface="Times New Roman"/>
              </a:rPr>
              <a:t>through</a:t>
            </a:r>
            <a:r>
              <a:rPr dirty="0" sz="1000" spc="100">
                <a:latin typeface="Times New Roman"/>
                <a:cs typeface="Times New Roman"/>
              </a:rPr>
              <a:t> </a:t>
            </a:r>
            <a:r>
              <a:rPr dirty="0" sz="1000">
                <a:latin typeface="Times New Roman"/>
                <a:cs typeface="Times New Roman"/>
              </a:rPr>
              <a:t>an</a:t>
            </a:r>
            <a:r>
              <a:rPr dirty="0" sz="1000" spc="95">
                <a:latin typeface="Times New Roman"/>
                <a:cs typeface="Times New Roman"/>
              </a:rPr>
              <a:t> </a:t>
            </a:r>
            <a:r>
              <a:rPr dirty="0" sz="1000" spc="-10">
                <a:latin typeface="Times New Roman"/>
                <a:cs typeface="Times New Roman"/>
              </a:rPr>
              <a:t>attention </a:t>
            </a:r>
            <a:r>
              <a:rPr dirty="0" sz="1000">
                <a:latin typeface="Times New Roman"/>
                <a:cs typeface="Times New Roman"/>
              </a:rPr>
              <a:t>mechanism.</a:t>
            </a:r>
            <a:r>
              <a:rPr dirty="0" sz="1000" spc="370">
                <a:latin typeface="Times New Roman"/>
                <a:cs typeface="Times New Roman"/>
              </a:rPr>
              <a:t> </a:t>
            </a:r>
            <a:r>
              <a:rPr dirty="0" sz="1000">
                <a:latin typeface="Times New Roman"/>
                <a:cs typeface="Times New Roman"/>
              </a:rPr>
              <a:t>We</a:t>
            </a:r>
            <a:r>
              <a:rPr dirty="0" sz="1000" spc="100">
                <a:latin typeface="Times New Roman"/>
                <a:cs typeface="Times New Roman"/>
              </a:rPr>
              <a:t> </a:t>
            </a:r>
            <a:r>
              <a:rPr dirty="0" sz="1000">
                <a:latin typeface="Times New Roman"/>
                <a:cs typeface="Times New Roman"/>
              </a:rPr>
              <a:t>propose</a:t>
            </a:r>
            <a:r>
              <a:rPr dirty="0" sz="1000" spc="105">
                <a:latin typeface="Times New Roman"/>
                <a:cs typeface="Times New Roman"/>
              </a:rPr>
              <a:t> </a:t>
            </a:r>
            <a:r>
              <a:rPr dirty="0" sz="1000">
                <a:latin typeface="Times New Roman"/>
                <a:cs typeface="Times New Roman"/>
              </a:rPr>
              <a:t>a</a:t>
            </a:r>
            <a:r>
              <a:rPr dirty="0" sz="1000" spc="105">
                <a:latin typeface="Times New Roman"/>
                <a:cs typeface="Times New Roman"/>
              </a:rPr>
              <a:t> </a:t>
            </a:r>
            <a:r>
              <a:rPr dirty="0" sz="1000">
                <a:latin typeface="Times New Roman"/>
                <a:cs typeface="Times New Roman"/>
              </a:rPr>
              <a:t>new</a:t>
            </a:r>
            <a:r>
              <a:rPr dirty="0" sz="1000" spc="100">
                <a:latin typeface="Times New Roman"/>
                <a:cs typeface="Times New Roman"/>
              </a:rPr>
              <a:t> </a:t>
            </a:r>
            <a:r>
              <a:rPr dirty="0" sz="1000">
                <a:latin typeface="Times New Roman"/>
                <a:cs typeface="Times New Roman"/>
              </a:rPr>
              <a:t>simple</a:t>
            </a:r>
            <a:r>
              <a:rPr dirty="0" sz="1000" spc="105">
                <a:latin typeface="Times New Roman"/>
                <a:cs typeface="Times New Roman"/>
              </a:rPr>
              <a:t> </a:t>
            </a:r>
            <a:r>
              <a:rPr dirty="0" sz="1000">
                <a:latin typeface="Times New Roman"/>
                <a:cs typeface="Times New Roman"/>
              </a:rPr>
              <a:t>network</a:t>
            </a:r>
            <a:r>
              <a:rPr dirty="0" sz="1000" spc="105">
                <a:latin typeface="Times New Roman"/>
                <a:cs typeface="Times New Roman"/>
              </a:rPr>
              <a:t> </a:t>
            </a:r>
            <a:r>
              <a:rPr dirty="0" sz="1000">
                <a:latin typeface="Times New Roman"/>
                <a:cs typeface="Times New Roman"/>
              </a:rPr>
              <a:t>architecture,</a:t>
            </a:r>
            <a:r>
              <a:rPr dirty="0" sz="1000" spc="130">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spc="-10">
                <a:latin typeface="Times New Roman"/>
                <a:cs typeface="Times New Roman"/>
              </a:rPr>
              <a:t>Transformer, </a:t>
            </a:r>
            <a:r>
              <a:rPr dirty="0" sz="1000" spc="-20">
                <a:latin typeface="Times New Roman"/>
                <a:cs typeface="Times New Roman"/>
              </a:rPr>
              <a:t>based</a:t>
            </a:r>
            <a:r>
              <a:rPr dirty="0" sz="1000" spc="-25">
                <a:latin typeface="Times New Roman"/>
                <a:cs typeface="Times New Roman"/>
              </a:rPr>
              <a:t> </a:t>
            </a:r>
            <a:r>
              <a:rPr dirty="0" sz="1000" spc="-10">
                <a:latin typeface="Times New Roman"/>
                <a:cs typeface="Times New Roman"/>
              </a:rPr>
              <a:t>solely</a:t>
            </a:r>
            <a:r>
              <a:rPr dirty="0" sz="1000" spc="-20">
                <a:latin typeface="Times New Roman"/>
                <a:cs typeface="Times New Roman"/>
              </a:rPr>
              <a:t> </a:t>
            </a:r>
            <a:r>
              <a:rPr dirty="0" sz="1000" spc="-10">
                <a:latin typeface="Times New Roman"/>
                <a:cs typeface="Times New Roman"/>
              </a:rPr>
              <a:t>on</a:t>
            </a:r>
            <a:r>
              <a:rPr dirty="0" sz="1000" spc="-20">
                <a:latin typeface="Times New Roman"/>
                <a:cs typeface="Times New Roman"/>
              </a:rPr>
              <a:t> </a:t>
            </a:r>
            <a:r>
              <a:rPr dirty="0" sz="1000" spc="-10">
                <a:latin typeface="Times New Roman"/>
                <a:cs typeface="Times New Roman"/>
              </a:rPr>
              <a:t>attention</a:t>
            </a:r>
            <a:r>
              <a:rPr dirty="0" sz="1000" spc="-20">
                <a:latin typeface="Times New Roman"/>
                <a:cs typeface="Times New Roman"/>
              </a:rPr>
              <a:t> mechanisms,</a:t>
            </a:r>
            <a:r>
              <a:rPr dirty="0" sz="1000" spc="-15">
                <a:latin typeface="Times New Roman"/>
                <a:cs typeface="Times New Roman"/>
              </a:rPr>
              <a:t> </a:t>
            </a:r>
            <a:r>
              <a:rPr dirty="0" sz="1000" spc="-20">
                <a:latin typeface="Times New Roman"/>
                <a:cs typeface="Times New Roman"/>
              </a:rPr>
              <a:t>dispensing </a:t>
            </a:r>
            <a:r>
              <a:rPr dirty="0" sz="1000" spc="-10">
                <a:latin typeface="Times New Roman"/>
                <a:cs typeface="Times New Roman"/>
              </a:rPr>
              <a:t>with</a:t>
            </a:r>
            <a:r>
              <a:rPr dirty="0" sz="1000" spc="-20">
                <a:latin typeface="Times New Roman"/>
                <a:cs typeface="Times New Roman"/>
              </a:rPr>
              <a:t> recurrence </a:t>
            </a:r>
            <a:r>
              <a:rPr dirty="0" sz="1000" spc="-10">
                <a:latin typeface="Times New Roman"/>
                <a:cs typeface="Times New Roman"/>
              </a:rPr>
              <a:t>and</a:t>
            </a:r>
            <a:r>
              <a:rPr dirty="0" sz="1000" spc="-20">
                <a:latin typeface="Times New Roman"/>
                <a:cs typeface="Times New Roman"/>
              </a:rPr>
              <a:t> </a:t>
            </a:r>
            <a:r>
              <a:rPr dirty="0" sz="1000" spc="-10">
                <a:latin typeface="Times New Roman"/>
                <a:cs typeface="Times New Roman"/>
              </a:rPr>
              <a:t>convolutions </a:t>
            </a:r>
            <a:r>
              <a:rPr dirty="0" sz="1000">
                <a:latin typeface="Times New Roman"/>
                <a:cs typeface="Times New Roman"/>
              </a:rPr>
              <a:t>entirely.</a:t>
            </a:r>
            <a:r>
              <a:rPr dirty="0" sz="1000" spc="385">
                <a:latin typeface="Times New Roman"/>
                <a:cs typeface="Times New Roman"/>
              </a:rPr>
              <a:t> </a:t>
            </a:r>
            <a:r>
              <a:rPr dirty="0" sz="1000">
                <a:latin typeface="Times New Roman"/>
                <a:cs typeface="Times New Roman"/>
              </a:rPr>
              <a:t>Experiments</a:t>
            </a:r>
            <a:r>
              <a:rPr dirty="0" sz="1000" spc="114">
                <a:latin typeface="Times New Roman"/>
                <a:cs typeface="Times New Roman"/>
              </a:rPr>
              <a:t> </a:t>
            </a:r>
            <a:r>
              <a:rPr dirty="0" sz="1000">
                <a:latin typeface="Times New Roman"/>
                <a:cs typeface="Times New Roman"/>
              </a:rPr>
              <a:t>on</a:t>
            </a:r>
            <a:r>
              <a:rPr dirty="0" sz="1000" spc="114">
                <a:latin typeface="Times New Roman"/>
                <a:cs typeface="Times New Roman"/>
              </a:rPr>
              <a:t> </a:t>
            </a:r>
            <a:r>
              <a:rPr dirty="0" sz="1000">
                <a:latin typeface="Times New Roman"/>
                <a:cs typeface="Times New Roman"/>
              </a:rPr>
              <a:t>two</a:t>
            </a:r>
            <a:r>
              <a:rPr dirty="0" sz="1000" spc="110">
                <a:latin typeface="Times New Roman"/>
                <a:cs typeface="Times New Roman"/>
              </a:rPr>
              <a:t> </a:t>
            </a:r>
            <a:r>
              <a:rPr dirty="0" sz="1000">
                <a:latin typeface="Times New Roman"/>
                <a:cs typeface="Times New Roman"/>
              </a:rPr>
              <a:t>machine</a:t>
            </a:r>
            <a:r>
              <a:rPr dirty="0" sz="1000" spc="114">
                <a:latin typeface="Times New Roman"/>
                <a:cs typeface="Times New Roman"/>
              </a:rPr>
              <a:t> </a:t>
            </a:r>
            <a:r>
              <a:rPr dirty="0" sz="1000">
                <a:latin typeface="Times New Roman"/>
                <a:cs typeface="Times New Roman"/>
              </a:rPr>
              <a:t>translation</a:t>
            </a:r>
            <a:r>
              <a:rPr dirty="0" sz="1000" spc="114">
                <a:latin typeface="Times New Roman"/>
                <a:cs typeface="Times New Roman"/>
              </a:rPr>
              <a:t> </a:t>
            </a:r>
            <a:r>
              <a:rPr dirty="0" sz="1000">
                <a:latin typeface="Times New Roman"/>
                <a:cs typeface="Times New Roman"/>
              </a:rPr>
              <a:t>tasks</a:t>
            </a:r>
            <a:r>
              <a:rPr dirty="0" sz="1000" spc="114">
                <a:latin typeface="Times New Roman"/>
                <a:cs typeface="Times New Roman"/>
              </a:rPr>
              <a:t> </a:t>
            </a:r>
            <a:r>
              <a:rPr dirty="0" sz="1000">
                <a:latin typeface="Times New Roman"/>
                <a:cs typeface="Times New Roman"/>
              </a:rPr>
              <a:t>show</a:t>
            </a:r>
            <a:r>
              <a:rPr dirty="0" sz="1000" spc="114">
                <a:latin typeface="Times New Roman"/>
                <a:cs typeface="Times New Roman"/>
              </a:rPr>
              <a:t> </a:t>
            </a:r>
            <a:r>
              <a:rPr dirty="0" sz="1000">
                <a:latin typeface="Times New Roman"/>
                <a:cs typeface="Times New Roman"/>
              </a:rPr>
              <a:t>these</a:t>
            </a:r>
            <a:r>
              <a:rPr dirty="0" sz="1000" spc="120">
                <a:latin typeface="Times New Roman"/>
                <a:cs typeface="Times New Roman"/>
              </a:rPr>
              <a:t> </a:t>
            </a:r>
            <a:r>
              <a:rPr dirty="0" sz="1000">
                <a:latin typeface="Times New Roman"/>
                <a:cs typeface="Times New Roman"/>
              </a:rPr>
              <a:t>models</a:t>
            </a:r>
            <a:r>
              <a:rPr dirty="0" sz="1000" spc="110">
                <a:latin typeface="Times New Roman"/>
                <a:cs typeface="Times New Roman"/>
              </a:rPr>
              <a:t> </a:t>
            </a:r>
            <a:r>
              <a:rPr dirty="0" sz="1000" spc="-25">
                <a:latin typeface="Times New Roman"/>
                <a:cs typeface="Times New Roman"/>
              </a:rPr>
              <a:t>to </a:t>
            </a:r>
            <a:r>
              <a:rPr dirty="0" sz="1000">
                <a:latin typeface="Times New Roman"/>
                <a:cs typeface="Times New Roman"/>
              </a:rPr>
              <a:t>be superior in quality while being more parallelizable and requiring </a:t>
            </a:r>
            <a:r>
              <a:rPr dirty="0" sz="1000" spc="-10">
                <a:latin typeface="Times New Roman"/>
                <a:cs typeface="Times New Roman"/>
              </a:rPr>
              <a:t>significantly </a:t>
            </a:r>
            <a:r>
              <a:rPr dirty="0" sz="1000">
                <a:latin typeface="Times New Roman"/>
                <a:cs typeface="Times New Roman"/>
              </a:rPr>
              <a:t>less</a:t>
            </a:r>
            <a:r>
              <a:rPr dirty="0" sz="1000" spc="60">
                <a:latin typeface="Times New Roman"/>
                <a:cs typeface="Times New Roman"/>
              </a:rPr>
              <a:t> </a:t>
            </a:r>
            <a:r>
              <a:rPr dirty="0" sz="1000">
                <a:latin typeface="Times New Roman"/>
                <a:cs typeface="Times New Roman"/>
              </a:rPr>
              <a:t>time</a:t>
            </a:r>
            <a:r>
              <a:rPr dirty="0" sz="1000" spc="65">
                <a:latin typeface="Times New Roman"/>
                <a:cs typeface="Times New Roman"/>
              </a:rPr>
              <a:t> </a:t>
            </a:r>
            <a:r>
              <a:rPr dirty="0" sz="1000">
                <a:latin typeface="Times New Roman"/>
                <a:cs typeface="Times New Roman"/>
              </a:rPr>
              <a:t>to</a:t>
            </a:r>
            <a:r>
              <a:rPr dirty="0" sz="1000" spc="65">
                <a:latin typeface="Times New Roman"/>
                <a:cs typeface="Times New Roman"/>
              </a:rPr>
              <a:t> </a:t>
            </a:r>
            <a:r>
              <a:rPr dirty="0" sz="1000">
                <a:latin typeface="Times New Roman"/>
                <a:cs typeface="Times New Roman"/>
              </a:rPr>
              <a:t>train.</a:t>
            </a:r>
            <a:r>
              <a:rPr dirty="0" sz="1000" spc="240">
                <a:latin typeface="Times New Roman"/>
                <a:cs typeface="Times New Roman"/>
              </a:rPr>
              <a:t> </a:t>
            </a:r>
            <a:r>
              <a:rPr dirty="0" sz="1000">
                <a:latin typeface="Times New Roman"/>
                <a:cs typeface="Times New Roman"/>
              </a:rPr>
              <a:t>Our</a:t>
            </a:r>
            <a:r>
              <a:rPr dirty="0" sz="1000" spc="65">
                <a:latin typeface="Times New Roman"/>
                <a:cs typeface="Times New Roman"/>
              </a:rPr>
              <a:t> </a:t>
            </a:r>
            <a:r>
              <a:rPr dirty="0" sz="1000">
                <a:latin typeface="Times New Roman"/>
                <a:cs typeface="Times New Roman"/>
              </a:rPr>
              <a:t>model</a:t>
            </a:r>
            <a:r>
              <a:rPr dirty="0" sz="1000" spc="60">
                <a:latin typeface="Times New Roman"/>
                <a:cs typeface="Times New Roman"/>
              </a:rPr>
              <a:t> </a:t>
            </a:r>
            <a:r>
              <a:rPr dirty="0" sz="1000">
                <a:latin typeface="Times New Roman"/>
                <a:cs typeface="Times New Roman"/>
              </a:rPr>
              <a:t>achieves</a:t>
            </a:r>
            <a:r>
              <a:rPr dirty="0" sz="1000" spc="65">
                <a:latin typeface="Times New Roman"/>
                <a:cs typeface="Times New Roman"/>
              </a:rPr>
              <a:t> </a:t>
            </a:r>
            <a:r>
              <a:rPr dirty="0" sz="1000">
                <a:latin typeface="Times New Roman"/>
                <a:cs typeface="Times New Roman"/>
              </a:rPr>
              <a:t>28.4</a:t>
            </a:r>
            <a:r>
              <a:rPr dirty="0" sz="1000" spc="65">
                <a:latin typeface="Times New Roman"/>
                <a:cs typeface="Times New Roman"/>
              </a:rPr>
              <a:t> </a:t>
            </a:r>
            <a:r>
              <a:rPr dirty="0" sz="1000">
                <a:latin typeface="Times New Roman"/>
                <a:cs typeface="Times New Roman"/>
              </a:rPr>
              <a:t>BLEU</a:t>
            </a:r>
            <a:r>
              <a:rPr dirty="0" sz="1000" spc="60">
                <a:latin typeface="Times New Roman"/>
                <a:cs typeface="Times New Roman"/>
              </a:rPr>
              <a:t> </a:t>
            </a:r>
            <a:r>
              <a:rPr dirty="0" sz="1000">
                <a:latin typeface="Times New Roman"/>
                <a:cs typeface="Times New Roman"/>
              </a:rPr>
              <a:t>on</a:t>
            </a:r>
            <a:r>
              <a:rPr dirty="0" sz="1000" spc="65">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WMT</a:t>
            </a:r>
            <a:r>
              <a:rPr dirty="0" sz="1000" spc="65">
                <a:latin typeface="Times New Roman"/>
                <a:cs typeface="Times New Roman"/>
              </a:rPr>
              <a:t> </a:t>
            </a:r>
            <a:r>
              <a:rPr dirty="0" sz="1000">
                <a:latin typeface="Times New Roman"/>
                <a:cs typeface="Times New Roman"/>
              </a:rPr>
              <a:t>2014</a:t>
            </a:r>
            <a:r>
              <a:rPr dirty="0" sz="1000" spc="60">
                <a:latin typeface="Times New Roman"/>
                <a:cs typeface="Times New Roman"/>
              </a:rPr>
              <a:t> </a:t>
            </a:r>
            <a:r>
              <a:rPr dirty="0" sz="1000" spc="-10">
                <a:latin typeface="Times New Roman"/>
                <a:cs typeface="Times New Roman"/>
              </a:rPr>
              <a:t>English- </a:t>
            </a:r>
            <a:r>
              <a:rPr dirty="0" sz="1000">
                <a:latin typeface="Times New Roman"/>
                <a:cs typeface="Times New Roman"/>
              </a:rPr>
              <a:t>to-German</a:t>
            </a:r>
            <a:r>
              <a:rPr dirty="0" sz="1000" spc="100">
                <a:latin typeface="Times New Roman"/>
                <a:cs typeface="Times New Roman"/>
              </a:rPr>
              <a:t> </a:t>
            </a:r>
            <a:r>
              <a:rPr dirty="0" sz="1000">
                <a:latin typeface="Times New Roman"/>
                <a:cs typeface="Times New Roman"/>
              </a:rPr>
              <a:t>translation</a:t>
            </a:r>
            <a:r>
              <a:rPr dirty="0" sz="1000" spc="100">
                <a:latin typeface="Times New Roman"/>
                <a:cs typeface="Times New Roman"/>
              </a:rPr>
              <a:t> </a:t>
            </a:r>
            <a:r>
              <a:rPr dirty="0" sz="1000">
                <a:latin typeface="Times New Roman"/>
                <a:cs typeface="Times New Roman"/>
              </a:rPr>
              <a:t>task,</a:t>
            </a:r>
            <a:r>
              <a:rPr dirty="0" sz="1000" spc="120">
                <a:latin typeface="Times New Roman"/>
                <a:cs typeface="Times New Roman"/>
              </a:rPr>
              <a:t> </a:t>
            </a:r>
            <a:r>
              <a:rPr dirty="0" sz="1000">
                <a:latin typeface="Times New Roman"/>
                <a:cs typeface="Times New Roman"/>
              </a:rPr>
              <a:t>improving</a:t>
            </a:r>
            <a:r>
              <a:rPr dirty="0" sz="1000" spc="100">
                <a:latin typeface="Times New Roman"/>
                <a:cs typeface="Times New Roman"/>
              </a:rPr>
              <a:t> </a:t>
            </a:r>
            <a:r>
              <a:rPr dirty="0" sz="1000">
                <a:latin typeface="Times New Roman"/>
                <a:cs typeface="Times New Roman"/>
              </a:rPr>
              <a:t>over</a:t>
            </a:r>
            <a:r>
              <a:rPr dirty="0" sz="1000" spc="100">
                <a:latin typeface="Times New Roman"/>
                <a:cs typeface="Times New Roman"/>
              </a:rPr>
              <a:t> </a:t>
            </a:r>
            <a:r>
              <a:rPr dirty="0" sz="1000">
                <a:latin typeface="Times New Roman"/>
                <a:cs typeface="Times New Roman"/>
              </a:rPr>
              <a:t>the</a:t>
            </a:r>
            <a:r>
              <a:rPr dirty="0" sz="1000" spc="100">
                <a:latin typeface="Times New Roman"/>
                <a:cs typeface="Times New Roman"/>
              </a:rPr>
              <a:t> </a:t>
            </a:r>
            <a:r>
              <a:rPr dirty="0" sz="1000">
                <a:latin typeface="Times New Roman"/>
                <a:cs typeface="Times New Roman"/>
              </a:rPr>
              <a:t>existing</a:t>
            </a:r>
            <a:r>
              <a:rPr dirty="0" sz="1000" spc="100">
                <a:latin typeface="Times New Roman"/>
                <a:cs typeface="Times New Roman"/>
              </a:rPr>
              <a:t> </a:t>
            </a:r>
            <a:r>
              <a:rPr dirty="0" sz="1000">
                <a:latin typeface="Times New Roman"/>
                <a:cs typeface="Times New Roman"/>
              </a:rPr>
              <a:t>best</a:t>
            </a:r>
            <a:r>
              <a:rPr dirty="0" sz="1000" spc="105">
                <a:latin typeface="Times New Roman"/>
                <a:cs typeface="Times New Roman"/>
              </a:rPr>
              <a:t> </a:t>
            </a:r>
            <a:r>
              <a:rPr dirty="0" sz="1000">
                <a:latin typeface="Times New Roman"/>
                <a:cs typeface="Times New Roman"/>
              </a:rPr>
              <a:t>results,</a:t>
            </a:r>
            <a:r>
              <a:rPr dirty="0" sz="1000" spc="120">
                <a:latin typeface="Times New Roman"/>
                <a:cs typeface="Times New Roman"/>
              </a:rPr>
              <a:t> </a:t>
            </a:r>
            <a:r>
              <a:rPr dirty="0" sz="1000" spc="-10">
                <a:latin typeface="Times New Roman"/>
                <a:cs typeface="Times New Roman"/>
              </a:rPr>
              <a:t>including </a:t>
            </a:r>
            <a:r>
              <a:rPr dirty="0" sz="1000" spc="-20">
                <a:latin typeface="Times New Roman"/>
                <a:cs typeface="Times New Roman"/>
              </a:rPr>
              <a:t>ensembles,</a:t>
            </a:r>
            <a:r>
              <a:rPr dirty="0" sz="1000" spc="-25">
                <a:latin typeface="Times New Roman"/>
                <a:cs typeface="Times New Roman"/>
              </a:rPr>
              <a:t> </a:t>
            </a:r>
            <a:r>
              <a:rPr dirty="0" sz="1000">
                <a:latin typeface="Times New Roman"/>
                <a:cs typeface="Times New Roman"/>
              </a:rPr>
              <a:t>by</a:t>
            </a:r>
            <a:r>
              <a:rPr dirty="0" sz="1000" spc="-30">
                <a:latin typeface="Times New Roman"/>
                <a:cs typeface="Times New Roman"/>
              </a:rPr>
              <a:t> </a:t>
            </a:r>
            <a:r>
              <a:rPr dirty="0" sz="1000" spc="-20">
                <a:latin typeface="Times New Roman"/>
                <a:cs typeface="Times New Roman"/>
              </a:rPr>
              <a:t>over</a:t>
            </a:r>
            <a:r>
              <a:rPr dirty="0" sz="1000" spc="-30">
                <a:latin typeface="Times New Roman"/>
                <a:cs typeface="Times New Roman"/>
              </a:rPr>
              <a:t> </a:t>
            </a:r>
            <a:r>
              <a:rPr dirty="0" sz="1000">
                <a:latin typeface="Times New Roman"/>
                <a:cs typeface="Times New Roman"/>
              </a:rPr>
              <a:t>2</a:t>
            </a:r>
            <a:r>
              <a:rPr dirty="0" sz="1000" spc="-30">
                <a:latin typeface="Times New Roman"/>
                <a:cs typeface="Times New Roman"/>
              </a:rPr>
              <a:t> </a:t>
            </a:r>
            <a:r>
              <a:rPr dirty="0" sz="1000" spc="-20">
                <a:latin typeface="Times New Roman"/>
                <a:cs typeface="Times New Roman"/>
              </a:rPr>
              <a:t>BLEU.</a:t>
            </a:r>
            <a:r>
              <a:rPr dirty="0" sz="1000" spc="-25">
                <a:latin typeface="Times New Roman"/>
                <a:cs typeface="Times New Roman"/>
              </a:rPr>
              <a:t> </a:t>
            </a:r>
            <a:r>
              <a:rPr dirty="0" sz="1000">
                <a:latin typeface="Times New Roman"/>
                <a:cs typeface="Times New Roman"/>
              </a:rPr>
              <a:t>On</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20">
                <a:latin typeface="Times New Roman"/>
                <a:cs typeface="Times New Roman"/>
              </a:rPr>
              <a:t>WMT</a:t>
            </a:r>
            <a:r>
              <a:rPr dirty="0" sz="1000" spc="-30">
                <a:latin typeface="Times New Roman"/>
                <a:cs typeface="Times New Roman"/>
              </a:rPr>
              <a:t> </a:t>
            </a:r>
            <a:r>
              <a:rPr dirty="0" sz="1000" spc="-10">
                <a:latin typeface="Times New Roman"/>
                <a:cs typeface="Times New Roman"/>
              </a:rPr>
              <a:t>2014</a:t>
            </a:r>
            <a:r>
              <a:rPr dirty="0" sz="1000" spc="-25">
                <a:latin typeface="Times New Roman"/>
                <a:cs typeface="Times New Roman"/>
              </a:rPr>
              <a:t> </a:t>
            </a:r>
            <a:r>
              <a:rPr dirty="0" sz="1000" spc="-20">
                <a:latin typeface="Times New Roman"/>
                <a:cs typeface="Times New Roman"/>
              </a:rPr>
              <a:t>English-to-</a:t>
            </a:r>
            <a:r>
              <a:rPr dirty="0" sz="1000" spc="-10">
                <a:latin typeface="Times New Roman"/>
                <a:cs typeface="Times New Roman"/>
              </a:rPr>
              <a:t>French</a:t>
            </a:r>
            <a:r>
              <a:rPr dirty="0" sz="1000" spc="-30">
                <a:latin typeface="Times New Roman"/>
                <a:cs typeface="Times New Roman"/>
              </a:rPr>
              <a:t> </a:t>
            </a:r>
            <a:r>
              <a:rPr dirty="0" sz="1000" spc="-10">
                <a:latin typeface="Times New Roman"/>
                <a:cs typeface="Times New Roman"/>
              </a:rPr>
              <a:t>translation</a:t>
            </a:r>
            <a:r>
              <a:rPr dirty="0" sz="1000" spc="-30">
                <a:latin typeface="Times New Roman"/>
                <a:cs typeface="Times New Roman"/>
              </a:rPr>
              <a:t> </a:t>
            </a:r>
            <a:r>
              <a:rPr dirty="0" sz="1000" spc="-10">
                <a:latin typeface="Times New Roman"/>
                <a:cs typeface="Times New Roman"/>
              </a:rPr>
              <a:t>task, </a:t>
            </a:r>
            <a:r>
              <a:rPr dirty="0" sz="1000">
                <a:latin typeface="Times New Roman"/>
                <a:cs typeface="Times New Roman"/>
              </a:rPr>
              <a:t>our</a:t>
            </a:r>
            <a:r>
              <a:rPr dirty="0" sz="1000" spc="-25">
                <a:latin typeface="Times New Roman"/>
                <a:cs typeface="Times New Roman"/>
              </a:rPr>
              <a:t> </a:t>
            </a:r>
            <a:r>
              <a:rPr dirty="0" sz="1000" spc="-10">
                <a:latin typeface="Times New Roman"/>
                <a:cs typeface="Times New Roman"/>
              </a:rPr>
              <a:t>model</a:t>
            </a:r>
            <a:r>
              <a:rPr dirty="0" sz="1000" spc="-20">
                <a:latin typeface="Times New Roman"/>
                <a:cs typeface="Times New Roman"/>
              </a:rPr>
              <a:t> </a:t>
            </a:r>
            <a:r>
              <a:rPr dirty="0" sz="1000" spc="-10">
                <a:latin typeface="Times New Roman"/>
                <a:cs typeface="Times New Roman"/>
              </a:rPr>
              <a:t>establishes</a:t>
            </a:r>
            <a:r>
              <a:rPr dirty="0" sz="1000" spc="-25">
                <a:latin typeface="Times New Roman"/>
                <a:cs typeface="Times New Roman"/>
              </a:rPr>
              <a:t> </a:t>
            </a:r>
            <a:r>
              <a:rPr dirty="0" sz="1000">
                <a:latin typeface="Times New Roman"/>
                <a:cs typeface="Times New Roman"/>
              </a:rPr>
              <a:t>a</a:t>
            </a:r>
            <a:r>
              <a:rPr dirty="0" sz="1000" spc="-20">
                <a:latin typeface="Times New Roman"/>
                <a:cs typeface="Times New Roman"/>
              </a:rPr>
              <a:t> new</a:t>
            </a:r>
            <a:r>
              <a:rPr dirty="0" sz="1000" spc="-25">
                <a:latin typeface="Times New Roman"/>
                <a:cs typeface="Times New Roman"/>
              </a:rPr>
              <a:t> </a:t>
            </a:r>
            <a:r>
              <a:rPr dirty="0" sz="1000" spc="-20">
                <a:latin typeface="Times New Roman"/>
                <a:cs typeface="Times New Roman"/>
              </a:rPr>
              <a:t>single-</a:t>
            </a:r>
            <a:r>
              <a:rPr dirty="0" sz="1000" spc="-10">
                <a:latin typeface="Times New Roman"/>
                <a:cs typeface="Times New Roman"/>
              </a:rPr>
              <a:t>model</a:t>
            </a:r>
            <a:r>
              <a:rPr dirty="0" sz="1000" spc="-20">
                <a:latin typeface="Times New Roman"/>
                <a:cs typeface="Times New Roman"/>
              </a:rPr>
              <a:t> state-of-the-</a:t>
            </a:r>
            <a:r>
              <a:rPr dirty="0" sz="1000">
                <a:latin typeface="Times New Roman"/>
                <a:cs typeface="Times New Roman"/>
              </a:rPr>
              <a:t>art</a:t>
            </a:r>
            <a:r>
              <a:rPr dirty="0" sz="1000" spc="-25">
                <a:latin typeface="Times New Roman"/>
                <a:cs typeface="Times New Roman"/>
              </a:rPr>
              <a:t> </a:t>
            </a:r>
            <a:r>
              <a:rPr dirty="0" sz="1000" spc="-20">
                <a:latin typeface="Times New Roman"/>
                <a:cs typeface="Times New Roman"/>
              </a:rPr>
              <a:t>BLEU </a:t>
            </a:r>
            <a:r>
              <a:rPr dirty="0" sz="1000" spc="-10">
                <a:latin typeface="Times New Roman"/>
                <a:cs typeface="Times New Roman"/>
              </a:rPr>
              <a:t>score</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41.0</a:t>
            </a:r>
            <a:r>
              <a:rPr dirty="0" sz="1000" spc="-25">
                <a:latin typeface="Times New Roman"/>
                <a:cs typeface="Times New Roman"/>
              </a:rPr>
              <a:t> </a:t>
            </a:r>
            <a:r>
              <a:rPr dirty="0" sz="1000" spc="-10">
                <a:latin typeface="Times New Roman"/>
                <a:cs typeface="Times New Roman"/>
              </a:rPr>
              <a:t>after </a:t>
            </a:r>
            <a:r>
              <a:rPr dirty="0" sz="1000">
                <a:latin typeface="Times New Roman"/>
                <a:cs typeface="Times New Roman"/>
              </a:rPr>
              <a:t>training</a:t>
            </a:r>
            <a:r>
              <a:rPr dirty="0" sz="1000" spc="30">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3.5</a:t>
            </a:r>
            <a:r>
              <a:rPr dirty="0" sz="1000" spc="30">
                <a:latin typeface="Times New Roman"/>
                <a:cs typeface="Times New Roman"/>
              </a:rPr>
              <a:t> </a:t>
            </a:r>
            <a:r>
              <a:rPr dirty="0" sz="1000">
                <a:latin typeface="Times New Roman"/>
                <a:cs typeface="Times New Roman"/>
              </a:rPr>
              <a:t>days</a:t>
            </a:r>
            <a:r>
              <a:rPr dirty="0" sz="1000" spc="30">
                <a:latin typeface="Times New Roman"/>
                <a:cs typeface="Times New Roman"/>
              </a:rPr>
              <a:t> </a:t>
            </a:r>
            <a:r>
              <a:rPr dirty="0" sz="1000">
                <a:latin typeface="Times New Roman"/>
                <a:cs typeface="Times New Roman"/>
              </a:rPr>
              <a:t>on</a:t>
            </a:r>
            <a:r>
              <a:rPr dirty="0" sz="1000" spc="35">
                <a:latin typeface="Times New Roman"/>
                <a:cs typeface="Times New Roman"/>
              </a:rPr>
              <a:t> </a:t>
            </a:r>
            <a:r>
              <a:rPr dirty="0" sz="1000">
                <a:latin typeface="Times New Roman"/>
                <a:cs typeface="Times New Roman"/>
              </a:rPr>
              <a:t>eight</a:t>
            </a:r>
            <a:r>
              <a:rPr dirty="0" sz="1000" spc="30">
                <a:latin typeface="Times New Roman"/>
                <a:cs typeface="Times New Roman"/>
              </a:rPr>
              <a:t> </a:t>
            </a:r>
            <a:r>
              <a:rPr dirty="0" sz="1000">
                <a:latin typeface="Times New Roman"/>
                <a:cs typeface="Times New Roman"/>
              </a:rPr>
              <a:t>GPUs,</a:t>
            </a:r>
            <a:r>
              <a:rPr dirty="0" sz="1000" spc="35">
                <a:latin typeface="Times New Roman"/>
                <a:cs typeface="Times New Roman"/>
              </a:rPr>
              <a:t> </a:t>
            </a:r>
            <a:r>
              <a:rPr dirty="0" sz="1000">
                <a:latin typeface="Times New Roman"/>
                <a:cs typeface="Times New Roman"/>
              </a:rPr>
              <a:t>a</a:t>
            </a:r>
            <a:r>
              <a:rPr dirty="0" sz="1000" spc="30">
                <a:latin typeface="Times New Roman"/>
                <a:cs typeface="Times New Roman"/>
              </a:rPr>
              <a:t> </a:t>
            </a:r>
            <a:r>
              <a:rPr dirty="0" sz="1000">
                <a:latin typeface="Times New Roman"/>
                <a:cs typeface="Times New Roman"/>
              </a:rPr>
              <a:t>small</a:t>
            </a:r>
            <a:r>
              <a:rPr dirty="0" sz="1000" spc="30">
                <a:latin typeface="Times New Roman"/>
                <a:cs typeface="Times New Roman"/>
              </a:rPr>
              <a:t> </a:t>
            </a:r>
            <a:r>
              <a:rPr dirty="0" sz="1000">
                <a:latin typeface="Times New Roman"/>
                <a:cs typeface="Times New Roman"/>
              </a:rPr>
              <a:t>fraction</a:t>
            </a:r>
            <a:r>
              <a:rPr dirty="0" sz="1000" spc="3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training</a:t>
            </a:r>
            <a:r>
              <a:rPr dirty="0" sz="1000" spc="30">
                <a:latin typeface="Times New Roman"/>
                <a:cs typeface="Times New Roman"/>
              </a:rPr>
              <a:t> </a:t>
            </a:r>
            <a:r>
              <a:rPr dirty="0" sz="1000">
                <a:latin typeface="Times New Roman"/>
                <a:cs typeface="Times New Roman"/>
              </a:rPr>
              <a:t>costs</a:t>
            </a:r>
            <a:r>
              <a:rPr dirty="0" sz="1000" spc="3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spc="-25">
                <a:latin typeface="Times New Roman"/>
                <a:cs typeface="Times New Roman"/>
              </a:rPr>
              <a:t>the </a:t>
            </a:r>
            <a:r>
              <a:rPr dirty="0" sz="1000">
                <a:latin typeface="Times New Roman"/>
                <a:cs typeface="Times New Roman"/>
              </a:rPr>
              <a:t>best</a:t>
            </a:r>
            <a:r>
              <a:rPr dirty="0" sz="1000" spc="-25">
                <a:latin typeface="Times New Roman"/>
                <a:cs typeface="Times New Roman"/>
              </a:rPr>
              <a:t> </a:t>
            </a:r>
            <a:r>
              <a:rPr dirty="0" sz="1000">
                <a:latin typeface="Times New Roman"/>
                <a:cs typeface="Times New Roman"/>
              </a:rPr>
              <a:t>models</a:t>
            </a:r>
            <a:r>
              <a:rPr dirty="0" sz="1000" spc="-25">
                <a:latin typeface="Times New Roman"/>
                <a:cs typeface="Times New Roman"/>
              </a:rPr>
              <a:t> </a:t>
            </a:r>
            <a:r>
              <a:rPr dirty="0" sz="1000">
                <a:latin typeface="Times New Roman"/>
                <a:cs typeface="Times New Roman"/>
              </a:rPr>
              <a:t>from</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literature.</a:t>
            </a:r>
            <a:endParaRPr sz="1000">
              <a:latin typeface="Times New Roman"/>
              <a:cs typeface="Times New Roman"/>
            </a:endParaRPr>
          </a:p>
          <a:p>
            <a:pPr>
              <a:lnSpc>
                <a:spcPct val="100000"/>
              </a:lnSpc>
              <a:spcBef>
                <a:spcPts val="560"/>
              </a:spcBef>
            </a:pPr>
            <a:endParaRPr sz="1000">
              <a:latin typeface="Times New Roman"/>
              <a:cs typeface="Times New Roman"/>
            </a:endParaRPr>
          </a:p>
          <a:p>
            <a:pPr marL="63500">
              <a:lnSpc>
                <a:spcPct val="100000"/>
              </a:lnSpc>
              <a:tabLst>
                <a:tab pos="290830" algn="l"/>
              </a:tabLst>
            </a:pPr>
            <a:r>
              <a:rPr dirty="0" sz="1200" spc="-50" b="1">
                <a:latin typeface="Times New Roman"/>
                <a:cs typeface="Times New Roman"/>
              </a:rPr>
              <a:t>1</a:t>
            </a:r>
            <a:r>
              <a:rPr dirty="0" sz="1200" b="1">
                <a:latin typeface="Times New Roman"/>
                <a:cs typeface="Times New Roman"/>
              </a:rPr>
              <a:t>	</a:t>
            </a:r>
            <a:r>
              <a:rPr dirty="0" sz="1200" spc="-10" b="1">
                <a:latin typeface="Times New Roman"/>
                <a:cs typeface="Times New Roman"/>
              </a:rPr>
              <a:t>Introduction</a:t>
            </a:r>
            <a:endParaRPr sz="1200">
              <a:latin typeface="Times New Roman"/>
              <a:cs typeface="Times New Roman"/>
            </a:endParaRPr>
          </a:p>
          <a:p>
            <a:pPr algn="just" marL="63500" marR="57150">
              <a:lnSpc>
                <a:spcPts val="1090"/>
              </a:lnSpc>
              <a:spcBef>
                <a:spcPts val="1140"/>
              </a:spcBef>
            </a:pPr>
            <a:r>
              <a:rPr dirty="0" sz="1000">
                <a:latin typeface="Times New Roman"/>
                <a:cs typeface="Times New Roman"/>
              </a:rPr>
              <a:t>Recurrent</a:t>
            </a:r>
            <a:r>
              <a:rPr dirty="0" sz="1000" spc="30">
                <a:latin typeface="Times New Roman"/>
                <a:cs typeface="Times New Roman"/>
              </a:rPr>
              <a:t> </a:t>
            </a:r>
            <a:r>
              <a:rPr dirty="0" sz="1000">
                <a:latin typeface="Times New Roman"/>
                <a:cs typeface="Times New Roman"/>
              </a:rPr>
              <a:t>neural</a:t>
            </a:r>
            <a:r>
              <a:rPr dirty="0" sz="1000" spc="30">
                <a:latin typeface="Times New Roman"/>
                <a:cs typeface="Times New Roman"/>
              </a:rPr>
              <a:t> </a:t>
            </a:r>
            <a:r>
              <a:rPr dirty="0" sz="1000">
                <a:latin typeface="Times New Roman"/>
                <a:cs typeface="Times New Roman"/>
              </a:rPr>
              <a:t>networks,</a:t>
            </a:r>
            <a:r>
              <a:rPr dirty="0" sz="1000" spc="40">
                <a:latin typeface="Times New Roman"/>
                <a:cs typeface="Times New Roman"/>
              </a:rPr>
              <a:t> </a:t>
            </a:r>
            <a:r>
              <a:rPr dirty="0" sz="1000">
                <a:latin typeface="Times New Roman"/>
                <a:cs typeface="Times New Roman"/>
              </a:rPr>
              <a:t>long</a:t>
            </a:r>
            <a:r>
              <a:rPr dirty="0" sz="1000" spc="30">
                <a:latin typeface="Times New Roman"/>
                <a:cs typeface="Times New Roman"/>
              </a:rPr>
              <a:t> </a:t>
            </a:r>
            <a:r>
              <a:rPr dirty="0" sz="1000">
                <a:latin typeface="Times New Roman"/>
                <a:cs typeface="Times New Roman"/>
              </a:rPr>
              <a:t>short-term</a:t>
            </a:r>
            <a:r>
              <a:rPr dirty="0" sz="1000" spc="35">
                <a:latin typeface="Times New Roman"/>
                <a:cs typeface="Times New Roman"/>
              </a:rPr>
              <a:t> </a:t>
            </a:r>
            <a:r>
              <a:rPr dirty="0" sz="1000">
                <a:latin typeface="Times New Roman"/>
                <a:cs typeface="Times New Roman"/>
              </a:rPr>
              <a:t>memory</a:t>
            </a:r>
            <a:r>
              <a:rPr dirty="0" sz="1000" spc="30">
                <a:latin typeface="Times New Roman"/>
                <a:cs typeface="Times New Roman"/>
              </a:rPr>
              <a:t> </a:t>
            </a:r>
            <a:r>
              <a:rPr dirty="0" sz="1000">
                <a:latin typeface="Times New Roman"/>
                <a:cs typeface="Times New Roman"/>
              </a:rPr>
              <a:t>[12]</a:t>
            </a:r>
            <a:r>
              <a:rPr dirty="0" sz="1000" spc="3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gated</a:t>
            </a:r>
            <a:r>
              <a:rPr dirty="0" sz="1000" spc="35">
                <a:latin typeface="Times New Roman"/>
                <a:cs typeface="Times New Roman"/>
              </a:rPr>
              <a:t> </a:t>
            </a:r>
            <a:r>
              <a:rPr dirty="0" sz="1000">
                <a:latin typeface="Times New Roman"/>
                <a:cs typeface="Times New Roman"/>
              </a:rPr>
              <a:t>recurrent</a:t>
            </a:r>
            <a:r>
              <a:rPr dirty="0" sz="1000" spc="30">
                <a:latin typeface="Times New Roman"/>
                <a:cs typeface="Times New Roman"/>
              </a:rPr>
              <a:t> </a:t>
            </a:r>
            <a:r>
              <a:rPr dirty="0" sz="1000">
                <a:latin typeface="Times New Roman"/>
                <a:cs typeface="Times New Roman"/>
              </a:rPr>
              <a:t>[7]</a:t>
            </a:r>
            <a:r>
              <a:rPr dirty="0" sz="1000" spc="35">
                <a:latin typeface="Times New Roman"/>
                <a:cs typeface="Times New Roman"/>
              </a:rPr>
              <a:t> </a:t>
            </a:r>
            <a:r>
              <a:rPr dirty="0" sz="1000">
                <a:latin typeface="Times New Roman"/>
                <a:cs typeface="Times New Roman"/>
              </a:rPr>
              <a:t>neural</a:t>
            </a:r>
            <a:r>
              <a:rPr dirty="0" sz="1000" spc="30">
                <a:latin typeface="Times New Roman"/>
                <a:cs typeface="Times New Roman"/>
              </a:rPr>
              <a:t> </a:t>
            </a:r>
            <a:r>
              <a:rPr dirty="0" sz="1000" spc="-10">
                <a:latin typeface="Times New Roman"/>
                <a:cs typeface="Times New Roman"/>
              </a:rPr>
              <a:t>networks </a:t>
            </a:r>
            <a:r>
              <a:rPr dirty="0" sz="1000">
                <a:latin typeface="Times New Roman"/>
                <a:cs typeface="Times New Roman"/>
              </a:rPr>
              <a:t>in</a:t>
            </a:r>
            <a:r>
              <a:rPr dirty="0" sz="1000" spc="-5">
                <a:latin typeface="Times New Roman"/>
                <a:cs typeface="Times New Roman"/>
              </a:rPr>
              <a:t> </a:t>
            </a:r>
            <a:r>
              <a:rPr dirty="0" sz="1000">
                <a:latin typeface="Times New Roman"/>
                <a:cs typeface="Times New Roman"/>
              </a:rPr>
              <a:t>particular,</a:t>
            </a:r>
            <a:r>
              <a:rPr dirty="0" sz="1000" spc="-5">
                <a:latin typeface="Times New Roman"/>
                <a:cs typeface="Times New Roman"/>
              </a:rPr>
              <a:t> </a:t>
            </a:r>
            <a:r>
              <a:rPr dirty="0" sz="1000">
                <a:latin typeface="Times New Roman"/>
                <a:cs typeface="Times New Roman"/>
              </a:rPr>
              <a:t>have been</a:t>
            </a:r>
            <a:r>
              <a:rPr dirty="0" sz="1000" spc="-5">
                <a:latin typeface="Times New Roman"/>
                <a:cs typeface="Times New Roman"/>
              </a:rPr>
              <a:t> </a:t>
            </a:r>
            <a:r>
              <a:rPr dirty="0" sz="1000">
                <a:latin typeface="Times New Roman"/>
                <a:cs typeface="Times New Roman"/>
              </a:rPr>
              <a:t>firmly established as</a:t>
            </a:r>
            <a:r>
              <a:rPr dirty="0" sz="1000" spc="-5">
                <a:latin typeface="Times New Roman"/>
                <a:cs typeface="Times New Roman"/>
              </a:rPr>
              <a:t> </a:t>
            </a:r>
            <a:r>
              <a:rPr dirty="0" sz="1000">
                <a:latin typeface="Times New Roman"/>
                <a:cs typeface="Times New Roman"/>
              </a:rPr>
              <a:t>state</a:t>
            </a:r>
            <a:r>
              <a:rPr dirty="0" sz="1000" spc="-5">
                <a:latin typeface="Times New Roman"/>
                <a:cs typeface="Times New Roman"/>
              </a:rPr>
              <a:t> </a:t>
            </a:r>
            <a:r>
              <a:rPr dirty="0" sz="1000">
                <a:latin typeface="Times New Roman"/>
                <a:cs typeface="Times New Roman"/>
              </a:rPr>
              <a:t>of</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art</a:t>
            </a:r>
            <a:r>
              <a:rPr dirty="0" sz="1000" spc="-5">
                <a:latin typeface="Times New Roman"/>
                <a:cs typeface="Times New Roman"/>
              </a:rPr>
              <a:t> </a:t>
            </a:r>
            <a:r>
              <a:rPr dirty="0" sz="1000">
                <a:latin typeface="Times New Roman"/>
                <a:cs typeface="Times New Roman"/>
              </a:rPr>
              <a:t>approaches in sequence</a:t>
            </a:r>
            <a:r>
              <a:rPr dirty="0" sz="1000" spc="-5">
                <a:latin typeface="Times New Roman"/>
                <a:cs typeface="Times New Roman"/>
              </a:rPr>
              <a:t> </a:t>
            </a:r>
            <a:r>
              <a:rPr dirty="0" sz="1000">
                <a:latin typeface="Times New Roman"/>
                <a:cs typeface="Times New Roman"/>
              </a:rPr>
              <a:t>modeling </a:t>
            </a:r>
            <a:r>
              <a:rPr dirty="0" sz="1000" spc="-25">
                <a:latin typeface="Times New Roman"/>
                <a:cs typeface="Times New Roman"/>
              </a:rPr>
              <a:t>and </a:t>
            </a:r>
            <a:r>
              <a:rPr dirty="0" sz="1000">
                <a:latin typeface="Times New Roman"/>
                <a:cs typeface="Times New Roman"/>
              </a:rPr>
              <a:t>transduction</a:t>
            </a:r>
            <a:r>
              <a:rPr dirty="0" sz="1000" spc="65">
                <a:latin typeface="Times New Roman"/>
                <a:cs typeface="Times New Roman"/>
              </a:rPr>
              <a:t> </a:t>
            </a:r>
            <a:r>
              <a:rPr dirty="0" sz="1000">
                <a:latin typeface="Times New Roman"/>
                <a:cs typeface="Times New Roman"/>
              </a:rPr>
              <a:t>problems</a:t>
            </a:r>
            <a:r>
              <a:rPr dirty="0" sz="1000" spc="65">
                <a:latin typeface="Times New Roman"/>
                <a:cs typeface="Times New Roman"/>
              </a:rPr>
              <a:t> </a:t>
            </a:r>
            <a:r>
              <a:rPr dirty="0" sz="1000">
                <a:latin typeface="Times New Roman"/>
                <a:cs typeface="Times New Roman"/>
              </a:rPr>
              <a:t>such</a:t>
            </a:r>
            <a:r>
              <a:rPr dirty="0" sz="1000" spc="65">
                <a:latin typeface="Times New Roman"/>
                <a:cs typeface="Times New Roman"/>
              </a:rPr>
              <a:t> </a:t>
            </a:r>
            <a:r>
              <a:rPr dirty="0" sz="1000">
                <a:latin typeface="Times New Roman"/>
                <a:cs typeface="Times New Roman"/>
              </a:rPr>
              <a:t>as</a:t>
            </a:r>
            <a:r>
              <a:rPr dirty="0" sz="1000" spc="65">
                <a:latin typeface="Times New Roman"/>
                <a:cs typeface="Times New Roman"/>
              </a:rPr>
              <a:t> </a:t>
            </a:r>
            <a:r>
              <a:rPr dirty="0" sz="1000">
                <a:latin typeface="Times New Roman"/>
                <a:cs typeface="Times New Roman"/>
              </a:rPr>
              <a:t>language</a:t>
            </a:r>
            <a:r>
              <a:rPr dirty="0" sz="1000" spc="65">
                <a:latin typeface="Times New Roman"/>
                <a:cs typeface="Times New Roman"/>
              </a:rPr>
              <a:t> </a:t>
            </a:r>
            <a:r>
              <a:rPr dirty="0" sz="1000">
                <a:latin typeface="Times New Roman"/>
                <a:cs typeface="Times New Roman"/>
              </a:rPr>
              <a:t>modeling</a:t>
            </a:r>
            <a:r>
              <a:rPr dirty="0" sz="1000" spc="65">
                <a:latin typeface="Times New Roman"/>
                <a:cs typeface="Times New Roman"/>
              </a:rPr>
              <a:t> </a:t>
            </a:r>
            <a:r>
              <a:rPr dirty="0" sz="1000">
                <a:latin typeface="Times New Roman"/>
                <a:cs typeface="Times New Roman"/>
              </a:rPr>
              <a:t>and</a:t>
            </a:r>
            <a:r>
              <a:rPr dirty="0" sz="1000" spc="65">
                <a:latin typeface="Times New Roman"/>
                <a:cs typeface="Times New Roman"/>
              </a:rPr>
              <a:t> </a:t>
            </a:r>
            <a:r>
              <a:rPr dirty="0" sz="1000">
                <a:latin typeface="Times New Roman"/>
                <a:cs typeface="Times New Roman"/>
              </a:rPr>
              <a:t>machine</a:t>
            </a:r>
            <a:r>
              <a:rPr dirty="0" sz="1000" spc="65">
                <a:latin typeface="Times New Roman"/>
                <a:cs typeface="Times New Roman"/>
              </a:rPr>
              <a:t> </a:t>
            </a:r>
            <a:r>
              <a:rPr dirty="0" sz="1000">
                <a:latin typeface="Times New Roman"/>
                <a:cs typeface="Times New Roman"/>
              </a:rPr>
              <a:t>translation</a:t>
            </a:r>
            <a:r>
              <a:rPr dirty="0" sz="1000" spc="70">
                <a:latin typeface="Times New Roman"/>
                <a:cs typeface="Times New Roman"/>
              </a:rPr>
              <a:t> </a:t>
            </a:r>
            <a:r>
              <a:rPr dirty="0" sz="1000">
                <a:latin typeface="Times New Roman"/>
                <a:cs typeface="Times New Roman"/>
              </a:rPr>
              <a:t>[29,</a:t>
            </a:r>
            <a:r>
              <a:rPr dirty="0" sz="1000" spc="65">
                <a:latin typeface="Times New Roman"/>
                <a:cs typeface="Times New Roman"/>
              </a:rPr>
              <a:t> </a:t>
            </a:r>
            <a:r>
              <a:rPr dirty="0" sz="1000">
                <a:latin typeface="Times New Roman"/>
                <a:cs typeface="Times New Roman"/>
              </a:rPr>
              <a:t>2,</a:t>
            </a:r>
            <a:r>
              <a:rPr dirty="0" sz="1000" spc="65">
                <a:latin typeface="Times New Roman"/>
                <a:cs typeface="Times New Roman"/>
              </a:rPr>
              <a:t> </a:t>
            </a:r>
            <a:r>
              <a:rPr dirty="0" sz="1000">
                <a:latin typeface="Times New Roman"/>
                <a:cs typeface="Times New Roman"/>
              </a:rPr>
              <a:t>5].</a:t>
            </a:r>
            <a:r>
              <a:rPr dirty="0" sz="1000" spc="229">
                <a:latin typeface="Times New Roman"/>
                <a:cs typeface="Times New Roman"/>
              </a:rPr>
              <a:t> </a:t>
            </a:r>
            <a:r>
              <a:rPr dirty="0" sz="1000" spc="-10">
                <a:latin typeface="Times New Roman"/>
                <a:cs typeface="Times New Roman"/>
              </a:rPr>
              <a:t>Numerous </a:t>
            </a:r>
            <a:r>
              <a:rPr dirty="0" sz="1000" spc="-20">
                <a:latin typeface="Times New Roman"/>
                <a:cs typeface="Times New Roman"/>
              </a:rPr>
              <a:t>efforts</a:t>
            </a:r>
            <a:r>
              <a:rPr dirty="0" sz="1000" spc="-15">
                <a:latin typeface="Times New Roman"/>
                <a:cs typeface="Times New Roman"/>
              </a:rPr>
              <a:t> </a:t>
            </a:r>
            <a:r>
              <a:rPr dirty="0" sz="1000" spc="-35">
                <a:latin typeface="Times New Roman"/>
                <a:cs typeface="Times New Roman"/>
              </a:rPr>
              <a:t>have</a:t>
            </a:r>
            <a:r>
              <a:rPr dirty="0" sz="1000" spc="-10">
                <a:latin typeface="Times New Roman"/>
                <a:cs typeface="Times New Roman"/>
              </a:rPr>
              <a:t> since </a:t>
            </a:r>
            <a:r>
              <a:rPr dirty="0" sz="1000" spc="-20">
                <a:latin typeface="Times New Roman"/>
                <a:cs typeface="Times New Roman"/>
              </a:rPr>
              <a:t>continued</a:t>
            </a:r>
            <a:r>
              <a:rPr dirty="0" sz="1000" spc="-10">
                <a:latin typeface="Times New Roman"/>
                <a:cs typeface="Times New Roman"/>
              </a:rPr>
              <a:t> </a:t>
            </a:r>
            <a:r>
              <a:rPr dirty="0" sz="1000">
                <a:latin typeface="Times New Roman"/>
                <a:cs typeface="Times New Roman"/>
              </a:rPr>
              <a:t>to</a:t>
            </a:r>
            <a:r>
              <a:rPr dirty="0" sz="1000" spc="-10">
                <a:latin typeface="Times New Roman"/>
                <a:cs typeface="Times New Roman"/>
              </a:rPr>
              <a:t> </a:t>
            </a:r>
            <a:r>
              <a:rPr dirty="0" sz="1000" spc="-20">
                <a:latin typeface="Times New Roman"/>
                <a:cs typeface="Times New Roman"/>
              </a:rPr>
              <a:t>push</a:t>
            </a:r>
            <a:r>
              <a:rPr dirty="0" sz="1000" spc="-10">
                <a:latin typeface="Times New Roman"/>
                <a:cs typeface="Times New Roman"/>
              </a:rPr>
              <a:t> the </a:t>
            </a:r>
            <a:r>
              <a:rPr dirty="0" sz="1000" spc="-20">
                <a:latin typeface="Times New Roman"/>
                <a:cs typeface="Times New Roman"/>
              </a:rPr>
              <a:t>boundaries</a:t>
            </a:r>
            <a:r>
              <a:rPr dirty="0" sz="1000" spc="-15">
                <a:latin typeface="Times New Roman"/>
                <a:cs typeface="Times New Roman"/>
              </a:rPr>
              <a:t> </a:t>
            </a:r>
            <a:r>
              <a:rPr dirty="0" sz="1000" spc="-10">
                <a:latin typeface="Times New Roman"/>
                <a:cs typeface="Times New Roman"/>
              </a:rPr>
              <a:t>of </a:t>
            </a:r>
            <a:r>
              <a:rPr dirty="0" sz="1000" spc="-20">
                <a:latin typeface="Times New Roman"/>
                <a:cs typeface="Times New Roman"/>
              </a:rPr>
              <a:t>recurrent</a:t>
            </a:r>
            <a:r>
              <a:rPr dirty="0" sz="1000" spc="-10">
                <a:latin typeface="Times New Roman"/>
                <a:cs typeface="Times New Roman"/>
              </a:rPr>
              <a:t> </a:t>
            </a:r>
            <a:r>
              <a:rPr dirty="0" sz="1000" spc="-20">
                <a:latin typeface="Times New Roman"/>
                <a:cs typeface="Times New Roman"/>
              </a:rPr>
              <a:t>language</a:t>
            </a:r>
            <a:r>
              <a:rPr dirty="0" sz="1000" spc="-10">
                <a:latin typeface="Times New Roman"/>
                <a:cs typeface="Times New Roman"/>
              </a:rPr>
              <a:t> </a:t>
            </a:r>
            <a:r>
              <a:rPr dirty="0" sz="1000" spc="-20">
                <a:latin typeface="Times New Roman"/>
                <a:cs typeface="Times New Roman"/>
              </a:rPr>
              <a:t>models</a:t>
            </a:r>
            <a:r>
              <a:rPr dirty="0" sz="1000" spc="-10">
                <a:latin typeface="Times New Roman"/>
                <a:cs typeface="Times New Roman"/>
              </a:rPr>
              <a:t> </a:t>
            </a:r>
            <a:r>
              <a:rPr dirty="0" sz="1000" spc="-20">
                <a:latin typeface="Times New Roman"/>
                <a:cs typeface="Times New Roman"/>
              </a:rPr>
              <a:t>and</a:t>
            </a:r>
            <a:r>
              <a:rPr dirty="0" sz="1000" spc="-10">
                <a:latin typeface="Times New Roman"/>
                <a:cs typeface="Times New Roman"/>
              </a:rPr>
              <a:t> </a:t>
            </a:r>
            <a:r>
              <a:rPr dirty="0" sz="1000" spc="-30">
                <a:latin typeface="Times New Roman"/>
                <a:cs typeface="Times New Roman"/>
              </a:rPr>
              <a:t>encoder-</a:t>
            </a:r>
            <a:r>
              <a:rPr dirty="0" sz="1000" spc="-10">
                <a:latin typeface="Times New Roman"/>
                <a:cs typeface="Times New Roman"/>
              </a:rPr>
              <a:t>decoder </a:t>
            </a:r>
            <a:r>
              <a:rPr dirty="0" sz="1000">
                <a:latin typeface="Times New Roman"/>
                <a:cs typeface="Times New Roman"/>
              </a:rPr>
              <a:t>architectures</a:t>
            </a:r>
            <a:r>
              <a:rPr dirty="0" sz="1000" spc="-35">
                <a:latin typeface="Times New Roman"/>
                <a:cs typeface="Times New Roman"/>
              </a:rPr>
              <a:t> </a:t>
            </a:r>
            <a:r>
              <a:rPr dirty="0" sz="1000">
                <a:latin typeface="Times New Roman"/>
                <a:cs typeface="Times New Roman"/>
              </a:rPr>
              <a:t>[31,</a:t>
            </a:r>
            <a:r>
              <a:rPr dirty="0" sz="1000" spc="-30">
                <a:latin typeface="Times New Roman"/>
                <a:cs typeface="Times New Roman"/>
              </a:rPr>
              <a:t> </a:t>
            </a:r>
            <a:r>
              <a:rPr dirty="0" sz="1000">
                <a:latin typeface="Times New Roman"/>
                <a:cs typeface="Times New Roman"/>
              </a:rPr>
              <a:t>21,</a:t>
            </a:r>
            <a:r>
              <a:rPr dirty="0" sz="1000" spc="-30">
                <a:latin typeface="Times New Roman"/>
                <a:cs typeface="Times New Roman"/>
              </a:rPr>
              <a:t> </a:t>
            </a:r>
            <a:r>
              <a:rPr dirty="0" sz="1000" spc="-20">
                <a:latin typeface="Times New Roman"/>
                <a:cs typeface="Times New Roman"/>
              </a:rPr>
              <a:t>13].</a:t>
            </a:r>
            <a:endParaRPr sz="1000">
              <a:latin typeface="Times New Roman"/>
              <a:cs typeface="Times New Roman"/>
            </a:endParaRPr>
          </a:p>
          <a:p>
            <a:pPr algn="just" marL="63500" marR="55880" indent="149860">
              <a:lnSpc>
                <a:spcPts val="1000"/>
              </a:lnSpc>
              <a:spcBef>
                <a:spcPts val="575"/>
              </a:spcBef>
            </a:pPr>
            <a:r>
              <a:rPr dirty="0" baseline="37037" sz="900" spc="-30">
                <a:latin typeface="Lucida Sans Unicode"/>
                <a:cs typeface="Lucida Sans Unicode"/>
              </a:rPr>
              <a:t>∗</a:t>
            </a:r>
            <a:r>
              <a:rPr dirty="0" sz="900" spc="-20">
                <a:latin typeface="Times New Roman"/>
                <a:cs typeface="Times New Roman"/>
              </a:rPr>
              <a:t>Equal</a:t>
            </a:r>
            <a:r>
              <a:rPr dirty="0" sz="900" spc="-30">
                <a:latin typeface="Times New Roman"/>
                <a:cs typeface="Times New Roman"/>
              </a:rPr>
              <a:t> </a:t>
            </a:r>
            <a:r>
              <a:rPr dirty="0" sz="900" spc="-10">
                <a:latin typeface="Times New Roman"/>
                <a:cs typeface="Times New Roman"/>
              </a:rPr>
              <a:t>contribution.</a:t>
            </a:r>
            <a:r>
              <a:rPr dirty="0" sz="900" spc="20">
                <a:latin typeface="Times New Roman"/>
                <a:cs typeface="Times New Roman"/>
              </a:rPr>
              <a:t> </a:t>
            </a:r>
            <a:r>
              <a:rPr dirty="0" sz="900" spc="-10">
                <a:latin typeface="Times New Roman"/>
                <a:cs typeface="Times New Roman"/>
              </a:rPr>
              <a:t>Listing</a:t>
            </a:r>
            <a:r>
              <a:rPr dirty="0" sz="900" spc="-20">
                <a:latin typeface="Times New Roman"/>
                <a:cs typeface="Times New Roman"/>
              </a:rPr>
              <a:t> </a:t>
            </a:r>
            <a:r>
              <a:rPr dirty="0" sz="900" spc="-10">
                <a:latin typeface="Times New Roman"/>
                <a:cs typeface="Times New Roman"/>
              </a:rPr>
              <a:t>order</a:t>
            </a:r>
            <a:r>
              <a:rPr dirty="0" sz="900" spc="-30">
                <a:latin typeface="Times New Roman"/>
                <a:cs typeface="Times New Roman"/>
              </a:rPr>
              <a:t> </a:t>
            </a:r>
            <a:r>
              <a:rPr dirty="0" sz="900">
                <a:latin typeface="Times New Roman"/>
                <a:cs typeface="Times New Roman"/>
              </a:rPr>
              <a:t>is</a:t>
            </a:r>
            <a:r>
              <a:rPr dirty="0" sz="900" spc="-25">
                <a:latin typeface="Times New Roman"/>
                <a:cs typeface="Times New Roman"/>
              </a:rPr>
              <a:t> </a:t>
            </a:r>
            <a:r>
              <a:rPr dirty="0" sz="900">
                <a:latin typeface="Times New Roman"/>
                <a:cs typeface="Times New Roman"/>
              </a:rPr>
              <a:t>random.</a:t>
            </a:r>
            <a:r>
              <a:rPr dirty="0" sz="900" spc="20">
                <a:latin typeface="Times New Roman"/>
                <a:cs typeface="Times New Roman"/>
              </a:rPr>
              <a:t> </a:t>
            </a:r>
            <a:r>
              <a:rPr dirty="0" sz="900" spc="-10">
                <a:latin typeface="Times New Roman"/>
                <a:cs typeface="Times New Roman"/>
              </a:rPr>
              <a:t>Jakob</a:t>
            </a:r>
            <a:r>
              <a:rPr dirty="0" sz="900" spc="-25">
                <a:latin typeface="Times New Roman"/>
                <a:cs typeface="Times New Roman"/>
              </a:rPr>
              <a:t> </a:t>
            </a:r>
            <a:r>
              <a:rPr dirty="0" sz="900" spc="-10">
                <a:latin typeface="Times New Roman"/>
                <a:cs typeface="Times New Roman"/>
              </a:rPr>
              <a:t>proposed</a:t>
            </a:r>
            <a:r>
              <a:rPr dirty="0" sz="900" spc="-25">
                <a:latin typeface="Times New Roman"/>
                <a:cs typeface="Times New Roman"/>
              </a:rPr>
              <a:t> </a:t>
            </a:r>
            <a:r>
              <a:rPr dirty="0" sz="900" spc="-10">
                <a:latin typeface="Times New Roman"/>
                <a:cs typeface="Times New Roman"/>
              </a:rPr>
              <a:t>replacing</a:t>
            </a:r>
            <a:r>
              <a:rPr dirty="0" sz="900" spc="-30">
                <a:latin typeface="Times New Roman"/>
                <a:cs typeface="Times New Roman"/>
              </a:rPr>
              <a:t> </a:t>
            </a:r>
            <a:r>
              <a:rPr dirty="0" sz="900" spc="-10">
                <a:latin typeface="Times New Roman"/>
                <a:cs typeface="Times New Roman"/>
              </a:rPr>
              <a:t>RNNs</a:t>
            </a:r>
            <a:r>
              <a:rPr dirty="0" sz="900" spc="-20">
                <a:latin typeface="Times New Roman"/>
                <a:cs typeface="Times New Roman"/>
              </a:rPr>
              <a:t> </a:t>
            </a:r>
            <a:r>
              <a:rPr dirty="0" sz="900">
                <a:latin typeface="Times New Roman"/>
                <a:cs typeface="Times New Roman"/>
              </a:rPr>
              <a:t>with</a:t>
            </a:r>
            <a:r>
              <a:rPr dirty="0" sz="900" spc="-30">
                <a:latin typeface="Times New Roman"/>
                <a:cs typeface="Times New Roman"/>
              </a:rPr>
              <a:t> </a:t>
            </a:r>
            <a:r>
              <a:rPr dirty="0" sz="900" spc="-10">
                <a:latin typeface="Times New Roman"/>
                <a:cs typeface="Times New Roman"/>
              </a:rPr>
              <a:t>self-attention</a:t>
            </a:r>
            <a:r>
              <a:rPr dirty="0" sz="900" spc="-25">
                <a:latin typeface="Times New Roman"/>
                <a:cs typeface="Times New Roman"/>
              </a:rPr>
              <a:t> </a:t>
            </a:r>
            <a:r>
              <a:rPr dirty="0" sz="900">
                <a:latin typeface="Times New Roman"/>
                <a:cs typeface="Times New Roman"/>
              </a:rPr>
              <a:t>and</a:t>
            </a:r>
            <a:r>
              <a:rPr dirty="0" sz="900" spc="-30">
                <a:latin typeface="Times New Roman"/>
                <a:cs typeface="Times New Roman"/>
              </a:rPr>
              <a:t> </a:t>
            </a:r>
            <a:r>
              <a:rPr dirty="0" sz="900" spc="-10">
                <a:latin typeface="Times New Roman"/>
                <a:cs typeface="Times New Roman"/>
              </a:rPr>
              <a:t>started </a:t>
            </a:r>
            <a:r>
              <a:rPr dirty="0" sz="900">
                <a:latin typeface="Times New Roman"/>
                <a:cs typeface="Times New Roman"/>
              </a:rPr>
              <a:t>the</a:t>
            </a:r>
            <a:r>
              <a:rPr dirty="0" sz="900" spc="-15">
                <a:latin typeface="Times New Roman"/>
                <a:cs typeface="Times New Roman"/>
              </a:rPr>
              <a:t> </a:t>
            </a:r>
            <a:r>
              <a:rPr dirty="0" sz="900">
                <a:latin typeface="Times New Roman"/>
                <a:cs typeface="Times New Roman"/>
              </a:rPr>
              <a:t>effort</a:t>
            </a:r>
            <a:r>
              <a:rPr dirty="0" sz="900" spc="-10">
                <a:latin typeface="Times New Roman"/>
                <a:cs typeface="Times New Roman"/>
              </a:rPr>
              <a:t> </a:t>
            </a:r>
            <a:r>
              <a:rPr dirty="0" sz="900">
                <a:latin typeface="Times New Roman"/>
                <a:cs typeface="Times New Roman"/>
              </a:rPr>
              <a:t>to</a:t>
            </a:r>
            <a:r>
              <a:rPr dirty="0" sz="900" spc="-15">
                <a:latin typeface="Times New Roman"/>
                <a:cs typeface="Times New Roman"/>
              </a:rPr>
              <a:t> </a:t>
            </a:r>
            <a:r>
              <a:rPr dirty="0" sz="900">
                <a:latin typeface="Times New Roman"/>
                <a:cs typeface="Times New Roman"/>
              </a:rPr>
              <a:t>evaluate</a:t>
            </a:r>
            <a:r>
              <a:rPr dirty="0" sz="900" spc="-10">
                <a:latin typeface="Times New Roman"/>
                <a:cs typeface="Times New Roman"/>
              </a:rPr>
              <a:t> </a:t>
            </a:r>
            <a:r>
              <a:rPr dirty="0" sz="900">
                <a:latin typeface="Times New Roman"/>
                <a:cs typeface="Times New Roman"/>
              </a:rPr>
              <a:t>this</a:t>
            </a:r>
            <a:r>
              <a:rPr dirty="0" sz="900" spc="-15">
                <a:latin typeface="Times New Roman"/>
                <a:cs typeface="Times New Roman"/>
              </a:rPr>
              <a:t> </a:t>
            </a:r>
            <a:r>
              <a:rPr dirty="0" sz="900">
                <a:latin typeface="Times New Roman"/>
                <a:cs typeface="Times New Roman"/>
              </a:rPr>
              <a:t>idea.</a:t>
            </a:r>
            <a:r>
              <a:rPr dirty="0" sz="900" spc="40">
                <a:latin typeface="Times New Roman"/>
                <a:cs typeface="Times New Roman"/>
              </a:rPr>
              <a:t> </a:t>
            </a:r>
            <a:r>
              <a:rPr dirty="0" sz="900">
                <a:latin typeface="Times New Roman"/>
                <a:cs typeface="Times New Roman"/>
              </a:rPr>
              <a:t>Ashish,</a:t>
            </a:r>
            <a:r>
              <a:rPr dirty="0" sz="900" spc="-10">
                <a:latin typeface="Times New Roman"/>
                <a:cs typeface="Times New Roman"/>
              </a:rPr>
              <a:t> </a:t>
            </a:r>
            <a:r>
              <a:rPr dirty="0" sz="900">
                <a:latin typeface="Times New Roman"/>
                <a:cs typeface="Times New Roman"/>
              </a:rPr>
              <a:t>with</a:t>
            </a:r>
            <a:r>
              <a:rPr dirty="0" sz="900" spc="-10">
                <a:latin typeface="Times New Roman"/>
                <a:cs typeface="Times New Roman"/>
              </a:rPr>
              <a:t> </a:t>
            </a:r>
            <a:r>
              <a:rPr dirty="0" sz="900">
                <a:latin typeface="Times New Roman"/>
                <a:cs typeface="Times New Roman"/>
              </a:rPr>
              <a:t>Illia,</a:t>
            </a:r>
            <a:r>
              <a:rPr dirty="0" sz="900" spc="-15">
                <a:latin typeface="Times New Roman"/>
                <a:cs typeface="Times New Roman"/>
              </a:rPr>
              <a:t> </a:t>
            </a:r>
            <a:r>
              <a:rPr dirty="0" sz="900">
                <a:latin typeface="Times New Roman"/>
                <a:cs typeface="Times New Roman"/>
              </a:rPr>
              <a:t>designed</a:t>
            </a:r>
            <a:r>
              <a:rPr dirty="0" sz="900" spc="-10">
                <a:latin typeface="Times New Roman"/>
                <a:cs typeface="Times New Roman"/>
              </a:rPr>
              <a:t> </a:t>
            </a:r>
            <a:r>
              <a:rPr dirty="0" sz="900">
                <a:latin typeface="Times New Roman"/>
                <a:cs typeface="Times New Roman"/>
              </a:rPr>
              <a:t>and</a:t>
            </a:r>
            <a:r>
              <a:rPr dirty="0" sz="900" spc="-15">
                <a:latin typeface="Times New Roman"/>
                <a:cs typeface="Times New Roman"/>
              </a:rPr>
              <a:t> </a:t>
            </a:r>
            <a:r>
              <a:rPr dirty="0" sz="900">
                <a:latin typeface="Times New Roman"/>
                <a:cs typeface="Times New Roman"/>
              </a:rPr>
              <a:t>implemented</a:t>
            </a:r>
            <a:r>
              <a:rPr dirty="0" sz="900" spc="-10">
                <a:latin typeface="Times New Roman"/>
                <a:cs typeface="Times New Roman"/>
              </a:rPr>
              <a:t> </a:t>
            </a:r>
            <a:r>
              <a:rPr dirty="0" sz="900">
                <a:latin typeface="Times New Roman"/>
                <a:cs typeface="Times New Roman"/>
              </a:rPr>
              <a:t>the</a:t>
            </a:r>
            <a:r>
              <a:rPr dirty="0" sz="900" spc="-15">
                <a:latin typeface="Times New Roman"/>
                <a:cs typeface="Times New Roman"/>
              </a:rPr>
              <a:t> </a:t>
            </a:r>
            <a:r>
              <a:rPr dirty="0" sz="900" spc="-10">
                <a:latin typeface="Times New Roman"/>
                <a:cs typeface="Times New Roman"/>
              </a:rPr>
              <a:t>first </a:t>
            </a:r>
            <a:r>
              <a:rPr dirty="0" sz="900">
                <a:latin typeface="Times New Roman"/>
                <a:cs typeface="Times New Roman"/>
              </a:rPr>
              <a:t>Transformer</a:t>
            </a:r>
            <a:r>
              <a:rPr dirty="0" sz="900" spc="-15">
                <a:latin typeface="Times New Roman"/>
                <a:cs typeface="Times New Roman"/>
              </a:rPr>
              <a:t> </a:t>
            </a:r>
            <a:r>
              <a:rPr dirty="0" sz="900">
                <a:latin typeface="Times New Roman"/>
                <a:cs typeface="Times New Roman"/>
              </a:rPr>
              <a:t>models</a:t>
            </a:r>
            <a:r>
              <a:rPr dirty="0" sz="900" spc="-10">
                <a:latin typeface="Times New Roman"/>
                <a:cs typeface="Times New Roman"/>
              </a:rPr>
              <a:t> </a:t>
            </a:r>
            <a:r>
              <a:rPr dirty="0" sz="900" spc="-25">
                <a:latin typeface="Times New Roman"/>
                <a:cs typeface="Times New Roman"/>
              </a:rPr>
              <a:t>and</a:t>
            </a:r>
            <a:r>
              <a:rPr dirty="0" sz="900" spc="-10">
                <a:latin typeface="Times New Roman"/>
                <a:cs typeface="Times New Roman"/>
              </a:rPr>
              <a:t> has</a:t>
            </a:r>
            <a:r>
              <a:rPr dirty="0" sz="900" spc="-30">
                <a:latin typeface="Times New Roman"/>
                <a:cs typeface="Times New Roman"/>
              </a:rPr>
              <a:t> </a:t>
            </a:r>
            <a:r>
              <a:rPr dirty="0" sz="900" spc="-10">
                <a:latin typeface="Times New Roman"/>
                <a:cs typeface="Times New Roman"/>
              </a:rPr>
              <a:t>been</a:t>
            </a:r>
            <a:r>
              <a:rPr dirty="0" sz="900" spc="-30">
                <a:latin typeface="Times New Roman"/>
                <a:cs typeface="Times New Roman"/>
              </a:rPr>
              <a:t> </a:t>
            </a:r>
            <a:r>
              <a:rPr dirty="0" sz="900" spc="-10">
                <a:latin typeface="Times New Roman"/>
                <a:cs typeface="Times New Roman"/>
              </a:rPr>
              <a:t>crucially</a:t>
            </a:r>
            <a:r>
              <a:rPr dirty="0" sz="900" spc="-25">
                <a:latin typeface="Times New Roman"/>
                <a:cs typeface="Times New Roman"/>
              </a:rPr>
              <a:t> involved</a:t>
            </a:r>
            <a:r>
              <a:rPr dirty="0" sz="900" spc="-30">
                <a:latin typeface="Times New Roman"/>
                <a:cs typeface="Times New Roman"/>
              </a:rPr>
              <a:t> </a:t>
            </a:r>
            <a:r>
              <a:rPr dirty="0" sz="900">
                <a:latin typeface="Times New Roman"/>
                <a:cs typeface="Times New Roman"/>
              </a:rPr>
              <a:t>in</a:t>
            </a:r>
            <a:r>
              <a:rPr dirty="0" sz="900" spc="-30">
                <a:latin typeface="Times New Roman"/>
                <a:cs typeface="Times New Roman"/>
              </a:rPr>
              <a:t> </a:t>
            </a:r>
            <a:r>
              <a:rPr dirty="0" sz="900" spc="-20">
                <a:latin typeface="Times New Roman"/>
                <a:cs typeface="Times New Roman"/>
              </a:rPr>
              <a:t>every</a:t>
            </a:r>
            <a:r>
              <a:rPr dirty="0" sz="900" spc="-25">
                <a:latin typeface="Times New Roman"/>
                <a:cs typeface="Times New Roman"/>
              </a:rPr>
              <a:t> </a:t>
            </a:r>
            <a:r>
              <a:rPr dirty="0" sz="900" spc="-10">
                <a:latin typeface="Times New Roman"/>
                <a:cs typeface="Times New Roman"/>
              </a:rPr>
              <a:t>aspect</a:t>
            </a:r>
            <a:r>
              <a:rPr dirty="0" sz="900" spc="-30">
                <a:latin typeface="Times New Roman"/>
                <a:cs typeface="Times New Roman"/>
              </a:rPr>
              <a:t> </a:t>
            </a:r>
            <a:r>
              <a:rPr dirty="0" sz="900">
                <a:latin typeface="Times New Roman"/>
                <a:cs typeface="Times New Roman"/>
              </a:rPr>
              <a:t>of</a:t>
            </a:r>
            <a:r>
              <a:rPr dirty="0" sz="900" spc="-30">
                <a:latin typeface="Times New Roman"/>
                <a:cs typeface="Times New Roman"/>
              </a:rPr>
              <a:t> </a:t>
            </a:r>
            <a:r>
              <a:rPr dirty="0" sz="900" spc="-10">
                <a:latin typeface="Times New Roman"/>
                <a:cs typeface="Times New Roman"/>
              </a:rPr>
              <a:t>this</a:t>
            </a:r>
            <a:r>
              <a:rPr dirty="0" sz="900" spc="-25">
                <a:latin typeface="Times New Roman"/>
                <a:cs typeface="Times New Roman"/>
              </a:rPr>
              <a:t> </a:t>
            </a:r>
            <a:r>
              <a:rPr dirty="0" sz="900">
                <a:latin typeface="Times New Roman"/>
                <a:cs typeface="Times New Roman"/>
              </a:rPr>
              <a:t>work.</a:t>
            </a:r>
            <a:r>
              <a:rPr dirty="0" sz="900" spc="40">
                <a:latin typeface="Times New Roman"/>
                <a:cs typeface="Times New Roman"/>
              </a:rPr>
              <a:t> </a:t>
            </a:r>
            <a:r>
              <a:rPr dirty="0" sz="900" spc="-20">
                <a:latin typeface="Times New Roman"/>
                <a:cs typeface="Times New Roman"/>
              </a:rPr>
              <a:t>Noam</a:t>
            </a:r>
            <a:r>
              <a:rPr dirty="0" sz="900" spc="-30">
                <a:latin typeface="Times New Roman"/>
                <a:cs typeface="Times New Roman"/>
              </a:rPr>
              <a:t> </a:t>
            </a:r>
            <a:r>
              <a:rPr dirty="0" sz="900" spc="-10">
                <a:latin typeface="Times New Roman"/>
                <a:cs typeface="Times New Roman"/>
              </a:rPr>
              <a:t>proposed</a:t>
            </a:r>
            <a:r>
              <a:rPr dirty="0" sz="900" spc="-25">
                <a:latin typeface="Times New Roman"/>
                <a:cs typeface="Times New Roman"/>
              </a:rPr>
              <a:t> </a:t>
            </a:r>
            <a:r>
              <a:rPr dirty="0" sz="900" spc="-10">
                <a:latin typeface="Times New Roman"/>
                <a:cs typeface="Times New Roman"/>
              </a:rPr>
              <a:t>scaled</a:t>
            </a:r>
            <a:r>
              <a:rPr dirty="0" sz="900" spc="-30">
                <a:latin typeface="Times New Roman"/>
                <a:cs typeface="Times New Roman"/>
              </a:rPr>
              <a:t> </a:t>
            </a:r>
            <a:r>
              <a:rPr dirty="0" sz="900" spc="-20">
                <a:latin typeface="Times New Roman"/>
                <a:cs typeface="Times New Roman"/>
              </a:rPr>
              <a:t>dot-</a:t>
            </a:r>
            <a:r>
              <a:rPr dirty="0" sz="900" spc="-10">
                <a:latin typeface="Times New Roman"/>
                <a:cs typeface="Times New Roman"/>
              </a:rPr>
              <a:t>product</a:t>
            </a:r>
            <a:r>
              <a:rPr dirty="0" sz="900" spc="-30">
                <a:latin typeface="Times New Roman"/>
                <a:cs typeface="Times New Roman"/>
              </a:rPr>
              <a:t> </a:t>
            </a:r>
            <a:r>
              <a:rPr dirty="0" sz="900" spc="-10">
                <a:latin typeface="Times New Roman"/>
                <a:cs typeface="Times New Roman"/>
              </a:rPr>
              <a:t>attention,</a:t>
            </a:r>
            <a:r>
              <a:rPr dirty="0" sz="900" spc="-20">
                <a:latin typeface="Times New Roman"/>
                <a:cs typeface="Times New Roman"/>
              </a:rPr>
              <a:t> multi-head </a:t>
            </a:r>
            <a:r>
              <a:rPr dirty="0" sz="900">
                <a:latin typeface="Times New Roman"/>
                <a:cs typeface="Times New Roman"/>
              </a:rPr>
              <a:t>attention</a:t>
            </a:r>
            <a:r>
              <a:rPr dirty="0" sz="900" spc="-10">
                <a:latin typeface="Times New Roman"/>
                <a:cs typeface="Times New Roman"/>
              </a:rPr>
              <a:t> </a:t>
            </a:r>
            <a:r>
              <a:rPr dirty="0" sz="900">
                <a:latin typeface="Times New Roman"/>
                <a:cs typeface="Times New Roman"/>
              </a:rPr>
              <a:t>and the</a:t>
            </a:r>
            <a:r>
              <a:rPr dirty="0" sz="900" spc="5">
                <a:latin typeface="Times New Roman"/>
                <a:cs typeface="Times New Roman"/>
              </a:rPr>
              <a:t> </a:t>
            </a:r>
            <a:r>
              <a:rPr dirty="0" sz="900" spc="-10">
                <a:latin typeface="Times New Roman"/>
                <a:cs typeface="Times New Roman"/>
              </a:rPr>
              <a:t>parameter-</a:t>
            </a:r>
            <a:r>
              <a:rPr dirty="0" sz="900">
                <a:latin typeface="Times New Roman"/>
                <a:cs typeface="Times New Roman"/>
              </a:rPr>
              <a:t>free position</a:t>
            </a:r>
            <a:r>
              <a:rPr dirty="0" sz="900" spc="5">
                <a:latin typeface="Times New Roman"/>
                <a:cs typeface="Times New Roman"/>
              </a:rPr>
              <a:t> </a:t>
            </a:r>
            <a:r>
              <a:rPr dirty="0" sz="900">
                <a:latin typeface="Times New Roman"/>
                <a:cs typeface="Times New Roman"/>
              </a:rPr>
              <a:t>representation and became</a:t>
            </a:r>
            <a:r>
              <a:rPr dirty="0" sz="900" spc="5">
                <a:latin typeface="Times New Roman"/>
                <a:cs typeface="Times New Roman"/>
              </a:rPr>
              <a:t> </a:t>
            </a:r>
            <a:r>
              <a:rPr dirty="0" sz="900">
                <a:latin typeface="Times New Roman"/>
                <a:cs typeface="Times New Roman"/>
              </a:rPr>
              <a:t>the other</a:t>
            </a:r>
            <a:r>
              <a:rPr dirty="0" sz="900" spc="5">
                <a:latin typeface="Times New Roman"/>
                <a:cs typeface="Times New Roman"/>
              </a:rPr>
              <a:t> </a:t>
            </a:r>
            <a:r>
              <a:rPr dirty="0" sz="900">
                <a:latin typeface="Times New Roman"/>
                <a:cs typeface="Times New Roman"/>
              </a:rPr>
              <a:t>person </a:t>
            </a:r>
            <a:r>
              <a:rPr dirty="0" sz="900" spc="-10">
                <a:latin typeface="Times New Roman"/>
                <a:cs typeface="Times New Roman"/>
              </a:rPr>
              <a:t>involved</a:t>
            </a:r>
            <a:r>
              <a:rPr dirty="0" sz="900">
                <a:latin typeface="Times New Roman"/>
                <a:cs typeface="Times New Roman"/>
              </a:rPr>
              <a:t> in nearly</a:t>
            </a:r>
            <a:r>
              <a:rPr dirty="0" sz="900" spc="10">
                <a:latin typeface="Times New Roman"/>
                <a:cs typeface="Times New Roman"/>
              </a:rPr>
              <a:t> </a:t>
            </a:r>
            <a:r>
              <a:rPr dirty="0" sz="900" spc="-10">
                <a:latin typeface="Times New Roman"/>
                <a:cs typeface="Times New Roman"/>
              </a:rPr>
              <a:t>every </a:t>
            </a:r>
            <a:r>
              <a:rPr dirty="0" sz="900">
                <a:latin typeface="Times New Roman"/>
                <a:cs typeface="Times New Roman"/>
              </a:rPr>
              <a:t>detail.</a:t>
            </a:r>
            <a:r>
              <a:rPr dirty="0" sz="900" spc="30">
                <a:latin typeface="Times New Roman"/>
                <a:cs typeface="Times New Roman"/>
              </a:rPr>
              <a:t> </a:t>
            </a:r>
            <a:r>
              <a:rPr dirty="0" sz="900">
                <a:latin typeface="Times New Roman"/>
                <a:cs typeface="Times New Roman"/>
              </a:rPr>
              <a:t>Niki</a:t>
            </a:r>
            <a:r>
              <a:rPr dirty="0" sz="900" spc="-25">
                <a:latin typeface="Times New Roman"/>
                <a:cs typeface="Times New Roman"/>
              </a:rPr>
              <a:t> </a:t>
            </a:r>
            <a:r>
              <a:rPr dirty="0" sz="900">
                <a:latin typeface="Times New Roman"/>
                <a:cs typeface="Times New Roman"/>
              </a:rPr>
              <a:t>designed,</a:t>
            </a:r>
            <a:r>
              <a:rPr dirty="0" sz="900" spc="-15">
                <a:latin typeface="Times New Roman"/>
                <a:cs typeface="Times New Roman"/>
              </a:rPr>
              <a:t> </a:t>
            </a:r>
            <a:r>
              <a:rPr dirty="0" sz="900">
                <a:latin typeface="Times New Roman"/>
                <a:cs typeface="Times New Roman"/>
              </a:rPr>
              <a:t>implemented,</a:t>
            </a:r>
            <a:r>
              <a:rPr dirty="0" sz="900" spc="-20">
                <a:latin typeface="Times New Roman"/>
                <a:cs typeface="Times New Roman"/>
              </a:rPr>
              <a:t> </a:t>
            </a:r>
            <a:r>
              <a:rPr dirty="0" sz="900">
                <a:latin typeface="Times New Roman"/>
                <a:cs typeface="Times New Roman"/>
              </a:rPr>
              <a:t>tuned</a:t>
            </a:r>
            <a:r>
              <a:rPr dirty="0" sz="900" spc="-20">
                <a:latin typeface="Times New Roman"/>
                <a:cs typeface="Times New Roman"/>
              </a:rPr>
              <a:t> </a:t>
            </a:r>
            <a:r>
              <a:rPr dirty="0" sz="900">
                <a:latin typeface="Times New Roman"/>
                <a:cs typeface="Times New Roman"/>
              </a:rPr>
              <a:t>and</a:t>
            </a:r>
            <a:r>
              <a:rPr dirty="0" sz="900" spc="-20">
                <a:latin typeface="Times New Roman"/>
                <a:cs typeface="Times New Roman"/>
              </a:rPr>
              <a:t> </a:t>
            </a:r>
            <a:r>
              <a:rPr dirty="0" sz="900" spc="-10">
                <a:latin typeface="Times New Roman"/>
                <a:cs typeface="Times New Roman"/>
              </a:rPr>
              <a:t>evaluated</a:t>
            </a:r>
            <a:r>
              <a:rPr dirty="0" sz="900" spc="-20">
                <a:latin typeface="Times New Roman"/>
                <a:cs typeface="Times New Roman"/>
              </a:rPr>
              <a:t> </a:t>
            </a:r>
            <a:r>
              <a:rPr dirty="0" sz="900">
                <a:latin typeface="Times New Roman"/>
                <a:cs typeface="Times New Roman"/>
              </a:rPr>
              <a:t>countless</a:t>
            </a:r>
            <a:r>
              <a:rPr dirty="0" sz="900" spc="-20">
                <a:latin typeface="Times New Roman"/>
                <a:cs typeface="Times New Roman"/>
              </a:rPr>
              <a:t> </a:t>
            </a:r>
            <a:r>
              <a:rPr dirty="0" sz="900">
                <a:latin typeface="Times New Roman"/>
                <a:cs typeface="Times New Roman"/>
              </a:rPr>
              <a:t>model</a:t>
            </a:r>
            <a:r>
              <a:rPr dirty="0" sz="900" spc="-20">
                <a:latin typeface="Times New Roman"/>
                <a:cs typeface="Times New Roman"/>
              </a:rPr>
              <a:t> </a:t>
            </a:r>
            <a:r>
              <a:rPr dirty="0" sz="900" spc="-10">
                <a:latin typeface="Times New Roman"/>
                <a:cs typeface="Times New Roman"/>
              </a:rPr>
              <a:t>variants</a:t>
            </a:r>
            <a:r>
              <a:rPr dirty="0" sz="900" spc="-25">
                <a:latin typeface="Times New Roman"/>
                <a:cs typeface="Times New Roman"/>
              </a:rPr>
              <a:t> </a:t>
            </a:r>
            <a:r>
              <a:rPr dirty="0" sz="900">
                <a:latin typeface="Times New Roman"/>
                <a:cs typeface="Times New Roman"/>
              </a:rPr>
              <a:t>in</a:t>
            </a:r>
            <a:r>
              <a:rPr dirty="0" sz="900" spc="-15">
                <a:latin typeface="Times New Roman"/>
                <a:cs typeface="Times New Roman"/>
              </a:rPr>
              <a:t> </a:t>
            </a:r>
            <a:r>
              <a:rPr dirty="0" sz="900">
                <a:latin typeface="Times New Roman"/>
                <a:cs typeface="Times New Roman"/>
              </a:rPr>
              <a:t>our</a:t>
            </a:r>
            <a:r>
              <a:rPr dirty="0" sz="900" spc="-25">
                <a:latin typeface="Times New Roman"/>
                <a:cs typeface="Times New Roman"/>
              </a:rPr>
              <a:t> </a:t>
            </a:r>
            <a:r>
              <a:rPr dirty="0" sz="900">
                <a:latin typeface="Times New Roman"/>
                <a:cs typeface="Times New Roman"/>
              </a:rPr>
              <a:t>original</a:t>
            </a:r>
            <a:r>
              <a:rPr dirty="0" sz="900" spc="-20">
                <a:latin typeface="Times New Roman"/>
                <a:cs typeface="Times New Roman"/>
              </a:rPr>
              <a:t> </a:t>
            </a:r>
            <a:r>
              <a:rPr dirty="0" sz="900">
                <a:latin typeface="Times New Roman"/>
                <a:cs typeface="Times New Roman"/>
              </a:rPr>
              <a:t>codebase</a:t>
            </a:r>
            <a:r>
              <a:rPr dirty="0" sz="900" spc="-20">
                <a:latin typeface="Times New Roman"/>
                <a:cs typeface="Times New Roman"/>
              </a:rPr>
              <a:t> </a:t>
            </a:r>
            <a:r>
              <a:rPr dirty="0" sz="900" spc="-25">
                <a:latin typeface="Times New Roman"/>
                <a:cs typeface="Times New Roman"/>
              </a:rPr>
              <a:t>and</a:t>
            </a:r>
            <a:r>
              <a:rPr dirty="0" sz="900" spc="-10">
                <a:latin typeface="Times New Roman"/>
                <a:cs typeface="Times New Roman"/>
              </a:rPr>
              <a:t> tensor2tensor.</a:t>
            </a:r>
            <a:r>
              <a:rPr dirty="0" sz="900" spc="25">
                <a:latin typeface="Times New Roman"/>
                <a:cs typeface="Times New Roman"/>
              </a:rPr>
              <a:t> </a:t>
            </a:r>
            <a:r>
              <a:rPr dirty="0" sz="900">
                <a:latin typeface="Times New Roman"/>
                <a:cs typeface="Times New Roman"/>
              </a:rPr>
              <a:t>Llion</a:t>
            </a:r>
            <a:r>
              <a:rPr dirty="0" sz="900" spc="-20">
                <a:latin typeface="Times New Roman"/>
                <a:cs typeface="Times New Roman"/>
              </a:rPr>
              <a:t> </a:t>
            </a:r>
            <a:r>
              <a:rPr dirty="0" sz="900">
                <a:latin typeface="Times New Roman"/>
                <a:cs typeface="Times New Roman"/>
              </a:rPr>
              <a:t>also</a:t>
            </a:r>
            <a:r>
              <a:rPr dirty="0" sz="900" spc="-25">
                <a:latin typeface="Times New Roman"/>
                <a:cs typeface="Times New Roman"/>
              </a:rPr>
              <a:t> </a:t>
            </a:r>
            <a:r>
              <a:rPr dirty="0" sz="900" spc="-10">
                <a:latin typeface="Times New Roman"/>
                <a:cs typeface="Times New Roman"/>
              </a:rPr>
              <a:t>experimented</a:t>
            </a:r>
            <a:r>
              <a:rPr dirty="0" sz="900" spc="-20">
                <a:latin typeface="Times New Roman"/>
                <a:cs typeface="Times New Roman"/>
              </a:rPr>
              <a:t> </a:t>
            </a:r>
            <a:r>
              <a:rPr dirty="0" sz="900">
                <a:latin typeface="Times New Roman"/>
                <a:cs typeface="Times New Roman"/>
              </a:rPr>
              <a:t>with</a:t>
            </a:r>
            <a:r>
              <a:rPr dirty="0" sz="900" spc="-20">
                <a:latin typeface="Times New Roman"/>
                <a:cs typeface="Times New Roman"/>
              </a:rPr>
              <a:t> </a:t>
            </a:r>
            <a:r>
              <a:rPr dirty="0" sz="900" spc="-10">
                <a:latin typeface="Times New Roman"/>
                <a:cs typeface="Times New Roman"/>
              </a:rPr>
              <a:t>novel</a:t>
            </a:r>
            <a:r>
              <a:rPr dirty="0" sz="900" spc="-25">
                <a:latin typeface="Times New Roman"/>
                <a:cs typeface="Times New Roman"/>
              </a:rPr>
              <a:t> </a:t>
            </a:r>
            <a:r>
              <a:rPr dirty="0" sz="900">
                <a:latin typeface="Times New Roman"/>
                <a:cs typeface="Times New Roman"/>
              </a:rPr>
              <a:t>model</a:t>
            </a:r>
            <a:r>
              <a:rPr dirty="0" sz="900" spc="-20">
                <a:latin typeface="Times New Roman"/>
                <a:cs typeface="Times New Roman"/>
              </a:rPr>
              <a:t> </a:t>
            </a:r>
            <a:r>
              <a:rPr dirty="0" sz="900" spc="-10">
                <a:latin typeface="Times New Roman"/>
                <a:cs typeface="Times New Roman"/>
              </a:rPr>
              <a:t>variants,</a:t>
            </a:r>
            <a:r>
              <a:rPr dirty="0" sz="900" spc="-25">
                <a:latin typeface="Times New Roman"/>
                <a:cs typeface="Times New Roman"/>
              </a:rPr>
              <a:t> </a:t>
            </a:r>
            <a:r>
              <a:rPr dirty="0" sz="900">
                <a:latin typeface="Times New Roman"/>
                <a:cs typeface="Times New Roman"/>
              </a:rPr>
              <a:t>was</a:t>
            </a:r>
            <a:r>
              <a:rPr dirty="0" sz="900" spc="-20">
                <a:latin typeface="Times New Roman"/>
                <a:cs typeface="Times New Roman"/>
              </a:rPr>
              <a:t> </a:t>
            </a:r>
            <a:r>
              <a:rPr dirty="0" sz="900" spc="-10">
                <a:latin typeface="Times New Roman"/>
                <a:cs typeface="Times New Roman"/>
              </a:rPr>
              <a:t>responsible</a:t>
            </a:r>
            <a:r>
              <a:rPr dirty="0" sz="900" spc="-25">
                <a:latin typeface="Times New Roman"/>
                <a:cs typeface="Times New Roman"/>
              </a:rPr>
              <a:t> </a:t>
            </a:r>
            <a:r>
              <a:rPr dirty="0" sz="900">
                <a:latin typeface="Times New Roman"/>
                <a:cs typeface="Times New Roman"/>
              </a:rPr>
              <a:t>for</a:t>
            </a:r>
            <a:r>
              <a:rPr dirty="0" sz="900" spc="-20">
                <a:latin typeface="Times New Roman"/>
                <a:cs typeface="Times New Roman"/>
              </a:rPr>
              <a:t> </a:t>
            </a:r>
            <a:r>
              <a:rPr dirty="0" sz="900">
                <a:latin typeface="Times New Roman"/>
                <a:cs typeface="Times New Roman"/>
              </a:rPr>
              <a:t>our</a:t>
            </a:r>
            <a:r>
              <a:rPr dirty="0" sz="900" spc="-20">
                <a:latin typeface="Times New Roman"/>
                <a:cs typeface="Times New Roman"/>
              </a:rPr>
              <a:t> </a:t>
            </a:r>
            <a:r>
              <a:rPr dirty="0" sz="900">
                <a:latin typeface="Times New Roman"/>
                <a:cs typeface="Times New Roman"/>
              </a:rPr>
              <a:t>initial</a:t>
            </a:r>
            <a:r>
              <a:rPr dirty="0" sz="900" spc="-25">
                <a:latin typeface="Times New Roman"/>
                <a:cs typeface="Times New Roman"/>
              </a:rPr>
              <a:t> </a:t>
            </a:r>
            <a:r>
              <a:rPr dirty="0" sz="900" spc="-10">
                <a:latin typeface="Times New Roman"/>
                <a:cs typeface="Times New Roman"/>
              </a:rPr>
              <a:t>codebase,</a:t>
            </a:r>
            <a:r>
              <a:rPr dirty="0" sz="900" spc="-20">
                <a:latin typeface="Times New Roman"/>
                <a:cs typeface="Times New Roman"/>
              </a:rPr>
              <a:t> </a:t>
            </a:r>
            <a:r>
              <a:rPr dirty="0" sz="900" spc="-25">
                <a:latin typeface="Times New Roman"/>
                <a:cs typeface="Times New Roman"/>
              </a:rPr>
              <a:t>and</a:t>
            </a:r>
            <a:r>
              <a:rPr dirty="0" sz="900" spc="-20">
                <a:latin typeface="Times New Roman"/>
                <a:cs typeface="Times New Roman"/>
              </a:rPr>
              <a:t> efficient</a:t>
            </a:r>
            <a:r>
              <a:rPr dirty="0" sz="900" spc="-25">
                <a:latin typeface="Times New Roman"/>
                <a:cs typeface="Times New Roman"/>
              </a:rPr>
              <a:t> </a:t>
            </a:r>
            <a:r>
              <a:rPr dirty="0" sz="900" spc="-10">
                <a:latin typeface="Times New Roman"/>
                <a:cs typeface="Times New Roman"/>
              </a:rPr>
              <a:t>inference</a:t>
            </a:r>
            <a:r>
              <a:rPr dirty="0" sz="900" spc="-30">
                <a:latin typeface="Times New Roman"/>
                <a:cs typeface="Times New Roman"/>
              </a:rPr>
              <a:t> </a:t>
            </a:r>
            <a:r>
              <a:rPr dirty="0" sz="900">
                <a:latin typeface="Times New Roman"/>
                <a:cs typeface="Times New Roman"/>
              </a:rPr>
              <a:t>and</a:t>
            </a:r>
            <a:r>
              <a:rPr dirty="0" sz="900" spc="-25">
                <a:latin typeface="Times New Roman"/>
                <a:cs typeface="Times New Roman"/>
              </a:rPr>
              <a:t> </a:t>
            </a:r>
            <a:r>
              <a:rPr dirty="0" sz="900" spc="-10">
                <a:latin typeface="Times New Roman"/>
                <a:cs typeface="Times New Roman"/>
              </a:rPr>
              <a:t>visualizations.</a:t>
            </a:r>
            <a:r>
              <a:rPr dirty="0" sz="900" spc="30">
                <a:latin typeface="Times New Roman"/>
                <a:cs typeface="Times New Roman"/>
              </a:rPr>
              <a:t> </a:t>
            </a:r>
            <a:r>
              <a:rPr dirty="0" sz="900" spc="-10">
                <a:latin typeface="Times New Roman"/>
                <a:cs typeface="Times New Roman"/>
              </a:rPr>
              <a:t>Lukasz</a:t>
            </a:r>
            <a:r>
              <a:rPr dirty="0" sz="900" spc="-30">
                <a:latin typeface="Times New Roman"/>
                <a:cs typeface="Times New Roman"/>
              </a:rPr>
              <a:t> </a:t>
            </a:r>
            <a:r>
              <a:rPr dirty="0" sz="900">
                <a:latin typeface="Times New Roman"/>
                <a:cs typeface="Times New Roman"/>
              </a:rPr>
              <a:t>and</a:t>
            </a:r>
            <a:r>
              <a:rPr dirty="0" sz="900" spc="-25">
                <a:latin typeface="Times New Roman"/>
                <a:cs typeface="Times New Roman"/>
              </a:rPr>
              <a:t> </a:t>
            </a:r>
            <a:r>
              <a:rPr dirty="0" sz="900" spc="-10">
                <a:latin typeface="Times New Roman"/>
                <a:cs typeface="Times New Roman"/>
              </a:rPr>
              <a:t>Aidan</a:t>
            </a:r>
            <a:r>
              <a:rPr dirty="0" sz="900" spc="-25">
                <a:latin typeface="Times New Roman"/>
                <a:cs typeface="Times New Roman"/>
              </a:rPr>
              <a:t> </a:t>
            </a:r>
            <a:r>
              <a:rPr dirty="0" sz="900" spc="-10">
                <a:latin typeface="Times New Roman"/>
                <a:cs typeface="Times New Roman"/>
              </a:rPr>
              <a:t>spent</a:t>
            </a:r>
            <a:r>
              <a:rPr dirty="0" sz="900" spc="-30">
                <a:latin typeface="Times New Roman"/>
                <a:cs typeface="Times New Roman"/>
              </a:rPr>
              <a:t> </a:t>
            </a:r>
            <a:r>
              <a:rPr dirty="0" sz="900" spc="-10">
                <a:latin typeface="Times New Roman"/>
                <a:cs typeface="Times New Roman"/>
              </a:rPr>
              <a:t>countless</a:t>
            </a:r>
            <a:r>
              <a:rPr dirty="0" sz="900" spc="-25">
                <a:latin typeface="Times New Roman"/>
                <a:cs typeface="Times New Roman"/>
              </a:rPr>
              <a:t> </a:t>
            </a:r>
            <a:r>
              <a:rPr dirty="0" sz="900" spc="-10">
                <a:latin typeface="Times New Roman"/>
                <a:cs typeface="Times New Roman"/>
              </a:rPr>
              <a:t>long</a:t>
            </a:r>
            <a:r>
              <a:rPr dirty="0" sz="900" spc="-25">
                <a:latin typeface="Times New Roman"/>
                <a:cs typeface="Times New Roman"/>
              </a:rPr>
              <a:t> </a:t>
            </a:r>
            <a:r>
              <a:rPr dirty="0" sz="900" spc="-10">
                <a:latin typeface="Times New Roman"/>
                <a:cs typeface="Times New Roman"/>
              </a:rPr>
              <a:t>days</a:t>
            </a:r>
            <a:r>
              <a:rPr dirty="0" sz="900" spc="-30">
                <a:latin typeface="Times New Roman"/>
                <a:cs typeface="Times New Roman"/>
              </a:rPr>
              <a:t> </a:t>
            </a:r>
            <a:r>
              <a:rPr dirty="0" sz="900" spc="-10">
                <a:latin typeface="Times New Roman"/>
                <a:cs typeface="Times New Roman"/>
              </a:rPr>
              <a:t>designing</a:t>
            </a:r>
            <a:r>
              <a:rPr dirty="0" sz="900" spc="-25">
                <a:latin typeface="Times New Roman"/>
                <a:cs typeface="Times New Roman"/>
              </a:rPr>
              <a:t> </a:t>
            </a:r>
            <a:r>
              <a:rPr dirty="0" sz="900" spc="-20">
                <a:latin typeface="Times New Roman"/>
                <a:cs typeface="Times New Roman"/>
              </a:rPr>
              <a:t>various</a:t>
            </a:r>
            <a:r>
              <a:rPr dirty="0" sz="900" spc="-25">
                <a:latin typeface="Times New Roman"/>
                <a:cs typeface="Times New Roman"/>
              </a:rPr>
              <a:t> </a:t>
            </a:r>
            <a:r>
              <a:rPr dirty="0" sz="900" spc="-10">
                <a:latin typeface="Times New Roman"/>
                <a:cs typeface="Times New Roman"/>
              </a:rPr>
              <a:t>parts</a:t>
            </a:r>
            <a:r>
              <a:rPr dirty="0" sz="900" spc="-25">
                <a:latin typeface="Times New Roman"/>
                <a:cs typeface="Times New Roman"/>
              </a:rPr>
              <a:t> </a:t>
            </a:r>
            <a:r>
              <a:rPr dirty="0" sz="900">
                <a:latin typeface="Times New Roman"/>
                <a:cs typeface="Times New Roman"/>
              </a:rPr>
              <a:t>of</a:t>
            </a:r>
            <a:r>
              <a:rPr dirty="0" sz="900" spc="-30">
                <a:latin typeface="Times New Roman"/>
                <a:cs typeface="Times New Roman"/>
              </a:rPr>
              <a:t> </a:t>
            </a:r>
            <a:r>
              <a:rPr dirty="0" sz="900" spc="-25">
                <a:latin typeface="Times New Roman"/>
                <a:cs typeface="Times New Roman"/>
              </a:rPr>
              <a:t>and</a:t>
            </a:r>
            <a:r>
              <a:rPr dirty="0" sz="900" spc="-20">
                <a:latin typeface="Times New Roman"/>
                <a:cs typeface="Times New Roman"/>
              </a:rPr>
              <a:t> implementing</a:t>
            </a:r>
            <a:r>
              <a:rPr dirty="0" sz="900" spc="-5">
                <a:latin typeface="Times New Roman"/>
                <a:cs typeface="Times New Roman"/>
              </a:rPr>
              <a:t> </a:t>
            </a:r>
            <a:r>
              <a:rPr dirty="0" sz="900" spc="-20">
                <a:latin typeface="Times New Roman"/>
                <a:cs typeface="Times New Roman"/>
              </a:rPr>
              <a:t>tensor2tensor,</a:t>
            </a:r>
            <a:r>
              <a:rPr dirty="0" sz="900">
                <a:latin typeface="Times New Roman"/>
                <a:cs typeface="Times New Roman"/>
              </a:rPr>
              <a:t> </a:t>
            </a:r>
            <a:r>
              <a:rPr dirty="0" sz="900" spc="-10">
                <a:latin typeface="Times New Roman"/>
                <a:cs typeface="Times New Roman"/>
              </a:rPr>
              <a:t>replacing</a:t>
            </a:r>
            <a:r>
              <a:rPr dirty="0" sz="900" spc="-5">
                <a:latin typeface="Times New Roman"/>
                <a:cs typeface="Times New Roman"/>
              </a:rPr>
              <a:t> </a:t>
            </a:r>
            <a:r>
              <a:rPr dirty="0" sz="900">
                <a:latin typeface="Times New Roman"/>
                <a:cs typeface="Times New Roman"/>
              </a:rPr>
              <a:t>our </a:t>
            </a:r>
            <a:r>
              <a:rPr dirty="0" sz="900" spc="-10">
                <a:latin typeface="Times New Roman"/>
                <a:cs typeface="Times New Roman"/>
              </a:rPr>
              <a:t>earlier</a:t>
            </a:r>
            <a:r>
              <a:rPr dirty="0" sz="900" spc="-5">
                <a:latin typeface="Times New Roman"/>
                <a:cs typeface="Times New Roman"/>
              </a:rPr>
              <a:t> </a:t>
            </a:r>
            <a:r>
              <a:rPr dirty="0" sz="900" spc="-10">
                <a:latin typeface="Times New Roman"/>
                <a:cs typeface="Times New Roman"/>
              </a:rPr>
              <a:t>codebase,</a:t>
            </a:r>
            <a:r>
              <a:rPr dirty="0" sz="900">
                <a:latin typeface="Times New Roman"/>
                <a:cs typeface="Times New Roman"/>
              </a:rPr>
              <a:t> </a:t>
            </a:r>
            <a:r>
              <a:rPr dirty="0" sz="900" spc="-10">
                <a:latin typeface="Times New Roman"/>
                <a:cs typeface="Times New Roman"/>
              </a:rPr>
              <a:t>greatly</a:t>
            </a:r>
            <a:r>
              <a:rPr dirty="0" sz="900">
                <a:latin typeface="Times New Roman"/>
                <a:cs typeface="Times New Roman"/>
              </a:rPr>
              <a:t> </a:t>
            </a:r>
            <a:r>
              <a:rPr dirty="0" sz="900" spc="-20">
                <a:latin typeface="Times New Roman"/>
                <a:cs typeface="Times New Roman"/>
              </a:rPr>
              <a:t>improving</a:t>
            </a:r>
            <a:r>
              <a:rPr dirty="0" sz="900" spc="-5">
                <a:latin typeface="Times New Roman"/>
                <a:cs typeface="Times New Roman"/>
              </a:rPr>
              <a:t> </a:t>
            </a:r>
            <a:r>
              <a:rPr dirty="0" sz="900" spc="-10">
                <a:latin typeface="Times New Roman"/>
                <a:cs typeface="Times New Roman"/>
              </a:rPr>
              <a:t>results</a:t>
            </a:r>
            <a:r>
              <a:rPr dirty="0" sz="900" spc="-5">
                <a:latin typeface="Times New Roman"/>
                <a:cs typeface="Times New Roman"/>
              </a:rPr>
              <a:t> </a:t>
            </a:r>
            <a:r>
              <a:rPr dirty="0" sz="900" spc="-10">
                <a:latin typeface="Times New Roman"/>
                <a:cs typeface="Times New Roman"/>
              </a:rPr>
              <a:t>and</a:t>
            </a:r>
            <a:r>
              <a:rPr dirty="0" sz="900">
                <a:latin typeface="Times New Roman"/>
                <a:cs typeface="Times New Roman"/>
              </a:rPr>
              <a:t> </a:t>
            </a:r>
            <a:r>
              <a:rPr dirty="0" sz="900" spc="-20">
                <a:latin typeface="Times New Roman"/>
                <a:cs typeface="Times New Roman"/>
              </a:rPr>
              <a:t>massively</a:t>
            </a:r>
            <a:r>
              <a:rPr dirty="0" sz="900" spc="-5">
                <a:latin typeface="Times New Roman"/>
                <a:cs typeface="Times New Roman"/>
              </a:rPr>
              <a:t> </a:t>
            </a:r>
            <a:r>
              <a:rPr dirty="0" sz="900" spc="-10">
                <a:latin typeface="Times New Roman"/>
                <a:cs typeface="Times New Roman"/>
              </a:rPr>
              <a:t>accelerating </a:t>
            </a:r>
            <a:r>
              <a:rPr dirty="0" sz="900">
                <a:latin typeface="Times New Roman"/>
                <a:cs typeface="Times New Roman"/>
              </a:rPr>
              <a:t>our</a:t>
            </a:r>
            <a:r>
              <a:rPr dirty="0" sz="900" spc="-20">
                <a:latin typeface="Times New Roman"/>
                <a:cs typeface="Times New Roman"/>
              </a:rPr>
              <a:t> </a:t>
            </a:r>
            <a:r>
              <a:rPr dirty="0" sz="900" spc="-10">
                <a:latin typeface="Times New Roman"/>
                <a:cs typeface="Times New Roman"/>
              </a:rPr>
              <a:t>research.</a:t>
            </a:r>
            <a:endParaRPr sz="900">
              <a:latin typeface="Times New Roman"/>
              <a:cs typeface="Times New Roman"/>
            </a:endParaRPr>
          </a:p>
          <a:p>
            <a:pPr algn="just" marL="218440">
              <a:lnSpc>
                <a:spcPts val="1045"/>
              </a:lnSpc>
            </a:pPr>
            <a:r>
              <a:rPr dirty="0" baseline="37037" sz="900" spc="-15">
                <a:latin typeface="Lucida Sans Unicode"/>
                <a:cs typeface="Lucida Sans Unicode"/>
              </a:rPr>
              <a:t>†</a:t>
            </a:r>
            <a:r>
              <a:rPr dirty="0" sz="900" spc="-10">
                <a:latin typeface="Times New Roman"/>
                <a:cs typeface="Times New Roman"/>
              </a:rPr>
              <a:t>Work</a:t>
            </a:r>
            <a:r>
              <a:rPr dirty="0" sz="900" spc="-30">
                <a:latin typeface="Times New Roman"/>
                <a:cs typeface="Times New Roman"/>
              </a:rPr>
              <a:t> </a:t>
            </a:r>
            <a:r>
              <a:rPr dirty="0" sz="900">
                <a:latin typeface="Times New Roman"/>
                <a:cs typeface="Times New Roman"/>
              </a:rPr>
              <a:t>performed</a:t>
            </a:r>
            <a:r>
              <a:rPr dirty="0" sz="900" spc="-30">
                <a:latin typeface="Times New Roman"/>
                <a:cs typeface="Times New Roman"/>
              </a:rPr>
              <a:t> </a:t>
            </a:r>
            <a:r>
              <a:rPr dirty="0" sz="900">
                <a:latin typeface="Times New Roman"/>
                <a:cs typeface="Times New Roman"/>
              </a:rPr>
              <a:t>while</a:t>
            </a:r>
            <a:r>
              <a:rPr dirty="0" sz="900" spc="-30">
                <a:latin typeface="Times New Roman"/>
                <a:cs typeface="Times New Roman"/>
              </a:rPr>
              <a:t> </a:t>
            </a:r>
            <a:r>
              <a:rPr dirty="0" sz="900">
                <a:latin typeface="Times New Roman"/>
                <a:cs typeface="Times New Roman"/>
              </a:rPr>
              <a:t>at</a:t>
            </a:r>
            <a:r>
              <a:rPr dirty="0" sz="900" spc="-30">
                <a:latin typeface="Times New Roman"/>
                <a:cs typeface="Times New Roman"/>
              </a:rPr>
              <a:t> </a:t>
            </a:r>
            <a:r>
              <a:rPr dirty="0" sz="900">
                <a:latin typeface="Times New Roman"/>
                <a:cs typeface="Times New Roman"/>
              </a:rPr>
              <a:t>Google</a:t>
            </a:r>
            <a:r>
              <a:rPr dirty="0" sz="900" spc="-30">
                <a:latin typeface="Times New Roman"/>
                <a:cs typeface="Times New Roman"/>
              </a:rPr>
              <a:t> </a:t>
            </a:r>
            <a:r>
              <a:rPr dirty="0" sz="900" spc="-10">
                <a:latin typeface="Times New Roman"/>
                <a:cs typeface="Times New Roman"/>
              </a:rPr>
              <a:t>Brain.</a:t>
            </a:r>
            <a:endParaRPr sz="900">
              <a:latin typeface="Times New Roman"/>
              <a:cs typeface="Times New Roman"/>
            </a:endParaRPr>
          </a:p>
          <a:p>
            <a:pPr algn="just" marL="218440">
              <a:lnSpc>
                <a:spcPct val="100000"/>
              </a:lnSpc>
              <a:spcBef>
                <a:spcPts val="15"/>
              </a:spcBef>
            </a:pPr>
            <a:r>
              <a:rPr dirty="0" baseline="37037" sz="900" spc="-15">
                <a:latin typeface="Lucida Sans Unicode"/>
                <a:cs typeface="Lucida Sans Unicode"/>
              </a:rPr>
              <a:t>‡</a:t>
            </a:r>
            <a:r>
              <a:rPr dirty="0" sz="900" spc="-10">
                <a:latin typeface="Times New Roman"/>
                <a:cs typeface="Times New Roman"/>
              </a:rPr>
              <a:t>Work</a:t>
            </a:r>
            <a:r>
              <a:rPr dirty="0" sz="900" spc="-30">
                <a:latin typeface="Times New Roman"/>
                <a:cs typeface="Times New Roman"/>
              </a:rPr>
              <a:t> </a:t>
            </a:r>
            <a:r>
              <a:rPr dirty="0" sz="900">
                <a:latin typeface="Times New Roman"/>
                <a:cs typeface="Times New Roman"/>
              </a:rPr>
              <a:t>performed</a:t>
            </a:r>
            <a:r>
              <a:rPr dirty="0" sz="900" spc="-30">
                <a:latin typeface="Times New Roman"/>
                <a:cs typeface="Times New Roman"/>
              </a:rPr>
              <a:t> </a:t>
            </a:r>
            <a:r>
              <a:rPr dirty="0" sz="900">
                <a:latin typeface="Times New Roman"/>
                <a:cs typeface="Times New Roman"/>
              </a:rPr>
              <a:t>while</a:t>
            </a:r>
            <a:r>
              <a:rPr dirty="0" sz="900" spc="-30">
                <a:latin typeface="Times New Roman"/>
                <a:cs typeface="Times New Roman"/>
              </a:rPr>
              <a:t> </a:t>
            </a:r>
            <a:r>
              <a:rPr dirty="0" sz="900">
                <a:latin typeface="Times New Roman"/>
                <a:cs typeface="Times New Roman"/>
              </a:rPr>
              <a:t>at</a:t>
            </a:r>
            <a:r>
              <a:rPr dirty="0" sz="900" spc="-30">
                <a:latin typeface="Times New Roman"/>
                <a:cs typeface="Times New Roman"/>
              </a:rPr>
              <a:t> </a:t>
            </a:r>
            <a:r>
              <a:rPr dirty="0" sz="900">
                <a:latin typeface="Times New Roman"/>
                <a:cs typeface="Times New Roman"/>
              </a:rPr>
              <a:t>Google</a:t>
            </a:r>
            <a:r>
              <a:rPr dirty="0" sz="900" spc="-30">
                <a:latin typeface="Times New Roman"/>
                <a:cs typeface="Times New Roman"/>
              </a:rPr>
              <a:t> </a:t>
            </a:r>
            <a:r>
              <a:rPr dirty="0" sz="900" spc="-10">
                <a:latin typeface="Times New Roman"/>
                <a:cs typeface="Times New Roman"/>
              </a:rPr>
              <a:t>Research.</a:t>
            </a:r>
            <a:endParaRPr sz="900">
              <a:latin typeface="Times New Roman"/>
              <a:cs typeface="Times New Roman"/>
            </a:endParaRPr>
          </a:p>
          <a:p>
            <a:pPr>
              <a:lnSpc>
                <a:spcPct val="100000"/>
              </a:lnSpc>
              <a:spcBef>
                <a:spcPts val="520"/>
              </a:spcBef>
            </a:pPr>
            <a:endParaRPr sz="900">
              <a:latin typeface="Times New Roman"/>
              <a:cs typeface="Times New Roman"/>
            </a:endParaRPr>
          </a:p>
          <a:p>
            <a:pPr algn="just" marL="63500">
              <a:lnSpc>
                <a:spcPct val="100000"/>
              </a:lnSpc>
              <a:spcBef>
                <a:spcPts val="5"/>
              </a:spcBef>
            </a:pPr>
            <a:r>
              <a:rPr dirty="0" sz="900">
                <a:latin typeface="Times New Roman"/>
                <a:cs typeface="Times New Roman"/>
              </a:rPr>
              <a:t>31st</a:t>
            </a:r>
            <a:r>
              <a:rPr dirty="0" sz="900" spc="-35">
                <a:latin typeface="Times New Roman"/>
                <a:cs typeface="Times New Roman"/>
              </a:rPr>
              <a:t> </a:t>
            </a:r>
            <a:r>
              <a:rPr dirty="0" sz="900">
                <a:latin typeface="Times New Roman"/>
                <a:cs typeface="Times New Roman"/>
              </a:rPr>
              <a:t>Conference</a:t>
            </a:r>
            <a:r>
              <a:rPr dirty="0" sz="900" spc="-30">
                <a:latin typeface="Times New Roman"/>
                <a:cs typeface="Times New Roman"/>
              </a:rPr>
              <a:t> </a:t>
            </a:r>
            <a:r>
              <a:rPr dirty="0" sz="900">
                <a:latin typeface="Times New Roman"/>
                <a:cs typeface="Times New Roman"/>
              </a:rPr>
              <a:t>on</a:t>
            </a:r>
            <a:r>
              <a:rPr dirty="0" sz="900" spc="-30">
                <a:latin typeface="Times New Roman"/>
                <a:cs typeface="Times New Roman"/>
              </a:rPr>
              <a:t> </a:t>
            </a:r>
            <a:r>
              <a:rPr dirty="0" sz="900">
                <a:latin typeface="Times New Roman"/>
                <a:cs typeface="Times New Roman"/>
              </a:rPr>
              <a:t>Neural</a:t>
            </a:r>
            <a:r>
              <a:rPr dirty="0" sz="900" spc="-30">
                <a:latin typeface="Times New Roman"/>
                <a:cs typeface="Times New Roman"/>
              </a:rPr>
              <a:t> </a:t>
            </a:r>
            <a:r>
              <a:rPr dirty="0" sz="900">
                <a:latin typeface="Times New Roman"/>
                <a:cs typeface="Times New Roman"/>
              </a:rPr>
              <a:t>Information</a:t>
            </a:r>
            <a:r>
              <a:rPr dirty="0" sz="900" spc="-30">
                <a:latin typeface="Times New Roman"/>
                <a:cs typeface="Times New Roman"/>
              </a:rPr>
              <a:t> </a:t>
            </a:r>
            <a:r>
              <a:rPr dirty="0" sz="900">
                <a:latin typeface="Times New Roman"/>
                <a:cs typeface="Times New Roman"/>
              </a:rPr>
              <a:t>Processing</a:t>
            </a:r>
            <a:r>
              <a:rPr dirty="0" sz="900" spc="-30">
                <a:latin typeface="Times New Roman"/>
                <a:cs typeface="Times New Roman"/>
              </a:rPr>
              <a:t> </a:t>
            </a:r>
            <a:r>
              <a:rPr dirty="0" sz="900">
                <a:latin typeface="Times New Roman"/>
                <a:cs typeface="Times New Roman"/>
              </a:rPr>
              <a:t>Systems</a:t>
            </a:r>
            <a:r>
              <a:rPr dirty="0" sz="900" spc="-30">
                <a:latin typeface="Times New Roman"/>
                <a:cs typeface="Times New Roman"/>
              </a:rPr>
              <a:t> </a:t>
            </a:r>
            <a:r>
              <a:rPr dirty="0" sz="900">
                <a:latin typeface="Times New Roman"/>
                <a:cs typeface="Times New Roman"/>
              </a:rPr>
              <a:t>(NIPS</a:t>
            </a:r>
            <a:r>
              <a:rPr dirty="0" sz="900" spc="-30">
                <a:latin typeface="Times New Roman"/>
                <a:cs typeface="Times New Roman"/>
              </a:rPr>
              <a:t> </a:t>
            </a:r>
            <a:r>
              <a:rPr dirty="0" sz="900">
                <a:latin typeface="Times New Roman"/>
                <a:cs typeface="Times New Roman"/>
              </a:rPr>
              <a:t>2017),</a:t>
            </a:r>
            <a:r>
              <a:rPr dirty="0" sz="900" spc="-30">
                <a:latin typeface="Times New Roman"/>
                <a:cs typeface="Times New Roman"/>
              </a:rPr>
              <a:t> </a:t>
            </a:r>
            <a:r>
              <a:rPr dirty="0" sz="900">
                <a:latin typeface="Times New Roman"/>
                <a:cs typeface="Times New Roman"/>
              </a:rPr>
              <a:t>Long</a:t>
            </a:r>
            <a:r>
              <a:rPr dirty="0" sz="900" spc="-35">
                <a:latin typeface="Times New Roman"/>
                <a:cs typeface="Times New Roman"/>
              </a:rPr>
              <a:t> </a:t>
            </a:r>
            <a:r>
              <a:rPr dirty="0" sz="900">
                <a:latin typeface="Times New Roman"/>
                <a:cs typeface="Times New Roman"/>
              </a:rPr>
              <a:t>Beach,</a:t>
            </a:r>
            <a:r>
              <a:rPr dirty="0" sz="900" spc="-30">
                <a:latin typeface="Times New Roman"/>
                <a:cs typeface="Times New Roman"/>
              </a:rPr>
              <a:t> </a:t>
            </a:r>
            <a:r>
              <a:rPr dirty="0" sz="900">
                <a:latin typeface="Times New Roman"/>
                <a:cs typeface="Times New Roman"/>
              </a:rPr>
              <a:t>CA,</a:t>
            </a:r>
            <a:r>
              <a:rPr dirty="0" sz="900" spc="-30">
                <a:latin typeface="Times New Roman"/>
                <a:cs typeface="Times New Roman"/>
              </a:rPr>
              <a:t> </a:t>
            </a:r>
            <a:r>
              <a:rPr dirty="0" sz="900" spc="-20">
                <a:latin typeface="Times New Roman"/>
                <a:cs typeface="Times New Roman"/>
              </a:rPr>
              <a:t>USA.</a:t>
            </a:r>
            <a:endParaRPr sz="9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
          <p:cNvSpPr txBox="1"/>
          <p:nvPr/>
        </p:nvSpPr>
        <p:spPr>
          <a:xfrm>
            <a:off x="3841864" y="9393968"/>
            <a:ext cx="88900" cy="178435"/>
          </a:xfrm>
          <a:prstGeom prst="rect">
            <a:avLst/>
          </a:prstGeom>
        </p:spPr>
        <p:txBody>
          <a:bodyPr wrap="square" lIns="0" tIns="2540" rIns="0" bIns="0" rtlCol="0" vert="horz">
            <a:spAutoFit/>
          </a:bodyPr>
          <a:lstStyle/>
          <a:p>
            <a:pPr marL="12700">
              <a:lnSpc>
                <a:spcPct val="100000"/>
              </a:lnSpc>
              <a:spcBef>
                <a:spcPts val="20"/>
              </a:spcBef>
            </a:pPr>
            <a:r>
              <a:rPr dirty="0" sz="1000" spc="-50">
                <a:latin typeface="Times New Roman"/>
                <a:cs typeface="Times New Roman"/>
              </a:rPr>
              <a:t>2</a:t>
            </a:r>
            <a:endParaRPr sz="1000">
              <a:latin typeface="Times New Roman"/>
              <a:cs typeface="Times New Roman"/>
            </a:endParaRPr>
          </a:p>
        </p:txBody>
      </p:sp>
      <p:sp>
        <p:nvSpPr>
          <p:cNvPr id="2" name="object 2" descr=""/>
          <p:cNvSpPr txBox="1"/>
          <p:nvPr/>
        </p:nvSpPr>
        <p:spPr>
          <a:xfrm>
            <a:off x="1270000" y="901705"/>
            <a:ext cx="5237480" cy="8280400"/>
          </a:xfrm>
          <a:prstGeom prst="rect">
            <a:avLst/>
          </a:prstGeom>
        </p:spPr>
        <p:txBody>
          <a:bodyPr wrap="square" lIns="0" tIns="28575" rIns="0" bIns="0" rtlCol="0" vert="horz">
            <a:spAutoFit/>
          </a:bodyPr>
          <a:lstStyle/>
          <a:p>
            <a:pPr algn="just" marL="101600" marR="94615">
              <a:lnSpc>
                <a:spcPts val="1090"/>
              </a:lnSpc>
              <a:spcBef>
                <a:spcPts val="225"/>
              </a:spcBef>
            </a:pPr>
            <a:r>
              <a:rPr dirty="0" sz="1000">
                <a:latin typeface="Times New Roman"/>
                <a:cs typeface="Times New Roman"/>
              </a:rPr>
              <a:t>Recurrent</a:t>
            </a:r>
            <a:r>
              <a:rPr dirty="0" sz="1000" spc="20">
                <a:latin typeface="Times New Roman"/>
                <a:cs typeface="Times New Roman"/>
              </a:rPr>
              <a:t> </a:t>
            </a:r>
            <a:r>
              <a:rPr dirty="0" sz="1000">
                <a:latin typeface="Times New Roman"/>
                <a:cs typeface="Times New Roman"/>
              </a:rPr>
              <a:t>models</a:t>
            </a:r>
            <a:r>
              <a:rPr dirty="0" sz="1000" spc="25">
                <a:latin typeface="Times New Roman"/>
                <a:cs typeface="Times New Roman"/>
              </a:rPr>
              <a:t> </a:t>
            </a:r>
            <a:r>
              <a:rPr dirty="0" sz="1000">
                <a:latin typeface="Times New Roman"/>
                <a:cs typeface="Times New Roman"/>
              </a:rPr>
              <a:t>typically</a:t>
            </a:r>
            <a:r>
              <a:rPr dirty="0" sz="1000" spc="20">
                <a:latin typeface="Times New Roman"/>
                <a:cs typeface="Times New Roman"/>
              </a:rPr>
              <a:t> </a:t>
            </a:r>
            <a:r>
              <a:rPr dirty="0" sz="1000">
                <a:latin typeface="Times New Roman"/>
                <a:cs typeface="Times New Roman"/>
              </a:rPr>
              <a:t>factor</a:t>
            </a:r>
            <a:r>
              <a:rPr dirty="0" sz="1000" spc="25">
                <a:latin typeface="Times New Roman"/>
                <a:cs typeface="Times New Roman"/>
              </a:rPr>
              <a:t> </a:t>
            </a:r>
            <a:r>
              <a:rPr dirty="0" sz="1000">
                <a:latin typeface="Times New Roman"/>
                <a:cs typeface="Times New Roman"/>
              </a:rPr>
              <a:t>computation</a:t>
            </a:r>
            <a:r>
              <a:rPr dirty="0" sz="1000" spc="20">
                <a:latin typeface="Times New Roman"/>
                <a:cs typeface="Times New Roman"/>
              </a:rPr>
              <a:t> </a:t>
            </a:r>
            <a:r>
              <a:rPr dirty="0" sz="1000">
                <a:latin typeface="Times New Roman"/>
                <a:cs typeface="Times New Roman"/>
              </a:rPr>
              <a:t>along</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symbol</a:t>
            </a:r>
            <a:r>
              <a:rPr dirty="0" sz="1000" spc="25">
                <a:latin typeface="Times New Roman"/>
                <a:cs typeface="Times New Roman"/>
              </a:rPr>
              <a:t> </a:t>
            </a:r>
            <a:r>
              <a:rPr dirty="0" sz="1000">
                <a:latin typeface="Times New Roman"/>
                <a:cs typeface="Times New Roman"/>
              </a:rPr>
              <a:t>positions</a:t>
            </a:r>
            <a:r>
              <a:rPr dirty="0" sz="1000" spc="20">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input</a:t>
            </a:r>
            <a:r>
              <a:rPr dirty="0" sz="1000" spc="2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spc="-10">
                <a:latin typeface="Times New Roman"/>
                <a:cs typeface="Times New Roman"/>
              </a:rPr>
              <a:t>output </a:t>
            </a:r>
            <a:r>
              <a:rPr dirty="0" sz="1000">
                <a:latin typeface="Times New Roman"/>
                <a:cs typeface="Times New Roman"/>
              </a:rPr>
              <a:t>sequences.</a:t>
            </a:r>
            <a:r>
              <a:rPr dirty="0" sz="1000" spc="45">
                <a:latin typeface="Times New Roman"/>
                <a:cs typeface="Times New Roman"/>
              </a:rPr>
              <a:t> </a:t>
            </a:r>
            <a:r>
              <a:rPr dirty="0" sz="1000">
                <a:latin typeface="Times New Roman"/>
                <a:cs typeface="Times New Roman"/>
              </a:rPr>
              <a:t>Aligning</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positions</a:t>
            </a:r>
            <a:r>
              <a:rPr dirty="0" sz="1000" spc="-15">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steps</a:t>
            </a:r>
            <a:r>
              <a:rPr dirty="0" sz="1000" spc="-1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computation</a:t>
            </a:r>
            <a:r>
              <a:rPr dirty="0" sz="1000" spc="-10">
                <a:latin typeface="Times New Roman"/>
                <a:cs typeface="Times New Roman"/>
              </a:rPr>
              <a:t> </a:t>
            </a:r>
            <a:r>
              <a:rPr dirty="0" sz="1000">
                <a:latin typeface="Times New Roman"/>
                <a:cs typeface="Times New Roman"/>
              </a:rPr>
              <a:t>time,</a:t>
            </a:r>
            <a:r>
              <a:rPr dirty="0" sz="1000" spc="-15">
                <a:latin typeface="Times New Roman"/>
                <a:cs typeface="Times New Roman"/>
              </a:rPr>
              <a:t> </a:t>
            </a:r>
            <a:r>
              <a:rPr dirty="0" sz="1000">
                <a:latin typeface="Times New Roman"/>
                <a:cs typeface="Times New Roman"/>
              </a:rPr>
              <a:t>they</a:t>
            </a:r>
            <a:r>
              <a:rPr dirty="0" sz="1000" spc="-15">
                <a:latin typeface="Times New Roman"/>
                <a:cs typeface="Times New Roman"/>
              </a:rPr>
              <a:t> </a:t>
            </a:r>
            <a:r>
              <a:rPr dirty="0" sz="1000">
                <a:latin typeface="Times New Roman"/>
                <a:cs typeface="Times New Roman"/>
              </a:rPr>
              <a:t>generate</a:t>
            </a:r>
            <a:r>
              <a:rPr dirty="0" sz="1000" spc="-15">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a:latin typeface="Times New Roman"/>
                <a:cs typeface="Times New Roman"/>
              </a:rPr>
              <a:t>sequence</a:t>
            </a:r>
            <a:r>
              <a:rPr dirty="0" sz="1000" spc="-1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hidden </a:t>
            </a:r>
            <a:r>
              <a:rPr dirty="0" sz="1000">
                <a:latin typeface="Times New Roman"/>
                <a:cs typeface="Times New Roman"/>
              </a:rPr>
              <a:t>states</a:t>
            </a:r>
            <a:r>
              <a:rPr dirty="0" sz="1000" spc="-25">
                <a:latin typeface="Times New Roman"/>
                <a:cs typeface="Times New Roman"/>
              </a:rPr>
              <a:t> </a:t>
            </a:r>
            <a:r>
              <a:rPr dirty="0" sz="1000" spc="50" i="1">
                <a:latin typeface="Calibri"/>
                <a:cs typeface="Calibri"/>
              </a:rPr>
              <a:t>h</a:t>
            </a:r>
            <a:r>
              <a:rPr dirty="0" baseline="-11904" sz="1050" spc="75" i="1">
                <a:latin typeface="Calibri"/>
                <a:cs typeface="Calibri"/>
              </a:rPr>
              <a:t>t</a:t>
            </a:r>
            <a:r>
              <a:rPr dirty="0" sz="1000" spc="50">
                <a:latin typeface="Times New Roman"/>
                <a:cs typeface="Times New Roman"/>
              </a:rPr>
              <a:t>,</a:t>
            </a:r>
            <a:r>
              <a:rPr dirty="0" sz="1000" spc="-20">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spc="-10">
                <a:latin typeface="Times New Roman"/>
                <a:cs typeface="Times New Roman"/>
              </a:rPr>
              <a:t>function</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previous</a:t>
            </a:r>
            <a:r>
              <a:rPr dirty="0" sz="1000" spc="-20">
                <a:latin typeface="Times New Roman"/>
                <a:cs typeface="Times New Roman"/>
              </a:rPr>
              <a:t> </a:t>
            </a:r>
            <a:r>
              <a:rPr dirty="0" sz="1000">
                <a:latin typeface="Times New Roman"/>
                <a:cs typeface="Times New Roman"/>
              </a:rPr>
              <a:t>hidden</a:t>
            </a:r>
            <a:r>
              <a:rPr dirty="0" sz="1000" spc="-25">
                <a:latin typeface="Times New Roman"/>
                <a:cs typeface="Times New Roman"/>
              </a:rPr>
              <a:t> </a:t>
            </a:r>
            <a:r>
              <a:rPr dirty="0" sz="1000">
                <a:latin typeface="Times New Roman"/>
                <a:cs typeface="Times New Roman"/>
              </a:rPr>
              <a:t>state</a:t>
            </a:r>
            <a:r>
              <a:rPr dirty="0" sz="1000" spc="-20">
                <a:latin typeface="Times New Roman"/>
                <a:cs typeface="Times New Roman"/>
              </a:rPr>
              <a:t> </a:t>
            </a:r>
            <a:r>
              <a:rPr dirty="0" sz="1000" spc="85" i="1">
                <a:latin typeface="Calibri"/>
                <a:cs typeface="Calibri"/>
              </a:rPr>
              <a:t>h</a:t>
            </a:r>
            <a:r>
              <a:rPr dirty="0" baseline="-11904" sz="1050" spc="127" i="1">
                <a:latin typeface="Calibri"/>
                <a:cs typeface="Calibri"/>
              </a:rPr>
              <a:t>t</a:t>
            </a:r>
            <a:r>
              <a:rPr dirty="0" baseline="-11904" sz="1050" spc="127">
                <a:latin typeface="Cambria"/>
                <a:cs typeface="Cambria"/>
              </a:rPr>
              <a:t>−</a:t>
            </a:r>
            <a:r>
              <a:rPr dirty="0" baseline="-11904" sz="1050" spc="127">
                <a:latin typeface="Tahoma"/>
                <a:cs typeface="Tahoma"/>
              </a:rPr>
              <a:t>1</a:t>
            </a:r>
            <a:r>
              <a:rPr dirty="0" baseline="-11904" sz="1050" spc="82">
                <a:latin typeface="Tahoma"/>
                <a:cs typeface="Tahoma"/>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input</a:t>
            </a:r>
            <a:r>
              <a:rPr dirty="0" sz="1000" spc="-20">
                <a:latin typeface="Times New Roman"/>
                <a:cs typeface="Times New Roman"/>
              </a:rPr>
              <a:t> </a:t>
            </a:r>
            <a:r>
              <a:rPr dirty="0" sz="1000">
                <a:latin typeface="Times New Roman"/>
                <a:cs typeface="Times New Roman"/>
              </a:rPr>
              <a:t>for</a:t>
            </a:r>
            <a:r>
              <a:rPr dirty="0" sz="1000" spc="-25">
                <a:latin typeface="Times New Roman"/>
                <a:cs typeface="Times New Roman"/>
              </a:rPr>
              <a:t> </a:t>
            </a:r>
            <a:r>
              <a:rPr dirty="0" sz="1000" spc="-10">
                <a:latin typeface="Times New Roman"/>
                <a:cs typeface="Times New Roman"/>
              </a:rPr>
              <a:t>position</a:t>
            </a:r>
            <a:r>
              <a:rPr dirty="0" sz="1000" spc="-20">
                <a:latin typeface="Times New Roman"/>
                <a:cs typeface="Times New Roman"/>
              </a:rPr>
              <a:t> </a:t>
            </a:r>
            <a:r>
              <a:rPr dirty="0" sz="1000" i="1">
                <a:latin typeface="Calibri"/>
                <a:cs typeface="Calibri"/>
              </a:rPr>
              <a:t>t</a:t>
            </a:r>
            <a:r>
              <a:rPr dirty="0" sz="1000">
                <a:latin typeface="Times New Roman"/>
                <a:cs typeface="Times New Roman"/>
              </a:rPr>
              <a:t>.</a:t>
            </a:r>
            <a:r>
              <a:rPr dirty="0" sz="1000" spc="30">
                <a:latin typeface="Times New Roman"/>
                <a:cs typeface="Times New Roman"/>
              </a:rPr>
              <a:t> </a:t>
            </a:r>
            <a:r>
              <a:rPr dirty="0" sz="1000">
                <a:latin typeface="Times New Roman"/>
                <a:cs typeface="Times New Roman"/>
              </a:rPr>
              <a:t>This</a:t>
            </a:r>
            <a:r>
              <a:rPr dirty="0" sz="1000" spc="-20">
                <a:latin typeface="Times New Roman"/>
                <a:cs typeface="Times New Roman"/>
              </a:rPr>
              <a:t> </a:t>
            </a:r>
            <a:r>
              <a:rPr dirty="0" sz="1000" spc="-10">
                <a:latin typeface="Times New Roman"/>
                <a:cs typeface="Times New Roman"/>
              </a:rPr>
              <a:t>inherently sequential</a:t>
            </a:r>
            <a:r>
              <a:rPr dirty="0" sz="1000" spc="-20">
                <a:latin typeface="Times New Roman"/>
                <a:cs typeface="Times New Roman"/>
              </a:rPr>
              <a:t> </a:t>
            </a:r>
            <a:r>
              <a:rPr dirty="0" sz="1000" spc="-10">
                <a:latin typeface="Times New Roman"/>
                <a:cs typeface="Times New Roman"/>
              </a:rPr>
              <a:t>nature</a:t>
            </a:r>
            <a:r>
              <a:rPr dirty="0" sz="1000" spc="-20">
                <a:latin typeface="Times New Roman"/>
                <a:cs typeface="Times New Roman"/>
              </a:rPr>
              <a:t> </a:t>
            </a:r>
            <a:r>
              <a:rPr dirty="0" sz="1000" spc="-10">
                <a:latin typeface="Times New Roman"/>
                <a:cs typeface="Times New Roman"/>
              </a:rPr>
              <a:t>precludes</a:t>
            </a:r>
            <a:r>
              <a:rPr dirty="0" sz="1000" spc="-20">
                <a:latin typeface="Times New Roman"/>
                <a:cs typeface="Times New Roman"/>
              </a:rPr>
              <a:t> </a:t>
            </a:r>
            <a:r>
              <a:rPr dirty="0" sz="1000" spc="-10">
                <a:latin typeface="Times New Roman"/>
                <a:cs typeface="Times New Roman"/>
              </a:rPr>
              <a:t>parallelization</a:t>
            </a:r>
            <a:r>
              <a:rPr dirty="0" sz="1000" spc="-20">
                <a:latin typeface="Times New Roman"/>
                <a:cs typeface="Times New Roman"/>
              </a:rPr>
              <a:t> </a:t>
            </a:r>
            <a:r>
              <a:rPr dirty="0" sz="1000" spc="-10">
                <a:latin typeface="Times New Roman"/>
                <a:cs typeface="Times New Roman"/>
              </a:rPr>
              <a:t>within</a:t>
            </a:r>
            <a:r>
              <a:rPr dirty="0" sz="1000" spc="-20">
                <a:latin typeface="Times New Roman"/>
                <a:cs typeface="Times New Roman"/>
              </a:rPr>
              <a:t> </a:t>
            </a:r>
            <a:r>
              <a:rPr dirty="0" sz="1000" spc="-10">
                <a:latin typeface="Times New Roman"/>
                <a:cs typeface="Times New Roman"/>
              </a:rPr>
              <a:t>training</a:t>
            </a:r>
            <a:r>
              <a:rPr dirty="0" sz="1000" spc="-20">
                <a:latin typeface="Times New Roman"/>
                <a:cs typeface="Times New Roman"/>
              </a:rPr>
              <a:t> examples, </a:t>
            </a:r>
            <a:r>
              <a:rPr dirty="0" sz="1000" spc="-10">
                <a:latin typeface="Times New Roman"/>
                <a:cs typeface="Times New Roman"/>
              </a:rPr>
              <a:t>which</a:t>
            </a:r>
            <a:r>
              <a:rPr dirty="0" sz="1000" spc="-20">
                <a:latin typeface="Times New Roman"/>
                <a:cs typeface="Times New Roman"/>
              </a:rPr>
              <a:t> </a:t>
            </a:r>
            <a:r>
              <a:rPr dirty="0" sz="1000" spc="-10">
                <a:latin typeface="Times New Roman"/>
                <a:cs typeface="Times New Roman"/>
              </a:rPr>
              <a:t>becomes</a:t>
            </a:r>
            <a:r>
              <a:rPr dirty="0" sz="1000" spc="-20">
                <a:latin typeface="Times New Roman"/>
                <a:cs typeface="Times New Roman"/>
              </a:rPr>
              <a:t> </a:t>
            </a:r>
            <a:r>
              <a:rPr dirty="0" sz="1000" spc="-10">
                <a:latin typeface="Times New Roman"/>
                <a:cs typeface="Times New Roman"/>
              </a:rPr>
              <a:t>critical</a:t>
            </a:r>
            <a:r>
              <a:rPr dirty="0" sz="1000" spc="-20">
                <a:latin typeface="Times New Roman"/>
                <a:cs typeface="Times New Roman"/>
              </a:rPr>
              <a:t> </a:t>
            </a:r>
            <a:r>
              <a:rPr dirty="0" sz="1000">
                <a:latin typeface="Times New Roman"/>
                <a:cs typeface="Times New Roman"/>
              </a:rPr>
              <a:t>at</a:t>
            </a:r>
            <a:r>
              <a:rPr dirty="0" sz="1000" spc="-15">
                <a:latin typeface="Times New Roman"/>
                <a:cs typeface="Times New Roman"/>
              </a:rPr>
              <a:t> </a:t>
            </a:r>
            <a:r>
              <a:rPr dirty="0" sz="1000" spc="-10">
                <a:latin typeface="Times New Roman"/>
                <a:cs typeface="Times New Roman"/>
              </a:rPr>
              <a:t>longer sequence</a:t>
            </a:r>
            <a:r>
              <a:rPr dirty="0" sz="1000" spc="-40">
                <a:latin typeface="Times New Roman"/>
                <a:cs typeface="Times New Roman"/>
              </a:rPr>
              <a:t> </a:t>
            </a:r>
            <a:r>
              <a:rPr dirty="0" sz="1000">
                <a:latin typeface="Times New Roman"/>
                <a:cs typeface="Times New Roman"/>
              </a:rPr>
              <a:t>lengths,</a:t>
            </a:r>
            <a:r>
              <a:rPr dirty="0" sz="1000" spc="-40">
                <a:latin typeface="Times New Roman"/>
                <a:cs typeface="Times New Roman"/>
              </a:rPr>
              <a:t> </a:t>
            </a:r>
            <a:r>
              <a:rPr dirty="0" sz="1000">
                <a:latin typeface="Times New Roman"/>
                <a:cs typeface="Times New Roman"/>
              </a:rPr>
              <a:t>as</a:t>
            </a:r>
            <a:r>
              <a:rPr dirty="0" sz="1000" spc="-40">
                <a:latin typeface="Times New Roman"/>
                <a:cs typeface="Times New Roman"/>
              </a:rPr>
              <a:t> </a:t>
            </a:r>
            <a:r>
              <a:rPr dirty="0" sz="1000">
                <a:latin typeface="Times New Roman"/>
                <a:cs typeface="Times New Roman"/>
              </a:rPr>
              <a:t>memory</a:t>
            </a:r>
            <a:r>
              <a:rPr dirty="0" sz="1000" spc="-40">
                <a:latin typeface="Times New Roman"/>
                <a:cs typeface="Times New Roman"/>
              </a:rPr>
              <a:t> </a:t>
            </a:r>
            <a:r>
              <a:rPr dirty="0" sz="1000">
                <a:latin typeface="Times New Roman"/>
                <a:cs typeface="Times New Roman"/>
              </a:rPr>
              <a:t>constraints</a:t>
            </a:r>
            <a:r>
              <a:rPr dirty="0" sz="1000" spc="-35">
                <a:latin typeface="Times New Roman"/>
                <a:cs typeface="Times New Roman"/>
              </a:rPr>
              <a:t> </a:t>
            </a:r>
            <a:r>
              <a:rPr dirty="0" sz="1000">
                <a:latin typeface="Times New Roman"/>
                <a:cs typeface="Times New Roman"/>
              </a:rPr>
              <a:t>limit</a:t>
            </a:r>
            <a:r>
              <a:rPr dirty="0" sz="1000" spc="-40">
                <a:latin typeface="Times New Roman"/>
                <a:cs typeface="Times New Roman"/>
              </a:rPr>
              <a:t> </a:t>
            </a:r>
            <a:r>
              <a:rPr dirty="0" sz="1000">
                <a:latin typeface="Times New Roman"/>
                <a:cs typeface="Times New Roman"/>
              </a:rPr>
              <a:t>batching</a:t>
            </a:r>
            <a:r>
              <a:rPr dirty="0" sz="1000" spc="-40">
                <a:latin typeface="Times New Roman"/>
                <a:cs typeface="Times New Roman"/>
              </a:rPr>
              <a:t> </a:t>
            </a:r>
            <a:r>
              <a:rPr dirty="0" sz="1000">
                <a:latin typeface="Times New Roman"/>
                <a:cs typeface="Times New Roman"/>
              </a:rPr>
              <a:t>across</a:t>
            </a:r>
            <a:r>
              <a:rPr dirty="0" sz="1000" spc="-40">
                <a:latin typeface="Times New Roman"/>
                <a:cs typeface="Times New Roman"/>
              </a:rPr>
              <a:t> </a:t>
            </a:r>
            <a:r>
              <a:rPr dirty="0" sz="1000">
                <a:latin typeface="Times New Roman"/>
                <a:cs typeface="Times New Roman"/>
              </a:rPr>
              <a:t>examples.</a:t>
            </a:r>
            <a:r>
              <a:rPr dirty="0" sz="1000" spc="15">
                <a:latin typeface="Times New Roman"/>
                <a:cs typeface="Times New Roman"/>
              </a:rPr>
              <a:t> </a:t>
            </a:r>
            <a:r>
              <a:rPr dirty="0" sz="1000">
                <a:latin typeface="Times New Roman"/>
                <a:cs typeface="Times New Roman"/>
              </a:rPr>
              <a:t>Recent</a:t>
            </a:r>
            <a:r>
              <a:rPr dirty="0" sz="1000" spc="-40">
                <a:latin typeface="Times New Roman"/>
                <a:cs typeface="Times New Roman"/>
              </a:rPr>
              <a:t> </a:t>
            </a:r>
            <a:r>
              <a:rPr dirty="0" sz="1000">
                <a:latin typeface="Times New Roman"/>
                <a:cs typeface="Times New Roman"/>
              </a:rPr>
              <a:t>work</a:t>
            </a:r>
            <a:r>
              <a:rPr dirty="0" sz="1000" spc="-40">
                <a:latin typeface="Times New Roman"/>
                <a:cs typeface="Times New Roman"/>
              </a:rPr>
              <a:t> </a:t>
            </a:r>
            <a:r>
              <a:rPr dirty="0" sz="1000">
                <a:latin typeface="Times New Roman"/>
                <a:cs typeface="Times New Roman"/>
              </a:rPr>
              <a:t>has</a:t>
            </a:r>
            <a:r>
              <a:rPr dirty="0" sz="1000" spc="-40">
                <a:latin typeface="Times New Roman"/>
                <a:cs typeface="Times New Roman"/>
              </a:rPr>
              <a:t> </a:t>
            </a:r>
            <a:r>
              <a:rPr dirty="0" sz="1000" spc="-10">
                <a:latin typeface="Times New Roman"/>
                <a:cs typeface="Times New Roman"/>
              </a:rPr>
              <a:t>achieved </a:t>
            </a:r>
            <a:r>
              <a:rPr dirty="0" sz="1000" spc="-20">
                <a:latin typeface="Times New Roman"/>
                <a:cs typeface="Times New Roman"/>
              </a:rPr>
              <a:t>significant</a:t>
            </a:r>
            <a:r>
              <a:rPr dirty="0" sz="1000">
                <a:latin typeface="Times New Roman"/>
                <a:cs typeface="Times New Roman"/>
              </a:rPr>
              <a:t> </a:t>
            </a:r>
            <a:r>
              <a:rPr dirty="0" sz="1000" spc="-20">
                <a:latin typeface="Times New Roman"/>
                <a:cs typeface="Times New Roman"/>
              </a:rPr>
              <a:t>improvements</a:t>
            </a:r>
            <a:r>
              <a:rPr dirty="0" sz="1000" spc="5">
                <a:latin typeface="Times New Roman"/>
                <a:cs typeface="Times New Roman"/>
              </a:rPr>
              <a:t> </a:t>
            </a:r>
            <a:r>
              <a:rPr dirty="0" sz="1000">
                <a:latin typeface="Times New Roman"/>
                <a:cs typeface="Times New Roman"/>
              </a:rPr>
              <a:t>in</a:t>
            </a:r>
            <a:r>
              <a:rPr dirty="0" sz="1000" spc="5">
                <a:latin typeface="Times New Roman"/>
                <a:cs typeface="Times New Roman"/>
              </a:rPr>
              <a:t> </a:t>
            </a:r>
            <a:r>
              <a:rPr dirty="0" sz="1000" spc="-20">
                <a:latin typeface="Times New Roman"/>
                <a:cs typeface="Times New Roman"/>
              </a:rPr>
              <a:t>computational</a:t>
            </a:r>
            <a:r>
              <a:rPr dirty="0" sz="1000">
                <a:latin typeface="Times New Roman"/>
                <a:cs typeface="Times New Roman"/>
              </a:rPr>
              <a:t> </a:t>
            </a:r>
            <a:r>
              <a:rPr dirty="0" sz="1000" spc="-30">
                <a:latin typeface="Times New Roman"/>
                <a:cs typeface="Times New Roman"/>
              </a:rPr>
              <a:t>efficiency</a:t>
            </a:r>
            <a:r>
              <a:rPr dirty="0" sz="1000" spc="5">
                <a:latin typeface="Times New Roman"/>
                <a:cs typeface="Times New Roman"/>
              </a:rPr>
              <a:t> </a:t>
            </a:r>
            <a:r>
              <a:rPr dirty="0" sz="1000" spc="-20">
                <a:latin typeface="Times New Roman"/>
                <a:cs typeface="Times New Roman"/>
              </a:rPr>
              <a:t>through</a:t>
            </a:r>
            <a:r>
              <a:rPr dirty="0" sz="1000" spc="5">
                <a:latin typeface="Times New Roman"/>
                <a:cs typeface="Times New Roman"/>
              </a:rPr>
              <a:t> </a:t>
            </a:r>
            <a:r>
              <a:rPr dirty="0" sz="1000" spc="-20">
                <a:latin typeface="Times New Roman"/>
                <a:cs typeface="Times New Roman"/>
              </a:rPr>
              <a:t>factorization</a:t>
            </a:r>
            <a:r>
              <a:rPr dirty="0" sz="1000">
                <a:latin typeface="Times New Roman"/>
                <a:cs typeface="Times New Roman"/>
              </a:rPr>
              <a:t> </a:t>
            </a:r>
            <a:r>
              <a:rPr dirty="0" sz="1000" spc="-10">
                <a:latin typeface="Times New Roman"/>
                <a:cs typeface="Times New Roman"/>
              </a:rPr>
              <a:t>tricks</a:t>
            </a:r>
            <a:r>
              <a:rPr dirty="0" sz="1000" spc="5">
                <a:latin typeface="Times New Roman"/>
                <a:cs typeface="Times New Roman"/>
              </a:rPr>
              <a:t> </a:t>
            </a:r>
            <a:r>
              <a:rPr dirty="0" sz="1000" spc="-10">
                <a:latin typeface="Times New Roman"/>
                <a:cs typeface="Times New Roman"/>
              </a:rPr>
              <a:t>[18]</a:t>
            </a:r>
            <a:r>
              <a:rPr dirty="0" sz="1000" spc="5">
                <a:latin typeface="Times New Roman"/>
                <a:cs typeface="Times New Roman"/>
              </a:rPr>
              <a:t> </a:t>
            </a:r>
            <a:r>
              <a:rPr dirty="0" sz="1000" spc="-10">
                <a:latin typeface="Times New Roman"/>
                <a:cs typeface="Times New Roman"/>
              </a:rPr>
              <a:t>and</a:t>
            </a:r>
            <a:r>
              <a:rPr dirty="0" sz="1000">
                <a:latin typeface="Times New Roman"/>
                <a:cs typeface="Times New Roman"/>
              </a:rPr>
              <a:t> </a:t>
            </a:r>
            <a:r>
              <a:rPr dirty="0" sz="1000" spc="-10">
                <a:latin typeface="Times New Roman"/>
                <a:cs typeface="Times New Roman"/>
              </a:rPr>
              <a:t>conditional </a:t>
            </a:r>
            <a:r>
              <a:rPr dirty="0" sz="1000">
                <a:latin typeface="Times New Roman"/>
                <a:cs typeface="Times New Roman"/>
              </a:rPr>
              <a:t>computation [26],</a:t>
            </a:r>
            <a:r>
              <a:rPr dirty="0" sz="1000" spc="5">
                <a:latin typeface="Times New Roman"/>
                <a:cs typeface="Times New Roman"/>
              </a:rPr>
              <a:t> </a:t>
            </a:r>
            <a:r>
              <a:rPr dirty="0" sz="1000">
                <a:latin typeface="Times New Roman"/>
                <a:cs typeface="Times New Roman"/>
              </a:rPr>
              <a:t>while also</a:t>
            </a:r>
            <a:r>
              <a:rPr dirty="0" sz="1000" spc="5">
                <a:latin typeface="Times New Roman"/>
                <a:cs typeface="Times New Roman"/>
              </a:rPr>
              <a:t> </a:t>
            </a:r>
            <a:r>
              <a:rPr dirty="0" sz="1000">
                <a:latin typeface="Times New Roman"/>
                <a:cs typeface="Times New Roman"/>
              </a:rPr>
              <a:t>improving</a:t>
            </a:r>
            <a:r>
              <a:rPr dirty="0" sz="1000" spc="5">
                <a:latin typeface="Times New Roman"/>
                <a:cs typeface="Times New Roman"/>
              </a:rPr>
              <a:t> </a:t>
            </a:r>
            <a:r>
              <a:rPr dirty="0" sz="1000">
                <a:latin typeface="Times New Roman"/>
                <a:cs typeface="Times New Roman"/>
              </a:rPr>
              <a:t>model performance</a:t>
            </a:r>
            <a:r>
              <a:rPr dirty="0" sz="1000" spc="5">
                <a:latin typeface="Times New Roman"/>
                <a:cs typeface="Times New Roman"/>
              </a:rPr>
              <a:t> </a:t>
            </a:r>
            <a:r>
              <a:rPr dirty="0" sz="1000">
                <a:latin typeface="Times New Roman"/>
                <a:cs typeface="Times New Roman"/>
              </a:rPr>
              <a:t>in</a:t>
            </a:r>
            <a:r>
              <a:rPr dirty="0" sz="1000" spc="5">
                <a:latin typeface="Times New Roman"/>
                <a:cs typeface="Times New Roman"/>
              </a:rPr>
              <a:t> </a:t>
            </a:r>
            <a:r>
              <a:rPr dirty="0" sz="1000">
                <a:latin typeface="Times New Roman"/>
                <a:cs typeface="Times New Roman"/>
              </a:rPr>
              <a:t>case of</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latter.</a:t>
            </a:r>
            <a:r>
              <a:rPr dirty="0" sz="1000" spc="65">
                <a:latin typeface="Times New Roman"/>
                <a:cs typeface="Times New Roman"/>
              </a:rPr>
              <a:t> </a:t>
            </a:r>
            <a:r>
              <a:rPr dirty="0" sz="1000">
                <a:latin typeface="Times New Roman"/>
                <a:cs typeface="Times New Roman"/>
              </a:rPr>
              <a:t>The </a:t>
            </a:r>
            <a:r>
              <a:rPr dirty="0" sz="1000" spc="-10">
                <a:latin typeface="Times New Roman"/>
                <a:cs typeface="Times New Roman"/>
              </a:rPr>
              <a:t>fundamental </a:t>
            </a:r>
            <a:r>
              <a:rPr dirty="0" sz="1000">
                <a:latin typeface="Times New Roman"/>
                <a:cs typeface="Times New Roman"/>
              </a:rPr>
              <a:t>constraint</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sequential</a:t>
            </a:r>
            <a:r>
              <a:rPr dirty="0" sz="1000" spc="-35">
                <a:latin typeface="Times New Roman"/>
                <a:cs typeface="Times New Roman"/>
              </a:rPr>
              <a:t> </a:t>
            </a:r>
            <a:r>
              <a:rPr dirty="0" sz="1000">
                <a:latin typeface="Times New Roman"/>
                <a:cs typeface="Times New Roman"/>
              </a:rPr>
              <a:t>computation,</a:t>
            </a:r>
            <a:r>
              <a:rPr dirty="0" sz="1000" spc="-30">
                <a:latin typeface="Times New Roman"/>
                <a:cs typeface="Times New Roman"/>
              </a:rPr>
              <a:t> </a:t>
            </a:r>
            <a:r>
              <a:rPr dirty="0" sz="1000" spc="-20">
                <a:latin typeface="Times New Roman"/>
                <a:cs typeface="Times New Roman"/>
              </a:rPr>
              <a:t>however,</a:t>
            </a:r>
            <a:r>
              <a:rPr dirty="0" sz="1000" spc="-35">
                <a:latin typeface="Times New Roman"/>
                <a:cs typeface="Times New Roman"/>
              </a:rPr>
              <a:t> </a:t>
            </a:r>
            <a:r>
              <a:rPr dirty="0" sz="1000" spc="-10">
                <a:latin typeface="Times New Roman"/>
                <a:cs typeface="Times New Roman"/>
              </a:rPr>
              <a:t>remains.</a:t>
            </a:r>
            <a:endParaRPr sz="1000">
              <a:latin typeface="Times New Roman"/>
              <a:cs typeface="Times New Roman"/>
            </a:endParaRPr>
          </a:p>
          <a:p>
            <a:pPr algn="just" marL="101600" marR="76835" indent="-5080">
              <a:lnSpc>
                <a:spcPts val="1090"/>
              </a:lnSpc>
              <a:spcBef>
                <a:spcPts val="555"/>
              </a:spcBef>
            </a:pPr>
            <a:r>
              <a:rPr dirty="0" sz="1000">
                <a:latin typeface="Times New Roman"/>
                <a:cs typeface="Times New Roman"/>
              </a:rPr>
              <a:t>Attention</a:t>
            </a:r>
            <a:r>
              <a:rPr dirty="0" sz="1000" spc="-25">
                <a:latin typeface="Times New Roman"/>
                <a:cs typeface="Times New Roman"/>
              </a:rPr>
              <a:t> </a:t>
            </a:r>
            <a:r>
              <a:rPr dirty="0" sz="1000" spc="-10">
                <a:latin typeface="Times New Roman"/>
                <a:cs typeface="Times New Roman"/>
              </a:rPr>
              <a:t>mechanisms</a:t>
            </a:r>
            <a:r>
              <a:rPr dirty="0" sz="1000" spc="-25">
                <a:latin typeface="Times New Roman"/>
                <a:cs typeface="Times New Roman"/>
              </a:rPr>
              <a:t> </a:t>
            </a:r>
            <a:r>
              <a:rPr dirty="0" sz="1000" spc="-10">
                <a:latin typeface="Times New Roman"/>
                <a:cs typeface="Times New Roman"/>
              </a:rPr>
              <a:t>have</a:t>
            </a:r>
            <a:r>
              <a:rPr dirty="0" sz="1000" spc="-20">
                <a:latin typeface="Times New Roman"/>
                <a:cs typeface="Times New Roman"/>
              </a:rPr>
              <a:t> </a:t>
            </a:r>
            <a:r>
              <a:rPr dirty="0" sz="1000" spc="-10">
                <a:latin typeface="Times New Roman"/>
                <a:cs typeface="Times New Roman"/>
              </a:rPr>
              <a:t>become</a:t>
            </a:r>
            <a:r>
              <a:rPr dirty="0" sz="1000" spc="-25">
                <a:latin typeface="Times New Roman"/>
                <a:cs typeface="Times New Roman"/>
              </a:rPr>
              <a:t> </a:t>
            </a:r>
            <a:r>
              <a:rPr dirty="0" sz="1000">
                <a:latin typeface="Times New Roman"/>
                <a:cs typeface="Times New Roman"/>
              </a:rPr>
              <a:t>an</a:t>
            </a:r>
            <a:r>
              <a:rPr dirty="0" sz="1000" spc="-20">
                <a:latin typeface="Times New Roman"/>
                <a:cs typeface="Times New Roman"/>
              </a:rPr>
              <a:t> </a:t>
            </a:r>
            <a:r>
              <a:rPr dirty="0" sz="1000" spc="-10">
                <a:latin typeface="Times New Roman"/>
                <a:cs typeface="Times New Roman"/>
              </a:rPr>
              <a:t>integral</a:t>
            </a:r>
            <a:r>
              <a:rPr dirty="0" sz="1000" spc="-25">
                <a:latin typeface="Times New Roman"/>
                <a:cs typeface="Times New Roman"/>
              </a:rPr>
              <a:t> </a:t>
            </a:r>
            <a:r>
              <a:rPr dirty="0" sz="1000">
                <a:latin typeface="Times New Roman"/>
                <a:cs typeface="Times New Roman"/>
              </a:rPr>
              <a:t>part</a:t>
            </a:r>
            <a:r>
              <a:rPr dirty="0" sz="1000" spc="-20">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compelling</a:t>
            </a:r>
            <a:r>
              <a:rPr dirty="0" sz="1000" spc="-20">
                <a:latin typeface="Times New Roman"/>
                <a:cs typeface="Times New Roman"/>
              </a:rPr>
              <a:t> </a:t>
            </a:r>
            <a:r>
              <a:rPr dirty="0" sz="1000" spc="-10">
                <a:latin typeface="Times New Roman"/>
                <a:cs typeface="Times New Roman"/>
              </a:rPr>
              <a:t>sequence</a:t>
            </a:r>
            <a:r>
              <a:rPr dirty="0" sz="1000" spc="-25">
                <a:latin typeface="Times New Roman"/>
                <a:cs typeface="Times New Roman"/>
              </a:rPr>
              <a:t> </a:t>
            </a:r>
            <a:r>
              <a:rPr dirty="0" sz="1000">
                <a:latin typeface="Times New Roman"/>
                <a:cs typeface="Times New Roman"/>
              </a:rPr>
              <a:t>modeling</a:t>
            </a:r>
            <a:r>
              <a:rPr dirty="0" sz="1000" spc="-20">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spc="-10">
                <a:latin typeface="Times New Roman"/>
                <a:cs typeface="Times New Roman"/>
              </a:rPr>
              <a:t>transduc- </a:t>
            </a:r>
            <a:r>
              <a:rPr dirty="0" sz="1000">
                <a:latin typeface="Times New Roman"/>
                <a:cs typeface="Times New Roman"/>
              </a:rPr>
              <a:t>tion</a:t>
            </a:r>
            <a:r>
              <a:rPr dirty="0" sz="1000" spc="-25">
                <a:latin typeface="Times New Roman"/>
                <a:cs typeface="Times New Roman"/>
              </a:rPr>
              <a:t> </a:t>
            </a:r>
            <a:r>
              <a:rPr dirty="0" sz="1000">
                <a:latin typeface="Times New Roman"/>
                <a:cs typeface="Times New Roman"/>
              </a:rPr>
              <a:t>models</a:t>
            </a:r>
            <a:r>
              <a:rPr dirty="0" sz="1000" spc="-20">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various</a:t>
            </a:r>
            <a:r>
              <a:rPr dirty="0" sz="1000" spc="-20">
                <a:latin typeface="Times New Roman"/>
                <a:cs typeface="Times New Roman"/>
              </a:rPr>
              <a:t> </a:t>
            </a:r>
            <a:r>
              <a:rPr dirty="0" sz="1000">
                <a:latin typeface="Times New Roman"/>
                <a:cs typeface="Times New Roman"/>
              </a:rPr>
              <a:t>tasks,</a:t>
            </a:r>
            <a:r>
              <a:rPr dirty="0" sz="1000" spc="-20">
                <a:latin typeface="Times New Roman"/>
                <a:cs typeface="Times New Roman"/>
              </a:rPr>
              <a:t> </a:t>
            </a:r>
            <a:r>
              <a:rPr dirty="0" sz="1000">
                <a:latin typeface="Times New Roman"/>
                <a:cs typeface="Times New Roman"/>
              </a:rPr>
              <a:t>allowing</a:t>
            </a:r>
            <a:r>
              <a:rPr dirty="0" sz="1000" spc="-25">
                <a:latin typeface="Times New Roman"/>
                <a:cs typeface="Times New Roman"/>
              </a:rPr>
              <a:t> </a:t>
            </a:r>
            <a:r>
              <a:rPr dirty="0" sz="1000">
                <a:latin typeface="Times New Roman"/>
                <a:cs typeface="Times New Roman"/>
              </a:rPr>
              <a:t>modeling</a:t>
            </a:r>
            <a:r>
              <a:rPr dirty="0" sz="1000" spc="-20">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dependencies</a:t>
            </a:r>
            <a:r>
              <a:rPr dirty="0" sz="1000" spc="-20">
                <a:latin typeface="Times New Roman"/>
                <a:cs typeface="Times New Roman"/>
              </a:rPr>
              <a:t> </a:t>
            </a:r>
            <a:r>
              <a:rPr dirty="0" sz="1000">
                <a:latin typeface="Times New Roman"/>
                <a:cs typeface="Times New Roman"/>
              </a:rPr>
              <a:t>without</a:t>
            </a:r>
            <a:r>
              <a:rPr dirty="0" sz="1000" spc="-20">
                <a:latin typeface="Times New Roman"/>
                <a:cs typeface="Times New Roman"/>
              </a:rPr>
              <a:t> </a:t>
            </a:r>
            <a:r>
              <a:rPr dirty="0" sz="1000">
                <a:latin typeface="Times New Roman"/>
                <a:cs typeface="Times New Roman"/>
              </a:rPr>
              <a:t>regard</a:t>
            </a:r>
            <a:r>
              <a:rPr dirty="0" sz="1000" spc="-2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a:latin typeface="Times New Roman"/>
                <a:cs typeface="Times New Roman"/>
              </a:rPr>
              <a:t>their</a:t>
            </a:r>
            <a:r>
              <a:rPr dirty="0" sz="1000" spc="-20">
                <a:latin typeface="Times New Roman"/>
                <a:cs typeface="Times New Roman"/>
              </a:rPr>
              <a:t> </a:t>
            </a:r>
            <a:r>
              <a:rPr dirty="0" sz="1000">
                <a:latin typeface="Times New Roman"/>
                <a:cs typeface="Times New Roman"/>
              </a:rPr>
              <a:t>distance</a:t>
            </a:r>
            <a:r>
              <a:rPr dirty="0" sz="1000" spc="-25">
                <a:latin typeface="Times New Roman"/>
                <a:cs typeface="Times New Roman"/>
              </a:rPr>
              <a:t> in </a:t>
            </a:r>
            <a:r>
              <a:rPr dirty="0" sz="1000">
                <a:latin typeface="Times New Roman"/>
                <a:cs typeface="Times New Roman"/>
              </a:rPr>
              <a:t>the</a:t>
            </a:r>
            <a:r>
              <a:rPr dirty="0" sz="1000" spc="-40">
                <a:latin typeface="Times New Roman"/>
                <a:cs typeface="Times New Roman"/>
              </a:rPr>
              <a:t> </a:t>
            </a:r>
            <a:r>
              <a:rPr dirty="0" sz="1000" spc="-10">
                <a:latin typeface="Times New Roman"/>
                <a:cs typeface="Times New Roman"/>
              </a:rPr>
              <a:t>input</a:t>
            </a:r>
            <a:r>
              <a:rPr dirty="0" sz="1000" spc="-40">
                <a:latin typeface="Times New Roman"/>
                <a:cs typeface="Times New Roman"/>
              </a:rPr>
              <a:t> </a:t>
            </a:r>
            <a:r>
              <a:rPr dirty="0" sz="1000">
                <a:latin typeface="Times New Roman"/>
                <a:cs typeface="Times New Roman"/>
              </a:rPr>
              <a:t>or</a:t>
            </a:r>
            <a:r>
              <a:rPr dirty="0" sz="1000" spc="-40">
                <a:latin typeface="Times New Roman"/>
                <a:cs typeface="Times New Roman"/>
              </a:rPr>
              <a:t> </a:t>
            </a:r>
            <a:r>
              <a:rPr dirty="0" sz="1000" spc="-10">
                <a:latin typeface="Times New Roman"/>
                <a:cs typeface="Times New Roman"/>
              </a:rPr>
              <a:t>output</a:t>
            </a:r>
            <a:r>
              <a:rPr dirty="0" sz="1000" spc="-40">
                <a:latin typeface="Times New Roman"/>
                <a:cs typeface="Times New Roman"/>
              </a:rPr>
              <a:t> </a:t>
            </a:r>
            <a:r>
              <a:rPr dirty="0" sz="1000" spc="-10">
                <a:latin typeface="Times New Roman"/>
                <a:cs typeface="Times New Roman"/>
              </a:rPr>
              <a:t>sequences</a:t>
            </a:r>
            <a:r>
              <a:rPr dirty="0" sz="1000" spc="-35">
                <a:latin typeface="Times New Roman"/>
                <a:cs typeface="Times New Roman"/>
              </a:rPr>
              <a:t> </a:t>
            </a:r>
            <a:r>
              <a:rPr dirty="0" sz="1000">
                <a:latin typeface="Times New Roman"/>
                <a:cs typeface="Times New Roman"/>
              </a:rPr>
              <a:t>[2,</a:t>
            </a:r>
            <a:r>
              <a:rPr dirty="0" sz="1000" spc="-40">
                <a:latin typeface="Times New Roman"/>
                <a:cs typeface="Times New Roman"/>
              </a:rPr>
              <a:t> </a:t>
            </a:r>
            <a:r>
              <a:rPr dirty="0" sz="1000">
                <a:latin typeface="Times New Roman"/>
                <a:cs typeface="Times New Roman"/>
              </a:rPr>
              <a:t>16].</a:t>
            </a:r>
            <a:r>
              <a:rPr dirty="0" sz="1000" spc="25">
                <a:latin typeface="Times New Roman"/>
                <a:cs typeface="Times New Roman"/>
              </a:rPr>
              <a:t> </a:t>
            </a:r>
            <a:r>
              <a:rPr dirty="0" sz="1000">
                <a:latin typeface="Times New Roman"/>
                <a:cs typeface="Times New Roman"/>
              </a:rPr>
              <a:t>In</a:t>
            </a:r>
            <a:r>
              <a:rPr dirty="0" sz="1000" spc="-40">
                <a:latin typeface="Times New Roman"/>
                <a:cs typeface="Times New Roman"/>
              </a:rPr>
              <a:t> </a:t>
            </a:r>
            <a:r>
              <a:rPr dirty="0" sz="1000">
                <a:latin typeface="Times New Roman"/>
                <a:cs typeface="Times New Roman"/>
              </a:rPr>
              <a:t>all</a:t>
            </a:r>
            <a:r>
              <a:rPr dirty="0" sz="1000" spc="-35">
                <a:latin typeface="Times New Roman"/>
                <a:cs typeface="Times New Roman"/>
              </a:rPr>
              <a:t> </a:t>
            </a:r>
            <a:r>
              <a:rPr dirty="0" sz="1000" spc="-10">
                <a:latin typeface="Times New Roman"/>
                <a:cs typeface="Times New Roman"/>
              </a:rPr>
              <a:t>but</a:t>
            </a:r>
            <a:r>
              <a:rPr dirty="0" sz="1000" spc="-40">
                <a:latin typeface="Times New Roman"/>
                <a:cs typeface="Times New Roman"/>
              </a:rPr>
              <a:t> </a:t>
            </a:r>
            <a:r>
              <a:rPr dirty="0" sz="1000">
                <a:latin typeface="Times New Roman"/>
                <a:cs typeface="Times New Roman"/>
              </a:rPr>
              <a:t>a</a:t>
            </a:r>
            <a:r>
              <a:rPr dirty="0" sz="1000" spc="-40">
                <a:latin typeface="Times New Roman"/>
                <a:cs typeface="Times New Roman"/>
              </a:rPr>
              <a:t> </a:t>
            </a:r>
            <a:r>
              <a:rPr dirty="0" sz="1000" spc="-20">
                <a:latin typeface="Times New Roman"/>
                <a:cs typeface="Times New Roman"/>
              </a:rPr>
              <a:t>few</a:t>
            </a:r>
            <a:r>
              <a:rPr dirty="0" sz="1000" spc="-35">
                <a:latin typeface="Times New Roman"/>
                <a:cs typeface="Times New Roman"/>
              </a:rPr>
              <a:t> </a:t>
            </a:r>
            <a:r>
              <a:rPr dirty="0" sz="1000" spc="-10">
                <a:latin typeface="Times New Roman"/>
                <a:cs typeface="Times New Roman"/>
              </a:rPr>
              <a:t>cases</a:t>
            </a:r>
            <a:r>
              <a:rPr dirty="0" sz="1000" spc="-40">
                <a:latin typeface="Times New Roman"/>
                <a:cs typeface="Times New Roman"/>
              </a:rPr>
              <a:t> </a:t>
            </a:r>
            <a:r>
              <a:rPr dirty="0" sz="1000">
                <a:latin typeface="Times New Roman"/>
                <a:cs typeface="Times New Roman"/>
              </a:rPr>
              <a:t>[22],</a:t>
            </a:r>
            <a:r>
              <a:rPr dirty="0" sz="1000" spc="-35">
                <a:latin typeface="Times New Roman"/>
                <a:cs typeface="Times New Roman"/>
              </a:rPr>
              <a:t> </a:t>
            </a:r>
            <a:r>
              <a:rPr dirty="0" sz="1000" spc="-30">
                <a:latin typeface="Times New Roman"/>
                <a:cs typeface="Times New Roman"/>
              </a:rPr>
              <a:t>however, </a:t>
            </a:r>
            <a:r>
              <a:rPr dirty="0" sz="1000" spc="-10">
                <a:latin typeface="Times New Roman"/>
                <a:cs typeface="Times New Roman"/>
              </a:rPr>
              <a:t>such</a:t>
            </a:r>
            <a:r>
              <a:rPr dirty="0" sz="1000" spc="-40">
                <a:latin typeface="Times New Roman"/>
                <a:cs typeface="Times New Roman"/>
              </a:rPr>
              <a:t> </a:t>
            </a:r>
            <a:r>
              <a:rPr dirty="0" sz="1000" spc="-10">
                <a:latin typeface="Times New Roman"/>
                <a:cs typeface="Times New Roman"/>
              </a:rPr>
              <a:t>attention</a:t>
            </a:r>
            <a:r>
              <a:rPr dirty="0" sz="1000" spc="-40">
                <a:latin typeface="Times New Roman"/>
                <a:cs typeface="Times New Roman"/>
              </a:rPr>
              <a:t> </a:t>
            </a:r>
            <a:r>
              <a:rPr dirty="0" sz="1000" spc="-10">
                <a:latin typeface="Times New Roman"/>
                <a:cs typeface="Times New Roman"/>
              </a:rPr>
              <a:t>mechanisms </a:t>
            </a:r>
            <a:r>
              <a:rPr dirty="0" sz="1000">
                <a:latin typeface="Times New Roman"/>
                <a:cs typeface="Times New Roman"/>
              </a:rPr>
              <a:t>are</a:t>
            </a:r>
            <a:r>
              <a:rPr dirty="0" sz="1000" spc="-20">
                <a:latin typeface="Times New Roman"/>
                <a:cs typeface="Times New Roman"/>
              </a:rPr>
              <a:t> </a:t>
            </a:r>
            <a:r>
              <a:rPr dirty="0" sz="1000">
                <a:latin typeface="Times New Roman"/>
                <a:cs typeface="Times New Roman"/>
              </a:rPr>
              <a:t>used</a:t>
            </a:r>
            <a:r>
              <a:rPr dirty="0" sz="1000" spc="-20">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a:latin typeface="Times New Roman"/>
                <a:cs typeface="Times New Roman"/>
              </a:rPr>
              <a:t>conjunction</a:t>
            </a:r>
            <a:r>
              <a:rPr dirty="0" sz="1000" spc="-20">
                <a:latin typeface="Times New Roman"/>
                <a:cs typeface="Times New Roman"/>
              </a:rPr>
              <a:t> </a:t>
            </a:r>
            <a:r>
              <a:rPr dirty="0" sz="1000">
                <a:latin typeface="Times New Roman"/>
                <a:cs typeface="Times New Roman"/>
              </a:rPr>
              <a:t>with</a:t>
            </a:r>
            <a:r>
              <a:rPr dirty="0" sz="1000" spc="-2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spc="-10">
                <a:latin typeface="Times New Roman"/>
                <a:cs typeface="Times New Roman"/>
              </a:rPr>
              <a:t>recurrent</a:t>
            </a:r>
            <a:r>
              <a:rPr dirty="0" sz="1000" spc="-15">
                <a:latin typeface="Times New Roman"/>
                <a:cs typeface="Times New Roman"/>
              </a:rPr>
              <a:t> </a:t>
            </a:r>
            <a:r>
              <a:rPr dirty="0" sz="1000" spc="-10">
                <a:latin typeface="Times New Roman"/>
                <a:cs typeface="Times New Roman"/>
              </a:rPr>
              <a:t>network.</a:t>
            </a:r>
            <a:endParaRPr sz="1000">
              <a:latin typeface="Times New Roman"/>
              <a:cs typeface="Times New Roman"/>
            </a:endParaRPr>
          </a:p>
          <a:p>
            <a:pPr algn="just" marL="97155" marR="76200" indent="3810">
              <a:lnSpc>
                <a:spcPts val="1090"/>
              </a:lnSpc>
              <a:spcBef>
                <a:spcPts val="550"/>
              </a:spcBef>
            </a:pP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this</a:t>
            </a:r>
            <a:r>
              <a:rPr dirty="0" sz="1000" spc="30">
                <a:latin typeface="Times New Roman"/>
                <a:cs typeface="Times New Roman"/>
              </a:rPr>
              <a:t> </a:t>
            </a:r>
            <a:r>
              <a:rPr dirty="0" sz="1000">
                <a:latin typeface="Times New Roman"/>
                <a:cs typeface="Times New Roman"/>
              </a:rPr>
              <a:t>work</a:t>
            </a:r>
            <a:r>
              <a:rPr dirty="0" sz="1000" spc="35">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propose</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Transformer,</a:t>
            </a:r>
            <a:r>
              <a:rPr dirty="0" sz="1000" spc="35">
                <a:latin typeface="Times New Roman"/>
                <a:cs typeface="Times New Roman"/>
              </a:rPr>
              <a:t> </a:t>
            </a:r>
            <a:r>
              <a:rPr dirty="0" sz="1000">
                <a:latin typeface="Times New Roman"/>
                <a:cs typeface="Times New Roman"/>
              </a:rPr>
              <a:t>a</a:t>
            </a:r>
            <a:r>
              <a:rPr dirty="0" sz="1000" spc="30">
                <a:latin typeface="Times New Roman"/>
                <a:cs typeface="Times New Roman"/>
              </a:rPr>
              <a:t> </a:t>
            </a:r>
            <a:r>
              <a:rPr dirty="0" sz="1000">
                <a:latin typeface="Times New Roman"/>
                <a:cs typeface="Times New Roman"/>
              </a:rPr>
              <a:t>model</a:t>
            </a:r>
            <a:r>
              <a:rPr dirty="0" sz="1000" spc="35">
                <a:latin typeface="Times New Roman"/>
                <a:cs typeface="Times New Roman"/>
              </a:rPr>
              <a:t> </a:t>
            </a:r>
            <a:r>
              <a:rPr dirty="0" sz="1000">
                <a:latin typeface="Times New Roman"/>
                <a:cs typeface="Times New Roman"/>
              </a:rPr>
              <a:t>architecture</a:t>
            </a:r>
            <a:r>
              <a:rPr dirty="0" sz="1000" spc="30">
                <a:latin typeface="Times New Roman"/>
                <a:cs typeface="Times New Roman"/>
              </a:rPr>
              <a:t> </a:t>
            </a:r>
            <a:r>
              <a:rPr dirty="0" sz="1000">
                <a:latin typeface="Times New Roman"/>
                <a:cs typeface="Times New Roman"/>
              </a:rPr>
              <a:t>eschewing</a:t>
            </a:r>
            <a:r>
              <a:rPr dirty="0" sz="1000" spc="35">
                <a:latin typeface="Times New Roman"/>
                <a:cs typeface="Times New Roman"/>
              </a:rPr>
              <a:t> </a:t>
            </a:r>
            <a:r>
              <a:rPr dirty="0" sz="1000">
                <a:latin typeface="Times New Roman"/>
                <a:cs typeface="Times New Roman"/>
              </a:rPr>
              <a:t>recurrence</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instead </a:t>
            </a:r>
            <a:r>
              <a:rPr dirty="0" sz="1000">
                <a:latin typeface="Times New Roman"/>
                <a:cs typeface="Times New Roman"/>
              </a:rPr>
              <a:t>relying entirely on an attention</a:t>
            </a:r>
            <a:r>
              <a:rPr dirty="0" sz="1000" spc="5">
                <a:latin typeface="Times New Roman"/>
                <a:cs typeface="Times New Roman"/>
              </a:rPr>
              <a:t> </a:t>
            </a:r>
            <a:r>
              <a:rPr dirty="0" sz="1000">
                <a:latin typeface="Times New Roman"/>
                <a:cs typeface="Times New Roman"/>
              </a:rPr>
              <a:t>mechanism to draw global dependencies</a:t>
            </a:r>
            <a:r>
              <a:rPr dirty="0" sz="1000" spc="5">
                <a:latin typeface="Times New Roman"/>
                <a:cs typeface="Times New Roman"/>
              </a:rPr>
              <a:t> </a:t>
            </a:r>
            <a:r>
              <a:rPr dirty="0" sz="1000">
                <a:latin typeface="Times New Roman"/>
                <a:cs typeface="Times New Roman"/>
              </a:rPr>
              <a:t>between input and </a:t>
            </a:r>
            <a:r>
              <a:rPr dirty="0" sz="1000" spc="-10">
                <a:latin typeface="Times New Roman"/>
                <a:cs typeface="Times New Roman"/>
              </a:rPr>
              <a:t>output.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Transformer</a:t>
            </a:r>
            <a:r>
              <a:rPr dirty="0" sz="1000" spc="-25">
                <a:latin typeface="Times New Roman"/>
                <a:cs typeface="Times New Roman"/>
              </a:rPr>
              <a:t> </a:t>
            </a:r>
            <a:r>
              <a:rPr dirty="0" sz="1000">
                <a:latin typeface="Times New Roman"/>
                <a:cs typeface="Times New Roman"/>
              </a:rPr>
              <a:t>allows</a:t>
            </a:r>
            <a:r>
              <a:rPr dirty="0" sz="1000" spc="-25">
                <a:latin typeface="Times New Roman"/>
                <a:cs typeface="Times New Roman"/>
              </a:rPr>
              <a:t> </a:t>
            </a:r>
            <a:r>
              <a:rPr dirty="0" sz="1000">
                <a:latin typeface="Times New Roman"/>
                <a:cs typeface="Times New Roman"/>
              </a:rPr>
              <a:t>for</a:t>
            </a:r>
            <a:r>
              <a:rPr dirty="0" sz="1000" spc="-25">
                <a:latin typeface="Times New Roman"/>
                <a:cs typeface="Times New Roman"/>
              </a:rPr>
              <a:t> </a:t>
            </a:r>
            <a:r>
              <a:rPr dirty="0" sz="1000" spc="-10">
                <a:latin typeface="Times New Roman"/>
                <a:cs typeface="Times New Roman"/>
              </a:rPr>
              <a:t>significantly</a:t>
            </a:r>
            <a:r>
              <a:rPr dirty="0" sz="1000" spc="-25">
                <a:latin typeface="Times New Roman"/>
                <a:cs typeface="Times New Roman"/>
              </a:rPr>
              <a:t> </a:t>
            </a:r>
            <a:r>
              <a:rPr dirty="0" sz="1000">
                <a:latin typeface="Times New Roman"/>
                <a:cs typeface="Times New Roman"/>
              </a:rPr>
              <a:t>more</a:t>
            </a:r>
            <a:r>
              <a:rPr dirty="0" sz="1000" spc="-25">
                <a:latin typeface="Times New Roman"/>
                <a:cs typeface="Times New Roman"/>
              </a:rPr>
              <a:t> </a:t>
            </a:r>
            <a:r>
              <a:rPr dirty="0" sz="1000">
                <a:latin typeface="Times New Roman"/>
                <a:cs typeface="Times New Roman"/>
              </a:rPr>
              <a:t>parallelization</a:t>
            </a:r>
            <a:r>
              <a:rPr dirty="0" sz="1000" spc="-2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can</a:t>
            </a:r>
            <a:r>
              <a:rPr dirty="0" sz="1000" spc="-25">
                <a:latin typeface="Times New Roman"/>
                <a:cs typeface="Times New Roman"/>
              </a:rPr>
              <a:t> </a:t>
            </a:r>
            <a:r>
              <a:rPr dirty="0" sz="1000">
                <a:latin typeface="Times New Roman"/>
                <a:cs typeface="Times New Roman"/>
              </a:rPr>
              <a:t>reach</a:t>
            </a:r>
            <a:r>
              <a:rPr dirty="0" sz="1000" spc="-25">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a:latin typeface="Times New Roman"/>
                <a:cs typeface="Times New Roman"/>
              </a:rPr>
              <a:t>new</a:t>
            </a:r>
            <a:r>
              <a:rPr dirty="0" sz="1000" spc="-25">
                <a:latin typeface="Times New Roman"/>
                <a:cs typeface="Times New Roman"/>
              </a:rPr>
              <a:t> </a:t>
            </a:r>
            <a:r>
              <a:rPr dirty="0" sz="1000">
                <a:latin typeface="Times New Roman"/>
                <a:cs typeface="Times New Roman"/>
              </a:rPr>
              <a:t>state</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art</a:t>
            </a:r>
            <a:r>
              <a:rPr dirty="0" sz="1000" spc="-30">
                <a:latin typeface="Times New Roman"/>
                <a:cs typeface="Times New Roman"/>
              </a:rPr>
              <a:t> </a:t>
            </a:r>
            <a:r>
              <a:rPr dirty="0" sz="1000" spc="-25">
                <a:latin typeface="Times New Roman"/>
                <a:cs typeface="Times New Roman"/>
              </a:rPr>
              <a:t>in </a:t>
            </a:r>
            <a:r>
              <a:rPr dirty="0" sz="1000">
                <a:latin typeface="Times New Roman"/>
                <a:cs typeface="Times New Roman"/>
              </a:rPr>
              <a:t>translation</a:t>
            </a:r>
            <a:r>
              <a:rPr dirty="0" sz="1000" spc="-30">
                <a:latin typeface="Times New Roman"/>
                <a:cs typeface="Times New Roman"/>
              </a:rPr>
              <a:t> </a:t>
            </a:r>
            <a:r>
              <a:rPr dirty="0" sz="1000">
                <a:latin typeface="Times New Roman"/>
                <a:cs typeface="Times New Roman"/>
              </a:rPr>
              <a:t>quality</a:t>
            </a:r>
            <a:r>
              <a:rPr dirty="0" sz="1000" spc="-30">
                <a:latin typeface="Times New Roman"/>
                <a:cs typeface="Times New Roman"/>
              </a:rPr>
              <a:t> </a:t>
            </a:r>
            <a:r>
              <a:rPr dirty="0" sz="1000">
                <a:latin typeface="Times New Roman"/>
                <a:cs typeface="Times New Roman"/>
              </a:rPr>
              <a:t>after</a:t>
            </a:r>
            <a:r>
              <a:rPr dirty="0" sz="1000" spc="-25">
                <a:latin typeface="Times New Roman"/>
                <a:cs typeface="Times New Roman"/>
              </a:rPr>
              <a:t> </a:t>
            </a:r>
            <a:r>
              <a:rPr dirty="0" sz="1000">
                <a:latin typeface="Times New Roman"/>
                <a:cs typeface="Times New Roman"/>
              </a:rPr>
              <a:t>being</a:t>
            </a:r>
            <a:r>
              <a:rPr dirty="0" sz="1000" spc="-30">
                <a:latin typeface="Times New Roman"/>
                <a:cs typeface="Times New Roman"/>
              </a:rPr>
              <a:t> </a:t>
            </a:r>
            <a:r>
              <a:rPr dirty="0" sz="1000">
                <a:latin typeface="Times New Roman"/>
                <a:cs typeface="Times New Roman"/>
              </a:rPr>
              <a:t>trained</a:t>
            </a:r>
            <a:r>
              <a:rPr dirty="0" sz="1000" spc="-25">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little</a:t>
            </a:r>
            <a:r>
              <a:rPr dirty="0" sz="1000" spc="-30">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twelve</a:t>
            </a:r>
            <a:r>
              <a:rPr dirty="0" sz="1000" spc="-30">
                <a:latin typeface="Times New Roman"/>
                <a:cs typeface="Times New Roman"/>
              </a:rPr>
              <a:t> </a:t>
            </a:r>
            <a:r>
              <a:rPr dirty="0" sz="1000">
                <a:latin typeface="Times New Roman"/>
                <a:cs typeface="Times New Roman"/>
              </a:rPr>
              <a:t>hours</a:t>
            </a:r>
            <a:r>
              <a:rPr dirty="0" sz="1000" spc="-25">
                <a:latin typeface="Times New Roman"/>
                <a:cs typeface="Times New Roman"/>
              </a:rPr>
              <a:t> </a:t>
            </a:r>
            <a:r>
              <a:rPr dirty="0" sz="1000">
                <a:latin typeface="Times New Roman"/>
                <a:cs typeface="Times New Roman"/>
              </a:rPr>
              <a:t>on</a:t>
            </a:r>
            <a:r>
              <a:rPr dirty="0" sz="1000" spc="-30">
                <a:latin typeface="Times New Roman"/>
                <a:cs typeface="Times New Roman"/>
              </a:rPr>
              <a:t> </a:t>
            </a:r>
            <a:r>
              <a:rPr dirty="0" sz="1000">
                <a:latin typeface="Times New Roman"/>
                <a:cs typeface="Times New Roman"/>
              </a:rPr>
              <a:t>eight</a:t>
            </a:r>
            <a:r>
              <a:rPr dirty="0" sz="1000" spc="-25">
                <a:latin typeface="Times New Roman"/>
                <a:cs typeface="Times New Roman"/>
              </a:rPr>
              <a:t> </a:t>
            </a:r>
            <a:r>
              <a:rPr dirty="0" sz="1000">
                <a:latin typeface="Times New Roman"/>
                <a:cs typeface="Times New Roman"/>
              </a:rPr>
              <a:t>P100</a:t>
            </a:r>
            <a:r>
              <a:rPr dirty="0" sz="1000" spc="-30">
                <a:latin typeface="Times New Roman"/>
                <a:cs typeface="Times New Roman"/>
              </a:rPr>
              <a:t> </a:t>
            </a:r>
            <a:r>
              <a:rPr dirty="0" sz="1000" spc="-10">
                <a:latin typeface="Times New Roman"/>
                <a:cs typeface="Times New Roman"/>
              </a:rPr>
              <a:t>GPUs.</a:t>
            </a:r>
            <a:endParaRPr sz="1000">
              <a:latin typeface="Times New Roman"/>
              <a:cs typeface="Times New Roman"/>
            </a:endParaRPr>
          </a:p>
          <a:p>
            <a:pPr>
              <a:lnSpc>
                <a:spcPct val="100000"/>
              </a:lnSpc>
              <a:spcBef>
                <a:spcPts val="265"/>
              </a:spcBef>
            </a:pPr>
            <a:endParaRPr sz="1000">
              <a:latin typeface="Times New Roman"/>
              <a:cs typeface="Times New Roman"/>
            </a:endParaRPr>
          </a:p>
          <a:p>
            <a:pPr marL="328930" indent="-227329">
              <a:lnSpc>
                <a:spcPct val="100000"/>
              </a:lnSpc>
              <a:buAutoNum type="arabicPlain" startAt="2"/>
              <a:tabLst>
                <a:tab pos="328930" algn="l"/>
              </a:tabLst>
            </a:pPr>
            <a:r>
              <a:rPr dirty="0" sz="1200" spc="-10" b="1">
                <a:latin typeface="Times New Roman"/>
                <a:cs typeface="Times New Roman"/>
              </a:rPr>
              <a:t>Background</a:t>
            </a:r>
            <a:endParaRPr sz="1200">
              <a:latin typeface="Times New Roman"/>
              <a:cs typeface="Times New Roman"/>
            </a:endParaRPr>
          </a:p>
          <a:p>
            <a:pPr algn="just" marL="101600" marR="82550" indent="-4445">
              <a:lnSpc>
                <a:spcPts val="1090"/>
              </a:lnSpc>
              <a:spcBef>
                <a:spcPts val="1190"/>
              </a:spcBef>
            </a:pP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goal</a:t>
            </a:r>
            <a:r>
              <a:rPr dirty="0" sz="1000" spc="-1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reducing</a:t>
            </a:r>
            <a:r>
              <a:rPr dirty="0" sz="1000" spc="-20">
                <a:latin typeface="Times New Roman"/>
                <a:cs typeface="Times New Roman"/>
              </a:rPr>
              <a:t> </a:t>
            </a:r>
            <a:r>
              <a:rPr dirty="0" sz="1000" spc="-10">
                <a:latin typeface="Times New Roman"/>
                <a:cs typeface="Times New Roman"/>
              </a:rPr>
              <a:t>sequential</a:t>
            </a:r>
            <a:r>
              <a:rPr dirty="0" sz="1000" spc="-20">
                <a:latin typeface="Times New Roman"/>
                <a:cs typeface="Times New Roman"/>
              </a:rPr>
              <a:t> </a:t>
            </a:r>
            <a:r>
              <a:rPr dirty="0" sz="1000" spc="-10">
                <a:latin typeface="Times New Roman"/>
                <a:cs typeface="Times New Roman"/>
              </a:rPr>
              <a:t>computation</a:t>
            </a:r>
            <a:r>
              <a:rPr dirty="0" sz="1000" spc="-20">
                <a:latin typeface="Times New Roman"/>
                <a:cs typeface="Times New Roman"/>
              </a:rPr>
              <a:t> </a:t>
            </a:r>
            <a:r>
              <a:rPr dirty="0" sz="1000">
                <a:latin typeface="Times New Roman"/>
                <a:cs typeface="Times New Roman"/>
              </a:rPr>
              <a:t>also</a:t>
            </a:r>
            <a:r>
              <a:rPr dirty="0" sz="1000" spc="-20">
                <a:latin typeface="Times New Roman"/>
                <a:cs typeface="Times New Roman"/>
              </a:rPr>
              <a:t> </a:t>
            </a:r>
            <a:r>
              <a:rPr dirty="0" sz="1000">
                <a:latin typeface="Times New Roman"/>
                <a:cs typeface="Times New Roman"/>
              </a:rPr>
              <a:t>forms</a:t>
            </a:r>
            <a:r>
              <a:rPr dirty="0" sz="1000" spc="-1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foundation</a:t>
            </a:r>
            <a:r>
              <a:rPr dirty="0" sz="1000" spc="-2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10">
                <a:latin typeface="Times New Roman"/>
                <a:cs typeface="Times New Roman"/>
              </a:rPr>
              <a:t>Extended</a:t>
            </a:r>
            <a:r>
              <a:rPr dirty="0" sz="1000" spc="-20">
                <a:latin typeface="Times New Roman"/>
                <a:cs typeface="Times New Roman"/>
              </a:rPr>
              <a:t> </a:t>
            </a:r>
            <a:r>
              <a:rPr dirty="0" sz="1000" spc="-10">
                <a:latin typeface="Times New Roman"/>
                <a:cs typeface="Times New Roman"/>
              </a:rPr>
              <a:t>Neural</a:t>
            </a:r>
            <a:r>
              <a:rPr dirty="0" sz="1000" spc="-20">
                <a:latin typeface="Times New Roman"/>
                <a:cs typeface="Times New Roman"/>
              </a:rPr>
              <a:t> </a:t>
            </a:r>
            <a:r>
              <a:rPr dirty="0" sz="1000" spc="-25">
                <a:latin typeface="Times New Roman"/>
                <a:cs typeface="Times New Roman"/>
              </a:rPr>
              <a:t>GPU </a:t>
            </a:r>
            <a:r>
              <a:rPr dirty="0" sz="1000">
                <a:latin typeface="Times New Roman"/>
                <a:cs typeface="Times New Roman"/>
              </a:rPr>
              <a:t>[20],</a:t>
            </a:r>
            <a:r>
              <a:rPr dirty="0" sz="1000" spc="-35">
                <a:latin typeface="Times New Roman"/>
                <a:cs typeface="Times New Roman"/>
              </a:rPr>
              <a:t> </a:t>
            </a:r>
            <a:r>
              <a:rPr dirty="0" sz="1000" spc="-10">
                <a:latin typeface="Times New Roman"/>
                <a:cs typeface="Times New Roman"/>
              </a:rPr>
              <a:t>ByteNet</a:t>
            </a:r>
            <a:r>
              <a:rPr dirty="0" sz="1000" spc="-40">
                <a:latin typeface="Times New Roman"/>
                <a:cs typeface="Times New Roman"/>
              </a:rPr>
              <a:t> </a:t>
            </a:r>
            <a:r>
              <a:rPr dirty="0" sz="1000">
                <a:latin typeface="Times New Roman"/>
                <a:cs typeface="Times New Roman"/>
              </a:rPr>
              <a:t>[15]</a:t>
            </a:r>
            <a:r>
              <a:rPr dirty="0" sz="1000" spc="-35">
                <a:latin typeface="Times New Roman"/>
                <a:cs typeface="Times New Roman"/>
              </a:rPr>
              <a:t> </a:t>
            </a:r>
            <a:r>
              <a:rPr dirty="0" sz="1000" spc="-10">
                <a:latin typeface="Times New Roman"/>
                <a:cs typeface="Times New Roman"/>
              </a:rPr>
              <a:t>and</a:t>
            </a:r>
            <a:r>
              <a:rPr dirty="0" sz="1000" spc="-40">
                <a:latin typeface="Times New Roman"/>
                <a:cs typeface="Times New Roman"/>
              </a:rPr>
              <a:t> </a:t>
            </a:r>
            <a:r>
              <a:rPr dirty="0" sz="1000" spc="-20">
                <a:latin typeface="Times New Roman"/>
                <a:cs typeface="Times New Roman"/>
              </a:rPr>
              <a:t>ConvS2S</a:t>
            </a:r>
            <a:r>
              <a:rPr dirty="0" sz="1000" spc="-35">
                <a:latin typeface="Times New Roman"/>
                <a:cs typeface="Times New Roman"/>
              </a:rPr>
              <a:t> </a:t>
            </a:r>
            <a:r>
              <a:rPr dirty="0" sz="1000">
                <a:latin typeface="Times New Roman"/>
                <a:cs typeface="Times New Roman"/>
              </a:rPr>
              <a:t>[8],</a:t>
            </a:r>
            <a:r>
              <a:rPr dirty="0" sz="1000" spc="-35">
                <a:latin typeface="Times New Roman"/>
                <a:cs typeface="Times New Roman"/>
              </a:rPr>
              <a:t> </a:t>
            </a:r>
            <a:r>
              <a:rPr dirty="0" sz="1000">
                <a:latin typeface="Times New Roman"/>
                <a:cs typeface="Times New Roman"/>
              </a:rPr>
              <a:t>all</a:t>
            </a:r>
            <a:r>
              <a:rPr dirty="0" sz="1000" spc="-35">
                <a:latin typeface="Times New Roman"/>
                <a:cs typeface="Times New Roman"/>
              </a:rPr>
              <a:t> </a:t>
            </a:r>
            <a:r>
              <a:rPr dirty="0" sz="1000">
                <a:latin typeface="Times New Roman"/>
                <a:cs typeface="Times New Roman"/>
              </a:rPr>
              <a:t>of</a:t>
            </a:r>
            <a:r>
              <a:rPr dirty="0" sz="1000" spc="-40">
                <a:latin typeface="Times New Roman"/>
                <a:cs typeface="Times New Roman"/>
              </a:rPr>
              <a:t> </a:t>
            </a:r>
            <a:r>
              <a:rPr dirty="0" sz="1000" spc="-10">
                <a:latin typeface="Times New Roman"/>
                <a:cs typeface="Times New Roman"/>
              </a:rPr>
              <a:t>which</a:t>
            </a:r>
            <a:r>
              <a:rPr dirty="0" sz="1000" spc="-35">
                <a:latin typeface="Times New Roman"/>
                <a:cs typeface="Times New Roman"/>
              </a:rPr>
              <a:t> </a:t>
            </a:r>
            <a:r>
              <a:rPr dirty="0" sz="1000">
                <a:latin typeface="Times New Roman"/>
                <a:cs typeface="Times New Roman"/>
              </a:rPr>
              <a:t>use</a:t>
            </a:r>
            <a:r>
              <a:rPr dirty="0" sz="1000" spc="-40">
                <a:latin typeface="Times New Roman"/>
                <a:cs typeface="Times New Roman"/>
              </a:rPr>
              <a:t> </a:t>
            </a:r>
            <a:r>
              <a:rPr dirty="0" sz="1000" spc="-20">
                <a:latin typeface="Times New Roman"/>
                <a:cs typeface="Times New Roman"/>
              </a:rPr>
              <a:t>convolutional</a:t>
            </a:r>
            <a:r>
              <a:rPr dirty="0" sz="1000" spc="-35">
                <a:latin typeface="Times New Roman"/>
                <a:cs typeface="Times New Roman"/>
              </a:rPr>
              <a:t> </a:t>
            </a:r>
            <a:r>
              <a:rPr dirty="0" sz="1000" spc="-10">
                <a:latin typeface="Times New Roman"/>
                <a:cs typeface="Times New Roman"/>
              </a:rPr>
              <a:t>neural</a:t>
            </a:r>
            <a:r>
              <a:rPr dirty="0" sz="1000" spc="-40">
                <a:latin typeface="Times New Roman"/>
                <a:cs typeface="Times New Roman"/>
              </a:rPr>
              <a:t> </a:t>
            </a:r>
            <a:r>
              <a:rPr dirty="0" sz="1000" spc="-20">
                <a:latin typeface="Times New Roman"/>
                <a:cs typeface="Times New Roman"/>
              </a:rPr>
              <a:t>networks</a:t>
            </a:r>
            <a:r>
              <a:rPr dirty="0" sz="1000" spc="-35">
                <a:latin typeface="Times New Roman"/>
                <a:cs typeface="Times New Roman"/>
              </a:rPr>
              <a:t> </a:t>
            </a:r>
            <a:r>
              <a:rPr dirty="0" sz="1000">
                <a:latin typeface="Times New Roman"/>
                <a:cs typeface="Times New Roman"/>
              </a:rPr>
              <a:t>as</a:t>
            </a:r>
            <a:r>
              <a:rPr dirty="0" sz="1000" spc="-40">
                <a:latin typeface="Times New Roman"/>
                <a:cs typeface="Times New Roman"/>
              </a:rPr>
              <a:t> </a:t>
            </a:r>
            <a:r>
              <a:rPr dirty="0" sz="1000" spc="-10">
                <a:latin typeface="Times New Roman"/>
                <a:cs typeface="Times New Roman"/>
              </a:rPr>
              <a:t>basic</a:t>
            </a:r>
            <a:r>
              <a:rPr dirty="0" sz="1000" spc="-35">
                <a:latin typeface="Times New Roman"/>
                <a:cs typeface="Times New Roman"/>
              </a:rPr>
              <a:t> </a:t>
            </a:r>
            <a:r>
              <a:rPr dirty="0" sz="1000" spc="-10">
                <a:latin typeface="Times New Roman"/>
                <a:cs typeface="Times New Roman"/>
              </a:rPr>
              <a:t>building block,</a:t>
            </a:r>
            <a:r>
              <a:rPr dirty="0" sz="1000" spc="-30">
                <a:latin typeface="Times New Roman"/>
                <a:cs typeface="Times New Roman"/>
              </a:rPr>
              <a:t> </a:t>
            </a:r>
            <a:r>
              <a:rPr dirty="0" sz="1000" spc="-20">
                <a:latin typeface="Times New Roman"/>
                <a:cs typeface="Times New Roman"/>
              </a:rPr>
              <a:t>computing</a:t>
            </a:r>
            <a:r>
              <a:rPr dirty="0" sz="1000" spc="-30">
                <a:latin typeface="Times New Roman"/>
                <a:cs typeface="Times New Roman"/>
              </a:rPr>
              <a:t> </a:t>
            </a:r>
            <a:r>
              <a:rPr dirty="0" sz="1000" spc="-10">
                <a:latin typeface="Times New Roman"/>
                <a:cs typeface="Times New Roman"/>
              </a:rPr>
              <a:t>hidden</a:t>
            </a:r>
            <a:r>
              <a:rPr dirty="0" sz="1000" spc="-35">
                <a:latin typeface="Times New Roman"/>
                <a:cs typeface="Times New Roman"/>
              </a:rPr>
              <a:t> </a:t>
            </a:r>
            <a:r>
              <a:rPr dirty="0" sz="1000" spc="-20">
                <a:latin typeface="Times New Roman"/>
                <a:cs typeface="Times New Roman"/>
              </a:rPr>
              <a:t>representations</a:t>
            </a:r>
            <a:r>
              <a:rPr dirty="0" sz="1000" spc="-30">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spc="-10">
                <a:latin typeface="Times New Roman"/>
                <a:cs typeface="Times New Roman"/>
              </a:rPr>
              <a:t>parallel</a:t>
            </a:r>
            <a:r>
              <a:rPr dirty="0" sz="1000" spc="-30">
                <a:latin typeface="Times New Roman"/>
                <a:cs typeface="Times New Roman"/>
              </a:rPr>
              <a:t> </a:t>
            </a:r>
            <a:r>
              <a:rPr dirty="0" sz="1000" spc="-10">
                <a:latin typeface="Times New Roman"/>
                <a:cs typeface="Times New Roman"/>
              </a:rPr>
              <a:t>for</a:t>
            </a:r>
            <a:r>
              <a:rPr dirty="0" sz="1000" spc="-35">
                <a:latin typeface="Times New Roman"/>
                <a:cs typeface="Times New Roman"/>
              </a:rPr>
              <a:t> </a:t>
            </a:r>
            <a:r>
              <a:rPr dirty="0" sz="1000">
                <a:latin typeface="Times New Roman"/>
                <a:cs typeface="Times New Roman"/>
              </a:rPr>
              <a:t>all</a:t>
            </a:r>
            <a:r>
              <a:rPr dirty="0" sz="1000" spc="-30">
                <a:latin typeface="Times New Roman"/>
                <a:cs typeface="Times New Roman"/>
              </a:rPr>
              <a:t> </a:t>
            </a:r>
            <a:r>
              <a:rPr dirty="0" sz="1000" spc="-10">
                <a:latin typeface="Times New Roman"/>
                <a:cs typeface="Times New Roman"/>
              </a:rPr>
              <a:t>input</a:t>
            </a:r>
            <a:r>
              <a:rPr dirty="0" sz="1000" spc="-35">
                <a:latin typeface="Times New Roman"/>
                <a:cs typeface="Times New Roman"/>
              </a:rPr>
              <a:t> </a:t>
            </a:r>
            <a:r>
              <a:rPr dirty="0" sz="1000" spc="-10">
                <a:latin typeface="Times New Roman"/>
                <a:cs typeface="Times New Roman"/>
              </a:rPr>
              <a:t>and</a:t>
            </a:r>
            <a:r>
              <a:rPr dirty="0" sz="1000" spc="-30">
                <a:latin typeface="Times New Roman"/>
                <a:cs typeface="Times New Roman"/>
              </a:rPr>
              <a:t> </a:t>
            </a:r>
            <a:r>
              <a:rPr dirty="0" sz="1000" spc="-10">
                <a:latin typeface="Times New Roman"/>
                <a:cs typeface="Times New Roman"/>
              </a:rPr>
              <a:t>output</a:t>
            </a:r>
            <a:r>
              <a:rPr dirty="0" sz="1000" spc="-35">
                <a:latin typeface="Times New Roman"/>
                <a:cs typeface="Times New Roman"/>
              </a:rPr>
              <a:t> </a:t>
            </a:r>
            <a:r>
              <a:rPr dirty="0" sz="1000" spc="-10">
                <a:latin typeface="Times New Roman"/>
                <a:cs typeface="Times New Roman"/>
              </a:rPr>
              <a:t>positions.</a:t>
            </a:r>
            <a:r>
              <a:rPr dirty="0" sz="1000" spc="45">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spc="-10">
                <a:latin typeface="Times New Roman"/>
                <a:cs typeface="Times New Roman"/>
              </a:rPr>
              <a:t>these</a:t>
            </a:r>
            <a:r>
              <a:rPr dirty="0" sz="1000" spc="-30">
                <a:latin typeface="Times New Roman"/>
                <a:cs typeface="Times New Roman"/>
              </a:rPr>
              <a:t> </a:t>
            </a:r>
            <a:r>
              <a:rPr dirty="0" sz="1000" spc="-10">
                <a:latin typeface="Times New Roman"/>
                <a:cs typeface="Times New Roman"/>
              </a:rPr>
              <a:t>models,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number</a:t>
            </a:r>
            <a:r>
              <a:rPr dirty="0" sz="1000" spc="-2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spc="-10">
                <a:latin typeface="Times New Roman"/>
                <a:cs typeface="Times New Roman"/>
              </a:rPr>
              <a:t>operations</a:t>
            </a:r>
            <a:r>
              <a:rPr dirty="0" sz="1000" spc="-25">
                <a:latin typeface="Times New Roman"/>
                <a:cs typeface="Times New Roman"/>
              </a:rPr>
              <a:t> </a:t>
            </a:r>
            <a:r>
              <a:rPr dirty="0" sz="1000" spc="-10">
                <a:latin typeface="Times New Roman"/>
                <a:cs typeface="Times New Roman"/>
              </a:rPr>
              <a:t>required</a:t>
            </a:r>
            <a:r>
              <a:rPr dirty="0" sz="1000" spc="-30">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relate</a:t>
            </a:r>
            <a:r>
              <a:rPr dirty="0" sz="1000" spc="-25">
                <a:latin typeface="Times New Roman"/>
                <a:cs typeface="Times New Roman"/>
              </a:rPr>
              <a:t> </a:t>
            </a:r>
            <a:r>
              <a:rPr dirty="0" sz="1000" spc="-10">
                <a:latin typeface="Times New Roman"/>
                <a:cs typeface="Times New Roman"/>
              </a:rPr>
              <a:t>signals</a:t>
            </a:r>
            <a:r>
              <a:rPr dirty="0" sz="1000" spc="-30">
                <a:latin typeface="Times New Roman"/>
                <a:cs typeface="Times New Roman"/>
              </a:rPr>
              <a:t> </a:t>
            </a:r>
            <a:r>
              <a:rPr dirty="0" sz="1000" spc="-10">
                <a:latin typeface="Times New Roman"/>
                <a:cs typeface="Times New Roman"/>
              </a:rPr>
              <a:t>from</a:t>
            </a:r>
            <a:r>
              <a:rPr dirty="0" sz="1000" spc="-25">
                <a:latin typeface="Times New Roman"/>
                <a:cs typeface="Times New Roman"/>
              </a:rPr>
              <a:t> </a:t>
            </a:r>
            <a:r>
              <a:rPr dirty="0" sz="1000" spc="-10">
                <a:latin typeface="Times New Roman"/>
                <a:cs typeface="Times New Roman"/>
              </a:rPr>
              <a:t>two</a:t>
            </a:r>
            <a:r>
              <a:rPr dirty="0" sz="1000" spc="-30">
                <a:latin typeface="Times New Roman"/>
                <a:cs typeface="Times New Roman"/>
              </a:rPr>
              <a:t> </a:t>
            </a:r>
            <a:r>
              <a:rPr dirty="0" sz="1000" spc="-10">
                <a:latin typeface="Times New Roman"/>
                <a:cs typeface="Times New Roman"/>
              </a:rPr>
              <a:t>arbitrary</a:t>
            </a:r>
            <a:r>
              <a:rPr dirty="0" sz="1000" spc="-25">
                <a:latin typeface="Times New Roman"/>
                <a:cs typeface="Times New Roman"/>
              </a:rPr>
              <a:t> </a:t>
            </a:r>
            <a:r>
              <a:rPr dirty="0" sz="1000" spc="-10">
                <a:latin typeface="Times New Roman"/>
                <a:cs typeface="Times New Roman"/>
              </a:rPr>
              <a:t>input</a:t>
            </a:r>
            <a:r>
              <a:rPr dirty="0" sz="1000" spc="-25">
                <a:latin typeface="Times New Roman"/>
                <a:cs typeface="Times New Roman"/>
              </a:rPr>
              <a:t> </a:t>
            </a:r>
            <a:r>
              <a:rPr dirty="0" sz="1000">
                <a:latin typeface="Times New Roman"/>
                <a:cs typeface="Times New Roman"/>
              </a:rPr>
              <a:t>or</a:t>
            </a:r>
            <a:r>
              <a:rPr dirty="0" sz="1000" spc="-30">
                <a:latin typeface="Times New Roman"/>
                <a:cs typeface="Times New Roman"/>
              </a:rPr>
              <a:t> </a:t>
            </a:r>
            <a:r>
              <a:rPr dirty="0" sz="1000" spc="-10">
                <a:latin typeface="Times New Roman"/>
                <a:cs typeface="Times New Roman"/>
              </a:rPr>
              <a:t>output</a:t>
            </a:r>
            <a:r>
              <a:rPr dirty="0" sz="1000" spc="-25">
                <a:latin typeface="Times New Roman"/>
                <a:cs typeface="Times New Roman"/>
              </a:rPr>
              <a:t> </a:t>
            </a:r>
            <a:r>
              <a:rPr dirty="0" sz="1000" spc="-10">
                <a:latin typeface="Times New Roman"/>
                <a:cs typeface="Times New Roman"/>
              </a:rPr>
              <a:t>positions</a:t>
            </a:r>
            <a:r>
              <a:rPr dirty="0" sz="1000" spc="-30">
                <a:latin typeface="Times New Roman"/>
                <a:cs typeface="Times New Roman"/>
              </a:rPr>
              <a:t> </a:t>
            </a:r>
            <a:r>
              <a:rPr dirty="0" sz="1000" spc="-10">
                <a:latin typeface="Times New Roman"/>
                <a:cs typeface="Times New Roman"/>
              </a:rPr>
              <a:t>grows </a:t>
            </a:r>
            <a:r>
              <a:rPr dirty="0" sz="1000">
                <a:latin typeface="Times New Roman"/>
                <a:cs typeface="Times New Roman"/>
              </a:rPr>
              <a:t>in</a:t>
            </a:r>
            <a:r>
              <a:rPr dirty="0" sz="1000" spc="-4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distance</a:t>
            </a:r>
            <a:r>
              <a:rPr dirty="0" sz="1000" spc="-35">
                <a:latin typeface="Times New Roman"/>
                <a:cs typeface="Times New Roman"/>
              </a:rPr>
              <a:t> </a:t>
            </a:r>
            <a:r>
              <a:rPr dirty="0" sz="1000" spc="-10">
                <a:latin typeface="Times New Roman"/>
                <a:cs typeface="Times New Roman"/>
              </a:rPr>
              <a:t>between</a:t>
            </a:r>
            <a:r>
              <a:rPr dirty="0" sz="1000" spc="-35">
                <a:latin typeface="Times New Roman"/>
                <a:cs typeface="Times New Roman"/>
              </a:rPr>
              <a:t> </a:t>
            </a:r>
            <a:r>
              <a:rPr dirty="0" sz="1000" spc="-10">
                <a:latin typeface="Times New Roman"/>
                <a:cs typeface="Times New Roman"/>
              </a:rPr>
              <a:t>positions,</a:t>
            </a:r>
            <a:r>
              <a:rPr dirty="0" sz="1000" spc="-35">
                <a:latin typeface="Times New Roman"/>
                <a:cs typeface="Times New Roman"/>
              </a:rPr>
              <a:t> </a:t>
            </a:r>
            <a:r>
              <a:rPr dirty="0" sz="1000" spc="-10">
                <a:latin typeface="Times New Roman"/>
                <a:cs typeface="Times New Roman"/>
              </a:rPr>
              <a:t>linearly</a:t>
            </a:r>
            <a:r>
              <a:rPr dirty="0" sz="1000" spc="-30">
                <a:latin typeface="Times New Roman"/>
                <a:cs typeface="Times New Roman"/>
              </a:rPr>
              <a:t> </a:t>
            </a:r>
            <a:r>
              <a:rPr dirty="0" sz="1000">
                <a:latin typeface="Times New Roman"/>
                <a:cs typeface="Times New Roman"/>
              </a:rPr>
              <a:t>for</a:t>
            </a:r>
            <a:r>
              <a:rPr dirty="0" sz="1000" spc="-40">
                <a:latin typeface="Times New Roman"/>
                <a:cs typeface="Times New Roman"/>
              </a:rPr>
              <a:t> </a:t>
            </a:r>
            <a:r>
              <a:rPr dirty="0" sz="1000" spc="-10">
                <a:latin typeface="Times New Roman"/>
                <a:cs typeface="Times New Roman"/>
              </a:rPr>
              <a:t>ConvS2S</a:t>
            </a:r>
            <a:r>
              <a:rPr dirty="0" sz="1000" spc="-35">
                <a:latin typeface="Times New Roman"/>
                <a:cs typeface="Times New Roman"/>
              </a:rPr>
              <a:t> </a:t>
            </a:r>
            <a:r>
              <a:rPr dirty="0" sz="1000">
                <a:latin typeface="Times New Roman"/>
                <a:cs typeface="Times New Roman"/>
              </a:rPr>
              <a:t>and</a:t>
            </a:r>
            <a:r>
              <a:rPr dirty="0" sz="1000" spc="-35">
                <a:latin typeface="Times New Roman"/>
                <a:cs typeface="Times New Roman"/>
              </a:rPr>
              <a:t> </a:t>
            </a:r>
            <a:r>
              <a:rPr dirty="0" sz="1000" spc="-10">
                <a:latin typeface="Times New Roman"/>
                <a:cs typeface="Times New Roman"/>
              </a:rPr>
              <a:t>logarithmically</a:t>
            </a:r>
            <a:r>
              <a:rPr dirty="0" sz="1000" spc="-35">
                <a:latin typeface="Times New Roman"/>
                <a:cs typeface="Times New Roman"/>
              </a:rPr>
              <a:t> </a:t>
            </a:r>
            <a:r>
              <a:rPr dirty="0" sz="1000">
                <a:latin typeface="Times New Roman"/>
                <a:cs typeface="Times New Roman"/>
              </a:rPr>
              <a:t>for</a:t>
            </a:r>
            <a:r>
              <a:rPr dirty="0" sz="1000" spc="-35">
                <a:latin typeface="Times New Roman"/>
                <a:cs typeface="Times New Roman"/>
              </a:rPr>
              <a:t> </a:t>
            </a:r>
            <a:r>
              <a:rPr dirty="0" sz="1000">
                <a:latin typeface="Times New Roman"/>
                <a:cs typeface="Times New Roman"/>
              </a:rPr>
              <a:t>ByteNet.</a:t>
            </a:r>
            <a:r>
              <a:rPr dirty="0" sz="1000" spc="20">
                <a:latin typeface="Times New Roman"/>
                <a:cs typeface="Times New Roman"/>
              </a:rPr>
              <a:t> </a:t>
            </a:r>
            <a:r>
              <a:rPr dirty="0" sz="1000">
                <a:latin typeface="Times New Roman"/>
                <a:cs typeface="Times New Roman"/>
              </a:rPr>
              <a:t>This</a:t>
            </a:r>
            <a:r>
              <a:rPr dirty="0" sz="1000" spc="-35">
                <a:latin typeface="Times New Roman"/>
                <a:cs typeface="Times New Roman"/>
              </a:rPr>
              <a:t> </a:t>
            </a:r>
            <a:r>
              <a:rPr dirty="0" sz="1000" spc="-10">
                <a:latin typeface="Times New Roman"/>
                <a:cs typeface="Times New Roman"/>
              </a:rPr>
              <a:t>makes </a:t>
            </a:r>
            <a:r>
              <a:rPr dirty="0" sz="1000">
                <a:latin typeface="Times New Roman"/>
                <a:cs typeface="Times New Roman"/>
              </a:rPr>
              <a:t>it</a:t>
            </a:r>
            <a:r>
              <a:rPr dirty="0" sz="1000" spc="65">
                <a:latin typeface="Times New Roman"/>
                <a:cs typeface="Times New Roman"/>
              </a:rPr>
              <a:t> </a:t>
            </a:r>
            <a:r>
              <a:rPr dirty="0" sz="1000">
                <a:latin typeface="Times New Roman"/>
                <a:cs typeface="Times New Roman"/>
              </a:rPr>
              <a:t>more</a:t>
            </a:r>
            <a:r>
              <a:rPr dirty="0" sz="1000" spc="70">
                <a:latin typeface="Times New Roman"/>
                <a:cs typeface="Times New Roman"/>
              </a:rPr>
              <a:t> </a:t>
            </a:r>
            <a:r>
              <a:rPr dirty="0" sz="1000">
                <a:latin typeface="Times New Roman"/>
                <a:cs typeface="Times New Roman"/>
              </a:rPr>
              <a:t>difficult</a:t>
            </a:r>
            <a:r>
              <a:rPr dirty="0" sz="1000" spc="65">
                <a:latin typeface="Times New Roman"/>
                <a:cs typeface="Times New Roman"/>
              </a:rPr>
              <a:t> </a:t>
            </a:r>
            <a:r>
              <a:rPr dirty="0" sz="1000">
                <a:latin typeface="Times New Roman"/>
                <a:cs typeface="Times New Roman"/>
              </a:rPr>
              <a:t>to</a:t>
            </a:r>
            <a:r>
              <a:rPr dirty="0" sz="1000" spc="70">
                <a:latin typeface="Times New Roman"/>
                <a:cs typeface="Times New Roman"/>
              </a:rPr>
              <a:t> </a:t>
            </a:r>
            <a:r>
              <a:rPr dirty="0" sz="1000">
                <a:latin typeface="Times New Roman"/>
                <a:cs typeface="Times New Roman"/>
              </a:rPr>
              <a:t>learn</a:t>
            </a:r>
            <a:r>
              <a:rPr dirty="0" sz="1000" spc="65">
                <a:latin typeface="Times New Roman"/>
                <a:cs typeface="Times New Roman"/>
              </a:rPr>
              <a:t> </a:t>
            </a:r>
            <a:r>
              <a:rPr dirty="0" sz="1000">
                <a:latin typeface="Times New Roman"/>
                <a:cs typeface="Times New Roman"/>
              </a:rPr>
              <a:t>dependencies</a:t>
            </a:r>
            <a:r>
              <a:rPr dirty="0" sz="1000" spc="70">
                <a:latin typeface="Times New Roman"/>
                <a:cs typeface="Times New Roman"/>
              </a:rPr>
              <a:t> </a:t>
            </a:r>
            <a:r>
              <a:rPr dirty="0" sz="1000">
                <a:latin typeface="Times New Roman"/>
                <a:cs typeface="Times New Roman"/>
              </a:rPr>
              <a:t>between</a:t>
            </a:r>
            <a:r>
              <a:rPr dirty="0" sz="1000" spc="65">
                <a:latin typeface="Times New Roman"/>
                <a:cs typeface="Times New Roman"/>
              </a:rPr>
              <a:t> </a:t>
            </a:r>
            <a:r>
              <a:rPr dirty="0" sz="1000">
                <a:latin typeface="Times New Roman"/>
                <a:cs typeface="Times New Roman"/>
              </a:rPr>
              <a:t>distant</a:t>
            </a:r>
            <a:r>
              <a:rPr dirty="0" sz="1000" spc="70">
                <a:latin typeface="Times New Roman"/>
                <a:cs typeface="Times New Roman"/>
              </a:rPr>
              <a:t> </a:t>
            </a:r>
            <a:r>
              <a:rPr dirty="0" sz="1000">
                <a:latin typeface="Times New Roman"/>
                <a:cs typeface="Times New Roman"/>
              </a:rPr>
              <a:t>positions</a:t>
            </a:r>
            <a:r>
              <a:rPr dirty="0" sz="1000" spc="65">
                <a:latin typeface="Times New Roman"/>
                <a:cs typeface="Times New Roman"/>
              </a:rPr>
              <a:t> </a:t>
            </a:r>
            <a:r>
              <a:rPr dirty="0" sz="1000">
                <a:latin typeface="Times New Roman"/>
                <a:cs typeface="Times New Roman"/>
              </a:rPr>
              <a:t>[11].</a:t>
            </a:r>
            <a:r>
              <a:rPr dirty="0" sz="1000" spc="250">
                <a:latin typeface="Times New Roman"/>
                <a:cs typeface="Times New Roman"/>
              </a:rPr>
              <a:t> </a:t>
            </a:r>
            <a:r>
              <a:rPr dirty="0" sz="1000">
                <a:latin typeface="Times New Roman"/>
                <a:cs typeface="Times New Roman"/>
              </a:rPr>
              <a:t>In</a:t>
            </a:r>
            <a:r>
              <a:rPr dirty="0" sz="1000" spc="70">
                <a:latin typeface="Times New Roman"/>
                <a:cs typeface="Times New Roman"/>
              </a:rPr>
              <a:t> </a:t>
            </a:r>
            <a:r>
              <a:rPr dirty="0" sz="1000">
                <a:latin typeface="Times New Roman"/>
                <a:cs typeface="Times New Roman"/>
              </a:rPr>
              <a:t>the</a:t>
            </a:r>
            <a:r>
              <a:rPr dirty="0" sz="1000" spc="70">
                <a:latin typeface="Times New Roman"/>
                <a:cs typeface="Times New Roman"/>
              </a:rPr>
              <a:t> </a:t>
            </a:r>
            <a:r>
              <a:rPr dirty="0" sz="1000">
                <a:latin typeface="Times New Roman"/>
                <a:cs typeface="Times New Roman"/>
              </a:rPr>
              <a:t>Transformer</a:t>
            </a:r>
            <a:r>
              <a:rPr dirty="0" sz="1000" spc="65">
                <a:latin typeface="Times New Roman"/>
                <a:cs typeface="Times New Roman"/>
              </a:rPr>
              <a:t> </a:t>
            </a:r>
            <a:r>
              <a:rPr dirty="0" sz="1000">
                <a:latin typeface="Times New Roman"/>
                <a:cs typeface="Times New Roman"/>
              </a:rPr>
              <a:t>this</a:t>
            </a:r>
            <a:r>
              <a:rPr dirty="0" sz="1000" spc="70">
                <a:latin typeface="Times New Roman"/>
                <a:cs typeface="Times New Roman"/>
              </a:rPr>
              <a:t> </a:t>
            </a:r>
            <a:r>
              <a:rPr dirty="0" sz="1000" spc="-25">
                <a:latin typeface="Times New Roman"/>
                <a:cs typeface="Times New Roman"/>
              </a:rPr>
              <a:t>is </a:t>
            </a:r>
            <a:r>
              <a:rPr dirty="0" sz="1000">
                <a:latin typeface="Times New Roman"/>
                <a:cs typeface="Times New Roman"/>
              </a:rPr>
              <a:t>reduced</a:t>
            </a:r>
            <a:r>
              <a:rPr dirty="0" sz="1000" spc="45">
                <a:latin typeface="Times New Roman"/>
                <a:cs typeface="Times New Roman"/>
              </a:rPr>
              <a:t> </a:t>
            </a:r>
            <a:r>
              <a:rPr dirty="0" sz="1000">
                <a:latin typeface="Times New Roman"/>
                <a:cs typeface="Times New Roman"/>
              </a:rPr>
              <a:t>to</a:t>
            </a:r>
            <a:r>
              <a:rPr dirty="0" sz="1000" spc="50">
                <a:latin typeface="Times New Roman"/>
                <a:cs typeface="Times New Roman"/>
              </a:rPr>
              <a:t> </a:t>
            </a:r>
            <a:r>
              <a:rPr dirty="0" sz="1000">
                <a:latin typeface="Times New Roman"/>
                <a:cs typeface="Times New Roman"/>
              </a:rPr>
              <a:t>a</a:t>
            </a:r>
            <a:r>
              <a:rPr dirty="0" sz="1000" spc="50">
                <a:latin typeface="Times New Roman"/>
                <a:cs typeface="Times New Roman"/>
              </a:rPr>
              <a:t> </a:t>
            </a:r>
            <a:r>
              <a:rPr dirty="0" sz="1000">
                <a:latin typeface="Times New Roman"/>
                <a:cs typeface="Times New Roman"/>
              </a:rPr>
              <a:t>constant</a:t>
            </a:r>
            <a:r>
              <a:rPr dirty="0" sz="1000" spc="50">
                <a:latin typeface="Times New Roman"/>
                <a:cs typeface="Times New Roman"/>
              </a:rPr>
              <a:t> </a:t>
            </a:r>
            <a:r>
              <a:rPr dirty="0" sz="1000">
                <a:latin typeface="Times New Roman"/>
                <a:cs typeface="Times New Roman"/>
              </a:rPr>
              <a:t>number</a:t>
            </a:r>
            <a:r>
              <a:rPr dirty="0" sz="1000" spc="50">
                <a:latin typeface="Times New Roman"/>
                <a:cs typeface="Times New Roman"/>
              </a:rPr>
              <a:t> </a:t>
            </a:r>
            <a:r>
              <a:rPr dirty="0" sz="1000">
                <a:latin typeface="Times New Roman"/>
                <a:cs typeface="Times New Roman"/>
              </a:rPr>
              <a:t>of</a:t>
            </a:r>
            <a:r>
              <a:rPr dirty="0" sz="1000" spc="50">
                <a:latin typeface="Times New Roman"/>
                <a:cs typeface="Times New Roman"/>
              </a:rPr>
              <a:t> </a:t>
            </a:r>
            <a:r>
              <a:rPr dirty="0" sz="1000">
                <a:latin typeface="Times New Roman"/>
                <a:cs typeface="Times New Roman"/>
              </a:rPr>
              <a:t>operations,</a:t>
            </a:r>
            <a:r>
              <a:rPr dirty="0" sz="1000" spc="65">
                <a:latin typeface="Times New Roman"/>
                <a:cs typeface="Times New Roman"/>
              </a:rPr>
              <a:t> </a:t>
            </a:r>
            <a:r>
              <a:rPr dirty="0" sz="1000">
                <a:latin typeface="Times New Roman"/>
                <a:cs typeface="Times New Roman"/>
              </a:rPr>
              <a:t>albeit</a:t>
            </a:r>
            <a:r>
              <a:rPr dirty="0" sz="1000" spc="45">
                <a:latin typeface="Times New Roman"/>
                <a:cs typeface="Times New Roman"/>
              </a:rPr>
              <a:t> </a:t>
            </a:r>
            <a:r>
              <a:rPr dirty="0" sz="1000">
                <a:latin typeface="Times New Roman"/>
                <a:cs typeface="Times New Roman"/>
              </a:rPr>
              <a:t>at</a:t>
            </a:r>
            <a:r>
              <a:rPr dirty="0" sz="1000" spc="45">
                <a:latin typeface="Times New Roman"/>
                <a:cs typeface="Times New Roman"/>
              </a:rPr>
              <a:t> </a:t>
            </a:r>
            <a:r>
              <a:rPr dirty="0" sz="1000">
                <a:latin typeface="Times New Roman"/>
                <a:cs typeface="Times New Roman"/>
              </a:rPr>
              <a:t>the</a:t>
            </a:r>
            <a:r>
              <a:rPr dirty="0" sz="1000" spc="55">
                <a:latin typeface="Times New Roman"/>
                <a:cs typeface="Times New Roman"/>
              </a:rPr>
              <a:t> </a:t>
            </a:r>
            <a:r>
              <a:rPr dirty="0" sz="1000">
                <a:latin typeface="Times New Roman"/>
                <a:cs typeface="Times New Roman"/>
              </a:rPr>
              <a:t>cost</a:t>
            </a:r>
            <a:r>
              <a:rPr dirty="0" sz="1000" spc="45">
                <a:latin typeface="Times New Roman"/>
                <a:cs typeface="Times New Roman"/>
              </a:rPr>
              <a:t> </a:t>
            </a:r>
            <a:r>
              <a:rPr dirty="0" sz="1000">
                <a:latin typeface="Times New Roman"/>
                <a:cs typeface="Times New Roman"/>
              </a:rPr>
              <a:t>of</a:t>
            </a:r>
            <a:r>
              <a:rPr dirty="0" sz="1000" spc="55">
                <a:latin typeface="Times New Roman"/>
                <a:cs typeface="Times New Roman"/>
              </a:rPr>
              <a:t> </a:t>
            </a:r>
            <a:r>
              <a:rPr dirty="0" sz="1000">
                <a:latin typeface="Times New Roman"/>
                <a:cs typeface="Times New Roman"/>
              </a:rPr>
              <a:t>reduced</a:t>
            </a:r>
            <a:r>
              <a:rPr dirty="0" sz="1000" spc="45">
                <a:latin typeface="Times New Roman"/>
                <a:cs typeface="Times New Roman"/>
              </a:rPr>
              <a:t> </a:t>
            </a:r>
            <a:r>
              <a:rPr dirty="0" sz="1000">
                <a:latin typeface="Times New Roman"/>
                <a:cs typeface="Times New Roman"/>
              </a:rPr>
              <a:t>effective</a:t>
            </a:r>
            <a:r>
              <a:rPr dirty="0" sz="1000" spc="55">
                <a:latin typeface="Times New Roman"/>
                <a:cs typeface="Times New Roman"/>
              </a:rPr>
              <a:t> </a:t>
            </a:r>
            <a:r>
              <a:rPr dirty="0" sz="1000">
                <a:latin typeface="Times New Roman"/>
                <a:cs typeface="Times New Roman"/>
              </a:rPr>
              <a:t>resolution</a:t>
            </a:r>
            <a:r>
              <a:rPr dirty="0" sz="1000" spc="45">
                <a:latin typeface="Times New Roman"/>
                <a:cs typeface="Times New Roman"/>
              </a:rPr>
              <a:t> </a:t>
            </a:r>
            <a:r>
              <a:rPr dirty="0" sz="1000" spc="-25">
                <a:latin typeface="Times New Roman"/>
                <a:cs typeface="Times New Roman"/>
              </a:rPr>
              <a:t>due </a:t>
            </a:r>
            <a:r>
              <a:rPr dirty="0" sz="1000">
                <a:latin typeface="Times New Roman"/>
                <a:cs typeface="Times New Roman"/>
              </a:rPr>
              <a:t>to</a:t>
            </a:r>
            <a:r>
              <a:rPr dirty="0" sz="1000" spc="75">
                <a:latin typeface="Times New Roman"/>
                <a:cs typeface="Times New Roman"/>
              </a:rPr>
              <a:t> </a:t>
            </a:r>
            <a:r>
              <a:rPr dirty="0" sz="1000">
                <a:latin typeface="Times New Roman"/>
                <a:cs typeface="Times New Roman"/>
              </a:rPr>
              <a:t>averaging</a:t>
            </a:r>
            <a:r>
              <a:rPr dirty="0" sz="1000" spc="75">
                <a:latin typeface="Times New Roman"/>
                <a:cs typeface="Times New Roman"/>
              </a:rPr>
              <a:t> </a:t>
            </a:r>
            <a:r>
              <a:rPr dirty="0" sz="1000">
                <a:latin typeface="Times New Roman"/>
                <a:cs typeface="Times New Roman"/>
              </a:rPr>
              <a:t>attention-weighted</a:t>
            </a:r>
            <a:r>
              <a:rPr dirty="0" sz="1000" spc="75">
                <a:latin typeface="Times New Roman"/>
                <a:cs typeface="Times New Roman"/>
              </a:rPr>
              <a:t> </a:t>
            </a:r>
            <a:r>
              <a:rPr dirty="0" sz="1000">
                <a:latin typeface="Times New Roman"/>
                <a:cs typeface="Times New Roman"/>
              </a:rPr>
              <a:t>positions,</a:t>
            </a:r>
            <a:r>
              <a:rPr dirty="0" sz="1000" spc="95">
                <a:latin typeface="Times New Roman"/>
                <a:cs typeface="Times New Roman"/>
              </a:rPr>
              <a:t> </a:t>
            </a:r>
            <a:r>
              <a:rPr dirty="0" sz="1000">
                <a:latin typeface="Times New Roman"/>
                <a:cs typeface="Times New Roman"/>
              </a:rPr>
              <a:t>an</a:t>
            </a:r>
            <a:r>
              <a:rPr dirty="0" sz="1000" spc="75">
                <a:latin typeface="Times New Roman"/>
                <a:cs typeface="Times New Roman"/>
              </a:rPr>
              <a:t> </a:t>
            </a:r>
            <a:r>
              <a:rPr dirty="0" sz="1000">
                <a:latin typeface="Times New Roman"/>
                <a:cs typeface="Times New Roman"/>
              </a:rPr>
              <a:t>effect</a:t>
            </a:r>
            <a:r>
              <a:rPr dirty="0" sz="1000" spc="80">
                <a:latin typeface="Times New Roman"/>
                <a:cs typeface="Times New Roman"/>
              </a:rPr>
              <a:t> </a:t>
            </a:r>
            <a:r>
              <a:rPr dirty="0" sz="1000">
                <a:latin typeface="Times New Roman"/>
                <a:cs typeface="Times New Roman"/>
              </a:rPr>
              <a:t>we</a:t>
            </a:r>
            <a:r>
              <a:rPr dirty="0" sz="1000" spc="75">
                <a:latin typeface="Times New Roman"/>
                <a:cs typeface="Times New Roman"/>
              </a:rPr>
              <a:t> </a:t>
            </a:r>
            <a:r>
              <a:rPr dirty="0" sz="1000">
                <a:latin typeface="Times New Roman"/>
                <a:cs typeface="Times New Roman"/>
              </a:rPr>
              <a:t>counteract</a:t>
            </a:r>
            <a:r>
              <a:rPr dirty="0" sz="1000" spc="75">
                <a:latin typeface="Times New Roman"/>
                <a:cs typeface="Times New Roman"/>
              </a:rPr>
              <a:t> </a:t>
            </a:r>
            <a:r>
              <a:rPr dirty="0" sz="1000">
                <a:latin typeface="Times New Roman"/>
                <a:cs typeface="Times New Roman"/>
              </a:rPr>
              <a:t>with</a:t>
            </a:r>
            <a:r>
              <a:rPr dirty="0" sz="1000" spc="80">
                <a:latin typeface="Times New Roman"/>
                <a:cs typeface="Times New Roman"/>
              </a:rPr>
              <a:t> </a:t>
            </a:r>
            <a:r>
              <a:rPr dirty="0" sz="1000">
                <a:latin typeface="Times New Roman"/>
                <a:cs typeface="Times New Roman"/>
              </a:rPr>
              <a:t>Multi-Head</a:t>
            </a:r>
            <a:r>
              <a:rPr dirty="0" sz="1000" spc="75">
                <a:latin typeface="Times New Roman"/>
                <a:cs typeface="Times New Roman"/>
              </a:rPr>
              <a:t> </a:t>
            </a:r>
            <a:r>
              <a:rPr dirty="0" sz="1000">
                <a:latin typeface="Times New Roman"/>
                <a:cs typeface="Times New Roman"/>
              </a:rPr>
              <a:t>Attention</a:t>
            </a:r>
            <a:r>
              <a:rPr dirty="0" sz="1000" spc="75">
                <a:latin typeface="Times New Roman"/>
                <a:cs typeface="Times New Roman"/>
              </a:rPr>
              <a:t> </a:t>
            </a:r>
            <a:r>
              <a:rPr dirty="0" sz="1000" spc="-25">
                <a:latin typeface="Times New Roman"/>
                <a:cs typeface="Times New Roman"/>
              </a:rPr>
              <a:t>as </a:t>
            </a:r>
            <a:r>
              <a:rPr dirty="0" sz="1000">
                <a:latin typeface="Times New Roman"/>
                <a:cs typeface="Times New Roman"/>
              </a:rPr>
              <a:t>described</a:t>
            </a:r>
            <a:r>
              <a:rPr dirty="0" sz="1000" spc="-30">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section</a:t>
            </a:r>
            <a:r>
              <a:rPr dirty="0" sz="1000" spc="-30">
                <a:latin typeface="Times New Roman"/>
                <a:cs typeface="Times New Roman"/>
              </a:rPr>
              <a:t> </a:t>
            </a:r>
            <a:r>
              <a:rPr dirty="0" sz="1000" spc="-20">
                <a:latin typeface="Times New Roman"/>
                <a:cs typeface="Times New Roman"/>
              </a:rPr>
              <a:t>3.2.</a:t>
            </a:r>
            <a:endParaRPr sz="1000">
              <a:latin typeface="Times New Roman"/>
              <a:cs typeface="Times New Roman"/>
            </a:endParaRPr>
          </a:p>
          <a:p>
            <a:pPr algn="just" marL="101600" marR="82550">
              <a:lnSpc>
                <a:spcPts val="1090"/>
              </a:lnSpc>
              <a:spcBef>
                <a:spcPts val="555"/>
              </a:spcBef>
            </a:pPr>
            <a:r>
              <a:rPr dirty="0" sz="1000" spc="-10">
                <a:latin typeface="Times New Roman"/>
                <a:cs typeface="Times New Roman"/>
              </a:rPr>
              <a:t>Self-attention,</a:t>
            </a:r>
            <a:r>
              <a:rPr dirty="0" sz="1000" spc="-5">
                <a:latin typeface="Times New Roman"/>
                <a:cs typeface="Times New Roman"/>
              </a:rPr>
              <a:t> </a:t>
            </a:r>
            <a:r>
              <a:rPr dirty="0" sz="1000" spc="-10">
                <a:latin typeface="Times New Roman"/>
                <a:cs typeface="Times New Roman"/>
              </a:rPr>
              <a:t>sometimes</a:t>
            </a:r>
            <a:r>
              <a:rPr dirty="0" sz="1000" spc="-5">
                <a:latin typeface="Times New Roman"/>
                <a:cs typeface="Times New Roman"/>
              </a:rPr>
              <a:t> </a:t>
            </a:r>
            <a:r>
              <a:rPr dirty="0" sz="1000" spc="-10">
                <a:latin typeface="Times New Roman"/>
                <a:cs typeface="Times New Roman"/>
              </a:rPr>
              <a:t>called</a:t>
            </a:r>
            <a:r>
              <a:rPr dirty="0" sz="1000" spc="-5">
                <a:latin typeface="Times New Roman"/>
                <a:cs typeface="Times New Roman"/>
              </a:rPr>
              <a:t> </a:t>
            </a:r>
            <a:r>
              <a:rPr dirty="0" sz="1000" spc="-10">
                <a:latin typeface="Times New Roman"/>
                <a:cs typeface="Times New Roman"/>
              </a:rPr>
              <a:t>intra-attention</a:t>
            </a:r>
            <a:r>
              <a:rPr dirty="0" sz="1000" spc="-5">
                <a:latin typeface="Times New Roman"/>
                <a:cs typeface="Times New Roman"/>
              </a:rPr>
              <a:t> </a:t>
            </a:r>
            <a:r>
              <a:rPr dirty="0" sz="1000">
                <a:latin typeface="Times New Roman"/>
                <a:cs typeface="Times New Roman"/>
              </a:rPr>
              <a:t>is</a:t>
            </a:r>
            <a:r>
              <a:rPr dirty="0" sz="1000" spc="-5">
                <a:latin typeface="Times New Roman"/>
                <a:cs typeface="Times New Roman"/>
              </a:rPr>
              <a:t> </a:t>
            </a:r>
            <a:r>
              <a:rPr dirty="0" sz="1000">
                <a:latin typeface="Times New Roman"/>
                <a:cs typeface="Times New Roman"/>
              </a:rPr>
              <a:t>an</a:t>
            </a:r>
            <a:r>
              <a:rPr dirty="0" sz="1000" spc="-5">
                <a:latin typeface="Times New Roman"/>
                <a:cs typeface="Times New Roman"/>
              </a:rPr>
              <a:t> </a:t>
            </a:r>
            <a:r>
              <a:rPr dirty="0" sz="1000" spc="-10">
                <a:latin typeface="Times New Roman"/>
                <a:cs typeface="Times New Roman"/>
              </a:rPr>
              <a:t>attention</a:t>
            </a:r>
            <a:r>
              <a:rPr dirty="0" sz="1000" spc="-5">
                <a:latin typeface="Times New Roman"/>
                <a:cs typeface="Times New Roman"/>
              </a:rPr>
              <a:t> </a:t>
            </a:r>
            <a:r>
              <a:rPr dirty="0" sz="1000" spc="-10">
                <a:latin typeface="Times New Roman"/>
                <a:cs typeface="Times New Roman"/>
              </a:rPr>
              <a:t>mechanism</a:t>
            </a:r>
            <a:r>
              <a:rPr dirty="0" sz="1000" spc="-5">
                <a:latin typeface="Times New Roman"/>
                <a:cs typeface="Times New Roman"/>
              </a:rPr>
              <a:t> </a:t>
            </a:r>
            <a:r>
              <a:rPr dirty="0" sz="1000" spc="-10">
                <a:latin typeface="Times New Roman"/>
                <a:cs typeface="Times New Roman"/>
              </a:rPr>
              <a:t>relating</a:t>
            </a:r>
            <a:r>
              <a:rPr dirty="0" sz="1000" spc="-5">
                <a:latin typeface="Times New Roman"/>
                <a:cs typeface="Times New Roman"/>
              </a:rPr>
              <a:t> </a:t>
            </a:r>
            <a:r>
              <a:rPr dirty="0" sz="1000" spc="-10">
                <a:latin typeface="Times New Roman"/>
                <a:cs typeface="Times New Roman"/>
              </a:rPr>
              <a:t>different</a:t>
            </a:r>
            <a:r>
              <a:rPr dirty="0" sz="1000" spc="-5">
                <a:latin typeface="Times New Roman"/>
                <a:cs typeface="Times New Roman"/>
              </a:rPr>
              <a:t> </a:t>
            </a:r>
            <a:r>
              <a:rPr dirty="0" sz="1000" spc="-10">
                <a:latin typeface="Times New Roman"/>
                <a:cs typeface="Times New Roman"/>
              </a:rPr>
              <a:t>positions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single</a:t>
            </a:r>
            <a:r>
              <a:rPr dirty="0" sz="1000" spc="20">
                <a:latin typeface="Times New Roman"/>
                <a:cs typeface="Times New Roman"/>
              </a:rPr>
              <a:t> </a:t>
            </a:r>
            <a:r>
              <a:rPr dirty="0" sz="1000">
                <a:latin typeface="Times New Roman"/>
                <a:cs typeface="Times New Roman"/>
              </a:rPr>
              <a:t>sequence</a:t>
            </a:r>
            <a:r>
              <a:rPr dirty="0" sz="1000" spc="15">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a:latin typeface="Times New Roman"/>
                <a:cs typeface="Times New Roman"/>
              </a:rPr>
              <a:t>order</a:t>
            </a:r>
            <a:r>
              <a:rPr dirty="0" sz="1000" spc="2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compute</a:t>
            </a:r>
            <a:r>
              <a:rPr dirty="0" sz="1000" spc="2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representation</a:t>
            </a:r>
            <a:r>
              <a:rPr dirty="0" sz="1000" spc="2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sequence.</a:t>
            </a:r>
            <a:r>
              <a:rPr dirty="0" sz="1000" spc="90">
                <a:latin typeface="Times New Roman"/>
                <a:cs typeface="Times New Roman"/>
              </a:rPr>
              <a:t> </a:t>
            </a:r>
            <a:r>
              <a:rPr dirty="0" sz="1000">
                <a:latin typeface="Times New Roman"/>
                <a:cs typeface="Times New Roman"/>
              </a:rPr>
              <a:t>Self-attention</a:t>
            </a:r>
            <a:r>
              <a:rPr dirty="0" sz="1000" spc="15">
                <a:latin typeface="Times New Roman"/>
                <a:cs typeface="Times New Roman"/>
              </a:rPr>
              <a:t> </a:t>
            </a:r>
            <a:r>
              <a:rPr dirty="0" sz="1000">
                <a:latin typeface="Times New Roman"/>
                <a:cs typeface="Times New Roman"/>
              </a:rPr>
              <a:t>has</a:t>
            </a:r>
            <a:r>
              <a:rPr dirty="0" sz="1000" spc="20">
                <a:latin typeface="Times New Roman"/>
                <a:cs typeface="Times New Roman"/>
              </a:rPr>
              <a:t> </a:t>
            </a:r>
            <a:r>
              <a:rPr dirty="0" sz="1000" spc="-20">
                <a:latin typeface="Times New Roman"/>
                <a:cs typeface="Times New Roman"/>
              </a:rPr>
              <a:t>been </a:t>
            </a:r>
            <a:r>
              <a:rPr dirty="0" sz="1000">
                <a:latin typeface="Times New Roman"/>
                <a:cs typeface="Times New Roman"/>
              </a:rPr>
              <a:t>used</a:t>
            </a:r>
            <a:r>
              <a:rPr dirty="0" sz="1000" spc="-15">
                <a:latin typeface="Times New Roman"/>
                <a:cs typeface="Times New Roman"/>
              </a:rPr>
              <a:t> </a:t>
            </a:r>
            <a:r>
              <a:rPr dirty="0" sz="1000">
                <a:latin typeface="Times New Roman"/>
                <a:cs typeface="Times New Roman"/>
              </a:rPr>
              <a:t>successfully</a:t>
            </a:r>
            <a:r>
              <a:rPr dirty="0" sz="1000" spc="-1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a</a:t>
            </a:r>
            <a:r>
              <a:rPr dirty="0" sz="1000" spc="-5">
                <a:latin typeface="Times New Roman"/>
                <a:cs typeface="Times New Roman"/>
              </a:rPr>
              <a:t> </a:t>
            </a:r>
            <a:r>
              <a:rPr dirty="0" sz="1000" spc="-10">
                <a:latin typeface="Times New Roman"/>
                <a:cs typeface="Times New Roman"/>
              </a:rPr>
              <a:t>variety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tasks</a:t>
            </a:r>
            <a:r>
              <a:rPr dirty="0" sz="1000" spc="-10">
                <a:latin typeface="Times New Roman"/>
                <a:cs typeface="Times New Roman"/>
              </a:rPr>
              <a:t> </a:t>
            </a:r>
            <a:r>
              <a:rPr dirty="0" sz="1000">
                <a:latin typeface="Times New Roman"/>
                <a:cs typeface="Times New Roman"/>
              </a:rPr>
              <a:t>including</a:t>
            </a:r>
            <a:r>
              <a:rPr dirty="0" sz="1000" spc="-15">
                <a:latin typeface="Times New Roman"/>
                <a:cs typeface="Times New Roman"/>
              </a:rPr>
              <a:t> </a:t>
            </a:r>
            <a:r>
              <a:rPr dirty="0" sz="1000">
                <a:latin typeface="Times New Roman"/>
                <a:cs typeface="Times New Roman"/>
              </a:rPr>
              <a:t>reading</a:t>
            </a:r>
            <a:r>
              <a:rPr dirty="0" sz="1000" spc="-15">
                <a:latin typeface="Times New Roman"/>
                <a:cs typeface="Times New Roman"/>
              </a:rPr>
              <a:t> </a:t>
            </a:r>
            <a:r>
              <a:rPr dirty="0" sz="1000" spc="-10">
                <a:latin typeface="Times New Roman"/>
                <a:cs typeface="Times New Roman"/>
              </a:rPr>
              <a:t>comprehension, abstractive</a:t>
            </a:r>
            <a:r>
              <a:rPr dirty="0" sz="1000" spc="-5">
                <a:latin typeface="Times New Roman"/>
                <a:cs typeface="Times New Roman"/>
              </a:rPr>
              <a:t> </a:t>
            </a:r>
            <a:r>
              <a:rPr dirty="0" sz="1000" spc="-10">
                <a:latin typeface="Times New Roman"/>
                <a:cs typeface="Times New Roman"/>
              </a:rPr>
              <a:t>summarization, </a:t>
            </a:r>
            <a:r>
              <a:rPr dirty="0" sz="1000">
                <a:latin typeface="Times New Roman"/>
                <a:cs typeface="Times New Roman"/>
              </a:rPr>
              <a:t>textual</a:t>
            </a:r>
            <a:r>
              <a:rPr dirty="0" sz="1000" spc="-20">
                <a:latin typeface="Times New Roman"/>
                <a:cs typeface="Times New Roman"/>
              </a:rPr>
              <a:t> </a:t>
            </a:r>
            <a:r>
              <a:rPr dirty="0" sz="1000">
                <a:latin typeface="Times New Roman"/>
                <a:cs typeface="Times New Roman"/>
              </a:rPr>
              <a:t>entailment</a:t>
            </a:r>
            <a:r>
              <a:rPr dirty="0" sz="1000" spc="-20">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learning</a:t>
            </a:r>
            <a:r>
              <a:rPr dirty="0" sz="1000" spc="-20">
                <a:latin typeface="Times New Roman"/>
                <a:cs typeface="Times New Roman"/>
              </a:rPr>
              <a:t> </a:t>
            </a:r>
            <a:r>
              <a:rPr dirty="0" sz="1000" spc="-10">
                <a:latin typeface="Times New Roman"/>
                <a:cs typeface="Times New Roman"/>
              </a:rPr>
              <a:t>task-</a:t>
            </a:r>
            <a:r>
              <a:rPr dirty="0" sz="1000">
                <a:latin typeface="Times New Roman"/>
                <a:cs typeface="Times New Roman"/>
              </a:rPr>
              <a:t>independent</a:t>
            </a:r>
            <a:r>
              <a:rPr dirty="0" sz="1000" spc="-20">
                <a:latin typeface="Times New Roman"/>
                <a:cs typeface="Times New Roman"/>
              </a:rPr>
              <a:t> </a:t>
            </a:r>
            <a:r>
              <a:rPr dirty="0" sz="1000">
                <a:latin typeface="Times New Roman"/>
                <a:cs typeface="Times New Roman"/>
              </a:rPr>
              <a:t>sentence</a:t>
            </a:r>
            <a:r>
              <a:rPr dirty="0" sz="1000" spc="-15">
                <a:latin typeface="Times New Roman"/>
                <a:cs typeface="Times New Roman"/>
              </a:rPr>
              <a:t> </a:t>
            </a:r>
            <a:r>
              <a:rPr dirty="0" sz="1000" spc="-10">
                <a:latin typeface="Times New Roman"/>
                <a:cs typeface="Times New Roman"/>
              </a:rPr>
              <a:t>representations</a:t>
            </a:r>
            <a:r>
              <a:rPr dirty="0" sz="1000" spc="-20">
                <a:latin typeface="Times New Roman"/>
                <a:cs typeface="Times New Roman"/>
              </a:rPr>
              <a:t> </a:t>
            </a:r>
            <a:r>
              <a:rPr dirty="0" sz="1000">
                <a:latin typeface="Times New Roman"/>
                <a:cs typeface="Times New Roman"/>
              </a:rPr>
              <a:t>[4,</a:t>
            </a:r>
            <a:r>
              <a:rPr dirty="0" sz="1000" spc="-20">
                <a:latin typeface="Times New Roman"/>
                <a:cs typeface="Times New Roman"/>
              </a:rPr>
              <a:t> </a:t>
            </a:r>
            <a:r>
              <a:rPr dirty="0" sz="1000">
                <a:latin typeface="Times New Roman"/>
                <a:cs typeface="Times New Roman"/>
              </a:rPr>
              <a:t>22,</a:t>
            </a:r>
            <a:r>
              <a:rPr dirty="0" sz="1000" spc="-15">
                <a:latin typeface="Times New Roman"/>
                <a:cs typeface="Times New Roman"/>
              </a:rPr>
              <a:t> </a:t>
            </a:r>
            <a:r>
              <a:rPr dirty="0" sz="1000">
                <a:latin typeface="Times New Roman"/>
                <a:cs typeface="Times New Roman"/>
              </a:rPr>
              <a:t>23,</a:t>
            </a:r>
            <a:r>
              <a:rPr dirty="0" sz="1000" spc="-20">
                <a:latin typeface="Times New Roman"/>
                <a:cs typeface="Times New Roman"/>
              </a:rPr>
              <a:t> 19].</a:t>
            </a:r>
            <a:endParaRPr sz="1000">
              <a:latin typeface="Times New Roman"/>
              <a:cs typeface="Times New Roman"/>
            </a:endParaRPr>
          </a:p>
          <a:p>
            <a:pPr algn="just" marL="101600" marR="76835">
              <a:lnSpc>
                <a:spcPts val="1090"/>
              </a:lnSpc>
              <a:spcBef>
                <a:spcPts val="550"/>
              </a:spcBef>
            </a:pPr>
            <a:r>
              <a:rPr dirty="0" sz="1000">
                <a:latin typeface="Times New Roman"/>
                <a:cs typeface="Times New Roman"/>
              </a:rPr>
              <a:t>End-to-end</a:t>
            </a:r>
            <a:r>
              <a:rPr dirty="0" sz="1000" spc="55">
                <a:latin typeface="Times New Roman"/>
                <a:cs typeface="Times New Roman"/>
              </a:rPr>
              <a:t> </a:t>
            </a:r>
            <a:r>
              <a:rPr dirty="0" sz="1000">
                <a:latin typeface="Times New Roman"/>
                <a:cs typeface="Times New Roman"/>
              </a:rPr>
              <a:t>memory</a:t>
            </a:r>
            <a:r>
              <a:rPr dirty="0" sz="1000" spc="55">
                <a:latin typeface="Times New Roman"/>
                <a:cs typeface="Times New Roman"/>
              </a:rPr>
              <a:t> </a:t>
            </a:r>
            <a:r>
              <a:rPr dirty="0" sz="1000">
                <a:latin typeface="Times New Roman"/>
                <a:cs typeface="Times New Roman"/>
              </a:rPr>
              <a:t>networks</a:t>
            </a:r>
            <a:r>
              <a:rPr dirty="0" sz="1000" spc="55">
                <a:latin typeface="Times New Roman"/>
                <a:cs typeface="Times New Roman"/>
              </a:rPr>
              <a:t> </a:t>
            </a:r>
            <a:r>
              <a:rPr dirty="0" sz="1000">
                <a:latin typeface="Times New Roman"/>
                <a:cs typeface="Times New Roman"/>
              </a:rPr>
              <a:t>are</a:t>
            </a:r>
            <a:r>
              <a:rPr dirty="0" sz="1000" spc="55">
                <a:latin typeface="Times New Roman"/>
                <a:cs typeface="Times New Roman"/>
              </a:rPr>
              <a:t> </a:t>
            </a:r>
            <a:r>
              <a:rPr dirty="0" sz="1000">
                <a:latin typeface="Times New Roman"/>
                <a:cs typeface="Times New Roman"/>
              </a:rPr>
              <a:t>based</a:t>
            </a:r>
            <a:r>
              <a:rPr dirty="0" sz="1000" spc="55">
                <a:latin typeface="Times New Roman"/>
                <a:cs typeface="Times New Roman"/>
              </a:rPr>
              <a:t> </a:t>
            </a:r>
            <a:r>
              <a:rPr dirty="0" sz="1000">
                <a:latin typeface="Times New Roman"/>
                <a:cs typeface="Times New Roman"/>
              </a:rPr>
              <a:t>on</a:t>
            </a:r>
            <a:r>
              <a:rPr dirty="0" sz="1000" spc="60">
                <a:latin typeface="Times New Roman"/>
                <a:cs typeface="Times New Roman"/>
              </a:rPr>
              <a:t> </a:t>
            </a:r>
            <a:r>
              <a:rPr dirty="0" sz="1000">
                <a:latin typeface="Times New Roman"/>
                <a:cs typeface="Times New Roman"/>
              </a:rPr>
              <a:t>a</a:t>
            </a:r>
            <a:r>
              <a:rPr dirty="0" sz="1000" spc="55">
                <a:latin typeface="Times New Roman"/>
                <a:cs typeface="Times New Roman"/>
              </a:rPr>
              <a:t> </a:t>
            </a:r>
            <a:r>
              <a:rPr dirty="0" sz="1000">
                <a:latin typeface="Times New Roman"/>
                <a:cs typeface="Times New Roman"/>
              </a:rPr>
              <a:t>recurrent</a:t>
            </a:r>
            <a:r>
              <a:rPr dirty="0" sz="1000" spc="55">
                <a:latin typeface="Times New Roman"/>
                <a:cs typeface="Times New Roman"/>
              </a:rPr>
              <a:t> </a:t>
            </a:r>
            <a:r>
              <a:rPr dirty="0" sz="1000">
                <a:latin typeface="Times New Roman"/>
                <a:cs typeface="Times New Roman"/>
              </a:rPr>
              <a:t>attention</a:t>
            </a:r>
            <a:r>
              <a:rPr dirty="0" sz="1000" spc="55">
                <a:latin typeface="Times New Roman"/>
                <a:cs typeface="Times New Roman"/>
              </a:rPr>
              <a:t> </a:t>
            </a:r>
            <a:r>
              <a:rPr dirty="0" sz="1000">
                <a:latin typeface="Times New Roman"/>
                <a:cs typeface="Times New Roman"/>
              </a:rPr>
              <a:t>mechanism</a:t>
            </a:r>
            <a:r>
              <a:rPr dirty="0" sz="1000" spc="55">
                <a:latin typeface="Times New Roman"/>
                <a:cs typeface="Times New Roman"/>
              </a:rPr>
              <a:t> </a:t>
            </a:r>
            <a:r>
              <a:rPr dirty="0" sz="1000">
                <a:latin typeface="Times New Roman"/>
                <a:cs typeface="Times New Roman"/>
              </a:rPr>
              <a:t>instead</a:t>
            </a:r>
            <a:r>
              <a:rPr dirty="0" sz="1000" spc="55">
                <a:latin typeface="Times New Roman"/>
                <a:cs typeface="Times New Roman"/>
              </a:rPr>
              <a:t> </a:t>
            </a:r>
            <a:r>
              <a:rPr dirty="0" sz="1000">
                <a:latin typeface="Times New Roman"/>
                <a:cs typeface="Times New Roman"/>
              </a:rPr>
              <a:t>of</a:t>
            </a:r>
            <a:r>
              <a:rPr dirty="0" sz="1000" spc="60">
                <a:latin typeface="Times New Roman"/>
                <a:cs typeface="Times New Roman"/>
              </a:rPr>
              <a:t> </a:t>
            </a:r>
            <a:r>
              <a:rPr dirty="0" sz="1000" spc="-10">
                <a:latin typeface="Times New Roman"/>
                <a:cs typeface="Times New Roman"/>
              </a:rPr>
              <a:t>sequence- aligned</a:t>
            </a:r>
            <a:r>
              <a:rPr dirty="0" sz="1000" spc="-30">
                <a:latin typeface="Times New Roman"/>
                <a:cs typeface="Times New Roman"/>
              </a:rPr>
              <a:t> </a:t>
            </a:r>
            <a:r>
              <a:rPr dirty="0" sz="1000" spc="-20">
                <a:latin typeface="Times New Roman"/>
                <a:cs typeface="Times New Roman"/>
              </a:rPr>
              <a:t>recurrence</a:t>
            </a:r>
            <a:r>
              <a:rPr dirty="0" sz="1000" spc="-2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spc="-20">
                <a:latin typeface="Times New Roman"/>
                <a:cs typeface="Times New Roman"/>
              </a:rPr>
              <a:t>have</a:t>
            </a:r>
            <a:r>
              <a:rPr dirty="0" sz="1000" spc="-25">
                <a:latin typeface="Times New Roman"/>
                <a:cs typeface="Times New Roman"/>
              </a:rPr>
              <a:t> </a:t>
            </a:r>
            <a:r>
              <a:rPr dirty="0" sz="1000">
                <a:latin typeface="Times New Roman"/>
                <a:cs typeface="Times New Roman"/>
              </a:rPr>
              <a:t>been</a:t>
            </a:r>
            <a:r>
              <a:rPr dirty="0" sz="1000" spc="-25">
                <a:latin typeface="Times New Roman"/>
                <a:cs typeface="Times New Roman"/>
              </a:rPr>
              <a:t> </a:t>
            </a:r>
            <a:r>
              <a:rPr dirty="0" sz="1000" spc="-20">
                <a:latin typeface="Times New Roman"/>
                <a:cs typeface="Times New Roman"/>
              </a:rPr>
              <a:t>shown</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perform</a:t>
            </a:r>
            <a:r>
              <a:rPr dirty="0" sz="1000" spc="-25">
                <a:latin typeface="Times New Roman"/>
                <a:cs typeface="Times New Roman"/>
              </a:rPr>
              <a:t> </a:t>
            </a:r>
            <a:r>
              <a:rPr dirty="0" sz="1000">
                <a:latin typeface="Times New Roman"/>
                <a:cs typeface="Times New Roman"/>
              </a:rPr>
              <a:t>well</a:t>
            </a:r>
            <a:r>
              <a:rPr dirty="0" sz="1000" spc="-30">
                <a:latin typeface="Times New Roman"/>
                <a:cs typeface="Times New Roman"/>
              </a:rPr>
              <a:t> </a:t>
            </a:r>
            <a:r>
              <a:rPr dirty="0" sz="1000">
                <a:latin typeface="Times New Roman"/>
                <a:cs typeface="Times New Roman"/>
              </a:rPr>
              <a:t>on</a:t>
            </a:r>
            <a:r>
              <a:rPr dirty="0" sz="1000" spc="-25">
                <a:latin typeface="Times New Roman"/>
                <a:cs typeface="Times New Roman"/>
              </a:rPr>
              <a:t> </a:t>
            </a:r>
            <a:r>
              <a:rPr dirty="0" sz="1000" spc="-20">
                <a:latin typeface="Times New Roman"/>
                <a:cs typeface="Times New Roman"/>
              </a:rPr>
              <a:t>simple-</a:t>
            </a:r>
            <a:r>
              <a:rPr dirty="0" sz="1000" spc="-10">
                <a:latin typeface="Times New Roman"/>
                <a:cs typeface="Times New Roman"/>
              </a:rPr>
              <a:t>language</a:t>
            </a:r>
            <a:r>
              <a:rPr dirty="0" sz="1000" spc="-25">
                <a:latin typeface="Times New Roman"/>
                <a:cs typeface="Times New Roman"/>
              </a:rPr>
              <a:t> </a:t>
            </a:r>
            <a:r>
              <a:rPr dirty="0" sz="1000" spc="-10">
                <a:latin typeface="Times New Roman"/>
                <a:cs typeface="Times New Roman"/>
              </a:rPr>
              <a:t>question</a:t>
            </a:r>
            <a:r>
              <a:rPr dirty="0" sz="1000" spc="-25">
                <a:latin typeface="Times New Roman"/>
                <a:cs typeface="Times New Roman"/>
              </a:rPr>
              <a:t> </a:t>
            </a:r>
            <a:r>
              <a:rPr dirty="0" sz="1000" spc="-10">
                <a:latin typeface="Times New Roman"/>
                <a:cs typeface="Times New Roman"/>
              </a:rPr>
              <a:t>answering</a:t>
            </a:r>
            <a:r>
              <a:rPr dirty="0" sz="1000" spc="-25">
                <a:latin typeface="Times New Roman"/>
                <a:cs typeface="Times New Roman"/>
              </a:rPr>
              <a:t> and </a:t>
            </a:r>
            <a:r>
              <a:rPr dirty="0" sz="1000">
                <a:latin typeface="Times New Roman"/>
                <a:cs typeface="Times New Roman"/>
              </a:rPr>
              <a:t>language</a:t>
            </a:r>
            <a:r>
              <a:rPr dirty="0" sz="1000" spc="-40">
                <a:latin typeface="Times New Roman"/>
                <a:cs typeface="Times New Roman"/>
              </a:rPr>
              <a:t> </a:t>
            </a:r>
            <a:r>
              <a:rPr dirty="0" sz="1000">
                <a:latin typeface="Times New Roman"/>
                <a:cs typeface="Times New Roman"/>
              </a:rPr>
              <a:t>modeling</a:t>
            </a:r>
            <a:r>
              <a:rPr dirty="0" sz="1000" spc="-35">
                <a:latin typeface="Times New Roman"/>
                <a:cs typeface="Times New Roman"/>
              </a:rPr>
              <a:t> </a:t>
            </a:r>
            <a:r>
              <a:rPr dirty="0" sz="1000">
                <a:latin typeface="Times New Roman"/>
                <a:cs typeface="Times New Roman"/>
              </a:rPr>
              <a:t>tasks</a:t>
            </a:r>
            <a:r>
              <a:rPr dirty="0" sz="1000" spc="-35">
                <a:latin typeface="Times New Roman"/>
                <a:cs typeface="Times New Roman"/>
              </a:rPr>
              <a:t> </a:t>
            </a:r>
            <a:r>
              <a:rPr dirty="0" sz="1000" spc="-10">
                <a:latin typeface="Times New Roman"/>
                <a:cs typeface="Times New Roman"/>
              </a:rPr>
              <a:t>[28].</a:t>
            </a:r>
            <a:endParaRPr sz="1000">
              <a:latin typeface="Times New Roman"/>
              <a:cs typeface="Times New Roman"/>
            </a:endParaRPr>
          </a:p>
          <a:p>
            <a:pPr algn="just" marL="101600" marR="76835" indent="-4445">
              <a:lnSpc>
                <a:spcPts val="1090"/>
              </a:lnSpc>
              <a:spcBef>
                <a:spcPts val="555"/>
              </a:spcBef>
            </a:pPr>
            <a:r>
              <a:rPr dirty="0" sz="1000">
                <a:latin typeface="Times New Roman"/>
                <a:cs typeface="Times New Roman"/>
              </a:rPr>
              <a:t>To</a:t>
            </a:r>
            <a:r>
              <a:rPr dirty="0" sz="1000" spc="9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best</a:t>
            </a:r>
            <a:r>
              <a:rPr dirty="0" sz="1000" spc="95">
                <a:latin typeface="Times New Roman"/>
                <a:cs typeface="Times New Roman"/>
              </a:rPr>
              <a:t> </a:t>
            </a:r>
            <a:r>
              <a:rPr dirty="0" sz="1000">
                <a:latin typeface="Times New Roman"/>
                <a:cs typeface="Times New Roman"/>
              </a:rPr>
              <a:t>of</a:t>
            </a:r>
            <a:r>
              <a:rPr dirty="0" sz="1000" spc="95">
                <a:latin typeface="Times New Roman"/>
                <a:cs typeface="Times New Roman"/>
              </a:rPr>
              <a:t> </a:t>
            </a:r>
            <a:r>
              <a:rPr dirty="0" sz="1000">
                <a:latin typeface="Times New Roman"/>
                <a:cs typeface="Times New Roman"/>
              </a:rPr>
              <a:t>our</a:t>
            </a:r>
            <a:r>
              <a:rPr dirty="0" sz="1000" spc="95">
                <a:latin typeface="Times New Roman"/>
                <a:cs typeface="Times New Roman"/>
              </a:rPr>
              <a:t> </a:t>
            </a:r>
            <a:r>
              <a:rPr dirty="0" sz="1000">
                <a:latin typeface="Times New Roman"/>
                <a:cs typeface="Times New Roman"/>
              </a:rPr>
              <a:t>knowledge,</a:t>
            </a:r>
            <a:r>
              <a:rPr dirty="0" sz="1000" spc="120">
                <a:latin typeface="Times New Roman"/>
                <a:cs typeface="Times New Roman"/>
              </a:rPr>
              <a:t> </a:t>
            </a:r>
            <a:r>
              <a:rPr dirty="0" sz="1000">
                <a:latin typeface="Times New Roman"/>
                <a:cs typeface="Times New Roman"/>
              </a:rPr>
              <a:t>however,</a:t>
            </a:r>
            <a:r>
              <a:rPr dirty="0" sz="1000" spc="120">
                <a:latin typeface="Times New Roman"/>
                <a:cs typeface="Times New Roman"/>
              </a:rPr>
              <a:t> </a:t>
            </a:r>
            <a:r>
              <a:rPr dirty="0" sz="1000">
                <a:latin typeface="Times New Roman"/>
                <a:cs typeface="Times New Roman"/>
              </a:rPr>
              <a:t>the</a:t>
            </a:r>
            <a:r>
              <a:rPr dirty="0" sz="1000" spc="90">
                <a:latin typeface="Times New Roman"/>
                <a:cs typeface="Times New Roman"/>
              </a:rPr>
              <a:t> </a:t>
            </a:r>
            <a:r>
              <a:rPr dirty="0" sz="1000">
                <a:latin typeface="Times New Roman"/>
                <a:cs typeface="Times New Roman"/>
              </a:rPr>
              <a:t>Transformer</a:t>
            </a:r>
            <a:r>
              <a:rPr dirty="0" sz="1000" spc="95">
                <a:latin typeface="Times New Roman"/>
                <a:cs typeface="Times New Roman"/>
              </a:rPr>
              <a:t> </a:t>
            </a:r>
            <a:r>
              <a:rPr dirty="0" sz="1000">
                <a:latin typeface="Times New Roman"/>
                <a:cs typeface="Times New Roman"/>
              </a:rPr>
              <a:t>is</a:t>
            </a:r>
            <a:r>
              <a:rPr dirty="0" sz="1000" spc="95">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first</a:t>
            </a:r>
            <a:r>
              <a:rPr dirty="0" sz="1000" spc="95">
                <a:latin typeface="Times New Roman"/>
                <a:cs typeface="Times New Roman"/>
              </a:rPr>
              <a:t> </a:t>
            </a:r>
            <a:r>
              <a:rPr dirty="0" sz="1000">
                <a:latin typeface="Times New Roman"/>
                <a:cs typeface="Times New Roman"/>
              </a:rPr>
              <a:t>transduction</a:t>
            </a:r>
            <a:r>
              <a:rPr dirty="0" sz="1000" spc="95">
                <a:latin typeface="Times New Roman"/>
                <a:cs typeface="Times New Roman"/>
              </a:rPr>
              <a:t> </a:t>
            </a:r>
            <a:r>
              <a:rPr dirty="0" sz="1000">
                <a:latin typeface="Times New Roman"/>
                <a:cs typeface="Times New Roman"/>
              </a:rPr>
              <a:t>model</a:t>
            </a:r>
            <a:r>
              <a:rPr dirty="0" sz="1000" spc="95">
                <a:latin typeface="Times New Roman"/>
                <a:cs typeface="Times New Roman"/>
              </a:rPr>
              <a:t> </a:t>
            </a:r>
            <a:r>
              <a:rPr dirty="0" sz="1000" spc="-10">
                <a:latin typeface="Times New Roman"/>
                <a:cs typeface="Times New Roman"/>
              </a:rPr>
              <a:t>relying </a:t>
            </a:r>
            <a:r>
              <a:rPr dirty="0" sz="1000">
                <a:latin typeface="Times New Roman"/>
                <a:cs typeface="Times New Roman"/>
              </a:rPr>
              <a:t>entirely</a:t>
            </a:r>
            <a:r>
              <a:rPr dirty="0" sz="1000" spc="-15">
                <a:latin typeface="Times New Roman"/>
                <a:cs typeface="Times New Roman"/>
              </a:rPr>
              <a:t> </a:t>
            </a:r>
            <a:r>
              <a:rPr dirty="0" sz="1000">
                <a:latin typeface="Times New Roman"/>
                <a:cs typeface="Times New Roman"/>
              </a:rPr>
              <a:t>on</a:t>
            </a:r>
            <a:r>
              <a:rPr dirty="0" sz="1000" spc="-15">
                <a:latin typeface="Times New Roman"/>
                <a:cs typeface="Times New Roman"/>
              </a:rPr>
              <a:t> </a:t>
            </a:r>
            <a:r>
              <a:rPr dirty="0" sz="1000" spc="-10">
                <a:latin typeface="Times New Roman"/>
                <a:cs typeface="Times New Roman"/>
              </a:rPr>
              <a:t>self-</a:t>
            </a:r>
            <a:r>
              <a:rPr dirty="0" sz="1000">
                <a:latin typeface="Times New Roman"/>
                <a:cs typeface="Times New Roman"/>
              </a:rPr>
              <a:t>attention</a:t>
            </a:r>
            <a:r>
              <a:rPr dirty="0" sz="1000" spc="-15">
                <a:latin typeface="Times New Roman"/>
                <a:cs typeface="Times New Roman"/>
              </a:rPr>
              <a:t> </a:t>
            </a:r>
            <a:r>
              <a:rPr dirty="0" sz="1000">
                <a:latin typeface="Times New Roman"/>
                <a:cs typeface="Times New Roman"/>
              </a:rPr>
              <a:t>to</a:t>
            </a:r>
            <a:r>
              <a:rPr dirty="0" sz="1000" spc="-10">
                <a:latin typeface="Times New Roman"/>
                <a:cs typeface="Times New Roman"/>
              </a:rPr>
              <a:t> </a:t>
            </a:r>
            <a:r>
              <a:rPr dirty="0" sz="1000">
                <a:latin typeface="Times New Roman"/>
                <a:cs typeface="Times New Roman"/>
              </a:rPr>
              <a:t>compute</a:t>
            </a:r>
            <a:r>
              <a:rPr dirty="0" sz="1000" spc="-10">
                <a:latin typeface="Times New Roman"/>
                <a:cs typeface="Times New Roman"/>
              </a:rPr>
              <a:t> representations</a:t>
            </a:r>
            <a:r>
              <a:rPr dirty="0" sz="1000" spc="-15">
                <a:latin typeface="Times New Roman"/>
                <a:cs typeface="Times New Roman"/>
              </a:rPr>
              <a:t> </a:t>
            </a:r>
            <a:r>
              <a:rPr dirty="0" sz="1000">
                <a:latin typeface="Times New Roman"/>
                <a:cs typeface="Times New Roman"/>
              </a:rPr>
              <a:t>of</a:t>
            </a:r>
            <a:r>
              <a:rPr dirty="0" sz="1000" spc="-10">
                <a:latin typeface="Times New Roman"/>
                <a:cs typeface="Times New Roman"/>
              </a:rPr>
              <a:t> </a:t>
            </a:r>
            <a:r>
              <a:rPr dirty="0" sz="1000">
                <a:latin typeface="Times New Roman"/>
                <a:cs typeface="Times New Roman"/>
              </a:rPr>
              <a:t>its</a:t>
            </a:r>
            <a:r>
              <a:rPr dirty="0" sz="1000" spc="-15">
                <a:latin typeface="Times New Roman"/>
                <a:cs typeface="Times New Roman"/>
              </a:rPr>
              <a:t> </a:t>
            </a:r>
            <a:r>
              <a:rPr dirty="0" sz="1000">
                <a:latin typeface="Times New Roman"/>
                <a:cs typeface="Times New Roman"/>
              </a:rPr>
              <a:t>input</a:t>
            </a:r>
            <a:r>
              <a:rPr dirty="0" sz="1000" spc="-15">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output</a:t>
            </a:r>
            <a:r>
              <a:rPr dirty="0" sz="1000" spc="-15">
                <a:latin typeface="Times New Roman"/>
                <a:cs typeface="Times New Roman"/>
              </a:rPr>
              <a:t> </a:t>
            </a:r>
            <a:r>
              <a:rPr dirty="0" sz="1000">
                <a:latin typeface="Times New Roman"/>
                <a:cs typeface="Times New Roman"/>
              </a:rPr>
              <a:t>without</a:t>
            </a:r>
            <a:r>
              <a:rPr dirty="0" sz="1000" spc="-10">
                <a:latin typeface="Times New Roman"/>
                <a:cs typeface="Times New Roman"/>
              </a:rPr>
              <a:t> </a:t>
            </a:r>
            <a:r>
              <a:rPr dirty="0" sz="1000">
                <a:latin typeface="Times New Roman"/>
                <a:cs typeface="Times New Roman"/>
              </a:rPr>
              <a:t>using</a:t>
            </a:r>
            <a:r>
              <a:rPr dirty="0" sz="1000" spc="-10">
                <a:latin typeface="Times New Roman"/>
                <a:cs typeface="Times New Roman"/>
              </a:rPr>
              <a:t> sequence- </a:t>
            </a:r>
            <a:r>
              <a:rPr dirty="0" sz="1000">
                <a:latin typeface="Times New Roman"/>
                <a:cs typeface="Times New Roman"/>
              </a:rPr>
              <a:t>aligned</a:t>
            </a:r>
            <a:r>
              <a:rPr dirty="0" sz="1000" spc="-10">
                <a:latin typeface="Times New Roman"/>
                <a:cs typeface="Times New Roman"/>
              </a:rPr>
              <a:t> </a:t>
            </a:r>
            <a:r>
              <a:rPr dirty="0" sz="1000">
                <a:latin typeface="Times New Roman"/>
                <a:cs typeface="Times New Roman"/>
              </a:rPr>
              <a:t>RNNs</a:t>
            </a:r>
            <a:r>
              <a:rPr dirty="0" sz="1000" spc="-10">
                <a:latin typeface="Times New Roman"/>
                <a:cs typeface="Times New Roman"/>
              </a:rPr>
              <a:t> </a:t>
            </a:r>
            <a:r>
              <a:rPr dirty="0" sz="1000">
                <a:latin typeface="Times New Roman"/>
                <a:cs typeface="Times New Roman"/>
              </a:rPr>
              <a:t>or</a:t>
            </a:r>
            <a:r>
              <a:rPr dirty="0" sz="1000" spc="-5">
                <a:latin typeface="Times New Roman"/>
                <a:cs typeface="Times New Roman"/>
              </a:rPr>
              <a:t> </a:t>
            </a:r>
            <a:r>
              <a:rPr dirty="0" sz="1000" spc="-10">
                <a:latin typeface="Times New Roman"/>
                <a:cs typeface="Times New Roman"/>
              </a:rPr>
              <a:t>convolution.</a:t>
            </a:r>
            <a:r>
              <a:rPr dirty="0" sz="1000" spc="50">
                <a:latin typeface="Times New Roman"/>
                <a:cs typeface="Times New Roman"/>
              </a:rPr>
              <a:t> </a:t>
            </a:r>
            <a:r>
              <a:rPr dirty="0" sz="1000">
                <a:latin typeface="Times New Roman"/>
                <a:cs typeface="Times New Roman"/>
              </a:rPr>
              <a:t>In</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spc="-10">
                <a:latin typeface="Times New Roman"/>
                <a:cs typeface="Times New Roman"/>
              </a:rPr>
              <a:t>following</a:t>
            </a:r>
            <a:r>
              <a:rPr dirty="0" sz="1000" spc="-15">
                <a:latin typeface="Times New Roman"/>
                <a:cs typeface="Times New Roman"/>
              </a:rPr>
              <a:t> </a:t>
            </a:r>
            <a:r>
              <a:rPr dirty="0" sz="1000">
                <a:latin typeface="Times New Roman"/>
                <a:cs typeface="Times New Roman"/>
              </a:rPr>
              <a:t>sections,</a:t>
            </a:r>
            <a:r>
              <a:rPr dirty="0" sz="1000" spc="-5">
                <a:latin typeface="Times New Roman"/>
                <a:cs typeface="Times New Roman"/>
              </a:rPr>
              <a:t> </a:t>
            </a:r>
            <a:r>
              <a:rPr dirty="0" sz="1000">
                <a:latin typeface="Times New Roman"/>
                <a:cs typeface="Times New Roman"/>
              </a:rPr>
              <a:t>we</a:t>
            </a:r>
            <a:r>
              <a:rPr dirty="0" sz="1000" spc="-5">
                <a:latin typeface="Times New Roman"/>
                <a:cs typeface="Times New Roman"/>
              </a:rPr>
              <a:t> </a:t>
            </a:r>
            <a:r>
              <a:rPr dirty="0" sz="1000">
                <a:latin typeface="Times New Roman"/>
                <a:cs typeface="Times New Roman"/>
              </a:rPr>
              <a:t>will</a:t>
            </a:r>
            <a:r>
              <a:rPr dirty="0" sz="1000" spc="-10">
                <a:latin typeface="Times New Roman"/>
                <a:cs typeface="Times New Roman"/>
              </a:rPr>
              <a:t> describe </a:t>
            </a:r>
            <a:r>
              <a:rPr dirty="0" sz="1000">
                <a:latin typeface="Times New Roman"/>
                <a:cs typeface="Times New Roman"/>
              </a:rPr>
              <a:t>the</a:t>
            </a:r>
            <a:r>
              <a:rPr dirty="0" sz="1000" spc="-5">
                <a:latin typeface="Times New Roman"/>
                <a:cs typeface="Times New Roman"/>
              </a:rPr>
              <a:t> </a:t>
            </a:r>
            <a:r>
              <a:rPr dirty="0" sz="1000" spc="-20">
                <a:latin typeface="Times New Roman"/>
                <a:cs typeface="Times New Roman"/>
              </a:rPr>
              <a:t>Transformer,</a:t>
            </a:r>
            <a:r>
              <a:rPr dirty="0" sz="1000" spc="-10">
                <a:latin typeface="Times New Roman"/>
                <a:cs typeface="Times New Roman"/>
              </a:rPr>
              <a:t> motivate self-</a:t>
            </a:r>
            <a:r>
              <a:rPr dirty="0" sz="1000">
                <a:latin typeface="Times New Roman"/>
                <a:cs typeface="Times New Roman"/>
              </a:rPr>
              <a:t>attention</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discuss</a:t>
            </a:r>
            <a:r>
              <a:rPr dirty="0" sz="1000" spc="-20">
                <a:latin typeface="Times New Roman"/>
                <a:cs typeface="Times New Roman"/>
              </a:rPr>
              <a:t> </a:t>
            </a:r>
            <a:r>
              <a:rPr dirty="0" sz="1000">
                <a:latin typeface="Times New Roman"/>
                <a:cs typeface="Times New Roman"/>
              </a:rPr>
              <a:t>its</a:t>
            </a:r>
            <a:r>
              <a:rPr dirty="0" sz="1000" spc="-20">
                <a:latin typeface="Times New Roman"/>
                <a:cs typeface="Times New Roman"/>
              </a:rPr>
              <a:t> </a:t>
            </a:r>
            <a:r>
              <a:rPr dirty="0" sz="1000" spc="-10">
                <a:latin typeface="Times New Roman"/>
                <a:cs typeface="Times New Roman"/>
              </a:rPr>
              <a:t>advantages</a:t>
            </a:r>
            <a:r>
              <a:rPr dirty="0" sz="1000" spc="-20">
                <a:latin typeface="Times New Roman"/>
                <a:cs typeface="Times New Roman"/>
              </a:rPr>
              <a:t> </a:t>
            </a:r>
            <a:r>
              <a:rPr dirty="0" sz="1000">
                <a:latin typeface="Times New Roman"/>
                <a:cs typeface="Times New Roman"/>
              </a:rPr>
              <a:t>over</a:t>
            </a:r>
            <a:r>
              <a:rPr dirty="0" sz="1000" spc="-20">
                <a:latin typeface="Times New Roman"/>
                <a:cs typeface="Times New Roman"/>
              </a:rPr>
              <a:t> </a:t>
            </a:r>
            <a:r>
              <a:rPr dirty="0" sz="1000">
                <a:latin typeface="Times New Roman"/>
                <a:cs typeface="Times New Roman"/>
              </a:rPr>
              <a:t>models</a:t>
            </a:r>
            <a:r>
              <a:rPr dirty="0" sz="1000" spc="-15">
                <a:latin typeface="Times New Roman"/>
                <a:cs typeface="Times New Roman"/>
              </a:rPr>
              <a:t> </a:t>
            </a:r>
            <a:r>
              <a:rPr dirty="0" sz="1000">
                <a:latin typeface="Times New Roman"/>
                <a:cs typeface="Times New Roman"/>
              </a:rPr>
              <a:t>such</a:t>
            </a:r>
            <a:r>
              <a:rPr dirty="0" sz="1000" spc="-20">
                <a:latin typeface="Times New Roman"/>
                <a:cs typeface="Times New Roman"/>
              </a:rPr>
              <a:t> </a:t>
            </a:r>
            <a:r>
              <a:rPr dirty="0" sz="1000">
                <a:latin typeface="Times New Roman"/>
                <a:cs typeface="Times New Roman"/>
              </a:rPr>
              <a:t>as</a:t>
            </a:r>
            <a:r>
              <a:rPr dirty="0" sz="1000" spc="-20">
                <a:latin typeface="Times New Roman"/>
                <a:cs typeface="Times New Roman"/>
              </a:rPr>
              <a:t> </a:t>
            </a:r>
            <a:r>
              <a:rPr dirty="0" sz="1000">
                <a:latin typeface="Times New Roman"/>
                <a:cs typeface="Times New Roman"/>
              </a:rPr>
              <a:t>[14,</a:t>
            </a:r>
            <a:r>
              <a:rPr dirty="0" sz="1000" spc="-20">
                <a:latin typeface="Times New Roman"/>
                <a:cs typeface="Times New Roman"/>
              </a:rPr>
              <a:t> </a:t>
            </a:r>
            <a:r>
              <a:rPr dirty="0" sz="1000">
                <a:latin typeface="Times New Roman"/>
                <a:cs typeface="Times New Roman"/>
              </a:rPr>
              <a:t>15]</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[8].</a:t>
            </a:r>
            <a:endParaRPr sz="1000">
              <a:latin typeface="Times New Roman"/>
              <a:cs typeface="Times New Roman"/>
            </a:endParaRPr>
          </a:p>
          <a:p>
            <a:pPr>
              <a:lnSpc>
                <a:spcPct val="100000"/>
              </a:lnSpc>
              <a:spcBef>
                <a:spcPts val="260"/>
              </a:spcBef>
            </a:pPr>
            <a:endParaRPr sz="1000">
              <a:latin typeface="Times New Roman"/>
              <a:cs typeface="Times New Roman"/>
            </a:endParaRPr>
          </a:p>
          <a:p>
            <a:pPr marL="328930" indent="-227329">
              <a:lnSpc>
                <a:spcPct val="100000"/>
              </a:lnSpc>
              <a:buAutoNum type="arabicPlain" startAt="3"/>
              <a:tabLst>
                <a:tab pos="328930" algn="l"/>
              </a:tabLst>
            </a:pPr>
            <a:r>
              <a:rPr dirty="0" sz="1200" b="1">
                <a:latin typeface="Times New Roman"/>
                <a:cs typeface="Times New Roman"/>
              </a:rPr>
              <a:t>Model</a:t>
            </a:r>
            <a:r>
              <a:rPr dirty="0" sz="1200" spc="-40" b="1">
                <a:latin typeface="Times New Roman"/>
                <a:cs typeface="Times New Roman"/>
              </a:rPr>
              <a:t> </a:t>
            </a:r>
            <a:r>
              <a:rPr dirty="0" sz="1200" spc="-10" b="1">
                <a:latin typeface="Times New Roman"/>
                <a:cs typeface="Times New Roman"/>
              </a:rPr>
              <a:t>Architecture</a:t>
            </a:r>
            <a:endParaRPr sz="1200">
              <a:latin typeface="Times New Roman"/>
              <a:cs typeface="Times New Roman"/>
            </a:endParaRPr>
          </a:p>
          <a:p>
            <a:pPr algn="just" marL="101600" marR="76200">
              <a:lnSpc>
                <a:spcPts val="1090"/>
              </a:lnSpc>
              <a:spcBef>
                <a:spcPts val="1190"/>
              </a:spcBef>
            </a:pPr>
            <a:r>
              <a:rPr dirty="0" sz="1000">
                <a:latin typeface="Times New Roman"/>
                <a:cs typeface="Times New Roman"/>
              </a:rPr>
              <a:t>Most</a:t>
            </a:r>
            <a:r>
              <a:rPr dirty="0" sz="1000" spc="-15">
                <a:latin typeface="Times New Roman"/>
                <a:cs typeface="Times New Roman"/>
              </a:rPr>
              <a:t> </a:t>
            </a:r>
            <a:r>
              <a:rPr dirty="0" sz="1000" spc="-10">
                <a:latin typeface="Times New Roman"/>
                <a:cs typeface="Times New Roman"/>
              </a:rPr>
              <a:t>competitive</a:t>
            </a:r>
            <a:r>
              <a:rPr dirty="0" sz="1000" spc="-15">
                <a:latin typeface="Times New Roman"/>
                <a:cs typeface="Times New Roman"/>
              </a:rPr>
              <a:t> </a:t>
            </a:r>
            <a:r>
              <a:rPr dirty="0" sz="1000">
                <a:latin typeface="Times New Roman"/>
                <a:cs typeface="Times New Roman"/>
              </a:rPr>
              <a:t>neural</a:t>
            </a:r>
            <a:r>
              <a:rPr dirty="0" sz="1000" spc="-15">
                <a:latin typeface="Times New Roman"/>
                <a:cs typeface="Times New Roman"/>
              </a:rPr>
              <a:t> </a:t>
            </a:r>
            <a:r>
              <a:rPr dirty="0" sz="1000" spc="-10">
                <a:latin typeface="Times New Roman"/>
                <a:cs typeface="Times New Roman"/>
              </a:rPr>
              <a:t>sequence</a:t>
            </a:r>
            <a:r>
              <a:rPr dirty="0" sz="1000" spc="-15">
                <a:latin typeface="Times New Roman"/>
                <a:cs typeface="Times New Roman"/>
              </a:rPr>
              <a:t> </a:t>
            </a:r>
            <a:r>
              <a:rPr dirty="0" sz="1000">
                <a:latin typeface="Times New Roman"/>
                <a:cs typeface="Times New Roman"/>
              </a:rPr>
              <a:t>transduction</a:t>
            </a:r>
            <a:r>
              <a:rPr dirty="0" sz="1000" spc="-15">
                <a:latin typeface="Times New Roman"/>
                <a:cs typeface="Times New Roman"/>
              </a:rPr>
              <a:t> </a:t>
            </a:r>
            <a:r>
              <a:rPr dirty="0" sz="1000">
                <a:latin typeface="Times New Roman"/>
                <a:cs typeface="Times New Roman"/>
              </a:rPr>
              <a:t>models</a:t>
            </a:r>
            <a:r>
              <a:rPr dirty="0" sz="1000" spc="-15">
                <a:latin typeface="Times New Roman"/>
                <a:cs typeface="Times New Roman"/>
              </a:rPr>
              <a:t> </a:t>
            </a:r>
            <a:r>
              <a:rPr dirty="0" sz="1000" spc="-10">
                <a:latin typeface="Times New Roman"/>
                <a:cs typeface="Times New Roman"/>
              </a:rPr>
              <a:t>have </a:t>
            </a:r>
            <a:r>
              <a:rPr dirty="0" sz="1000">
                <a:latin typeface="Times New Roman"/>
                <a:cs typeface="Times New Roman"/>
              </a:rPr>
              <a:t>an</a:t>
            </a:r>
            <a:r>
              <a:rPr dirty="0" sz="1000" spc="-15">
                <a:latin typeface="Times New Roman"/>
                <a:cs typeface="Times New Roman"/>
              </a:rPr>
              <a:t> </a:t>
            </a:r>
            <a:r>
              <a:rPr dirty="0" sz="1000" spc="-20">
                <a:latin typeface="Times New Roman"/>
                <a:cs typeface="Times New Roman"/>
              </a:rPr>
              <a:t>encoder-</a:t>
            </a:r>
            <a:r>
              <a:rPr dirty="0" sz="1000" spc="-10">
                <a:latin typeface="Times New Roman"/>
                <a:cs typeface="Times New Roman"/>
              </a:rPr>
              <a:t>decoder</a:t>
            </a:r>
            <a:r>
              <a:rPr dirty="0" sz="1000" spc="-15">
                <a:latin typeface="Times New Roman"/>
                <a:cs typeface="Times New Roman"/>
              </a:rPr>
              <a:t> </a:t>
            </a:r>
            <a:r>
              <a:rPr dirty="0" sz="1000" spc="-10">
                <a:latin typeface="Times New Roman"/>
                <a:cs typeface="Times New Roman"/>
              </a:rPr>
              <a:t>structure</a:t>
            </a:r>
            <a:r>
              <a:rPr dirty="0" sz="1000" spc="-15">
                <a:latin typeface="Times New Roman"/>
                <a:cs typeface="Times New Roman"/>
              </a:rPr>
              <a:t> </a:t>
            </a:r>
            <a:r>
              <a:rPr dirty="0" sz="1000">
                <a:latin typeface="Times New Roman"/>
                <a:cs typeface="Times New Roman"/>
              </a:rPr>
              <a:t>[5,</a:t>
            </a:r>
            <a:r>
              <a:rPr dirty="0" sz="1000" spc="-15">
                <a:latin typeface="Times New Roman"/>
                <a:cs typeface="Times New Roman"/>
              </a:rPr>
              <a:t> </a:t>
            </a:r>
            <a:r>
              <a:rPr dirty="0" sz="1000">
                <a:latin typeface="Times New Roman"/>
                <a:cs typeface="Times New Roman"/>
              </a:rPr>
              <a:t>2,</a:t>
            </a:r>
            <a:r>
              <a:rPr dirty="0" sz="1000" spc="-15">
                <a:latin typeface="Times New Roman"/>
                <a:cs typeface="Times New Roman"/>
              </a:rPr>
              <a:t> </a:t>
            </a:r>
            <a:r>
              <a:rPr dirty="0" sz="1000" spc="-20">
                <a:latin typeface="Times New Roman"/>
                <a:cs typeface="Times New Roman"/>
              </a:rPr>
              <a:t>29]. </a:t>
            </a:r>
            <a:r>
              <a:rPr dirty="0" sz="1000">
                <a:latin typeface="Times New Roman"/>
                <a:cs typeface="Times New Roman"/>
              </a:rPr>
              <a:t>Here,</a:t>
            </a:r>
            <a:r>
              <a:rPr dirty="0" sz="1000" spc="130">
                <a:latin typeface="Times New Roman"/>
                <a:cs typeface="Times New Roman"/>
              </a:rPr>
              <a:t> </a:t>
            </a:r>
            <a:r>
              <a:rPr dirty="0" sz="1000">
                <a:latin typeface="Times New Roman"/>
                <a:cs typeface="Times New Roman"/>
              </a:rPr>
              <a:t>the</a:t>
            </a:r>
            <a:r>
              <a:rPr dirty="0" sz="1000" spc="105">
                <a:latin typeface="Times New Roman"/>
                <a:cs typeface="Times New Roman"/>
              </a:rPr>
              <a:t> </a:t>
            </a:r>
            <a:r>
              <a:rPr dirty="0" sz="1000">
                <a:latin typeface="Times New Roman"/>
                <a:cs typeface="Times New Roman"/>
              </a:rPr>
              <a:t>encoder</a:t>
            </a:r>
            <a:r>
              <a:rPr dirty="0" sz="1000" spc="110">
                <a:latin typeface="Times New Roman"/>
                <a:cs typeface="Times New Roman"/>
              </a:rPr>
              <a:t> </a:t>
            </a:r>
            <a:r>
              <a:rPr dirty="0" sz="1000">
                <a:latin typeface="Times New Roman"/>
                <a:cs typeface="Times New Roman"/>
              </a:rPr>
              <a:t>maps</a:t>
            </a:r>
            <a:r>
              <a:rPr dirty="0" sz="1000" spc="105">
                <a:latin typeface="Times New Roman"/>
                <a:cs typeface="Times New Roman"/>
              </a:rPr>
              <a:t> </a:t>
            </a:r>
            <a:r>
              <a:rPr dirty="0" sz="1000">
                <a:latin typeface="Times New Roman"/>
                <a:cs typeface="Times New Roman"/>
              </a:rPr>
              <a:t>an</a:t>
            </a:r>
            <a:r>
              <a:rPr dirty="0" sz="1000" spc="105">
                <a:latin typeface="Times New Roman"/>
                <a:cs typeface="Times New Roman"/>
              </a:rPr>
              <a:t> </a:t>
            </a:r>
            <a:r>
              <a:rPr dirty="0" sz="1000">
                <a:latin typeface="Times New Roman"/>
                <a:cs typeface="Times New Roman"/>
              </a:rPr>
              <a:t>input</a:t>
            </a:r>
            <a:r>
              <a:rPr dirty="0" sz="1000" spc="105">
                <a:latin typeface="Times New Roman"/>
                <a:cs typeface="Times New Roman"/>
              </a:rPr>
              <a:t> </a:t>
            </a:r>
            <a:r>
              <a:rPr dirty="0" sz="1000">
                <a:latin typeface="Times New Roman"/>
                <a:cs typeface="Times New Roman"/>
              </a:rPr>
              <a:t>sequence</a:t>
            </a:r>
            <a:r>
              <a:rPr dirty="0" sz="1000" spc="105">
                <a:latin typeface="Times New Roman"/>
                <a:cs typeface="Times New Roman"/>
              </a:rPr>
              <a:t> </a:t>
            </a:r>
            <a:r>
              <a:rPr dirty="0" sz="1000">
                <a:latin typeface="Times New Roman"/>
                <a:cs typeface="Times New Roman"/>
              </a:rPr>
              <a:t>of</a:t>
            </a:r>
            <a:r>
              <a:rPr dirty="0" sz="1000" spc="110">
                <a:latin typeface="Times New Roman"/>
                <a:cs typeface="Times New Roman"/>
              </a:rPr>
              <a:t> </a:t>
            </a:r>
            <a:r>
              <a:rPr dirty="0" sz="1000">
                <a:latin typeface="Times New Roman"/>
                <a:cs typeface="Times New Roman"/>
              </a:rPr>
              <a:t>symbol</a:t>
            </a:r>
            <a:r>
              <a:rPr dirty="0" sz="1000" spc="105">
                <a:latin typeface="Times New Roman"/>
                <a:cs typeface="Times New Roman"/>
              </a:rPr>
              <a:t> </a:t>
            </a:r>
            <a:r>
              <a:rPr dirty="0" sz="1000">
                <a:latin typeface="Times New Roman"/>
                <a:cs typeface="Times New Roman"/>
              </a:rPr>
              <a:t>representations</a:t>
            </a:r>
            <a:r>
              <a:rPr dirty="0" sz="1000" spc="105">
                <a:latin typeface="Times New Roman"/>
                <a:cs typeface="Times New Roman"/>
              </a:rPr>
              <a:t> </a:t>
            </a:r>
            <a:r>
              <a:rPr dirty="0" sz="1000" spc="70">
                <a:latin typeface="Calibri"/>
                <a:cs typeface="Calibri"/>
              </a:rPr>
              <a:t>(</a:t>
            </a:r>
            <a:r>
              <a:rPr dirty="0" sz="1000" spc="70" i="1">
                <a:latin typeface="Calibri"/>
                <a:cs typeface="Calibri"/>
              </a:rPr>
              <a:t>x</a:t>
            </a:r>
            <a:r>
              <a:rPr dirty="0" baseline="-11904" sz="1050" spc="104">
                <a:latin typeface="Tahoma"/>
                <a:cs typeface="Tahoma"/>
              </a:rPr>
              <a:t>1</a:t>
            </a:r>
            <a:r>
              <a:rPr dirty="0" sz="1000" spc="70" i="1">
                <a:latin typeface="Calibri"/>
                <a:cs typeface="Calibri"/>
              </a:rPr>
              <a:t>,</a:t>
            </a:r>
            <a:r>
              <a:rPr dirty="0" sz="1000" spc="-50" i="1">
                <a:latin typeface="Calibri"/>
                <a:cs typeface="Calibri"/>
              </a:rPr>
              <a:t> </a:t>
            </a:r>
            <a:r>
              <a:rPr dirty="0" sz="1000" i="1">
                <a:latin typeface="Calibri"/>
                <a:cs typeface="Calibri"/>
              </a:rPr>
              <a:t>...,</a:t>
            </a:r>
            <a:r>
              <a:rPr dirty="0" sz="1000" spc="-50" i="1">
                <a:latin typeface="Calibri"/>
                <a:cs typeface="Calibri"/>
              </a:rPr>
              <a:t> </a:t>
            </a:r>
            <a:r>
              <a:rPr dirty="0" sz="1000" spc="125" i="1">
                <a:latin typeface="Calibri"/>
                <a:cs typeface="Calibri"/>
              </a:rPr>
              <a:t>x</a:t>
            </a:r>
            <a:r>
              <a:rPr dirty="0" baseline="-11904" sz="1050" spc="187" i="1">
                <a:latin typeface="Calibri"/>
                <a:cs typeface="Calibri"/>
              </a:rPr>
              <a:t>n</a:t>
            </a:r>
            <a:r>
              <a:rPr dirty="0" sz="1000" spc="125">
                <a:latin typeface="Calibri"/>
                <a:cs typeface="Calibri"/>
              </a:rPr>
              <a:t>)</a:t>
            </a:r>
            <a:r>
              <a:rPr dirty="0" sz="1000" spc="135">
                <a:latin typeface="Calibri"/>
                <a:cs typeface="Calibri"/>
              </a:rPr>
              <a:t> </a:t>
            </a:r>
            <a:r>
              <a:rPr dirty="0" sz="1000">
                <a:latin typeface="Times New Roman"/>
                <a:cs typeface="Times New Roman"/>
              </a:rPr>
              <a:t>to</a:t>
            </a:r>
            <a:r>
              <a:rPr dirty="0" sz="1000" spc="105">
                <a:latin typeface="Times New Roman"/>
                <a:cs typeface="Times New Roman"/>
              </a:rPr>
              <a:t> </a:t>
            </a:r>
            <a:r>
              <a:rPr dirty="0" sz="1000">
                <a:latin typeface="Times New Roman"/>
                <a:cs typeface="Times New Roman"/>
              </a:rPr>
              <a:t>a</a:t>
            </a:r>
            <a:r>
              <a:rPr dirty="0" sz="1000" spc="105">
                <a:latin typeface="Times New Roman"/>
                <a:cs typeface="Times New Roman"/>
              </a:rPr>
              <a:t> </a:t>
            </a:r>
            <a:r>
              <a:rPr dirty="0" sz="1000" spc="-10">
                <a:latin typeface="Times New Roman"/>
                <a:cs typeface="Times New Roman"/>
              </a:rPr>
              <a:t>sequence </a:t>
            </a:r>
            <a:r>
              <a:rPr dirty="0" sz="1000">
                <a:latin typeface="Times New Roman"/>
                <a:cs typeface="Times New Roman"/>
              </a:rPr>
              <a:t>of</a:t>
            </a:r>
            <a:r>
              <a:rPr dirty="0" sz="1000" spc="125">
                <a:latin typeface="Times New Roman"/>
                <a:cs typeface="Times New Roman"/>
              </a:rPr>
              <a:t> </a:t>
            </a:r>
            <a:r>
              <a:rPr dirty="0" sz="1000">
                <a:latin typeface="Times New Roman"/>
                <a:cs typeface="Times New Roman"/>
              </a:rPr>
              <a:t>continuous</a:t>
            </a:r>
            <a:r>
              <a:rPr dirty="0" sz="1000" spc="130">
                <a:latin typeface="Times New Roman"/>
                <a:cs typeface="Times New Roman"/>
              </a:rPr>
              <a:t> </a:t>
            </a:r>
            <a:r>
              <a:rPr dirty="0" sz="1000">
                <a:latin typeface="Times New Roman"/>
                <a:cs typeface="Times New Roman"/>
              </a:rPr>
              <a:t>representations</a:t>
            </a:r>
            <a:r>
              <a:rPr dirty="0" sz="1000" spc="130">
                <a:latin typeface="Times New Roman"/>
                <a:cs typeface="Times New Roman"/>
              </a:rPr>
              <a:t> </a:t>
            </a:r>
            <a:r>
              <a:rPr dirty="0" sz="1000" b="1">
                <a:latin typeface="Roboto"/>
                <a:cs typeface="Roboto"/>
              </a:rPr>
              <a:t>z</a:t>
            </a:r>
            <a:r>
              <a:rPr dirty="0" sz="1000" spc="270" b="1">
                <a:latin typeface="Roboto"/>
                <a:cs typeface="Roboto"/>
              </a:rPr>
              <a:t> </a:t>
            </a:r>
            <a:r>
              <a:rPr dirty="0" sz="1000" spc="270">
                <a:latin typeface="Calibri"/>
                <a:cs typeface="Calibri"/>
              </a:rPr>
              <a:t>=</a:t>
            </a:r>
            <a:r>
              <a:rPr dirty="0" sz="1000" spc="290">
                <a:latin typeface="Calibri"/>
                <a:cs typeface="Calibri"/>
              </a:rPr>
              <a:t> </a:t>
            </a:r>
            <a:r>
              <a:rPr dirty="0" sz="1000" spc="55">
                <a:latin typeface="Calibri"/>
                <a:cs typeface="Calibri"/>
              </a:rPr>
              <a:t>(</a:t>
            </a:r>
            <a:r>
              <a:rPr dirty="0" sz="1000" spc="55" i="1">
                <a:latin typeface="Calibri"/>
                <a:cs typeface="Calibri"/>
              </a:rPr>
              <a:t>z</a:t>
            </a:r>
            <a:r>
              <a:rPr dirty="0" baseline="-11904" sz="1050" spc="82">
                <a:latin typeface="Tahoma"/>
                <a:cs typeface="Tahoma"/>
              </a:rPr>
              <a:t>1</a:t>
            </a:r>
            <a:r>
              <a:rPr dirty="0" sz="1000" spc="55" i="1">
                <a:latin typeface="Calibri"/>
                <a:cs typeface="Calibri"/>
              </a:rPr>
              <a:t>,</a:t>
            </a:r>
            <a:r>
              <a:rPr dirty="0" sz="1000" spc="-50" i="1">
                <a:latin typeface="Calibri"/>
                <a:cs typeface="Calibri"/>
              </a:rPr>
              <a:t> </a:t>
            </a:r>
            <a:r>
              <a:rPr dirty="0" sz="1000" i="1">
                <a:latin typeface="Calibri"/>
                <a:cs typeface="Calibri"/>
              </a:rPr>
              <a:t>...,</a:t>
            </a:r>
            <a:r>
              <a:rPr dirty="0" sz="1000" spc="-55" i="1">
                <a:latin typeface="Calibri"/>
                <a:cs typeface="Calibri"/>
              </a:rPr>
              <a:t> </a:t>
            </a:r>
            <a:r>
              <a:rPr dirty="0" sz="1000" spc="75" i="1">
                <a:latin typeface="Calibri"/>
                <a:cs typeface="Calibri"/>
              </a:rPr>
              <a:t>z</a:t>
            </a:r>
            <a:r>
              <a:rPr dirty="0" baseline="-11904" sz="1050" spc="112" i="1">
                <a:latin typeface="Calibri"/>
                <a:cs typeface="Calibri"/>
              </a:rPr>
              <a:t>n</a:t>
            </a:r>
            <a:r>
              <a:rPr dirty="0" sz="1000" spc="75">
                <a:latin typeface="Calibri"/>
                <a:cs typeface="Calibri"/>
              </a:rPr>
              <a:t>)</a:t>
            </a:r>
            <a:r>
              <a:rPr dirty="0" sz="1000" spc="75">
                <a:latin typeface="Times New Roman"/>
                <a:cs typeface="Times New Roman"/>
              </a:rPr>
              <a:t>.</a:t>
            </a:r>
            <a:r>
              <a:rPr dirty="0" sz="1000" spc="445">
                <a:latin typeface="Times New Roman"/>
                <a:cs typeface="Times New Roman"/>
              </a:rPr>
              <a:t> </a:t>
            </a:r>
            <a:r>
              <a:rPr dirty="0" sz="1000">
                <a:latin typeface="Times New Roman"/>
                <a:cs typeface="Times New Roman"/>
              </a:rPr>
              <a:t>Given</a:t>
            </a:r>
            <a:r>
              <a:rPr dirty="0" sz="1000" spc="125">
                <a:latin typeface="Times New Roman"/>
                <a:cs typeface="Times New Roman"/>
              </a:rPr>
              <a:t> </a:t>
            </a:r>
            <a:r>
              <a:rPr dirty="0" sz="1000" b="1">
                <a:latin typeface="Roboto"/>
                <a:cs typeface="Roboto"/>
              </a:rPr>
              <a:t>z</a:t>
            </a:r>
            <a:r>
              <a:rPr dirty="0" sz="1000">
                <a:latin typeface="Times New Roman"/>
                <a:cs typeface="Times New Roman"/>
              </a:rPr>
              <a:t>,</a:t>
            </a:r>
            <a:r>
              <a:rPr dirty="0" sz="1000" spc="165">
                <a:latin typeface="Times New Roman"/>
                <a:cs typeface="Times New Roman"/>
              </a:rPr>
              <a:t> </a:t>
            </a:r>
            <a:r>
              <a:rPr dirty="0" sz="1000">
                <a:latin typeface="Times New Roman"/>
                <a:cs typeface="Times New Roman"/>
              </a:rPr>
              <a:t>the</a:t>
            </a:r>
            <a:r>
              <a:rPr dirty="0" sz="1000" spc="130">
                <a:latin typeface="Times New Roman"/>
                <a:cs typeface="Times New Roman"/>
              </a:rPr>
              <a:t> </a:t>
            </a:r>
            <a:r>
              <a:rPr dirty="0" sz="1000">
                <a:latin typeface="Times New Roman"/>
                <a:cs typeface="Times New Roman"/>
              </a:rPr>
              <a:t>decoder</a:t>
            </a:r>
            <a:r>
              <a:rPr dirty="0" sz="1000" spc="130">
                <a:latin typeface="Times New Roman"/>
                <a:cs typeface="Times New Roman"/>
              </a:rPr>
              <a:t> </a:t>
            </a:r>
            <a:r>
              <a:rPr dirty="0" sz="1000">
                <a:latin typeface="Times New Roman"/>
                <a:cs typeface="Times New Roman"/>
              </a:rPr>
              <a:t>then</a:t>
            </a:r>
            <a:r>
              <a:rPr dirty="0" sz="1000" spc="130">
                <a:latin typeface="Times New Roman"/>
                <a:cs typeface="Times New Roman"/>
              </a:rPr>
              <a:t> </a:t>
            </a:r>
            <a:r>
              <a:rPr dirty="0" sz="1000">
                <a:latin typeface="Times New Roman"/>
                <a:cs typeface="Times New Roman"/>
              </a:rPr>
              <a:t>generates</a:t>
            </a:r>
            <a:r>
              <a:rPr dirty="0" sz="1000" spc="130">
                <a:latin typeface="Times New Roman"/>
                <a:cs typeface="Times New Roman"/>
              </a:rPr>
              <a:t> </a:t>
            </a:r>
            <a:r>
              <a:rPr dirty="0" sz="1000">
                <a:latin typeface="Times New Roman"/>
                <a:cs typeface="Times New Roman"/>
              </a:rPr>
              <a:t>an</a:t>
            </a:r>
            <a:r>
              <a:rPr dirty="0" sz="1000" spc="125">
                <a:latin typeface="Times New Roman"/>
                <a:cs typeface="Times New Roman"/>
              </a:rPr>
              <a:t> </a:t>
            </a:r>
            <a:r>
              <a:rPr dirty="0" sz="1000" spc="-10">
                <a:latin typeface="Times New Roman"/>
                <a:cs typeface="Times New Roman"/>
              </a:rPr>
              <a:t>output </a:t>
            </a:r>
            <a:r>
              <a:rPr dirty="0" sz="1000">
                <a:latin typeface="Times New Roman"/>
                <a:cs typeface="Times New Roman"/>
              </a:rPr>
              <a:t>sequence</a:t>
            </a:r>
            <a:r>
              <a:rPr dirty="0" sz="1000" spc="25">
                <a:latin typeface="Times New Roman"/>
                <a:cs typeface="Times New Roman"/>
              </a:rPr>
              <a:t> </a:t>
            </a:r>
            <a:r>
              <a:rPr dirty="0" sz="1000" spc="40">
                <a:latin typeface="Calibri"/>
                <a:cs typeface="Calibri"/>
              </a:rPr>
              <a:t>(</a:t>
            </a:r>
            <a:r>
              <a:rPr dirty="0" sz="1000" spc="40" i="1">
                <a:latin typeface="Calibri"/>
                <a:cs typeface="Calibri"/>
              </a:rPr>
              <a:t>y</a:t>
            </a:r>
            <a:r>
              <a:rPr dirty="0" baseline="-11904" sz="1050" spc="60">
                <a:latin typeface="Tahoma"/>
                <a:cs typeface="Tahoma"/>
              </a:rPr>
              <a:t>1</a:t>
            </a:r>
            <a:r>
              <a:rPr dirty="0" sz="1000" spc="40" i="1">
                <a:latin typeface="Calibri"/>
                <a:cs typeface="Calibri"/>
              </a:rPr>
              <a:t>,</a:t>
            </a:r>
            <a:r>
              <a:rPr dirty="0" sz="1000" spc="-50" i="1">
                <a:latin typeface="Calibri"/>
                <a:cs typeface="Calibri"/>
              </a:rPr>
              <a:t> </a:t>
            </a:r>
            <a:r>
              <a:rPr dirty="0" sz="1000" i="1">
                <a:latin typeface="Calibri"/>
                <a:cs typeface="Calibri"/>
              </a:rPr>
              <a:t>...,</a:t>
            </a:r>
            <a:r>
              <a:rPr dirty="0" sz="1000" spc="-45" i="1">
                <a:latin typeface="Calibri"/>
                <a:cs typeface="Calibri"/>
              </a:rPr>
              <a:t> </a:t>
            </a:r>
            <a:r>
              <a:rPr dirty="0" sz="1000" spc="105" i="1">
                <a:latin typeface="Calibri"/>
                <a:cs typeface="Calibri"/>
              </a:rPr>
              <a:t>y</a:t>
            </a:r>
            <a:r>
              <a:rPr dirty="0" baseline="-11904" sz="1050" spc="157" i="1">
                <a:latin typeface="Calibri"/>
                <a:cs typeface="Calibri"/>
              </a:rPr>
              <a:t>m</a:t>
            </a:r>
            <a:r>
              <a:rPr dirty="0" sz="1000" spc="105">
                <a:latin typeface="Calibri"/>
                <a:cs typeface="Calibri"/>
              </a:rPr>
              <a:t>)</a:t>
            </a:r>
            <a:r>
              <a:rPr dirty="0" sz="1000" spc="50">
                <a:latin typeface="Calibri"/>
                <a:cs typeface="Calibri"/>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symbols</a:t>
            </a:r>
            <a:r>
              <a:rPr dirty="0" sz="1000" spc="25">
                <a:latin typeface="Times New Roman"/>
                <a:cs typeface="Times New Roman"/>
              </a:rPr>
              <a:t> </a:t>
            </a:r>
            <a:r>
              <a:rPr dirty="0" sz="1000">
                <a:latin typeface="Times New Roman"/>
                <a:cs typeface="Times New Roman"/>
              </a:rPr>
              <a:t>one</a:t>
            </a:r>
            <a:r>
              <a:rPr dirty="0" sz="1000" spc="30">
                <a:latin typeface="Times New Roman"/>
                <a:cs typeface="Times New Roman"/>
              </a:rPr>
              <a:t> </a:t>
            </a:r>
            <a:r>
              <a:rPr dirty="0" sz="1000">
                <a:latin typeface="Times New Roman"/>
                <a:cs typeface="Times New Roman"/>
              </a:rPr>
              <a:t>element</a:t>
            </a:r>
            <a:r>
              <a:rPr dirty="0" sz="1000" spc="25">
                <a:latin typeface="Times New Roman"/>
                <a:cs typeface="Times New Roman"/>
              </a:rPr>
              <a:t> </a:t>
            </a:r>
            <a:r>
              <a:rPr dirty="0" sz="1000">
                <a:latin typeface="Times New Roman"/>
                <a:cs typeface="Times New Roman"/>
              </a:rPr>
              <a:t>at</a:t>
            </a:r>
            <a:r>
              <a:rPr dirty="0" sz="1000" spc="25">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a:latin typeface="Times New Roman"/>
                <a:cs typeface="Times New Roman"/>
              </a:rPr>
              <a:t>time.</a:t>
            </a:r>
            <a:r>
              <a:rPr dirty="0" sz="1000" spc="100">
                <a:latin typeface="Times New Roman"/>
                <a:cs typeface="Times New Roman"/>
              </a:rPr>
              <a:t> </a:t>
            </a:r>
            <a:r>
              <a:rPr dirty="0" sz="1000">
                <a:latin typeface="Times New Roman"/>
                <a:cs typeface="Times New Roman"/>
              </a:rPr>
              <a:t>At</a:t>
            </a:r>
            <a:r>
              <a:rPr dirty="0" sz="1000" spc="30">
                <a:latin typeface="Times New Roman"/>
                <a:cs typeface="Times New Roman"/>
              </a:rPr>
              <a:t> </a:t>
            </a:r>
            <a:r>
              <a:rPr dirty="0" sz="1000">
                <a:latin typeface="Times New Roman"/>
                <a:cs typeface="Times New Roman"/>
              </a:rPr>
              <a:t>each</a:t>
            </a:r>
            <a:r>
              <a:rPr dirty="0" sz="1000" spc="25">
                <a:latin typeface="Times New Roman"/>
                <a:cs typeface="Times New Roman"/>
              </a:rPr>
              <a:t> </a:t>
            </a:r>
            <a:r>
              <a:rPr dirty="0" sz="1000">
                <a:latin typeface="Times New Roman"/>
                <a:cs typeface="Times New Roman"/>
              </a:rPr>
              <a:t>step</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model</a:t>
            </a:r>
            <a:r>
              <a:rPr dirty="0" sz="1000" spc="25">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a:latin typeface="Times New Roman"/>
                <a:cs typeface="Times New Roman"/>
              </a:rPr>
              <a:t>auto-</a:t>
            </a:r>
            <a:r>
              <a:rPr dirty="0" sz="1000" spc="-10">
                <a:latin typeface="Times New Roman"/>
                <a:cs typeface="Times New Roman"/>
              </a:rPr>
              <a:t>regressive </a:t>
            </a:r>
            <a:r>
              <a:rPr dirty="0" sz="1000">
                <a:latin typeface="Times New Roman"/>
                <a:cs typeface="Times New Roman"/>
              </a:rPr>
              <a:t>[9],</a:t>
            </a:r>
            <a:r>
              <a:rPr dirty="0" sz="1000" spc="-25">
                <a:latin typeface="Times New Roman"/>
                <a:cs typeface="Times New Roman"/>
              </a:rPr>
              <a:t> </a:t>
            </a:r>
            <a:r>
              <a:rPr dirty="0" sz="1000">
                <a:latin typeface="Times New Roman"/>
                <a:cs typeface="Times New Roman"/>
              </a:rPr>
              <a:t>consuming</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previously</a:t>
            </a:r>
            <a:r>
              <a:rPr dirty="0" sz="1000" spc="-25">
                <a:latin typeface="Times New Roman"/>
                <a:cs typeface="Times New Roman"/>
              </a:rPr>
              <a:t> </a:t>
            </a:r>
            <a:r>
              <a:rPr dirty="0" sz="1000" spc="-10">
                <a:latin typeface="Times New Roman"/>
                <a:cs typeface="Times New Roman"/>
              </a:rPr>
              <a:t>generated</a:t>
            </a:r>
            <a:r>
              <a:rPr dirty="0" sz="1000" spc="-25">
                <a:latin typeface="Times New Roman"/>
                <a:cs typeface="Times New Roman"/>
              </a:rPr>
              <a:t> </a:t>
            </a:r>
            <a:r>
              <a:rPr dirty="0" sz="1000">
                <a:latin typeface="Times New Roman"/>
                <a:cs typeface="Times New Roman"/>
              </a:rPr>
              <a:t>symbols</a:t>
            </a:r>
            <a:r>
              <a:rPr dirty="0" sz="1000" spc="-25">
                <a:latin typeface="Times New Roman"/>
                <a:cs typeface="Times New Roman"/>
              </a:rPr>
              <a:t> </a:t>
            </a:r>
            <a:r>
              <a:rPr dirty="0" sz="1000">
                <a:latin typeface="Times New Roman"/>
                <a:cs typeface="Times New Roman"/>
              </a:rPr>
              <a:t>as</a:t>
            </a:r>
            <a:r>
              <a:rPr dirty="0" sz="1000" spc="-20">
                <a:latin typeface="Times New Roman"/>
                <a:cs typeface="Times New Roman"/>
              </a:rPr>
              <a:t> </a:t>
            </a:r>
            <a:r>
              <a:rPr dirty="0" sz="1000">
                <a:latin typeface="Times New Roman"/>
                <a:cs typeface="Times New Roman"/>
              </a:rPr>
              <a:t>additional</a:t>
            </a:r>
            <a:r>
              <a:rPr dirty="0" sz="1000" spc="-25">
                <a:latin typeface="Times New Roman"/>
                <a:cs typeface="Times New Roman"/>
              </a:rPr>
              <a:t> </a:t>
            </a:r>
            <a:r>
              <a:rPr dirty="0" sz="1000">
                <a:latin typeface="Times New Roman"/>
                <a:cs typeface="Times New Roman"/>
              </a:rPr>
              <a:t>input</a:t>
            </a:r>
            <a:r>
              <a:rPr dirty="0" sz="1000" spc="-25">
                <a:latin typeface="Times New Roman"/>
                <a:cs typeface="Times New Roman"/>
              </a:rPr>
              <a:t> </a:t>
            </a:r>
            <a:r>
              <a:rPr dirty="0" sz="1000">
                <a:latin typeface="Times New Roman"/>
                <a:cs typeface="Times New Roman"/>
              </a:rPr>
              <a:t>when</a:t>
            </a:r>
            <a:r>
              <a:rPr dirty="0" sz="1000" spc="-25">
                <a:latin typeface="Times New Roman"/>
                <a:cs typeface="Times New Roman"/>
              </a:rPr>
              <a:t> </a:t>
            </a:r>
            <a:r>
              <a:rPr dirty="0" sz="1000">
                <a:latin typeface="Times New Roman"/>
                <a:cs typeface="Times New Roman"/>
              </a:rPr>
              <a:t>generating</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next.</a:t>
            </a:r>
            <a:endParaRPr sz="1000">
              <a:latin typeface="Times New Roman"/>
              <a:cs typeface="Times New Roman"/>
            </a:endParaRPr>
          </a:p>
          <a:p>
            <a:pPr algn="just" marL="101600" marR="82550" indent="-4445">
              <a:lnSpc>
                <a:spcPts val="1090"/>
              </a:lnSpc>
              <a:spcBef>
                <a:spcPts val="555"/>
              </a:spcBef>
            </a:pP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Transformer</a:t>
            </a:r>
            <a:r>
              <a:rPr dirty="0" sz="1000" spc="-15">
                <a:latin typeface="Times New Roman"/>
                <a:cs typeface="Times New Roman"/>
              </a:rPr>
              <a:t> </a:t>
            </a:r>
            <a:r>
              <a:rPr dirty="0" sz="1000">
                <a:latin typeface="Times New Roman"/>
                <a:cs typeface="Times New Roman"/>
              </a:rPr>
              <a:t>follows</a:t>
            </a:r>
            <a:r>
              <a:rPr dirty="0" sz="1000" spc="-10">
                <a:latin typeface="Times New Roman"/>
                <a:cs typeface="Times New Roman"/>
              </a:rPr>
              <a:t> </a:t>
            </a:r>
            <a:r>
              <a:rPr dirty="0" sz="1000">
                <a:latin typeface="Times New Roman"/>
                <a:cs typeface="Times New Roman"/>
              </a:rPr>
              <a:t>this</a:t>
            </a:r>
            <a:r>
              <a:rPr dirty="0" sz="1000" spc="-15">
                <a:latin typeface="Times New Roman"/>
                <a:cs typeface="Times New Roman"/>
              </a:rPr>
              <a:t> </a:t>
            </a:r>
            <a:r>
              <a:rPr dirty="0" sz="1000">
                <a:latin typeface="Times New Roman"/>
                <a:cs typeface="Times New Roman"/>
              </a:rPr>
              <a:t>overall</a:t>
            </a:r>
            <a:r>
              <a:rPr dirty="0" sz="1000" spc="-10">
                <a:latin typeface="Times New Roman"/>
                <a:cs typeface="Times New Roman"/>
              </a:rPr>
              <a:t> </a:t>
            </a:r>
            <a:r>
              <a:rPr dirty="0" sz="1000">
                <a:latin typeface="Times New Roman"/>
                <a:cs typeface="Times New Roman"/>
              </a:rPr>
              <a:t>architecture</a:t>
            </a:r>
            <a:r>
              <a:rPr dirty="0" sz="1000" spc="-15">
                <a:latin typeface="Times New Roman"/>
                <a:cs typeface="Times New Roman"/>
              </a:rPr>
              <a:t> </a:t>
            </a:r>
            <a:r>
              <a:rPr dirty="0" sz="1000">
                <a:latin typeface="Times New Roman"/>
                <a:cs typeface="Times New Roman"/>
              </a:rPr>
              <a:t>using</a:t>
            </a:r>
            <a:r>
              <a:rPr dirty="0" sz="1000" spc="-10">
                <a:latin typeface="Times New Roman"/>
                <a:cs typeface="Times New Roman"/>
              </a:rPr>
              <a:t> </a:t>
            </a:r>
            <a:r>
              <a:rPr dirty="0" sz="1000">
                <a:latin typeface="Times New Roman"/>
                <a:cs typeface="Times New Roman"/>
              </a:rPr>
              <a:t>stacked</a:t>
            </a:r>
            <a:r>
              <a:rPr dirty="0" sz="1000" spc="-15">
                <a:latin typeface="Times New Roman"/>
                <a:cs typeface="Times New Roman"/>
              </a:rPr>
              <a:t> </a:t>
            </a:r>
            <a:r>
              <a:rPr dirty="0" sz="1000">
                <a:latin typeface="Times New Roman"/>
                <a:cs typeface="Times New Roman"/>
              </a:rPr>
              <a:t>self-attention</a:t>
            </a:r>
            <a:r>
              <a:rPr dirty="0" sz="1000" spc="-10">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point-wise,</a:t>
            </a:r>
            <a:r>
              <a:rPr dirty="0" sz="1000" spc="-10">
                <a:latin typeface="Times New Roman"/>
                <a:cs typeface="Times New Roman"/>
              </a:rPr>
              <a:t> fully </a:t>
            </a:r>
            <a:r>
              <a:rPr dirty="0" sz="1000">
                <a:latin typeface="Times New Roman"/>
                <a:cs typeface="Times New Roman"/>
              </a:rPr>
              <a:t>connected</a:t>
            </a:r>
            <a:r>
              <a:rPr dirty="0" sz="1000" spc="25">
                <a:latin typeface="Times New Roman"/>
                <a:cs typeface="Times New Roman"/>
              </a:rPr>
              <a:t> </a:t>
            </a:r>
            <a:r>
              <a:rPr dirty="0" sz="1000">
                <a:latin typeface="Times New Roman"/>
                <a:cs typeface="Times New Roman"/>
              </a:rPr>
              <a:t>layers</a:t>
            </a:r>
            <a:r>
              <a:rPr dirty="0" sz="1000" spc="25">
                <a:latin typeface="Times New Roman"/>
                <a:cs typeface="Times New Roman"/>
              </a:rPr>
              <a:t> </a:t>
            </a:r>
            <a:r>
              <a:rPr dirty="0" sz="1000">
                <a:latin typeface="Times New Roman"/>
                <a:cs typeface="Times New Roman"/>
              </a:rPr>
              <a:t>for</a:t>
            </a:r>
            <a:r>
              <a:rPr dirty="0" sz="1000" spc="25">
                <a:latin typeface="Times New Roman"/>
                <a:cs typeface="Times New Roman"/>
              </a:rPr>
              <a:t> </a:t>
            </a:r>
            <a:r>
              <a:rPr dirty="0" sz="1000">
                <a:latin typeface="Times New Roman"/>
                <a:cs typeface="Times New Roman"/>
              </a:rPr>
              <a:t>both</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encoder</a:t>
            </a:r>
            <a:r>
              <a:rPr dirty="0" sz="1000" spc="2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decoder,</a:t>
            </a:r>
            <a:r>
              <a:rPr dirty="0" sz="1000" spc="30">
                <a:latin typeface="Times New Roman"/>
                <a:cs typeface="Times New Roman"/>
              </a:rPr>
              <a:t> </a:t>
            </a:r>
            <a:r>
              <a:rPr dirty="0" sz="1000">
                <a:latin typeface="Times New Roman"/>
                <a:cs typeface="Times New Roman"/>
              </a:rPr>
              <a:t>shown</a:t>
            </a:r>
            <a:r>
              <a:rPr dirty="0" sz="1000" spc="25">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left</a:t>
            </a:r>
            <a:r>
              <a:rPr dirty="0" sz="1000" spc="2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right</a:t>
            </a:r>
            <a:r>
              <a:rPr dirty="0" sz="1000" spc="30">
                <a:latin typeface="Times New Roman"/>
                <a:cs typeface="Times New Roman"/>
              </a:rPr>
              <a:t> </a:t>
            </a:r>
            <a:r>
              <a:rPr dirty="0" sz="1000">
                <a:latin typeface="Times New Roman"/>
                <a:cs typeface="Times New Roman"/>
              </a:rPr>
              <a:t>halves</a:t>
            </a:r>
            <a:r>
              <a:rPr dirty="0" sz="1000" spc="2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Figure</a:t>
            </a:r>
            <a:r>
              <a:rPr dirty="0" sz="1000" spc="25">
                <a:latin typeface="Times New Roman"/>
                <a:cs typeface="Times New Roman"/>
              </a:rPr>
              <a:t> </a:t>
            </a:r>
            <a:r>
              <a:rPr dirty="0" sz="1000" spc="-25">
                <a:latin typeface="Times New Roman"/>
                <a:cs typeface="Times New Roman"/>
              </a:rPr>
              <a:t>1, </a:t>
            </a:r>
            <a:r>
              <a:rPr dirty="0" sz="1000" spc="-10">
                <a:latin typeface="Times New Roman"/>
                <a:cs typeface="Times New Roman"/>
              </a:rPr>
              <a:t>respectively.</a:t>
            </a:r>
            <a:endParaRPr sz="1000">
              <a:latin typeface="Times New Roman"/>
              <a:cs typeface="Times New Roman"/>
            </a:endParaRPr>
          </a:p>
          <a:p>
            <a:pPr>
              <a:lnSpc>
                <a:spcPct val="100000"/>
              </a:lnSpc>
              <a:spcBef>
                <a:spcPts val="70"/>
              </a:spcBef>
            </a:pPr>
            <a:endParaRPr sz="1000">
              <a:latin typeface="Times New Roman"/>
              <a:cs typeface="Times New Roman"/>
            </a:endParaRPr>
          </a:p>
          <a:p>
            <a:pPr lvl="1" marL="386080" indent="-284480">
              <a:lnSpc>
                <a:spcPct val="100000"/>
              </a:lnSpc>
              <a:buAutoNum type="arabicPeriod"/>
              <a:tabLst>
                <a:tab pos="386080" algn="l"/>
              </a:tabLst>
            </a:pPr>
            <a:r>
              <a:rPr dirty="0" sz="1000" b="1">
                <a:latin typeface="Times New Roman"/>
                <a:cs typeface="Times New Roman"/>
              </a:rPr>
              <a:t>Encoder</a:t>
            </a:r>
            <a:r>
              <a:rPr dirty="0" sz="1000" spc="-30" b="1">
                <a:latin typeface="Times New Roman"/>
                <a:cs typeface="Times New Roman"/>
              </a:rPr>
              <a:t> </a:t>
            </a:r>
            <a:r>
              <a:rPr dirty="0" sz="1000" b="1">
                <a:latin typeface="Times New Roman"/>
                <a:cs typeface="Times New Roman"/>
              </a:rPr>
              <a:t>and</a:t>
            </a:r>
            <a:r>
              <a:rPr dirty="0" sz="1000" spc="-30" b="1">
                <a:latin typeface="Times New Roman"/>
                <a:cs typeface="Times New Roman"/>
              </a:rPr>
              <a:t> </a:t>
            </a:r>
            <a:r>
              <a:rPr dirty="0" sz="1000" b="1">
                <a:latin typeface="Times New Roman"/>
                <a:cs typeface="Times New Roman"/>
              </a:rPr>
              <a:t>Decoder</a:t>
            </a:r>
            <a:r>
              <a:rPr dirty="0" sz="1000" spc="-30" b="1">
                <a:latin typeface="Times New Roman"/>
                <a:cs typeface="Times New Roman"/>
              </a:rPr>
              <a:t> </a:t>
            </a:r>
            <a:r>
              <a:rPr dirty="0" sz="1000" spc="-10" b="1">
                <a:latin typeface="Times New Roman"/>
                <a:cs typeface="Times New Roman"/>
              </a:rPr>
              <a:t>Stacks</a:t>
            </a:r>
            <a:endParaRPr sz="1000">
              <a:latin typeface="Times New Roman"/>
              <a:cs typeface="Times New Roman"/>
            </a:endParaRPr>
          </a:p>
          <a:p>
            <a:pPr algn="just" marL="101600" marR="76835">
              <a:lnSpc>
                <a:spcPts val="1090"/>
              </a:lnSpc>
              <a:spcBef>
                <a:spcPts val="925"/>
              </a:spcBef>
            </a:pPr>
            <a:r>
              <a:rPr dirty="0" sz="1000" b="1">
                <a:latin typeface="Times New Roman"/>
                <a:cs typeface="Times New Roman"/>
              </a:rPr>
              <a:t>Encoder:</a:t>
            </a:r>
            <a:r>
              <a:rPr dirty="0" sz="1000" spc="254" b="1">
                <a:latin typeface="Times New Roman"/>
                <a:cs typeface="Times New Roman"/>
              </a:rPr>
              <a:t>  </a:t>
            </a:r>
            <a:r>
              <a:rPr dirty="0" sz="1000">
                <a:latin typeface="Times New Roman"/>
                <a:cs typeface="Times New Roman"/>
              </a:rPr>
              <a:t>The</a:t>
            </a:r>
            <a:r>
              <a:rPr dirty="0" sz="1000" spc="80">
                <a:latin typeface="Times New Roman"/>
                <a:cs typeface="Times New Roman"/>
              </a:rPr>
              <a:t> </a:t>
            </a:r>
            <a:r>
              <a:rPr dirty="0" sz="1000">
                <a:latin typeface="Times New Roman"/>
                <a:cs typeface="Times New Roman"/>
              </a:rPr>
              <a:t>encoder</a:t>
            </a:r>
            <a:r>
              <a:rPr dirty="0" sz="1000" spc="75">
                <a:latin typeface="Times New Roman"/>
                <a:cs typeface="Times New Roman"/>
              </a:rPr>
              <a:t> </a:t>
            </a:r>
            <a:r>
              <a:rPr dirty="0" sz="1000">
                <a:latin typeface="Times New Roman"/>
                <a:cs typeface="Times New Roman"/>
              </a:rPr>
              <a:t>is</a:t>
            </a:r>
            <a:r>
              <a:rPr dirty="0" sz="1000" spc="75">
                <a:latin typeface="Times New Roman"/>
                <a:cs typeface="Times New Roman"/>
              </a:rPr>
              <a:t> </a:t>
            </a:r>
            <a:r>
              <a:rPr dirty="0" sz="1000">
                <a:latin typeface="Times New Roman"/>
                <a:cs typeface="Times New Roman"/>
              </a:rPr>
              <a:t>composed</a:t>
            </a:r>
            <a:r>
              <a:rPr dirty="0" sz="1000" spc="80">
                <a:latin typeface="Times New Roman"/>
                <a:cs typeface="Times New Roman"/>
              </a:rPr>
              <a:t> </a:t>
            </a:r>
            <a:r>
              <a:rPr dirty="0" sz="1000">
                <a:latin typeface="Times New Roman"/>
                <a:cs typeface="Times New Roman"/>
              </a:rPr>
              <a:t>of</a:t>
            </a:r>
            <a:r>
              <a:rPr dirty="0" sz="1000" spc="75">
                <a:latin typeface="Times New Roman"/>
                <a:cs typeface="Times New Roman"/>
              </a:rPr>
              <a:t> </a:t>
            </a:r>
            <a:r>
              <a:rPr dirty="0" sz="1000">
                <a:latin typeface="Times New Roman"/>
                <a:cs typeface="Times New Roman"/>
              </a:rPr>
              <a:t>a</a:t>
            </a:r>
            <a:r>
              <a:rPr dirty="0" sz="1000" spc="75">
                <a:latin typeface="Times New Roman"/>
                <a:cs typeface="Times New Roman"/>
              </a:rPr>
              <a:t> </a:t>
            </a:r>
            <a:r>
              <a:rPr dirty="0" sz="1000">
                <a:latin typeface="Times New Roman"/>
                <a:cs typeface="Times New Roman"/>
              </a:rPr>
              <a:t>stack</a:t>
            </a:r>
            <a:r>
              <a:rPr dirty="0" sz="1000" spc="75">
                <a:latin typeface="Times New Roman"/>
                <a:cs typeface="Times New Roman"/>
              </a:rPr>
              <a:t> </a:t>
            </a:r>
            <a:r>
              <a:rPr dirty="0" sz="1000">
                <a:latin typeface="Times New Roman"/>
                <a:cs typeface="Times New Roman"/>
              </a:rPr>
              <a:t>of</a:t>
            </a:r>
            <a:r>
              <a:rPr dirty="0" sz="1000" spc="80">
                <a:latin typeface="Times New Roman"/>
                <a:cs typeface="Times New Roman"/>
              </a:rPr>
              <a:t> </a:t>
            </a:r>
            <a:r>
              <a:rPr dirty="0" sz="1000" spc="145" i="1">
                <a:latin typeface="Calibri"/>
                <a:cs typeface="Calibri"/>
              </a:rPr>
              <a:t>N</a:t>
            </a:r>
            <a:r>
              <a:rPr dirty="0" sz="1000" spc="305" i="1">
                <a:latin typeface="Calibri"/>
                <a:cs typeface="Calibri"/>
              </a:rPr>
              <a:t> </a:t>
            </a:r>
            <a:r>
              <a:rPr dirty="0" sz="1000" spc="270">
                <a:latin typeface="Calibri"/>
                <a:cs typeface="Calibri"/>
              </a:rPr>
              <a:t>=</a:t>
            </a:r>
            <a:r>
              <a:rPr dirty="0" sz="1000" spc="190">
                <a:latin typeface="Calibri"/>
                <a:cs typeface="Calibri"/>
              </a:rPr>
              <a:t> </a:t>
            </a:r>
            <a:r>
              <a:rPr dirty="0" sz="1000">
                <a:latin typeface="Calibri"/>
                <a:cs typeface="Calibri"/>
              </a:rPr>
              <a:t>6</a:t>
            </a:r>
            <a:r>
              <a:rPr dirty="0" sz="1000" spc="105">
                <a:latin typeface="Calibri"/>
                <a:cs typeface="Calibri"/>
              </a:rPr>
              <a:t> </a:t>
            </a:r>
            <a:r>
              <a:rPr dirty="0" sz="1000">
                <a:latin typeface="Times New Roman"/>
                <a:cs typeface="Times New Roman"/>
              </a:rPr>
              <a:t>identical</a:t>
            </a:r>
            <a:r>
              <a:rPr dirty="0" sz="1000" spc="75">
                <a:latin typeface="Times New Roman"/>
                <a:cs typeface="Times New Roman"/>
              </a:rPr>
              <a:t> </a:t>
            </a:r>
            <a:r>
              <a:rPr dirty="0" sz="1000">
                <a:latin typeface="Times New Roman"/>
                <a:cs typeface="Times New Roman"/>
              </a:rPr>
              <a:t>layers.</a:t>
            </a:r>
            <a:r>
              <a:rPr dirty="0" sz="1000" spc="285">
                <a:latin typeface="Times New Roman"/>
                <a:cs typeface="Times New Roman"/>
              </a:rPr>
              <a:t> </a:t>
            </a:r>
            <a:r>
              <a:rPr dirty="0" sz="1000">
                <a:latin typeface="Times New Roman"/>
                <a:cs typeface="Times New Roman"/>
              </a:rPr>
              <a:t>Each</a:t>
            </a:r>
            <a:r>
              <a:rPr dirty="0" sz="1000" spc="75">
                <a:latin typeface="Times New Roman"/>
                <a:cs typeface="Times New Roman"/>
              </a:rPr>
              <a:t> </a:t>
            </a:r>
            <a:r>
              <a:rPr dirty="0" sz="1000">
                <a:latin typeface="Times New Roman"/>
                <a:cs typeface="Times New Roman"/>
              </a:rPr>
              <a:t>layer</a:t>
            </a:r>
            <a:r>
              <a:rPr dirty="0" sz="1000" spc="75">
                <a:latin typeface="Times New Roman"/>
                <a:cs typeface="Times New Roman"/>
              </a:rPr>
              <a:t> </a:t>
            </a:r>
            <a:r>
              <a:rPr dirty="0" sz="1000">
                <a:latin typeface="Times New Roman"/>
                <a:cs typeface="Times New Roman"/>
              </a:rPr>
              <a:t>has</a:t>
            </a:r>
            <a:r>
              <a:rPr dirty="0" sz="1000" spc="80">
                <a:latin typeface="Times New Roman"/>
                <a:cs typeface="Times New Roman"/>
              </a:rPr>
              <a:t> </a:t>
            </a:r>
            <a:r>
              <a:rPr dirty="0" sz="1000" spc="-25">
                <a:latin typeface="Times New Roman"/>
                <a:cs typeface="Times New Roman"/>
              </a:rPr>
              <a:t>two </a:t>
            </a:r>
            <a:r>
              <a:rPr dirty="0" sz="1000">
                <a:latin typeface="Times New Roman"/>
                <a:cs typeface="Times New Roman"/>
              </a:rPr>
              <a:t>sub-layers.</a:t>
            </a:r>
            <a:r>
              <a:rPr dirty="0" sz="1000" spc="50">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first</a:t>
            </a:r>
            <a:r>
              <a:rPr dirty="0" sz="1000" spc="-10">
                <a:latin typeface="Times New Roman"/>
                <a:cs typeface="Times New Roman"/>
              </a:rPr>
              <a:t> </a:t>
            </a:r>
            <a:r>
              <a:rPr dirty="0" sz="1000">
                <a:latin typeface="Times New Roman"/>
                <a:cs typeface="Times New Roman"/>
              </a:rPr>
              <a:t>is</a:t>
            </a:r>
            <a:r>
              <a:rPr dirty="0" sz="1000" spc="-5">
                <a:latin typeface="Times New Roman"/>
                <a:cs typeface="Times New Roman"/>
              </a:rPr>
              <a:t> </a:t>
            </a:r>
            <a:r>
              <a:rPr dirty="0" sz="1000">
                <a:latin typeface="Times New Roman"/>
                <a:cs typeface="Times New Roman"/>
              </a:rPr>
              <a:t>a</a:t>
            </a:r>
            <a:r>
              <a:rPr dirty="0" sz="1000" spc="-10">
                <a:latin typeface="Times New Roman"/>
                <a:cs typeface="Times New Roman"/>
              </a:rPr>
              <a:t> </a:t>
            </a:r>
            <a:r>
              <a:rPr dirty="0" sz="1000">
                <a:latin typeface="Times New Roman"/>
                <a:cs typeface="Times New Roman"/>
              </a:rPr>
              <a:t>multi-head</a:t>
            </a:r>
            <a:r>
              <a:rPr dirty="0" sz="1000" spc="-5">
                <a:latin typeface="Times New Roman"/>
                <a:cs typeface="Times New Roman"/>
              </a:rPr>
              <a:t> </a:t>
            </a:r>
            <a:r>
              <a:rPr dirty="0" sz="1000">
                <a:latin typeface="Times New Roman"/>
                <a:cs typeface="Times New Roman"/>
              </a:rPr>
              <a:t>self-attention</a:t>
            </a:r>
            <a:r>
              <a:rPr dirty="0" sz="1000" spc="-10">
                <a:latin typeface="Times New Roman"/>
                <a:cs typeface="Times New Roman"/>
              </a:rPr>
              <a:t> </a:t>
            </a:r>
            <a:r>
              <a:rPr dirty="0" sz="1000">
                <a:latin typeface="Times New Roman"/>
                <a:cs typeface="Times New Roman"/>
              </a:rPr>
              <a:t>mechanism,</a:t>
            </a:r>
            <a:r>
              <a:rPr dirty="0" sz="1000" spc="-5">
                <a:latin typeface="Times New Roman"/>
                <a:cs typeface="Times New Roman"/>
              </a:rPr>
              <a:t> </a:t>
            </a:r>
            <a:r>
              <a:rPr dirty="0" sz="1000">
                <a:latin typeface="Times New Roman"/>
                <a:cs typeface="Times New Roman"/>
              </a:rPr>
              <a:t>and</a:t>
            </a:r>
            <a:r>
              <a:rPr dirty="0" sz="1000" spc="-5">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second</a:t>
            </a:r>
            <a:r>
              <a:rPr dirty="0" sz="1000" spc="-5">
                <a:latin typeface="Times New Roman"/>
                <a:cs typeface="Times New Roman"/>
              </a:rPr>
              <a:t> </a:t>
            </a:r>
            <a:r>
              <a:rPr dirty="0" sz="1000">
                <a:latin typeface="Times New Roman"/>
                <a:cs typeface="Times New Roman"/>
              </a:rPr>
              <a:t>is</a:t>
            </a:r>
            <a:r>
              <a:rPr dirty="0" sz="1000" spc="-10">
                <a:latin typeface="Times New Roman"/>
                <a:cs typeface="Times New Roman"/>
              </a:rPr>
              <a:t> </a:t>
            </a:r>
            <a:r>
              <a:rPr dirty="0" sz="1000">
                <a:latin typeface="Times New Roman"/>
                <a:cs typeface="Times New Roman"/>
              </a:rPr>
              <a:t>a</a:t>
            </a:r>
            <a:r>
              <a:rPr dirty="0" sz="1000" spc="-10">
                <a:latin typeface="Times New Roman"/>
                <a:cs typeface="Times New Roman"/>
              </a:rPr>
              <a:t> </a:t>
            </a:r>
            <a:r>
              <a:rPr dirty="0" sz="1000">
                <a:latin typeface="Times New Roman"/>
                <a:cs typeface="Times New Roman"/>
              </a:rPr>
              <a:t>simple, </a:t>
            </a:r>
            <a:r>
              <a:rPr dirty="0" sz="1000" spc="-10">
                <a:latin typeface="Times New Roman"/>
                <a:cs typeface="Times New Roman"/>
              </a:rPr>
              <a:t>position-</a:t>
            </a:r>
            <a:endParaRPr sz="10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2503614" y="929055"/>
            <a:ext cx="2765145" cy="4069080"/>
          </a:xfrm>
          <a:prstGeom prst="rect">
            <a:avLst/>
          </a:prstGeom>
        </p:spPr>
      </p:pic>
      <p:sp>
        <p:nvSpPr>
          <p:cNvPr id="3" name="object 3" descr=""/>
          <p:cNvSpPr txBox="1"/>
          <p:nvPr/>
        </p:nvSpPr>
        <p:spPr>
          <a:xfrm>
            <a:off x="1278140" y="5096997"/>
            <a:ext cx="5213985" cy="4085590"/>
          </a:xfrm>
          <a:prstGeom prst="rect">
            <a:avLst/>
          </a:prstGeom>
        </p:spPr>
        <p:txBody>
          <a:bodyPr wrap="square" lIns="0" tIns="12065" rIns="0" bIns="0" rtlCol="0" vert="horz">
            <a:spAutoFit/>
          </a:bodyPr>
          <a:lstStyle/>
          <a:p>
            <a:pPr algn="ctr" marL="1905">
              <a:lnSpc>
                <a:spcPct val="100000"/>
              </a:lnSpc>
              <a:spcBef>
                <a:spcPts val="95"/>
              </a:spcBef>
            </a:pPr>
            <a:r>
              <a:rPr dirty="0" sz="1000">
                <a:latin typeface="Times New Roman"/>
                <a:cs typeface="Times New Roman"/>
              </a:rPr>
              <a:t>Figure</a:t>
            </a:r>
            <a:r>
              <a:rPr dirty="0" sz="1000" spc="-15">
                <a:latin typeface="Times New Roman"/>
                <a:cs typeface="Times New Roman"/>
              </a:rPr>
              <a:t> </a:t>
            </a:r>
            <a:r>
              <a:rPr dirty="0" sz="1000">
                <a:latin typeface="Times New Roman"/>
                <a:cs typeface="Times New Roman"/>
              </a:rPr>
              <a:t>1:</a:t>
            </a:r>
            <a:r>
              <a:rPr dirty="0" sz="1000" spc="4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Transformer </a:t>
            </a:r>
            <a:r>
              <a:rPr dirty="0" sz="1000">
                <a:latin typeface="Times New Roman"/>
                <a:cs typeface="Times New Roman"/>
              </a:rPr>
              <a:t>-</a:t>
            </a:r>
            <a:r>
              <a:rPr dirty="0" sz="1000" spc="-15">
                <a:latin typeface="Times New Roman"/>
                <a:cs typeface="Times New Roman"/>
              </a:rPr>
              <a:t> </a:t>
            </a:r>
            <a:r>
              <a:rPr dirty="0" sz="1000">
                <a:latin typeface="Times New Roman"/>
                <a:cs typeface="Times New Roman"/>
              </a:rPr>
              <a:t>model</a:t>
            </a:r>
            <a:r>
              <a:rPr dirty="0" sz="1000" spc="-10">
                <a:latin typeface="Times New Roman"/>
                <a:cs typeface="Times New Roman"/>
              </a:rPr>
              <a:t> architecture.</a:t>
            </a: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90"/>
              </a:spcBef>
            </a:pPr>
            <a:endParaRPr sz="1000">
              <a:latin typeface="Times New Roman"/>
              <a:cs typeface="Times New Roman"/>
            </a:endParaRPr>
          </a:p>
          <a:p>
            <a:pPr algn="just" marL="93345" marR="81280" indent="-5080">
              <a:lnSpc>
                <a:spcPts val="1090"/>
              </a:lnSpc>
            </a:pPr>
            <a:r>
              <a:rPr dirty="0" sz="1000">
                <a:latin typeface="Times New Roman"/>
                <a:cs typeface="Times New Roman"/>
              </a:rPr>
              <a:t>wise</a:t>
            </a:r>
            <a:r>
              <a:rPr dirty="0" sz="1000" spc="-5">
                <a:latin typeface="Times New Roman"/>
                <a:cs typeface="Times New Roman"/>
              </a:rPr>
              <a:t> </a:t>
            </a:r>
            <a:r>
              <a:rPr dirty="0" sz="1000">
                <a:latin typeface="Times New Roman"/>
                <a:cs typeface="Times New Roman"/>
              </a:rPr>
              <a:t>fully</a:t>
            </a:r>
            <a:r>
              <a:rPr dirty="0" sz="1000" spc="-10">
                <a:latin typeface="Times New Roman"/>
                <a:cs typeface="Times New Roman"/>
              </a:rPr>
              <a:t> </a:t>
            </a:r>
            <a:r>
              <a:rPr dirty="0" sz="1000">
                <a:latin typeface="Times New Roman"/>
                <a:cs typeface="Times New Roman"/>
              </a:rPr>
              <a:t>connected feed-forward</a:t>
            </a:r>
            <a:r>
              <a:rPr dirty="0" sz="1000" spc="-5">
                <a:latin typeface="Times New Roman"/>
                <a:cs typeface="Times New Roman"/>
              </a:rPr>
              <a:t> </a:t>
            </a:r>
            <a:r>
              <a:rPr dirty="0" sz="1000">
                <a:latin typeface="Times New Roman"/>
                <a:cs typeface="Times New Roman"/>
              </a:rPr>
              <a:t>network.</a:t>
            </a:r>
            <a:r>
              <a:rPr dirty="0" sz="1000" spc="60">
                <a:latin typeface="Times New Roman"/>
                <a:cs typeface="Times New Roman"/>
              </a:rPr>
              <a:t> </a:t>
            </a:r>
            <a:r>
              <a:rPr dirty="0" sz="1000" spc="-30">
                <a:latin typeface="Times New Roman"/>
                <a:cs typeface="Times New Roman"/>
              </a:rPr>
              <a:t>We</a:t>
            </a:r>
            <a:r>
              <a:rPr dirty="0" sz="1000" spc="-10">
                <a:latin typeface="Times New Roman"/>
                <a:cs typeface="Times New Roman"/>
              </a:rPr>
              <a:t> </a:t>
            </a:r>
            <a:r>
              <a:rPr dirty="0" sz="1000">
                <a:latin typeface="Times New Roman"/>
                <a:cs typeface="Times New Roman"/>
              </a:rPr>
              <a:t>employ</a:t>
            </a:r>
            <a:r>
              <a:rPr dirty="0" sz="1000" spc="-10">
                <a:latin typeface="Times New Roman"/>
                <a:cs typeface="Times New Roman"/>
              </a:rPr>
              <a:t> </a:t>
            </a:r>
            <a:r>
              <a:rPr dirty="0" sz="1000">
                <a:latin typeface="Times New Roman"/>
                <a:cs typeface="Times New Roman"/>
              </a:rPr>
              <a:t>a residual</a:t>
            </a:r>
            <a:r>
              <a:rPr dirty="0" sz="1000" spc="-10">
                <a:latin typeface="Times New Roman"/>
                <a:cs typeface="Times New Roman"/>
              </a:rPr>
              <a:t> </a:t>
            </a:r>
            <a:r>
              <a:rPr dirty="0" sz="1000">
                <a:latin typeface="Times New Roman"/>
                <a:cs typeface="Times New Roman"/>
              </a:rPr>
              <a:t>connection [10]</a:t>
            </a:r>
            <a:r>
              <a:rPr dirty="0" sz="1000" spc="-5">
                <a:latin typeface="Times New Roman"/>
                <a:cs typeface="Times New Roman"/>
              </a:rPr>
              <a:t> </a:t>
            </a:r>
            <a:r>
              <a:rPr dirty="0" sz="1000">
                <a:latin typeface="Times New Roman"/>
                <a:cs typeface="Times New Roman"/>
              </a:rPr>
              <a:t>around</a:t>
            </a:r>
            <a:r>
              <a:rPr dirty="0" sz="1000" spc="-5">
                <a:latin typeface="Times New Roman"/>
                <a:cs typeface="Times New Roman"/>
              </a:rPr>
              <a:t> </a:t>
            </a:r>
            <a:r>
              <a:rPr dirty="0" sz="1000">
                <a:latin typeface="Times New Roman"/>
                <a:cs typeface="Times New Roman"/>
              </a:rPr>
              <a:t>each</a:t>
            </a:r>
            <a:r>
              <a:rPr dirty="0" sz="1000" spc="-5">
                <a:latin typeface="Times New Roman"/>
                <a:cs typeface="Times New Roman"/>
              </a:rPr>
              <a:t> </a:t>
            </a:r>
            <a:r>
              <a:rPr dirty="0" sz="1000" spc="-25">
                <a:latin typeface="Times New Roman"/>
                <a:cs typeface="Times New Roman"/>
              </a:rPr>
              <a:t>of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two</a:t>
            </a:r>
            <a:r>
              <a:rPr dirty="0" sz="1000" spc="75">
                <a:latin typeface="Times New Roman"/>
                <a:cs typeface="Times New Roman"/>
              </a:rPr>
              <a:t> </a:t>
            </a:r>
            <a:r>
              <a:rPr dirty="0" sz="1000">
                <a:latin typeface="Times New Roman"/>
                <a:cs typeface="Times New Roman"/>
              </a:rPr>
              <a:t>sub-layers,</a:t>
            </a:r>
            <a:r>
              <a:rPr dirty="0" sz="1000" spc="90">
                <a:latin typeface="Times New Roman"/>
                <a:cs typeface="Times New Roman"/>
              </a:rPr>
              <a:t> </a:t>
            </a:r>
            <a:r>
              <a:rPr dirty="0" sz="1000">
                <a:latin typeface="Times New Roman"/>
                <a:cs typeface="Times New Roman"/>
              </a:rPr>
              <a:t>followed</a:t>
            </a:r>
            <a:r>
              <a:rPr dirty="0" sz="1000" spc="75">
                <a:latin typeface="Times New Roman"/>
                <a:cs typeface="Times New Roman"/>
              </a:rPr>
              <a:t> </a:t>
            </a:r>
            <a:r>
              <a:rPr dirty="0" sz="1000">
                <a:latin typeface="Times New Roman"/>
                <a:cs typeface="Times New Roman"/>
              </a:rPr>
              <a:t>by</a:t>
            </a:r>
            <a:r>
              <a:rPr dirty="0" sz="1000" spc="75">
                <a:latin typeface="Times New Roman"/>
                <a:cs typeface="Times New Roman"/>
              </a:rPr>
              <a:t> </a:t>
            </a:r>
            <a:r>
              <a:rPr dirty="0" sz="1000">
                <a:latin typeface="Times New Roman"/>
                <a:cs typeface="Times New Roman"/>
              </a:rPr>
              <a:t>layer</a:t>
            </a:r>
            <a:r>
              <a:rPr dirty="0" sz="1000" spc="80">
                <a:latin typeface="Times New Roman"/>
                <a:cs typeface="Times New Roman"/>
              </a:rPr>
              <a:t> </a:t>
            </a:r>
            <a:r>
              <a:rPr dirty="0" sz="1000">
                <a:latin typeface="Times New Roman"/>
                <a:cs typeface="Times New Roman"/>
              </a:rPr>
              <a:t>normalization</a:t>
            </a:r>
            <a:r>
              <a:rPr dirty="0" sz="1000" spc="75">
                <a:latin typeface="Times New Roman"/>
                <a:cs typeface="Times New Roman"/>
              </a:rPr>
              <a:t> </a:t>
            </a:r>
            <a:r>
              <a:rPr dirty="0" sz="1000">
                <a:latin typeface="Times New Roman"/>
                <a:cs typeface="Times New Roman"/>
              </a:rPr>
              <a:t>[1].</a:t>
            </a:r>
            <a:r>
              <a:rPr dirty="0" sz="1000" spc="270">
                <a:latin typeface="Times New Roman"/>
                <a:cs typeface="Times New Roman"/>
              </a:rPr>
              <a:t> </a:t>
            </a:r>
            <a:r>
              <a:rPr dirty="0" sz="1000">
                <a:latin typeface="Times New Roman"/>
                <a:cs typeface="Times New Roman"/>
              </a:rPr>
              <a:t>That</a:t>
            </a:r>
            <a:r>
              <a:rPr dirty="0" sz="1000" spc="75">
                <a:latin typeface="Times New Roman"/>
                <a:cs typeface="Times New Roman"/>
              </a:rPr>
              <a:t> </a:t>
            </a:r>
            <a:r>
              <a:rPr dirty="0" sz="1000">
                <a:latin typeface="Times New Roman"/>
                <a:cs typeface="Times New Roman"/>
              </a:rPr>
              <a:t>is,</a:t>
            </a:r>
            <a:r>
              <a:rPr dirty="0" sz="1000" spc="90">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output</a:t>
            </a:r>
            <a:r>
              <a:rPr dirty="0" sz="1000" spc="80">
                <a:latin typeface="Times New Roman"/>
                <a:cs typeface="Times New Roman"/>
              </a:rPr>
              <a:t> </a:t>
            </a:r>
            <a:r>
              <a:rPr dirty="0" sz="1000">
                <a:latin typeface="Times New Roman"/>
                <a:cs typeface="Times New Roman"/>
              </a:rPr>
              <a:t>of</a:t>
            </a:r>
            <a:r>
              <a:rPr dirty="0" sz="1000" spc="75">
                <a:latin typeface="Times New Roman"/>
                <a:cs typeface="Times New Roman"/>
              </a:rPr>
              <a:t> </a:t>
            </a:r>
            <a:r>
              <a:rPr dirty="0" sz="1000">
                <a:latin typeface="Times New Roman"/>
                <a:cs typeface="Times New Roman"/>
              </a:rPr>
              <a:t>each</a:t>
            </a:r>
            <a:r>
              <a:rPr dirty="0" sz="1000" spc="75">
                <a:latin typeface="Times New Roman"/>
                <a:cs typeface="Times New Roman"/>
              </a:rPr>
              <a:t> </a:t>
            </a:r>
            <a:r>
              <a:rPr dirty="0" sz="1000">
                <a:latin typeface="Times New Roman"/>
                <a:cs typeface="Times New Roman"/>
              </a:rPr>
              <a:t>sub-layer</a:t>
            </a:r>
            <a:r>
              <a:rPr dirty="0" sz="1000" spc="75">
                <a:latin typeface="Times New Roman"/>
                <a:cs typeface="Times New Roman"/>
              </a:rPr>
              <a:t> </a:t>
            </a:r>
            <a:r>
              <a:rPr dirty="0" sz="1000" spc="-25">
                <a:latin typeface="Times New Roman"/>
                <a:cs typeface="Times New Roman"/>
              </a:rPr>
              <a:t>is </a:t>
            </a:r>
            <a:r>
              <a:rPr dirty="0" sz="1000" spc="45">
                <a:latin typeface="Calibri"/>
                <a:cs typeface="Calibri"/>
              </a:rPr>
              <a:t>LayerNorm(</a:t>
            </a:r>
            <a:r>
              <a:rPr dirty="0" sz="1000" spc="45" i="1">
                <a:latin typeface="Calibri"/>
                <a:cs typeface="Calibri"/>
              </a:rPr>
              <a:t>x</a:t>
            </a:r>
            <a:r>
              <a:rPr dirty="0" sz="1000" spc="120" i="1">
                <a:latin typeface="Calibri"/>
                <a:cs typeface="Calibri"/>
              </a:rPr>
              <a:t> </a:t>
            </a:r>
            <a:r>
              <a:rPr dirty="0" sz="1000" spc="270">
                <a:latin typeface="Calibri"/>
                <a:cs typeface="Calibri"/>
              </a:rPr>
              <a:t>+</a:t>
            </a:r>
            <a:r>
              <a:rPr dirty="0" sz="1000" spc="120">
                <a:latin typeface="Calibri"/>
                <a:cs typeface="Calibri"/>
              </a:rPr>
              <a:t> </a:t>
            </a:r>
            <a:r>
              <a:rPr dirty="0" sz="1000">
                <a:latin typeface="Calibri"/>
                <a:cs typeface="Calibri"/>
              </a:rPr>
              <a:t>Sublayer(</a:t>
            </a:r>
            <a:r>
              <a:rPr dirty="0" sz="1000" i="1">
                <a:latin typeface="Calibri"/>
                <a:cs typeface="Calibri"/>
              </a:rPr>
              <a:t>x</a:t>
            </a:r>
            <a:r>
              <a:rPr dirty="0" sz="1000">
                <a:latin typeface="Calibri"/>
                <a:cs typeface="Calibri"/>
              </a:rPr>
              <a:t>))</a:t>
            </a:r>
            <a:r>
              <a:rPr dirty="0" sz="1000">
                <a:latin typeface="Times New Roman"/>
                <a:cs typeface="Times New Roman"/>
              </a:rPr>
              <a:t>,</a:t>
            </a:r>
            <a:r>
              <a:rPr dirty="0" sz="1000" spc="155">
                <a:latin typeface="Times New Roman"/>
                <a:cs typeface="Times New Roman"/>
              </a:rPr>
              <a:t> </a:t>
            </a:r>
            <a:r>
              <a:rPr dirty="0" sz="1000">
                <a:latin typeface="Times New Roman"/>
                <a:cs typeface="Times New Roman"/>
              </a:rPr>
              <a:t>where</a:t>
            </a:r>
            <a:r>
              <a:rPr dirty="0" sz="1000" spc="145">
                <a:latin typeface="Times New Roman"/>
                <a:cs typeface="Times New Roman"/>
              </a:rPr>
              <a:t> </a:t>
            </a:r>
            <a:r>
              <a:rPr dirty="0" sz="1000">
                <a:latin typeface="Calibri"/>
                <a:cs typeface="Calibri"/>
              </a:rPr>
              <a:t>Sublayer(</a:t>
            </a:r>
            <a:r>
              <a:rPr dirty="0" sz="1000" i="1">
                <a:latin typeface="Calibri"/>
                <a:cs typeface="Calibri"/>
              </a:rPr>
              <a:t>x</a:t>
            </a:r>
            <a:r>
              <a:rPr dirty="0" sz="1000">
                <a:latin typeface="Calibri"/>
                <a:cs typeface="Calibri"/>
              </a:rPr>
              <a:t>)</a:t>
            </a:r>
            <a:r>
              <a:rPr dirty="0" sz="1000" spc="170">
                <a:latin typeface="Calibri"/>
                <a:cs typeface="Calibri"/>
              </a:rPr>
              <a:t> </a:t>
            </a:r>
            <a:r>
              <a:rPr dirty="0" sz="1000">
                <a:latin typeface="Times New Roman"/>
                <a:cs typeface="Times New Roman"/>
              </a:rPr>
              <a:t>is</a:t>
            </a:r>
            <a:r>
              <a:rPr dirty="0" sz="1000" spc="145">
                <a:latin typeface="Times New Roman"/>
                <a:cs typeface="Times New Roman"/>
              </a:rPr>
              <a:t> </a:t>
            </a:r>
            <a:r>
              <a:rPr dirty="0" sz="1000">
                <a:latin typeface="Times New Roman"/>
                <a:cs typeface="Times New Roman"/>
              </a:rPr>
              <a:t>the</a:t>
            </a:r>
            <a:r>
              <a:rPr dirty="0" sz="1000" spc="145">
                <a:latin typeface="Times New Roman"/>
                <a:cs typeface="Times New Roman"/>
              </a:rPr>
              <a:t> </a:t>
            </a:r>
            <a:r>
              <a:rPr dirty="0" sz="1000">
                <a:latin typeface="Times New Roman"/>
                <a:cs typeface="Times New Roman"/>
              </a:rPr>
              <a:t>function</a:t>
            </a:r>
            <a:r>
              <a:rPr dirty="0" sz="1000" spc="145">
                <a:latin typeface="Times New Roman"/>
                <a:cs typeface="Times New Roman"/>
              </a:rPr>
              <a:t> </a:t>
            </a:r>
            <a:r>
              <a:rPr dirty="0" sz="1000">
                <a:latin typeface="Times New Roman"/>
                <a:cs typeface="Times New Roman"/>
              </a:rPr>
              <a:t>implemented</a:t>
            </a:r>
            <a:r>
              <a:rPr dirty="0" sz="1000" spc="145">
                <a:latin typeface="Times New Roman"/>
                <a:cs typeface="Times New Roman"/>
              </a:rPr>
              <a:t> </a:t>
            </a:r>
            <a:r>
              <a:rPr dirty="0" sz="1000">
                <a:latin typeface="Times New Roman"/>
                <a:cs typeface="Times New Roman"/>
              </a:rPr>
              <a:t>by</a:t>
            </a:r>
            <a:r>
              <a:rPr dirty="0" sz="1000" spc="145">
                <a:latin typeface="Times New Roman"/>
                <a:cs typeface="Times New Roman"/>
              </a:rPr>
              <a:t> </a:t>
            </a:r>
            <a:r>
              <a:rPr dirty="0" sz="1000">
                <a:latin typeface="Times New Roman"/>
                <a:cs typeface="Times New Roman"/>
              </a:rPr>
              <a:t>the</a:t>
            </a:r>
            <a:r>
              <a:rPr dirty="0" sz="1000" spc="145">
                <a:latin typeface="Times New Roman"/>
                <a:cs typeface="Times New Roman"/>
              </a:rPr>
              <a:t> </a:t>
            </a:r>
            <a:r>
              <a:rPr dirty="0" sz="1000">
                <a:latin typeface="Times New Roman"/>
                <a:cs typeface="Times New Roman"/>
              </a:rPr>
              <a:t>sub-</a:t>
            </a:r>
            <a:r>
              <a:rPr dirty="0" sz="1000" spc="-10">
                <a:latin typeface="Times New Roman"/>
                <a:cs typeface="Times New Roman"/>
              </a:rPr>
              <a:t>layer </a:t>
            </a:r>
            <a:r>
              <a:rPr dirty="0" sz="1000">
                <a:latin typeface="Times New Roman"/>
                <a:cs typeface="Times New Roman"/>
              </a:rPr>
              <a:t>itself.</a:t>
            </a:r>
            <a:r>
              <a:rPr dirty="0" sz="1000" spc="30">
                <a:latin typeface="Times New Roman"/>
                <a:cs typeface="Times New Roman"/>
              </a:rPr>
              <a:t> </a:t>
            </a:r>
            <a:r>
              <a:rPr dirty="0" sz="1000" spc="-30">
                <a:latin typeface="Times New Roman"/>
                <a:cs typeface="Times New Roman"/>
              </a:rPr>
              <a:t>To</a:t>
            </a:r>
            <a:r>
              <a:rPr dirty="0" sz="1000" spc="-25">
                <a:latin typeface="Times New Roman"/>
                <a:cs typeface="Times New Roman"/>
              </a:rPr>
              <a:t> </a:t>
            </a:r>
            <a:r>
              <a:rPr dirty="0" sz="1000">
                <a:latin typeface="Times New Roman"/>
                <a:cs typeface="Times New Roman"/>
              </a:rPr>
              <a:t>facilitate</a:t>
            </a:r>
            <a:r>
              <a:rPr dirty="0" sz="1000" spc="-25">
                <a:latin typeface="Times New Roman"/>
                <a:cs typeface="Times New Roman"/>
              </a:rPr>
              <a:t> </a:t>
            </a:r>
            <a:r>
              <a:rPr dirty="0" sz="1000">
                <a:latin typeface="Times New Roman"/>
                <a:cs typeface="Times New Roman"/>
              </a:rPr>
              <a:t>these</a:t>
            </a:r>
            <a:r>
              <a:rPr dirty="0" sz="1000" spc="-25">
                <a:latin typeface="Times New Roman"/>
                <a:cs typeface="Times New Roman"/>
              </a:rPr>
              <a:t> </a:t>
            </a:r>
            <a:r>
              <a:rPr dirty="0" sz="1000">
                <a:latin typeface="Times New Roman"/>
                <a:cs typeface="Times New Roman"/>
              </a:rPr>
              <a:t>residual</a:t>
            </a:r>
            <a:r>
              <a:rPr dirty="0" sz="1000" spc="-20">
                <a:latin typeface="Times New Roman"/>
                <a:cs typeface="Times New Roman"/>
              </a:rPr>
              <a:t> </a:t>
            </a:r>
            <a:r>
              <a:rPr dirty="0" sz="1000">
                <a:latin typeface="Times New Roman"/>
                <a:cs typeface="Times New Roman"/>
              </a:rPr>
              <a:t>connections,</a:t>
            </a:r>
            <a:r>
              <a:rPr dirty="0" sz="1000" spc="-25">
                <a:latin typeface="Times New Roman"/>
                <a:cs typeface="Times New Roman"/>
              </a:rPr>
              <a:t> </a:t>
            </a:r>
            <a:r>
              <a:rPr dirty="0" sz="1000">
                <a:latin typeface="Times New Roman"/>
                <a:cs typeface="Times New Roman"/>
              </a:rPr>
              <a:t>all</a:t>
            </a:r>
            <a:r>
              <a:rPr dirty="0" sz="1000" spc="-20">
                <a:latin typeface="Times New Roman"/>
                <a:cs typeface="Times New Roman"/>
              </a:rPr>
              <a:t> </a:t>
            </a:r>
            <a:r>
              <a:rPr dirty="0" sz="1000" spc="-10">
                <a:latin typeface="Times New Roman"/>
                <a:cs typeface="Times New Roman"/>
              </a:rPr>
              <a:t>sub-</a:t>
            </a:r>
            <a:r>
              <a:rPr dirty="0" sz="1000">
                <a:latin typeface="Times New Roman"/>
                <a:cs typeface="Times New Roman"/>
              </a:rPr>
              <a:t>layers</a:t>
            </a:r>
            <a:r>
              <a:rPr dirty="0" sz="1000" spc="-20">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model,</a:t>
            </a:r>
            <a:r>
              <a:rPr dirty="0" sz="1000" spc="-25">
                <a:latin typeface="Times New Roman"/>
                <a:cs typeface="Times New Roman"/>
              </a:rPr>
              <a:t> </a:t>
            </a:r>
            <a:r>
              <a:rPr dirty="0" sz="1000">
                <a:latin typeface="Times New Roman"/>
                <a:cs typeface="Times New Roman"/>
              </a:rPr>
              <a:t>as</a:t>
            </a:r>
            <a:r>
              <a:rPr dirty="0" sz="1000" spc="-20">
                <a:latin typeface="Times New Roman"/>
                <a:cs typeface="Times New Roman"/>
              </a:rPr>
              <a:t> </a:t>
            </a:r>
            <a:r>
              <a:rPr dirty="0" sz="1000">
                <a:latin typeface="Times New Roman"/>
                <a:cs typeface="Times New Roman"/>
              </a:rPr>
              <a:t>well</a:t>
            </a:r>
            <a:r>
              <a:rPr dirty="0" sz="1000" spc="-25">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10">
                <a:latin typeface="Times New Roman"/>
                <a:cs typeface="Times New Roman"/>
              </a:rPr>
              <a:t>embedding </a:t>
            </a:r>
            <a:r>
              <a:rPr dirty="0" sz="1000">
                <a:latin typeface="Times New Roman"/>
                <a:cs typeface="Times New Roman"/>
              </a:rPr>
              <a:t>layers,</a:t>
            </a:r>
            <a:r>
              <a:rPr dirty="0" sz="1000" spc="-30">
                <a:latin typeface="Times New Roman"/>
                <a:cs typeface="Times New Roman"/>
              </a:rPr>
              <a:t> </a:t>
            </a:r>
            <a:r>
              <a:rPr dirty="0" sz="1000">
                <a:latin typeface="Times New Roman"/>
                <a:cs typeface="Times New Roman"/>
              </a:rPr>
              <a:t>produce</a:t>
            </a:r>
            <a:r>
              <a:rPr dirty="0" sz="1000" spc="-30">
                <a:latin typeface="Times New Roman"/>
                <a:cs typeface="Times New Roman"/>
              </a:rPr>
              <a:t> </a:t>
            </a:r>
            <a:r>
              <a:rPr dirty="0" sz="1000">
                <a:latin typeface="Times New Roman"/>
                <a:cs typeface="Times New Roman"/>
              </a:rPr>
              <a:t>outputs</a:t>
            </a:r>
            <a:r>
              <a:rPr dirty="0" sz="1000" spc="-2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dimension</a:t>
            </a:r>
            <a:r>
              <a:rPr dirty="0" sz="1000" spc="-25">
                <a:latin typeface="Times New Roman"/>
                <a:cs typeface="Times New Roman"/>
              </a:rPr>
              <a:t> </a:t>
            </a:r>
            <a:r>
              <a:rPr dirty="0" sz="1000" i="1">
                <a:latin typeface="Calibri"/>
                <a:cs typeface="Calibri"/>
              </a:rPr>
              <a:t>d</a:t>
            </a:r>
            <a:r>
              <a:rPr dirty="0" baseline="-11904" sz="1050">
                <a:latin typeface="Times New Roman"/>
                <a:cs typeface="Times New Roman"/>
              </a:rPr>
              <a:t>model</a:t>
            </a:r>
            <a:r>
              <a:rPr dirty="0" baseline="-11904" sz="1050" spc="179">
                <a:latin typeface="Times New Roman"/>
                <a:cs typeface="Times New Roman"/>
              </a:rPr>
              <a:t> </a:t>
            </a:r>
            <a:r>
              <a:rPr dirty="0" sz="1000" spc="270">
                <a:latin typeface="Calibri"/>
                <a:cs typeface="Calibri"/>
              </a:rPr>
              <a:t>=</a:t>
            </a:r>
            <a:r>
              <a:rPr dirty="0" sz="1000" spc="25">
                <a:latin typeface="Calibri"/>
                <a:cs typeface="Calibri"/>
              </a:rPr>
              <a:t> </a:t>
            </a:r>
            <a:r>
              <a:rPr dirty="0" sz="1000" spc="-20">
                <a:latin typeface="Calibri"/>
                <a:cs typeface="Calibri"/>
              </a:rPr>
              <a:t>512</a:t>
            </a:r>
            <a:r>
              <a:rPr dirty="0" sz="1000" spc="-20">
                <a:latin typeface="Times New Roman"/>
                <a:cs typeface="Times New Roman"/>
              </a:rPr>
              <a:t>.</a:t>
            </a:r>
            <a:endParaRPr sz="1000">
              <a:latin typeface="Times New Roman"/>
              <a:cs typeface="Times New Roman"/>
            </a:endParaRPr>
          </a:p>
          <a:p>
            <a:pPr>
              <a:lnSpc>
                <a:spcPct val="100000"/>
              </a:lnSpc>
              <a:spcBef>
                <a:spcPts val="365"/>
              </a:spcBef>
            </a:pPr>
            <a:endParaRPr sz="1000">
              <a:latin typeface="Times New Roman"/>
              <a:cs typeface="Times New Roman"/>
            </a:endParaRPr>
          </a:p>
          <a:p>
            <a:pPr algn="just" marL="93345" marR="83185">
              <a:lnSpc>
                <a:spcPts val="1090"/>
              </a:lnSpc>
            </a:pPr>
            <a:r>
              <a:rPr dirty="0" sz="1000" b="1">
                <a:latin typeface="Times New Roman"/>
                <a:cs typeface="Times New Roman"/>
              </a:rPr>
              <a:t>Decoder:</a:t>
            </a:r>
            <a:r>
              <a:rPr dirty="0" sz="1000" spc="215" b="1">
                <a:latin typeface="Times New Roman"/>
                <a:cs typeface="Times New Roman"/>
              </a:rPr>
              <a:t>  </a:t>
            </a:r>
            <a:r>
              <a:rPr dirty="0" sz="1000" spc="-10">
                <a:latin typeface="Times New Roman"/>
                <a:cs typeface="Times New Roman"/>
              </a:rPr>
              <a:t>The</a:t>
            </a:r>
            <a:r>
              <a:rPr dirty="0" sz="1000" spc="-35">
                <a:latin typeface="Times New Roman"/>
                <a:cs typeface="Times New Roman"/>
              </a:rPr>
              <a:t> </a:t>
            </a:r>
            <a:r>
              <a:rPr dirty="0" sz="1000" spc="-20">
                <a:latin typeface="Times New Roman"/>
                <a:cs typeface="Times New Roman"/>
              </a:rPr>
              <a:t>decoder</a:t>
            </a:r>
            <a:r>
              <a:rPr dirty="0" sz="1000" spc="-35">
                <a:latin typeface="Times New Roman"/>
                <a:cs typeface="Times New Roman"/>
              </a:rPr>
              <a:t> </a:t>
            </a:r>
            <a:r>
              <a:rPr dirty="0" sz="1000">
                <a:latin typeface="Times New Roman"/>
                <a:cs typeface="Times New Roman"/>
              </a:rPr>
              <a:t>is</a:t>
            </a:r>
            <a:r>
              <a:rPr dirty="0" sz="1000" spc="-35">
                <a:latin typeface="Times New Roman"/>
                <a:cs typeface="Times New Roman"/>
              </a:rPr>
              <a:t> </a:t>
            </a:r>
            <a:r>
              <a:rPr dirty="0" sz="1000" spc="-10">
                <a:latin typeface="Times New Roman"/>
                <a:cs typeface="Times New Roman"/>
              </a:rPr>
              <a:t>also</a:t>
            </a:r>
            <a:r>
              <a:rPr dirty="0" sz="1000" spc="-35">
                <a:latin typeface="Times New Roman"/>
                <a:cs typeface="Times New Roman"/>
              </a:rPr>
              <a:t> </a:t>
            </a:r>
            <a:r>
              <a:rPr dirty="0" sz="1000" spc="-20">
                <a:latin typeface="Times New Roman"/>
                <a:cs typeface="Times New Roman"/>
              </a:rPr>
              <a:t>composed</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a</a:t>
            </a:r>
            <a:r>
              <a:rPr dirty="0" sz="1000" spc="-35">
                <a:latin typeface="Times New Roman"/>
                <a:cs typeface="Times New Roman"/>
              </a:rPr>
              <a:t> </a:t>
            </a:r>
            <a:r>
              <a:rPr dirty="0" sz="1000" spc="-10">
                <a:latin typeface="Times New Roman"/>
                <a:cs typeface="Times New Roman"/>
              </a:rPr>
              <a:t>stack</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spc="145" i="1">
                <a:latin typeface="Calibri"/>
                <a:cs typeface="Calibri"/>
              </a:rPr>
              <a:t>N</a:t>
            </a:r>
            <a:r>
              <a:rPr dirty="0" sz="1000" spc="130" i="1">
                <a:latin typeface="Calibri"/>
                <a:cs typeface="Calibri"/>
              </a:rPr>
              <a:t> </a:t>
            </a:r>
            <a:r>
              <a:rPr dirty="0" sz="1000" spc="270">
                <a:latin typeface="Calibri"/>
                <a:cs typeface="Calibri"/>
              </a:rPr>
              <a:t>=</a:t>
            </a:r>
            <a:r>
              <a:rPr dirty="0" sz="1000" spc="35">
                <a:latin typeface="Calibri"/>
                <a:cs typeface="Calibri"/>
              </a:rPr>
              <a:t> </a:t>
            </a:r>
            <a:r>
              <a:rPr dirty="0" sz="1000">
                <a:latin typeface="Calibri"/>
                <a:cs typeface="Calibri"/>
              </a:rPr>
              <a:t>6</a:t>
            </a:r>
            <a:r>
              <a:rPr dirty="0" sz="1000" spc="-10">
                <a:latin typeface="Calibri"/>
                <a:cs typeface="Calibri"/>
              </a:rPr>
              <a:t> </a:t>
            </a:r>
            <a:r>
              <a:rPr dirty="0" sz="1000" spc="-10">
                <a:latin typeface="Times New Roman"/>
                <a:cs typeface="Times New Roman"/>
              </a:rPr>
              <a:t>identical</a:t>
            </a:r>
            <a:r>
              <a:rPr dirty="0" sz="1000" spc="-35">
                <a:latin typeface="Times New Roman"/>
                <a:cs typeface="Times New Roman"/>
              </a:rPr>
              <a:t> </a:t>
            </a:r>
            <a:r>
              <a:rPr dirty="0" sz="1000">
                <a:latin typeface="Times New Roman"/>
                <a:cs typeface="Times New Roman"/>
              </a:rPr>
              <a:t>layers.</a:t>
            </a:r>
            <a:r>
              <a:rPr dirty="0" sz="1000" spc="30">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spc="-10">
                <a:latin typeface="Times New Roman"/>
                <a:cs typeface="Times New Roman"/>
              </a:rPr>
              <a:t>addition</a:t>
            </a:r>
            <a:r>
              <a:rPr dirty="0" sz="1000" spc="-35">
                <a:latin typeface="Times New Roman"/>
                <a:cs typeface="Times New Roman"/>
              </a:rPr>
              <a:t> </a:t>
            </a:r>
            <a:r>
              <a:rPr dirty="0" sz="1000">
                <a:latin typeface="Times New Roman"/>
                <a:cs typeface="Times New Roman"/>
              </a:rPr>
              <a:t>to</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spc="-25">
                <a:latin typeface="Times New Roman"/>
                <a:cs typeface="Times New Roman"/>
              </a:rPr>
              <a:t>two </a:t>
            </a:r>
            <a:r>
              <a:rPr dirty="0" sz="1000">
                <a:latin typeface="Times New Roman"/>
                <a:cs typeface="Times New Roman"/>
              </a:rPr>
              <a:t>sub-layers</a:t>
            </a:r>
            <a:r>
              <a:rPr dirty="0" sz="1000" spc="10">
                <a:latin typeface="Times New Roman"/>
                <a:cs typeface="Times New Roman"/>
              </a:rPr>
              <a:t> </a:t>
            </a:r>
            <a:r>
              <a:rPr dirty="0" sz="1000">
                <a:latin typeface="Times New Roman"/>
                <a:cs typeface="Times New Roman"/>
              </a:rPr>
              <a:t>in</a:t>
            </a:r>
            <a:r>
              <a:rPr dirty="0" sz="1000" spc="10">
                <a:latin typeface="Times New Roman"/>
                <a:cs typeface="Times New Roman"/>
              </a:rPr>
              <a:t> </a:t>
            </a:r>
            <a:r>
              <a:rPr dirty="0" sz="1000">
                <a:latin typeface="Times New Roman"/>
                <a:cs typeface="Times New Roman"/>
              </a:rPr>
              <a:t>each</a:t>
            </a:r>
            <a:r>
              <a:rPr dirty="0" sz="1000" spc="15">
                <a:latin typeface="Times New Roman"/>
                <a:cs typeface="Times New Roman"/>
              </a:rPr>
              <a:t> </a:t>
            </a:r>
            <a:r>
              <a:rPr dirty="0" sz="1000">
                <a:latin typeface="Times New Roman"/>
                <a:cs typeface="Times New Roman"/>
              </a:rPr>
              <a:t>encoder</a:t>
            </a:r>
            <a:r>
              <a:rPr dirty="0" sz="1000" spc="10">
                <a:latin typeface="Times New Roman"/>
                <a:cs typeface="Times New Roman"/>
              </a:rPr>
              <a:t> </a:t>
            </a:r>
            <a:r>
              <a:rPr dirty="0" sz="1000">
                <a:latin typeface="Times New Roman"/>
                <a:cs typeface="Times New Roman"/>
              </a:rPr>
              <a:t>layer,</a:t>
            </a:r>
            <a:r>
              <a:rPr dirty="0" sz="1000" spc="15">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decoder</a:t>
            </a:r>
            <a:r>
              <a:rPr dirty="0" sz="1000" spc="15">
                <a:latin typeface="Times New Roman"/>
                <a:cs typeface="Times New Roman"/>
              </a:rPr>
              <a:t> </a:t>
            </a:r>
            <a:r>
              <a:rPr dirty="0" sz="1000">
                <a:latin typeface="Times New Roman"/>
                <a:cs typeface="Times New Roman"/>
              </a:rPr>
              <a:t>inserts</a:t>
            </a:r>
            <a:r>
              <a:rPr dirty="0" sz="1000" spc="10">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a:latin typeface="Times New Roman"/>
                <a:cs typeface="Times New Roman"/>
              </a:rPr>
              <a:t>third</a:t>
            </a:r>
            <a:r>
              <a:rPr dirty="0" sz="1000" spc="10">
                <a:latin typeface="Times New Roman"/>
                <a:cs typeface="Times New Roman"/>
              </a:rPr>
              <a:t> </a:t>
            </a:r>
            <a:r>
              <a:rPr dirty="0" sz="1000">
                <a:latin typeface="Times New Roman"/>
                <a:cs typeface="Times New Roman"/>
              </a:rPr>
              <a:t>sub-layer,</a:t>
            </a:r>
            <a:r>
              <a:rPr dirty="0" sz="1000" spc="15">
                <a:latin typeface="Times New Roman"/>
                <a:cs typeface="Times New Roman"/>
              </a:rPr>
              <a:t> </a:t>
            </a:r>
            <a:r>
              <a:rPr dirty="0" sz="1000">
                <a:latin typeface="Times New Roman"/>
                <a:cs typeface="Times New Roman"/>
              </a:rPr>
              <a:t>which</a:t>
            </a:r>
            <a:r>
              <a:rPr dirty="0" sz="1000" spc="10">
                <a:latin typeface="Times New Roman"/>
                <a:cs typeface="Times New Roman"/>
              </a:rPr>
              <a:t> </a:t>
            </a:r>
            <a:r>
              <a:rPr dirty="0" sz="1000">
                <a:latin typeface="Times New Roman"/>
                <a:cs typeface="Times New Roman"/>
              </a:rPr>
              <a:t>performs</a:t>
            </a:r>
            <a:r>
              <a:rPr dirty="0" sz="1000" spc="15">
                <a:latin typeface="Times New Roman"/>
                <a:cs typeface="Times New Roman"/>
              </a:rPr>
              <a:t> </a:t>
            </a:r>
            <a:r>
              <a:rPr dirty="0" sz="1000">
                <a:latin typeface="Times New Roman"/>
                <a:cs typeface="Times New Roman"/>
              </a:rPr>
              <a:t>multi-</a:t>
            </a:r>
            <a:r>
              <a:rPr dirty="0" sz="1000" spc="-20">
                <a:latin typeface="Times New Roman"/>
                <a:cs typeface="Times New Roman"/>
              </a:rPr>
              <a:t>head </a:t>
            </a:r>
            <a:r>
              <a:rPr dirty="0" sz="1000" spc="-10">
                <a:latin typeface="Times New Roman"/>
                <a:cs typeface="Times New Roman"/>
              </a:rPr>
              <a:t>attention</a:t>
            </a:r>
            <a:r>
              <a:rPr dirty="0" sz="1000" spc="-45">
                <a:latin typeface="Times New Roman"/>
                <a:cs typeface="Times New Roman"/>
              </a:rPr>
              <a:t> </a:t>
            </a:r>
            <a:r>
              <a:rPr dirty="0" sz="1000" spc="-20">
                <a:latin typeface="Times New Roman"/>
                <a:cs typeface="Times New Roman"/>
              </a:rPr>
              <a:t>over</a:t>
            </a:r>
            <a:r>
              <a:rPr dirty="0" sz="1000" spc="-45">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spc="-10">
                <a:latin typeface="Times New Roman"/>
                <a:cs typeface="Times New Roman"/>
              </a:rPr>
              <a:t>output</a:t>
            </a:r>
            <a:r>
              <a:rPr dirty="0" sz="1000" spc="-45">
                <a:latin typeface="Times New Roman"/>
                <a:cs typeface="Times New Roman"/>
              </a:rPr>
              <a:t> </a:t>
            </a:r>
            <a:r>
              <a:rPr dirty="0" sz="1000">
                <a:latin typeface="Times New Roman"/>
                <a:cs typeface="Times New Roman"/>
              </a:rPr>
              <a:t>of</a:t>
            </a:r>
            <a:r>
              <a:rPr dirty="0" sz="1000" spc="-4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spc="-20">
                <a:latin typeface="Times New Roman"/>
                <a:cs typeface="Times New Roman"/>
              </a:rPr>
              <a:t>encoder</a:t>
            </a:r>
            <a:r>
              <a:rPr dirty="0" sz="1000" spc="-40">
                <a:latin typeface="Times New Roman"/>
                <a:cs typeface="Times New Roman"/>
              </a:rPr>
              <a:t> </a:t>
            </a:r>
            <a:r>
              <a:rPr dirty="0" sz="1000">
                <a:latin typeface="Times New Roman"/>
                <a:cs typeface="Times New Roman"/>
              </a:rPr>
              <a:t>stack.</a:t>
            </a:r>
            <a:r>
              <a:rPr dirty="0" sz="1000" spc="25">
                <a:latin typeface="Times New Roman"/>
                <a:cs typeface="Times New Roman"/>
              </a:rPr>
              <a:t> </a:t>
            </a:r>
            <a:r>
              <a:rPr dirty="0" sz="1000" spc="-10">
                <a:latin typeface="Times New Roman"/>
                <a:cs typeface="Times New Roman"/>
              </a:rPr>
              <a:t>Similar</a:t>
            </a:r>
            <a:r>
              <a:rPr dirty="0" sz="1000" spc="-45">
                <a:latin typeface="Times New Roman"/>
                <a:cs typeface="Times New Roman"/>
              </a:rPr>
              <a:t> </a:t>
            </a:r>
            <a:r>
              <a:rPr dirty="0" sz="1000">
                <a:latin typeface="Times New Roman"/>
                <a:cs typeface="Times New Roman"/>
              </a:rPr>
              <a:t>to</a:t>
            </a:r>
            <a:r>
              <a:rPr dirty="0" sz="1000" spc="-4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spc="-25">
                <a:latin typeface="Times New Roman"/>
                <a:cs typeface="Times New Roman"/>
              </a:rPr>
              <a:t>encoder,</a:t>
            </a:r>
            <a:r>
              <a:rPr dirty="0" sz="1000" spc="-35">
                <a:latin typeface="Times New Roman"/>
                <a:cs typeface="Times New Roman"/>
              </a:rPr>
              <a:t> </a:t>
            </a:r>
            <a:r>
              <a:rPr dirty="0" sz="1000" spc="-10">
                <a:latin typeface="Times New Roman"/>
                <a:cs typeface="Times New Roman"/>
              </a:rPr>
              <a:t>we</a:t>
            </a:r>
            <a:r>
              <a:rPr dirty="0" sz="1000" spc="-45">
                <a:latin typeface="Times New Roman"/>
                <a:cs typeface="Times New Roman"/>
              </a:rPr>
              <a:t> </a:t>
            </a:r>
            <a:r>
              <a:rPr dirty="0" sz="1000" spc="-20">
                <a:latin typeface="Times New Roman"/>
                <a:cs typeface="Times New Roman"/>
              </a:rPr>
              <a:t>employ</a:t>
            </a:r>
            <a:r>
              <a:rPr dirty="0" sz="1000" spc="-40">
                <a:latin typeface="Times New Roman"/>
                <a:cs typeface="Times New Roman"/>
              </a:rPr>
              <a:t> </a:t>
            </a:r>
            <a:r>
              <a:rPr dirty="0" sz="1000" spc="-10">
                <a:latin typeface="Times New Roman"/>
                <a:cs typeface="Times New Roman"/>
              </a:rPr>
              <a:t>residual</a:t>
            </a:r>
            <a:r>
              <a:rPr dirty="0" sz="1000" spc="-45">
                <a:latin typeface="Times New Roman"/>
                <a:cs typeface="Times New Roman"/>
              </a:rPr>
              <a:t> </a:t>
            </a:r>
            <a:r>
              <a:rPr dirty="0" sz="1000" spc="-10">
                <a:latin typeface="Times New Roman"/>
                <a:cs typeface="Times New Roman"/>
              </a:rPr>
              <a:t>connections </a:t>
            </a:r>
            <a:r>
              <a:rPr dirty="0" sz="1000">
                <a:latin typeface="Times New Roman"/>
                <a:cs typeface="Times New Roman"/>
              </a:rPr>
              <a:t>around</a:t>
            </a:r>
            <a:r>
              <a:rPr dirty="0" sz="1000" spc="15">
                <a:latin typeface="Times New Roman"/>
                <a:cs typeface="Times New Roman"/>
              </a:rPr>
              <a:t> </a:t>
            </a:r>
            <a:r>
              <a:rPr dirty="0" sz="1000">
                <a:latin typeface="Times New Roman"/>
                <a:cs typeface="Times New Roman"/>
              </a:rPr>
              <a:t>each</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sub-layers,</a:t>
            </a:r>
            <a:r>
              <a:rPr dirty="0" sz="1000" spc="15">
                <a:latin typeface="Times New Roman"/>
                <a:cs typeface="Times New Roman"/>
              </a:rPr>
              <a:t> </a:t>
            </a:r>
            <a:r>
              <a:rPr dirty="0" sz="1000">
                <a:latin typeface="Times New Roman"/>
                <a:cs typeface="Times New Roman"/>
              </a:rPr>
              <a:t>followed</a:t>
            </a:r>
            <a:r>
              <a:rPr dirty="0" sz="1000" spc="15">
                <a:latin typeface="Times New Roman"/>
                <a:cs typeface="Times New Roman"/>
              </a:rPr>
              <a:t> </a:t>
            </a:r>
            <a:r>
              <a:rPr dirty="0" sz="1000">
                <a:latin typeface="Times New Roman"/>
                <a:cs typeface="Times New Roman"/>
              </a:rPr>
              <a:t>by</a:t>
            </a:r>
            <a:r>
              <a:rPr dirty="0" sz="1000" spc="15">
                <a:latin typeface="Times New Roman"/>
                <a:cs typeface="Times New Roman"/>
              </a:rPr>
              <a:t> </a:t>
            </a:r>
            <a:r>
              <a:rPr dirty="0" sz="1000">
                <a:latin typeface="Times New Roman"/>
                <a:cs typeface="Times New Roman"/>
              </a:rPr>
              <a:t>layer</a:t>
            </a:r>
            <a:r>
              <a:rPr dirty="0" sz="1000" spc="15">
                <a:latin typeface="Times New Roman"/>
                <a:cs typeface="Times New Roman"/>
              </a:rPr>
              <a:t> </a:t>
            </a:r>
            <a:r>
              <a:rPr dirty="0" sz="1000">
                <a:latin typeface="Times New Roman"/>
                <a:cs typeface="Times New Roman"/>
              </a:rPr>
              <a:t>normalization.</a:t>
            </a:r>
            <a:r>
              <a:rPr dirty="0" sz="1000" spc="90">
                <a:latin typeface="Times New Roman"/>
                <a:cs typeface="Times New Roman"/>
              </a:rPr>
              <a:t> </a:t>
            </a:r>
            <a:r>
              <a:rPr dirty="0" sz="1000" spc="-20">
                <a:latin typeface="Times New Roman"/>
                <a:cs typeface="Times New Roman"/>
              </a:rPr>
              <a:t>We</a:t>
            </a:r>
            <a:r>
              <a:rPr dirty="0" sz="1000" spc="15">
                <a:latin typeface="Times New Roman"/>
                <a:cs typeface="Times New Roman"/>
              </a:rPr>
              <a:t> </a:t>
            </a:r>
            <a:r>
              <a:rPr dirty="0" sz="1000">
                <a:latin typeface="Times New Roman"/>
                <a:cs typeface="Times New Roman"/>
              </a:rPr>
              <a:t>also</a:t>
            </a:r>
            <a:r>
              <a:rPr dirty="0" sz="1000" spc="20">
                <a:latin typeface="Times New Roman"/>
                <a:cs typeface="Times New Roman"/>
              </a:rPr>
              <a:t> </a:t>
            </a:r>
            <a:r>
              <a:rPr dirty="0" sz="1000">
                <a:latin typeface="Times New Roman"/>
                <a:cs typeface="Times New Roman"/>
              </a:rPr>
              <a:t>modify</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self-</a:t>
            </a:r>
            <a:r>
              <a:rPr dirty="0" sz="1000" spc="-10">
                <a:latin typeface="Times New Roman"/>
                <a:cs typeface="Times New Roman"/>
              </a:rPr>
              <a:t>attention </a:t>
            </a:r>
            <a:r>
              <a:rPr dirty="0" sz="1000">
                <a:latin typeface="Times New Roman"/>
                <a:cs typeface="Times New Roman"/>
              </a:rPr>
              <a:t>sub-layer</a:t>
            </a:r>
            <a:r>
              <a:rPr dirty="0" sz="1000" spc="70">
                <a:latin typeface="Times New Roman"/>
                <a:cs typeface="Times New Roman"/>
              </a:rPr>
              <a:t> </a:t>
            </a:r>
            <a:r>
              <a:rPr dirty="0" sz="1000">
                <a:latin typeface="Times New Roman"/>
                <a:cs typeface="Times New Roman"/>
              </a:rPr>
              <a:t>in</a:t>
            </a:r>
            <a:r>
              <a:rPr dirty="0" sz="1000" spc="80">
                <a:latin typeface="Times New Roman"/>
                <a:cs typeface="Times New Roman"/>
              </a:rPr>
              <a:t> </a:t>
            </a:r>
            <a:r>
              <a:rPr dirty="0" sz="1000">
                <a:latin typeface="Times New Roman"/>
                <a:cs typeface="Times New Roman"/>
              </a:rPr>
              <a:t>the</a:t>
            </a:r>
            <a:r>
              <a:rPr dirty="0" sz="1000" spc="75">
                <a:latin typeface="Times New Roman"/>
                <a:cs typeface="Times New Roman"/>
              </a:rPr>
              <a:t> </a:t>
            </a:r>
            <a:r>
              <a:rPr dirty="0" sz="1000">
                <a:latin typeface="Times New Roman"/>
                <a:cs typeface="Times New Roman"/>
              </a:rPr>
              <a:t>decoder</a:t>
            </a:r>
            <a:r>
              <a:rPr dirty="0" sz="1000" spc="80">
                <a:latin typeface="Times New Roman"/>
                <a:cs typeface="Times New Roman"/>
              </a:rPr>
              <a:t> </a:t>
            </a:r>
            <a:r>
              <a:rPr dirty="0" sz="1000">
                <a:latin typeface="Times New Roman"/>
                <a:cs typeface="Times New Roman"/>
              </a:rPr>
              <a:t>stack</a:t>
            </a:r>
            <a:r>
              <a:rPr dirty="0" sz="1000" spc="75">
                <a:latin typeface="Times New Roman"/>
                <a:cs typeface="Times New Roman"/>
              </a:rPr>
              <a:t> </a:t>
            </a:r>
            <a:r>
              <a:rPr dirty="0" sz="1000">
                <a:latin typeface="Times New Roman"/>
                <a:cs typeface="Times New Roman"/>
              </a:rPr>
              <a:t>to</a:t>
            </a:r>
            <a:r>
              <a:rPr dirty="0" sz="1000" spc="80">
                <a:latin typeface="Times New Roman"/>
                <a:cs typeface="Times New Roman"/>
              </a:rPr>
              <a:t> </a:t>
            </a:r>
            <a:r>
              <a:rPr dirty="0" sz="1000">
                <a:latin typeface="Times New Roman"/>
                <a:cs typeface="Times New Roman"/>
              </a:rPr>
              <a:t>prevent</a:t>
            </a:r>
            <a:r>
              <a:rPr dirty="0" sz="1000" spc="75">
                <a:latin typeface="Times New Roman"/>
                <a:cs typeface="Times New Roman"/>
              </a:rPr>
              <a:t> </a:t>
            </a:r>
            <a:r>
              <a:rPr dirty="0" sz="1000">
                <a:latin typeface="Times New Roman"/>
                <a:cs typeface="Times New Roman"/>
              </a:rPr>
              <a:t>positions</a:t>
            </a:r>
            <a:r>
              <a:rPr dirty="0" sz="1000" spc="75">
                <a:latin typeface="Times New Roman"/>
                <a:cs typeface="Times New Roman"/>
              </a:rPr>
              <a:t> </a:t>
            </a:r>
            <a:r>
              <a:rPr dirty="0" sz="1000">
                <a:latin typeface="Times New Roman"/>
                <a:cs typeface="Times New Roman"/>
              </a:rPr>
              <a:t>from</a:t>
            </a:r>
            <a:r>
              <a:rPr dirty="0" sz="1000" spc="80">
                <a:latin typeface="Times New Roman"/>
                <a:cs typeface="Times New Roman"/>
              </a:rPr>
              <a:t> </a:t>
            </a:r>
            <a:r>
              <a:rPr dirty="0" sz="1000">
                <a:latin typeface="Times New Roman"/>
                <a:cs typeface="Times New Roman"/>
              </a:rPr>
              <a:t>attending</a:t>
            </a:r>
            <a:r>
              <a:rPr dirty="0" sz="1000" spc="70">
                <a:latin typeface="Times New Roman"/>
                <a:cs typeface="Times New Roman"/>
              </a:rPr>
              <a:t> </a:t>
            </a:r>
            <a:r>
              <a:rPr dirty="0" sz="1000">
                <a:latin typeface="Times New Roman"/>
                <a:cs typeface="Times New Roman"/>
              </a:rPr>
              <a:t>to</a:t>
            </a:r>
            <a:r>
              <a:rPr dirty="0" sz="1000" spc="80">
                <a:latin typeface="Times New Roman"/>
                <a:cs typeface="Times New Roman"/>
              </a:rPr>
              <a:t> </a:t>
            </a:r>
            <a:r>
              <a:rPr dirty="0" sz="1000">
                <a:latin typeface="Times New Roman"/>
                <a:cs typeface="Times New Roman"/>
              </a:rPr>
              <a:t>subsequent</a:t>
            </a:r>
            <a:r>
              <a:rPr dirty="0" sz="1000" spc="75">
                <a:latin typeface="Times New Roman"/>
                <a:cs typeface="Times New Roman"/>
              </a:rPr>
              <a:t> </a:t>
            </a:r>
            <a:r>
              <a:rPr dirty="0" sz="1000">
                <a:latin typeface="Times New Roman"/>
                <a:cs typeface="Times New Roman"/>
              </a:rPr>
              <a:t>positions.</a:t>
            </a:r>
            <a:r>
              <a:rPr dirty="0" sz="1000" spc="270">
                <a:latin typeface="Times New Roman"/>
                <a:cs typeface="Times New Roman"/>
              </a:rPr>
              <a:t> </a:t>
            </a:r>
            <a:r>
              <a:rPr dirty="0" sz="1000" spc="-20">
                <a:latin typeface="Times New Roman"/>
                <a:cs typeface="Times New Roman"/>
              </a:rPr>
              <a:t>This </a:t>
            </a:r>
            <a:r>
              <a:rPr dirty="0" sz="1000">
                <a:latin typeface="Times New Roman"/>
                <a:cs typeface="Times New Roman"/>
              </a:rPr>
              <a:t>masking,</a:t>
            </a:r>
            <a:r>
              <a:rPr dirty="0" sz="1000" spc="-35">
                <a:latin typeface="Times New Roman"/>
                <a:cs typeface="Times New Roman"/>
              </a:rPr>
              <a:t> </a:t>
            </a:r>
            <a:r>
              <a:rPr dirty="0" sz="1000">
                <a:latin typeface="Times New Roman"/>
                <a:cs typeface="Times New Roman"/>
              </a:rPr>
              <a:t>combined</a:t>
            </a:r>
            <a:r>
              <a:rPr dirty="0" sz="1000" spc="-30">
                <a:latin typeface="Times New Roman"/>
                <a:cs typeface="Times New Roman"/>
              </a:rPr>
              <a:t> </a:t>
            </a:r>
            <a:r>
              <a:rPr dirty="0" sz="1000">
                <a:latin typeface="Times New Roman"/>
                <a:cs typeface="Times New Roman"/>
              </a:rPr>
              <a:t>with</a:t>
            </a:r>
            <a:r>
              <a:rPr dirty="0" sz="1000" spc="-30">
                <a:latin typeface="Times New Roman"/>
                <a:cs typeface="Times New Roman"/>
              </a:rPr>
              <a:t> </a:t>
            </a:r>
            <a:r>
              <a:rPr dirty="0" sz="1000">
                <a:latin typeface="Times New Roman"/>
                <a:cs typeface="Times New Roman"/>
              </a:rPr>
              <a:t>fact</a:t>
            </a:r>
            <a:r>
              <a:rPr dirty="0" sz="1000" spc="-30">
                <a:latin typeface="Times New Roman"/>
                <a:cs typeface="Times New Roman"/>
              </a:rPr>
              <a:t> </a:t>
            </a:r>
            <a:r>
              <a:rPr dirty="0" sz="1000">
                <a:latin typeface="Times New Roman"/>
                <a:cs typeface="Times New Roman"/>
              </a:rPr>
              <a:t>that</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output</a:t>
            </a:r>
            <a:r>
              <a:rPr dirty="0" sz="1000" spc="-30">
                <a:latin typeface="Times New Roman"/>
                <a:cs typeface="Times New Roman"/>
              </a:rPr>
              <a:t> </a:t>
            </a:r>
            <a:r>
              <a:rPr dirty="0" sz="1000">
                <a:latin typeface="Times New Roman"/>
                <a:cs typeface="Times New Roman"/>
              </a:rPr>
              <a:t>embeddings</a:t>
            </a:r>
            <a:r>
              <a:rPr dirty="0" sz="1000" spc="-30">
                <a:latin typeface="Times New Roman"/>
                <a:cs typeface="Times New Roman"/>
              </a:rPr>
              <a:t> </a:t>
            </a:r>
            <a:r>
              <a:rPr dirty="0" sz="1000">
                <a:latin typeface="Times New Roman"/>
                <a:cs typeface="Times New Roman"/>
              </a:rPr>
              <a:t>are</a:t>
            </a:r>
            <a:r>
              <a:rPr dirty="0" sz="1000" spc="-30">
                <a:latin typeface="Times New Roman"/>
                <a:cs typeface="Times New Roman"/>
              </a:rPr>
              <a:t> </a:t>
            </a:r>
            <a:r>
              <a:rPr dirty="0" sz="1000">
                <a:latin typeface="Times New Roman"/>
                <a:cs typeface="Times New Roman"/>
              </a:rPr>
              <a:t>offset</a:t>
            </a:r>
            <a:r>
              <a:rPr dirty="0" sz="1000" spc="-30">
                <a:latin typeface="Times New Roman"/>
                <a:cs typeface="Times New Roman"/>
              </a:rPr>
              <a:t> </a:t>
            </a:r>
            <a:r>
              <a:rPr dirty="0" sz="1000">
                <a:latin typeface="Times New Roman"/>
                <a:cs typeface="Times New Roman"/>
              </a:rPr>
              <a:t>by</a:t>
            </a:r>
            <a:r>
              <a:rPr dirty="0" sz="1000" spc="-30">
                <a:latin typeface="Times New Roman"/>
                <a:cs typeface="Times New Roman"/>
              </a:rPr>
              <a:t> </a:t>
            </a:r>
            <a:r>
              <a:rPr dirty="0" sz="1000">
                <a:latin typeface="Times New Roman"/>
                <a:cs typeface="Times New Roman"/>
              </a:rPr>
              <a:t>one</a:t>
            </a:r>
            <a:r>
              <a:rPr dirty="0" sz="1000" spc="-30">
                <a:latin typeface="Times New Roman"/>
                <a:cs typeface="Times New Roman"/>
              </a:rPr>
              <a:t> </a:t>
            </a:r>
            <a:r>
              <a:rPr dirty="0" sz="1000">
                <a:latin typeface="Times New Roman"/>
                <a:cs typeface="Times New Roman"/>
              </a:rPr>
              <a:t>position,</a:t>
            </a:r>
            <a:r>
              <a:rPr dirty="0" sz="1000" spc="-30">
                <a:latin typeface="Times New Roman"/>
                <a:cs typeface="Times New Roman"/>
              </a:rPr>
              <a:t> </a:t>
            </a:r>
            <a:r>
              <a:rPr dirty="0" sz="1000" spc="-10">
                <a:latin typeface="Times New Roman"/>
                <a:cs typeface="Times New Roman"/>
              </a:rPr>
              <a:t>ensures</a:t>
            </a:r>
            <a:r>
              <a:rPr dirty="0" sz="1000" spc="-30">
                <a:latin typeface="Times New Roman"/>
                <a:cs typeface="Times New Roman"/>
              </a:rPr>
              <a:t> </a:t>
            </a:r>
            <a:r>
              <a:rPr dirty="0" sz="1000">
                <a:latin typeface="Times New Roman"/>
                <a:cs typeface="Times New Roman"/>
              </a:rPr>
              <a:t>that</a:t>
            </a:r>
            <a:r>
              <a:rPr dirty="0" sz="1000" spc="-35">
                <a:latin typeface="Times New Roman"/>
                <a:cs typeface="Times New Roman"/>
              </a:rPr>
              <a:t> </a:t>
            </a:r>
            <a:r>
              <a:rPr dirty="0" sz="1000" spc="-25">
                <a:latin typeface="Times New Roman"/>
                <a:cs typeface="Times New Roman"/>
              </a:rPr>
              <a:t>the </a:t>
            </a:r>
            <a:r>
              <a:rPr dirty="0" sz="1000">
                <a:latin typeface="Times New Roman"/>
                <a:cs typeface="Times New Roman"/>
              </a:rPr>
              <a:t>predictions</a:t>
            </a:r>
            <a:r>
              <a:rPr dirty="0" sz="1000" spc="-30">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position</a:t>
            </a:r>
            <a:r>
              <a:rPr dirty="0" sz="1000" spc="-30">
                <a:latin typeface="Times New Roman"/>
                <a:cs typeface="Times New Roman"/>
              </a:rPr>
              <a:t> </a:t>
            </a:r>
            <a:r>
              <a:rPr dirty="0" sz="1000" spc="114" i="1">
                <a:latin typeface="Calibri"/>
                <a:cs typeface="Calibri"/>
              </a:rPr>
              <a:t>i</a:t>
            </a:r>
            <a:r>
              <a:rPr dirty="0" sz="1000" i="1">
                <a:latin typeface="Calibri"/>
                <a:cs typeface="Calibri"/>
              </a:rPr>
              <a:t> </a:t>
            </a:r>
            <a:r>
              <a:rPr dirty="0" sz="1000">
                <a:latin typeface="Times New Roman"/>
                <a:cs typeface="Times New Roman"/>
              </a:rPr>
              <a:t>can</a:t>
            </a:r>
            <a:r>
              <a:rPr dirty="0" sz="1000" spc="-30">
                <a:latin typeface="Times New Roman"/>
                <a:cs typeface="Times New Roman"/>
              </a:rPr>
              <a:t> </a:t>
            </a:r>
            <a:r>
              <a:rPr dirty="0" sz="1000">
                <a:latin typeface="Times New Roman"/>
                <a:cs typeface="Times New Roman"/>
              </a:rPr>
              <a:t>depend</a:t>
            </a:r>
            <a:r>
              <a:rPr dirty="0" sz="1000" spc="-30">
                <a:latin typeface="Times New Roman"/>
                <a:cs typeface="Times New Roman"/>
              </a:rPr>
              <a:t> </a:t>
            </a:r>
            <a:r>
              <a:rPr dirty="0" sz="1000">
                <a:latin typeface="Times New Roman"/>
                <a:cs typeface="Times New Roman"/>
              </a:rPr>
              <a:t>only</a:t>
            </a:r>
            <a:r>
              <a:rPr dirty="0" sz="1000" spc="-25">
                <a:latin typeface="Times New Roman"/>
                <a:cs typeface="Times New Roman"/>
              </a:rPr>
              <a:t> </a:t>
            </a:r>
            <a:r>
              <a:rPr dirty="0" sz="1000">
                <a:latin typeface="Times New Roman"/>
                <a:cs typeface="Times New Roman"/>
              </a:rPr>
              <a:t>on</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known</a:t>
            </a:r>
            <a:r>
              <a:rPr dirty="0" sz="1000" spc="-25">
                <a:latin typeface="Times New Roman"/>
                <a:cs typeface="Times New Roman"/>
              </a:rPr>
              <a:t> </a:t>
            </a:r>
            <a:r>
              <a:rPr dirty="0" sz="1000">
                <a:latin typeface="Times New Roman"/>
                <a:cs typeface="Times New Roman"/>
              </a:rPr>
              <a:t>outputs</a:t>
            </a:r>
            <a:r>
              <a:rPr dirty="0" sz="1000" spc="-30">
                <a:latin typeface="Times New Roman"/>
                <a:cs typeface="Times New Roman"/>
              </a:rPr>
              <a:t> </a:t>
            </a:r>
            <a:r>
              <a:rPr dirty="0" sz="1000">
                <a:latin typeface="Times New Roman"/>
                <a:cs typeface="Times New Roman"/>
              </a:rPr>
              <a:t>at</a:t>
            </a:r>
            <a:r>
              <a:rPr dirty="0" sz="1000" spc="-30">
                <a:latin typeface="Times New Roman"/>
                <a:cs typeface="Times New Roman"/>
              </a:rPr>
              <a:t> </a:t>
            </a:r>
            <a:r>
              <a:rPr dirty="0" sz="1000">
                <a:latin typeface="Times New Roman"/>
                <a:cs typeface="Times New Roman"/>
              </a:rPr>
              <a:t>positions</a:t>
            </a:r>
            <a:r>
              <a:rPr dirty="0" sz="1000" spc="-30">
                <a:latin typeface="Times New Roman"/>
                <a:cs typeface="Times New Roman"/>
              </a:rPr>
              <a:t> </a:t>
            </a:r>
            <a:r>
              <a:rPr dirty="0" sz="1000">
                <a:latin typeface="Times New Roman"/>
                <a:cs typeface="Times New Roman"/>
              </a:rPr>
              <a:t>less</a:t>
            </a:r>
            <a:r>
              <a:rPr dirty="0" sz="1000" spc="-25">
                <a:latin typeface="Times New Roman"/>
                <a:cs typeface="Times New Roman"/>
              </a:rPr>
              <a:t> </a:t>
            </a:r>
            <a:r>
              <a:rPr dirty="0" sz="1000">
                <a:latin typeface="Times New Roman"/>
                <a:cs typeface="Times New Roman"/>
              </a:rPr>
              <a:t>than</a:t>
            </a:r>
            <a:r>
              <a:rPr dirty="0" sz="1000" spc="-30">
                <a:latin typeface="Times New Roman"/>
                <a:cs typeface="Times New Roman"/>
              </a:rPr>
              <a:t> </a:t>
            </a:r>
            <a:r>
              <a:rPr dirty="0" sz="1000" spc="30" i="1">
                <a:latin typeface="Calibri"/>
                <a:cs typeface="Calibri"/>
              </a:rPr>
              <a:t>i</a:t>
            </a:r>
            <a:r>
              <a:rPr dirty="0" sz="1000" spc="30">
                <a:latin typeface="Times New Roman"/>
                <a:cs typeface="Times New Roman"/>
              </a:rPr>
              <a:t>.</a:t>
            </a:r>
            <a:endParaRPr sz="1000">
              <a:latin typeface="Times New Roman"/>
              <a:cs typeface="Times New Roman"/>
            </a:endParaRPr>
          </a:p>
          <a:p>
            <a:pPr>
              <a:lnSpc>
                <a:spcPct val="100000"/>
              </a:lnSpc>
              <a:spcBef>
                <a:spcPts val="375"/>
              </a:spcBef>
            </a:pPr>
            <a:endParaRPr sz="1000">
              <a:latin typeface="Times New Roman"/>
              <a:cs typeface="Times New Roman"/>
            </a:endParaRPr>
          </a:p>
          <a:p>
            <a:pPr lvl="1" marL="377825" indent="-284480">
              <a:lnSpc>
                <a:spcPct val="100000"/>
              </a:lnSpc>
              <a:buAutoNum type="arabicPeriod" startAt="2"/>
              <a:tabLst>
                <a:tab pos="377825" algn="l"/>
              </a:tabLst>
            </a:pPr>
            <a:r>
              <a:rPr dirty="0" sz="1000" spc="-10" b="1">
                <a:latin typeface="Times New Roman"/>
                <a:cs typeface="Times New Roman"/>
              </a:rPr>
              <a:t>Attention</a:t>
            </a:r>
            <a:endParaRPr sz="1000">
              <a:latin typeface="Times New Roman"/>
              <a:cs typeface="Times New Roman"/>
            </a:endParaRPr>
          </a:p>
          <a:p>
            <a:pPr algn="just" marL="88900" marR="67310">
              <a:lnSpc>
                <a:spcPts val="1090"/>
              </a:lnSpc>
              <a:spcBef>
                <a:spcPts val="1045"/>
              </a:spcBef>
            </a:pPr>
            <a:r>
              <a:rPr dirty="0" sz="1000">
                <a:latin typeface="Times New Roman"/>
                <a:cs typeface="Times New Roman"/>
              </a:rPr>
              <a:t>An</a:t>
            </a:r>
            <a:r>
              <a:rPr dirty="0" sz="1000" spc="-25">
                <a:latin typeface="Times New Roman"/>
                <a:cs typeface="Times New Roman"/>
              </a:rPr>
              <a:t> </a:t>
            </a:r>
            <a:r>
              <a:rPr dirty="0" sz="1000">
                <a:latin typeface="Times New Roman"/>
                <a:cs typeface="Times New Roman"/>
              </a:rPr>
              <a:t>attention</a:t>
            </a:r>
            <a:r>
              <a:rPr dirty="0" sz="1000" spc="-20">
                <a:latin typeface="Times New Roman"/>
                <a:cs typeface="Times New Roman"/>
              </a:rPr>
              <a:t> </a:t>
            </a:r>
            <a:r>
              <a:rPr dirty="0" sz="1000">
                <a:latin typeface="Times New Roman"/>
                <a:cs typeface="Times New Roman"/>
              </a:rPr>
              <a:t>function</a:t>
            </a:r>
            <a:r>
              <a:rPr dirty="0" sz="1000" spc="-20">
                <a:latin typeface="Times New Roman"/>
                <a:cs typeface="Times New Roman"/>
              </a:rPr>
              <a:t> </a:t>
            </a:r>
            <a:r>
              <a:rPr dirty="0" sz="1000">
                <a:latin typeface="Times New Roman"/>
                <a:cs typeface="Times New Roman"/>
              </a:rPr>
              <a:t>can</a:t>
            </a:r>
            <a:r>
              <a:rPr dirty="0" sz="1000" spc="-25">
                <a:latin typeface="Times New Roman"/>
                <a:cs typeface="Times New Roman"/>
              </a:rPr>
              <a:t> </a:t>
            </a:r>
            <a:r>
              <a:rPr dirty="0" sz="1000">
                <a:latin typeface="Times New Roman"/>
                <a:cs typeface="Times New Roman"/>
              </a:rPr>
              <a:t>be</a:t>
            </a:r>
            <a:r>
              <a:rPr dirty="0" sz="1000" spc="-20">
                <a:latin typeface="Times New Roman"/>
                <a:cs typeface="Times New Roman"/>
              </a:rPr>
              <a:t> </a:t>
            </a:r>
            <a:r>
              <a:rPr dirty="0" sz="1000" spc="-10">
                <a:latin typeface="Times New Roman"/>
                <a:cs typeface="Times New Roman"/>
              </a:rPr>
              <a:t>described</a:t>
            </a:r>
            <a:r>
              <a:rPr dirty="0" sz="1000" spc="-15">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mapping</a:t>
            </a:r>
            <a:r>
              <a:rPr dirty="0" sz="1000" spc="-2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query</a:t>
            </a:r>
            <a:r>
              <a:rPr dirty="0" sz="1000" spc="-2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set</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key-</a:t>
            </a:r>
            <a:r>
              <a:rPr dirty="0" sz="1000" spc="-10">
                <a:latin typeface="Times New Roman"/>
                <a:cs typeface="Times New Roman"/>
              </a:rPr>
              <a:t>value</a:t>
            </a:r>
            <a:r>
              <a:rPr dirty="0" sz="1000" spc="-20">
                <a:latin typeface="Times New Roman"/>
                <a:cs typeface="Times New Roman"/>
              </a:rPr>
              <a:t> </a:t>
            </a:r>
            <a:r>
              <a:rPr dirty="0" sz="1000">
                <a:latin typeface="Times New Roman"/>
                <a:cs typeface="Times New Roman"/>
              </a:rPr>
              <a:t>pairs</a:t>
            </a:r>
            <a:r>
              <a:rPr dirty="0" sz="1000" spc="-25">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an</a:t>
            </a:r>
            <a:r>
              <a:rPr dirty="0" sz="1000" spc="-15">
                <a:latin typeface="Times New Roman"/>
                <a:cs typeface="Times New Roman"/>
              </a:rPr>
              <a:t> </a:t>
            </a:r>
            <a:r>
              <a:rPr dirty="0" sz="1000" spc="-10">
                <a:latin typeface="Times New Roman"/>
                <a:cs typeface="Times New Roman"/>
              </a:rPr>
              <a:t>output, </a:t>
            </a:r>
            <a:r>
              <a:rPr dirty="0" sz="1000">
                <a:latin typeface="Times New Roman"/>
                <a:cs typeface="Times New Roman"/>
              </a:rPr>
              <a:t>where</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20">
                <a:latin typeface="Times New Roman"/>
                <a:cs typeface="Times New Roman"/>
              </a:rPr>
              <a:t>query, </a:t>
            </a:r>
            <a:r>
              <a:rPr dirty="0" sz="1000" spc="-10">
                <a:latin typeface="Times New Roman"/>
                <a:cs typeface="Times New Roman"/>
              </a:rPr>
              <a:t>keys,</a:t>
            </a:r>
            <a:r>
              <a:rPr dirty="0" sz="1000" spc="-25">
                <a:latin typeface="Times New Roman"/>
                <a:cs typeface="Times New Roman"/>
              </a:rPr>
              <a:t> </a:t>
            </a:r>
            <a:r>
              <a:rPr dirty="0" sz="1000" spc="-10">
                <a:latin typeface="Times New Roman"/>
                <a:cs typeface="Times New Roman"/>
              </a:rPr>
              <a:t>values,</a:t>
            </a:r>
            <a:r>
              <a:rPr dirty="0" sz="1000" spc="-2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output</a:t>
            </a:r>
            <a:r>
              <a:rPr dirty="0" sz="1000" spc="-25">
                <a:latin typeface="Times New Roman"/>
                <a:cs typeface="Times New Roman"/>
              </a:rPr>
              <a:t> </a:t>
            </a:r>
            <a:r>
              <a:rPr dirty="0" sz="1000">
                <a:latin typeface="Times New Roman"/>
                <a:cs typeface="Times New Roman"/>
              </a:rPr>
              <a:t>are</a:t>
            </a:r>
            <a:r>
              <a:rPr dirty="0" sz="1000" spc="-25">
                <a:latin typeface="Times New Roman"/>
                <a:cs typeface="Times New Roman"/>
              </a:rPr>
              <a:t> </a:t>
            </a:r>
            <a:r>
              <a:rPr dirty="0" sz="1000">
                <a:latin typeface="Times New Roman"/>
                <a:cs typeface="Times New Roman"/>
              </a:rPr>
              <a:t>all</a:t>
            </a:r>
            <a:r>
              <a:rPr dirty="0" sz="1000" spc="-25">
                <a:latin typeface="Times New Roman"/>
                <a:cs typeface="Times New Roman"/>
              </a:rPr>
              <a:t> </a:t>
            </a:r>
            <a:r>
              <a:rPr dirty="0" sz="1000">
                <a:latin typeface="Times New Roman"/>
                <a:cs typeface="Times New Roman"/>
              </a:rPr>
              <a:t>vectors.</a:t>
            </a:r>
            <a:r>
              <a:rPr dirty="0" sz="1000" spc="3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output</a:t>
            </a:r>
            <a:r>
              <a:rPr dirty="0" sz="1000" spc="-25">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spc="-10">
                <a:latin typeface="Times New Roman"/>
                <a:cs typeface="Times New Roman"/>
              </a:rPr>
              <a:t>computed</a:t>
            </a:r>
            <a:r>
              <a:rPr dirty="0" sz="1000" spc="-25">
                <a:latin typeface="Times New Roman"/>
                <a:cs typeface="Times New Roman"/>
              </a:rPr>
              <a:t> </a:t>
            </a:r>
            <a:r>
              <a:rPr dirty="0" sz="1000">
                <a:latin typeface="Times New Roman"/>
                <a:cs typeface="Times New Roman"/>
              </a:rPr>
              <a:t>as</a:t>
            </a:r>
            <a:r>
              <a:rPr dirty="0" sz="1000" spc="-25">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spc="-10">
                <a:latin typeface="Times New Roman"/>
                <a:cs typeface="Times New Roman"/>
              </a:rPr>
              <a:t>weighted</a:t>
            </a:r>
            <a:r>
              <a:rPr dirty="0" sz="1000" spc="-25">
                <a:latin typeface="Times New Roman"/>
                <a:cs typeface="Times New Roman"/>
              </a:rPr>
              <a:t> sum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values,</a:t>
            </a:r>
            <a:r>
              <a:rPr dirty="0" sz="1000" spc="-35">
                <a:latin typeface="Times New Roman"/>
                <a:cs typeface="Times New Roman"/>
              </a:rPr>
              <a:t> </a:t>
            </a:r>
            <a:r>
              <a:rPr dirty="0" sz="1000" spc="-20">
                <a:latin typeface="Times New Roman"/>
                <a:cs typeface="Times New Roman"/>
              </a:rPr>
              <a:t>where</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weight</a:t>
            </a:r>
            <a:r>
              <a:rPr dirty="0" sz="1000" spc="-35">
                <a:latin typeface="Times New Roman"/>
                <a:cs typeface="Times New Roman"/>
              </a:rPr>
              <a:t> </a:t>
            </a:r>
            <a:r>
              <a:rPr dirty="0" sz="1000" spc="-10">
                <a:latin typeface="Times New Roman"/>
                <a:cs typeface="Times New Roman"/>
              </a:rPr>
              <a:t>assigned</a:t>
            </a:r>
            <a:r>
              <a:rPr dirty="0" sz="1000" spc="-30">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spc="-10">
                <a:latin typeface="Times New Roman"/>
                <a:cs typeface="Times New Roman"/>
              </a:rPr>
              <a:t>each</a:t>
            </a:r>
            <a:r>
              <a:rPr dirty="0" sz="1000" spc="-35">
                <a:latin typeface="Times New Roman"/>
                <a:cs typeface="Times New Roman"/>
              </a:rPr>
              <a:t> </a:t>
            </a:r>
            <a:r>
              <a:rPr dirty="0" sz="1000" spc="-10">
                <a:latin typeface="Times New Roman"/>
                <a:cs typeface="Times New Roman"/>
              </a:rPr>
              <a:t>value</a:t>
            </a:r>
            <a:r>
              <a:rPr dirty="0" sz="1000" spc="-30">
                <a:latin typeface="Times New Roman"/>
                <a:cs typeface="Times New Roman"/>
              </a:rPr>
              <a:t> </a:t>
            </a:r>
            <a:r>
              <a:rPr dirty="0" sz="1000">
                <a:latin typeface="Times New Roman"/>
                <a:cs typeface="Times New Roman"/>
              </a:rPr>
              <a:t>is</a:t>
            </a:r>
            <a:r>
              <a:rPr dirty="0" sz="1000" spc="-35">
                <a:latin typeface="Times New Roman"/>
                <a:cs typeface="Times New Roman"/>
              </a:rPr>
              <a:t> </a:t>
            </a:r>
            <a:r>
              <a:rPr dirty="0" sz="1000" spc="-10">
                <a:latin typeface="Times New Roman"/>
                <a:cs typeface="Times New Roman"/>
              </a:rPr>
              <a:t>computed</a:t>
            </a:r>
            <a:r>
              <a:rPr dirty="0" sz="1000" spc="-30">
                <a:latin typeface="Times New Roman"/>
                <a:cs typeface="Times New Roman"/>
              </a:rPr>
              <a:t> </a:t>
            </a:r>
            <a:r>
              <a:rPr dirty="0" sz="1000">
                <a:latin typeface="Times New Roman"/>
                <a:cs typeface="Times New Roman"/>
              </a:rPr>
              <a:t>by</a:t>
            </a:r>
            <a:r>
              <a:rPr dirty="0" sz="1000" spc="-30">
                <a:latin typeface="Times New Roman"/>
                <a:cs typeface="Times New Roman"/>
              </a:rPr>
              <a:t> </a:t>
            </a:r>
            <a:r>
              <a:rPr dirty="0" sz="1000">
                <a:latin typeface="Times New Roman"/>
                <a:cs typeface="Times New Roman"/>
              </a:rPr>
              <a:t>a</a:t>
            </a:r>
            <a:r>
              <a:rPr dirty="0" sz="1000" spc="-35">
                <a:latin typeface="Times New Roman"/>
                <a:cs typeface="Times New Roman"/>
              </a:rPr>
              <a:t> </a:t>
            </a:r>
            <a:r>
              <a:rPr dirty="0" sz="1000" spc="-10">
                <a:latin typeface="Times New Roman"/>
                <a:cs typeface="Times New Roman"/>
              </a:rPr>
              <a:t>compatibility</a:t>
            </a:r>
            <a:r>
              <a:rPr dirty="0" sz="1000" spc="-30">
                <a:latin typeface="Times New Roman"/>
                <a:cs typeface="Times New Roman"/>
              </a:rPr>
              <a:t> </a:t>
            </a:r>
            <a:r>
              <a:rPr dirty="0" sz="1000" spc="-10">
                <a:latin typeface="Times New Roman"/>
                <a:cs typeface="Times New Roman"/>
              </a:rPr>
              <a:t>function</a:t>
            </a:r>
            <a:r>
              <a:rPr dirty="0" sz="1000" spc="-30">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spc="-25">
                <a:latin typeface="Times New Roman"/>
                <a:cs typeface="Times New Roman"/>
              </a:rPr>
              <a:t>the </a:t>
            </a:r>
            <a:r>
              <a:rPr dirty="0" sz="1000">
                <a:latin typeface="Times New Roman"/>
                <a:cs typeface="Times New Roman"/>
              </a:rPr>
              <a:t>query</a:t>
            </a:r>
            <a:r>
              <a:rPr dirty="0" sz="1000" spc="-35">
                <a:latin typeface="Times New Roman"/>
                <a:cs typeface="Times New Roman"/>
              </a:rPr>
              <a:t> </a:t>
            </a:r>
            <a:r>
              <a:rPr dirty="0" sz="1000">
                <a:latin typeface="Times New Roman"/>
                <a:cs typeface="Times New Roman"/>
              </a:rPr>
              <a:t>with</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corresponding</a:t>
            </a:r>
            <a:r>
              <a:rPr dirty="0" sz="1000" spc="-35">
                <a:latin typeface="Times New Roman"/>
                <a:cs typeface="Times New Roman"/>
              </a:rPr>
              <a:t> </a:t>
            </a:r>
            <a:r>
              <a:rPr dirty="0" sz="1000" spc="-20">
                <a:latin typeface="Times New Roman"/>
                <a:cs typeface="Times New Roman"/>
              </a:rPr>
              <a:t>key.</a:t>
            </a:r>
            <a:endParaRPr sz="1000">
              <a:latin typeface="Times New Roman"/>
              <a:cs typeface="Times New Roman"/>
            </a:endParaRPr>
          </a:p>
          <a:p>
            <a:pPr>
              <a:lnSpc>
                <a:spcPct val="100000"/>
              </a:lnSpc>
              <a:spcBef>
                <a:spcPts val="235"/>
              </a:spcBef>
            </a:pPr>
            <a:endParaRPr sz="1000">
              <a:latin typeface="Times New Roman"/>
              <a:cs typeface="Times New Roman"/>
            </a:endParaRPr>
          </a:p>
          <a:p>
            <a:pPr lvl="2" marL="472440" indent="-379095">
              <a:lnSpc>
                <a:spcPct val="100000"/>
              </a:lnSpc>
              <a:buAutoNum type="arabicPeriod"/>
              <a:tabLst>
                <a:tab pos="472440" algn="l"/>
              </a:tabLst>
            </a:pPr>
            <a:r>
              <a:rPr dirty="0" sz="1000" b="1">
                <a:latin typeface="Times New Roman"/>
                <a:cs typeface="Times New Roman"/>
              </a:rPr>
              <a:t>Scaled</a:t>
            </a:r>
            <a:r>
              <a:rPr dirty="0" sz="1000" spc="-20" b="1">
                <a:latin typeface="Times New Roman"/>
                <a:cs typeface="Times New Roman"/>
              </a:rPr>
              <a:t> </a:t>
            </a:r>
            <a:r>
              <a:rPr dirty="0" sz="1000" spc="-10" b="1">
                <a:latin typeface="Times New Roman"/>
                <a:cs typeface="Times New Roman"/>
              </a:rPr>
              <a:t>Dot-Product</a:t>
            </a:r>
            <a:r>
              <a:rPr dirty="0" sz="1000" spc="-15" b="1">
                <a:latin typeface="Times New Roman"/>
                <a:cs typeface="Times New Roman"/>
              </a:rPr>
              <a:t> </a:t>
            </a:r>
            <a:r>
              <a:rPr dirty="0" sz="1000" spc="-10" b="1">
                <a:latin typeface="Times New Roman"/>
                <a:cs typeface="Times New Roman"/>
              </a:rPr>
              <a:t>Attention</a:t>
            </a:r>
            <a:endParaRPr sz="1000">
              <a:latin typeface="Times New Roman"/>
              <a:cs typeface="Times New Roman"/>
            </a:endParaRPr>
          </a:p>
          <a:p>
            <a:pPr algn="just" marL="93345" marR="83185" indent="-6350">
              <a:lnSpc>
                <a:spcPts val="1090"/>
              </a:lnSpc>
              <a:spcBef>
                <a:spcPts val="905"/>
              </a:spcBef>
            </a:pPr>
            <a:r>
              <a:rPr dirty="0" sz="1000">
                <a:latin typeface="Times New Roman"/>
                <a:cs typeface="Times New Roman"/>
              </a:rPr>
              <a:t>We</a:t>
            </a:r>
            <a:r>
              <a:rPr dirty="0" sz="1000" spc="45">
                <a:latin typeface="Times New Roman"/>
                <a:cs typeface="Times New Roman"/>
              </a:rPr>
              <a:t> </a:t>
            </a:r>
            <a:r>
              <a:rPr dirty="0" sz="1000">
                <a:latin typeface="Times New Roman"/>
                <a:cs typeface="Times New Roman"/>
              </a:rPr>
              <a:t>call</a:t>
            </a:r>
            <a:r>
              <a:rPr dirty="0" sz="1000" spc="50">
                <a:latin typeface="Times New Roman"/>
                <a:cs typeface="Times New Roman"/>
              </a:rPr>
              <a:t> </a:t>
            </a:r>
            <a:r>
              <a:rPr dirty="0" sz="1000">
                <a:latin typeface="Times New Roman"/>
                <a:cs typeface="Times New Roman"/>
              </a:rPr>
              <a:t>our</a:t>
            </a:r>
            <a:r>
              <a:rPr dirty="0" sz="1000" spc="50">
                <a:latin typeface="Times New Roman"/>
                <a:cs typeface="Times New Roman"/>
              </a:rPr>
              <a:t> </a:t>
            </a:r>
            <a:r>
              <a:rPr dirty="0" sz="1000">
                <a:latin typeface="Times New Roman"/>
                <a:cs typeface="Times New Roman"/>
              </a:rPr>
              <a:t>particular</a:t>
            </a:r>
            <a:r>
              <a:rPr dirty="0" sz="1000" spc="45">
                <a:latin typeface="Times New Roman"/>
                <a:cs typeface="Times New Roman"/>
              </a:rPr>
              <a:t> </a:t>
            </a:r>
            <a:r>
              <a:rPr dirty="0" sz="1000">
                <a:latin typeface="Times New Roman"/>
                <a:cs typeface="Times New Roman"/>
              </a:rPr>
              <a:t>attention</a:t>
            </a:r>
            <a:r>
              <a:rPr dirty="0" sz="1000" spc="50">
                <a:latin typeface="Times New Roman"/>
                <a:cs typeface="Times New Roman"/>
              </a:rPr>
              <a:t> </a:t>
            </a:r>
            <a:r>
              <a:rPr dirty="0" sz="1000">
                <a:latin typeface="Times New Roman"/>
                <a:cs typeface="Times New Roman"/>
              </a:rPr>
              <a:t>"Scaled</a:t>
            </a:r>
            <a:r>
              <a:rPr dirty="0" sz="1000" spc="50">
                <a:latin typeface="Times New Roman"/>
                <a:cs typeface="Times New Roman"/>
              </a:rPr>
              <a:t> </a:t>
            </a:r>
            <a:r>
              <a:rPr dirty="0" sz="1000">
                <a:latin typeface="Times New Roman"/>
                <a:cs typeface="Times New Roman"/>
              </a:rPr>
              <a:t>Dot-Product</a:t>
            </a:r>
            <a:r>
              <a:rPr dirty="0" sz="1000" spc="50">
                <a:latin typeface="Times New Roman"/>
                <a:cs typeface="Times New Roman"/>
              </a:rPr>
              <a:t> </a:t>
            </a:r>
            <a:r>
              <a:rPr dirty="0" sz="1000">
                <a:latin typeface="Times New Roman"/>
                <a:cs typeface="Times New Roman"/>
              </a:rPr>
              <a:t>Attention"</a:t>
            </a:r>
            <a:r>
              <a:rPr dirty="0" sz="1000" spc="45">
                <a:latin typeface="Times New Roman"/>
                <a:cs typeface="Times New Roman"/>
              </a:rPr>
              <a:t> </a:t>
            </a:r>
            <a:r>
              <a:rPr dirty="0" sz="1000">
                <a:latin typeface="Times New Roman"/>
                <a:cs typeface="Times New Roman"/>
              </a:rPr>
              <a:t>(Figure</a:t>
            </a:r>
            <a:r>
              <a:rPr dirty="0" sz="1000" spc="50">
                <a:latin typeface="Times New Roman"/>
                <a:cs typeface="Times New Roman"/>
              </a:rPr>
              <a:t> </a:t>
            </a:r>
            <a:r>
              <a:rPr dirty="0" sz="1000">
                <a:latin typeface="Times New Roman"/>
                <a:cs typeface="Times New Roman"/>
              </a:rPr>
              <a:t>2).</a:t>
            </a:r>
            <a:r>
              <a:rPr dirty="0" sz="1000" spc="19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input</a:t>
            </a:r>
            <a:r>
              <a:rPr dirty="0" sz="1000" spc="50">
                <a:latin typeface="Times New Roman"/>
                <a:cs typeface="Times New Roman"/>
              </a:rPr>
              <a:t> </a:t>
            </a:r>
            <a:r>
              <a:rPr dirty="0" sz="1000">
                <a:latin typeface="Times New Roman"/>
                <a:cs typeface="Times New Roman"/>
              </a:rPr>
              <a:t>consists</a:t>
            </a:r>
            <a:r>
              <a:rPr dirty="0" sz="1000" spc="50">
                <a:latin typeface="Times New Roman"/>
                <a:cs typeface="Times New Roman"/>
              </a:rPr>
              <a:t> </a:t>
            </a:r>
            <a:r>
              <a:rPr dirty="0" sz="1000" spc="-25">
                <a:latin typeface="Times New Roman"/>
                <a:cs typeface="Times New Roman"/>
              </a:rPr>
              <a:t>of </a:t>
            </a:r>
            <a:r>
              <a:rPr dirty="0" sz="1000">
                <a:latin typeface="Times New Roman"/>
                <a:cs typeface="Times New Roman"/>
              </a:rPr>
              <a:t>queries</a:t>
            </a:r>
            <a:r>
              <a:rPr dirty="0" sz="1000" spc="-3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keys</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dimension</a:t>
            </a:r>
            <a:r>
              <a:rPr dirty="0" sz="1000" spc="-15">
                <a:latin typeface="Times New Roman"/>
                <a:cs typeface="Times New Roman"/>
              </a:rPr>
              <a:t> </a:t>
            </a:r>
            <a:r>
              <a:rPr dirty="0" sz="1000" spc="55" i="1">
                <a:latin typeface="Calibri"/>
                <a:cs typeface="Calibri"/>
              </a:rPr>
              <a:t>d</a:t>
            </a:r>
            <a:r>
              <a:rPr dirty="0" baseline="-11904" sz="1050" spc="82" i="1">
                <a:latin typeface="Calibri"/>
                <a:cs typeface="Calibri"/>
              </a:rPr>
              <a:t>k</a:t>
            </a:r>
            <a:r>
              <a:rPr dirty="0" sz="1000" spc="55">
                <a:latin typeface="Times New Roman"/>
                <a:cs typeface="Times New Roman"/>
              </a:rPr>
              <a:t>,</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values</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dimension</a:t>
            </a:r>
            <a:r>
              <a:rPr dirty="0" sz="1000" spc="-15">
                <a:latin typeface="Times New Roman"/>
                <a:cs typeface="Times New Roman"/>
              </a:rPr>
              <a:t> </a:t>
            </a:r>
            <a:r>
              <a:rPr dirty="0" sz="1000" i="1">
                <a:latin typeface="Calibri"/>
                <a:cs typeface="Calibri"/>
              </a:rPr>
              <a:t>d</a:t>
            </a:r>
            <a:r>
              <a:rPr dirty="0" baseline="-11904" sz="1050" i="1">
                <a:latin typeface="Calibri"/>
                <a:cs typeface="Calibri"/>
              </a:rPr>
              <a:t>v</a:t>
            </a:r>
            <a:r>
              <a:rPr dirty="0" baseline="-11904" sz="1050" spc="-127" i="1">
                <a:latin typeface="Calibri"/>
                <a:cs typeface="Calibri"/>
              </a:rPr>
              <a:t> </a:t>
            </a:r>
            <a:r>
              <a:rPr dirty="0" sz="1000">
                <a:latin typeface="Times New Roman"/>
                <a:cs typeface="Times New Roman"/>
              </a:rPr>
              <a:t>.</a:t>
            </a:r>
            <a:r>
              <a:rPr dirty="0" sz="1000" spc="35">
                <a:latin typeface="Times New Roman"/>
                <a:cs typeface="Times New Roman"/>
              </a:rPr>
              <a:t> </a:t>
            </a:r>
            <a:r>
              <a:rPr dirty="0" sz="1000" spc="-50">
                <a:latin typeface="Times New Roman"/>
                <a:cs typeface="Times New Roman"/>
              </a:rPr>
              <a:t>We</a:t>
            </a:r>
            <a:r>
              <a:rPr dirty="0" sz="1000" spc="-10">
                <a:latin typeface="Times New Roman"/>
                <a:cs typeface="Times New Roman"/>
              </a:rPr>
              <a:t> </a:t>
            </a:r>
            <a:r>
              <a:rPr dirty="0" sz="1000">
                <a:latin typeface="Times New Roman"/>
                <a:cs typeface="Times New Roman"/>
              </a:rPr>
              <a:t>compute</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dot</a:t>
            </a:r>
            <a:r>
              <a:rPr dirty="0" sz="1000" spc="-20">
                <a:latin typeface="Times New Roman"/>
                <a:cs typeface="Times New Roman"/>
              </a:rPr>
              <a:t> </a:t>
            </a:r>
            <a:r>
              <a:rPr dirty="0" sz="1000">
                <a:latin typeface="Times New Roman"/>
                <a:cs typeface="Times New Roman"/>
              </a:rPr>
              <a:t>products</a:t>
            </a:r>
            <a:r>
              <a:rPr dirty="0" sz="1000" spc="-1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25">
                <a:latin typeface="Times New Roman"/>
                <a:cs typeface="Times New Roman"/>
              </a:rPr>
              <a:t>the</a:t>
            </a:r>
            <a:endParaRPr sz="1000">
              <a:latin typeface="Times New Roman"/>
              <a:cs typeface="Times New Roman"/>
            </a:endParaRPr>
          </a:p>
        </p:txBody>
      </p:sp>
      <p:sp>
        <p:nvSpPr>
          <p:cNvPr id="4" name="object 4" descr=""/>
          <p:cNvSpPr txBox="1">
            <a:spLocks noGrp="1"/>
          </p:cNvSpPr>
          <p:nvPr>
            <p:ph type="sldNum" idx="7" sz="quarter"/>
          </p:nvPr>
        </p:nvSpPr>
        <p:spPr>
          <a:prstGeom prst="rect"/>
        </p:spPr>
        <p:txBody>
          <a:bodyPr wrap="square" lIns="0" tIns="2540" rIns="0" bIns="0" rtlCol="0" vert="horz">
            <a:spAutoFit/>
          </a:bodyPr>
          <a:lstStyle/>
          <a:p>
            <a:pPr marL="69215">
              <a:lnSpc>
                <a:spcPct val="100000"/>
              </a:lnSpc>
              <a:spcBef>
                <a:spcPts val="20"/>
              </a:spcBef>
            </a:pPr>
            <a:fld id="{81D60167-4931-47E6-BA6A-407CBD079E47}" type="slidenum">
              <a:rPr dirty="0" spc="-50"/>
              <a:t>3</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864144" y="860963"/>
            <a:ext cx="1529715" cy="177800"/>
          </a:xfrm>
          <a:prstGeom prst="rect">
            <a:avLst/>
          </a:prstGeom>
        </p:spPr>
        <p:txBody>
          <a:bodyPr wrap="square" lIns="0" tIns="12065" rIns="0" bIns="0" rtlCol="0" vert="horz">
            <a:spAutoFit/>
          </a:bodyPr>
          <a:lstStyle/>
          <a:p>
            <a:pPr marL="12700">
              <a:lnSpc>
                <a:spcPct val="100000"/>
              </a:lnSpc>
              <a:spcBef>
                <a:spcPts val="95"/>
              </a:spcBef>
            </a:pPr>
            <a:r>
              <a:rPr dirty="0" sz="1000">
                <a:latin typeface="Times New Roman"/>
                <a:cs typeface="Times New Roman"/>
              </a:rPr>
              <a:t>Scaled</a:t>
            </a:r>
            <a:r>
              <a:rPr dirty="0" sz="1000" spc="-25">
                <a:latin typeface="Times New Roman"/>
                <a:cs typeface="Times New Roman"/>
              </a:rPr>
              <a:t> </a:t>
            </a:r>
            <a:r>
              <a:rPr dirty="0" sz="1000" spc="-10">
                <a:latin typeface="Times New Roman"/>
                <a:cs typeface="Times New Roman"/>
              </a:rPr>
              <a:t>Dot-</a:t>
            </a:r>
            <a:r>
              <a:rPr dirty="0" sz="1000">
                <a:latin typeface="Times New Roman"/>
                <a:cs typeface="Times New Roman"/>
              </a:rPr>
              <a:t>Product</a:t>
            </a:r>
            <a:r>
              <a:rPr dirty="0" sz="1000" spc="-25">
                <a:latin typeface="Times New Roman"/>
                <a:cs typeface="Times New Roman"/>
              </a:rPr>
              <a:t> </a:t>
            </a:r>
            <a:r>
              <a:rPr dirty="0" sz="1000" spc="-10">
                <a:latin typeface="Times New Roman"/>
                <a:cs typeface="Times New Roman"/>
              </a:rPr>
              <a:t>Attention</a:t>
            </a:r>
            <a:endParaRPr sz="1000">
              <a:latin typeface="Times New Roman"/>
              <a:cs typeface="Times New Roman"/>
            </a:endParaRPr>
          </a:p>
        </p:txBody>
      </p:sp>
      <p:pic>
        <p:nvPicPr>
          <p:cNvPr id="3" name="object 3" descr=""/>
          <p:cNvPicPr/>
          <p:nvPr/>
        </p:nvPicPr>
        <p:blipFill>
          <a:blip r:embed="rId2" cstate="print"/>
          <a:stretch>
            <a:fillRect/>
          </a:stretch>
        </p:blipFill>
        <p:spPr>
          <a:xfrm>
            <a:off x="2221992" y="1194117"/>
            <a:ext cx="813816" cy="1589227"/>
          </a:xfrm>
          <a:prstGeom prst="rect">
            <a:avLst/>
          </a:prstGeom>
        </p:spPr>
      </p:pic>
      <p:sp>
        <p:nvSpPr>
          <p:cNvPr id="4" name="object 4" descr=""/>
          <p:cNvSpPr txBox="1"/>
          <p:nvPr/>
        </p:nvSpPr>
        <p:spPr>
          <a:xfrm>
            <a:off x="4604842" y="860963"/>
            <a:ext cx="1125855" cy="177800"/>
          </a:xfrm>
          <a:prstGeom prst="rect">
            <a:avLst/>
          </a:prstGeom>
        </p:spPr>
        <p:txBody>
          <a:bodyPr wrap="square" lIns="0" tIns="12065" rIns="0" bIns="0" rtlCol="0" vert="horz">
            <a:spAutoFit/>
          </a:bodyPr>
          <a:lstStyle/>
          <a:p>
            <a:pPr marL="12700">
              <a:lnSpc>
                <a:spcPct val="100000"/>
              </a:lnSpc>
              <a:spcBef>
                <a:spcPts val="95"/>
              </a:spcBef>
            </a:pPr>
            <a:r>
              <a:rPr dirty="0" sz="1000" spc="-10">
                <a:latin typeface="Times New Roman"/>
                <a:cs typeface="Times New Roman"/>
              </a:rPr>
              <a:t>Multi-</a:t>
            </a:r>
            <a:r>
              <a:rPr dirty="0" sz="1000">
                <a:latin typeface="Times New Roman"/>
                <a:cs typeface="Times New Roman"/>
              </a:rPr>
              <a:t>Head</a:t>
            </a:r>
            <a:r>
              <a:rPr dirty="0" sz="1000" spc="5">
                <a:latin typeface="Times New Roman"/>
                <a:cs typeface="Times New Roman"/>
              </a:rPr>
              <a:t> </a:t>
            </a:r>
            <a:r>
              <a:rPr dirty="0" sz="1000" spc="-10">
                <a:latin typeface="Times New Roman"/>
                <a:cs typeface="Times New Roman"/>
              </a:rPr>
              <a:t>Attention</a:t>
            </a:r>
            <a:endParaRPr sz="1000">
              <a:latin typeface="Times New Roman"/>
              <a:cs typeface="Times New Roman"/>
            </a:endParaRPr>
          </a:p>
        </p:txBody>
      </p:sp>
      <p:pic>
        <p:nvPicPr>
          <p:cNvPr id="5" name="object 5" descr=""/>
          <p:cNvPicPr/>
          <p:nvPr/>
        </p:nvPicPr>
        <p:blipFill>
          <a:blip r:embed="rId3" cstate="print"/>
          <a:stretch>
            <a:fillRect/>
          </a:stretch>
        </p:blipFill>
        <p:spPr>
          <a:xfrm>
            <a:off x="4407661" y="1050124"/>
            <a:ext cx="1510588" cy="1969617"/>
          </a:xfrm>
          <a:prstGeom prst="rect">
            <a:avLst/>
          </a:prstGeom>
        </p:spPr>
      </p:pic>
      <p:sp>
        <p:nvSpPr>
          <p:cNvPr id="6" name="object 6" descr=""/>
          <p:cNvSpPr/>
          <p:nvPr/>
        </p:nvSpPr>
        <p:spPr>
          <a:xfrm>
            <a:off x="3281057" y="4067721"/>
            <a:ext cx="128270" cy="0"/>
          </a:xfrm>
          <a:custGeom>
            <a:avLst/>
            <a:gdLst/>
            <a:ahLst/>
            <a:cxnLst/>
            <a:rect l="l" t="t" r="r" b="b"/>
            <a:pathLst>
              <a:path w="128270" h="0">
                <a:moveTo>
                  <a:pt x="0" y="0"/>
                </a:moveTo>
                <a:lnTo>
                  <a:pt x="128104" y="0"/>
                </a:lnTo>
              </a:path>
            </a:pathLst>
          </a:custGeom>
          <a:ln w="5054">
            <a:solidFill>
              <a:srgbClr val="000000"/>
            </a:solidFill>
          </a:ln>
        </p:spPr>
        <p:txBody>
          <a:bodyPr wrap="square" lIns="0" tIns="0" rIns="0" bIns="0" rtlCol="0"/>
          <a:lstStyle/>
          <a:p/>
        </p:txBody>
      </p:sp>
      <p:sp>
        <p:nvSpPr>
          <p:cNvPr id="7" name="object 7" descr=""/>
          <p:cNvSpPr txBox="1"/>
          <p:nvPr/>
        </p:nvSpPr>
        <p:spPr>
          <a:xfrm>
            <a:off x="1317637" y="3442416"/>
            <a:ext cx="5136515" cy="1388110"/>
          </a:xfrm>
          <a:prstGeom prst="rect">
            <a:avLst/>
          </a:prstGeom>
        </p:spPr>
        <p:txBody>
          <a:bodyPr wrap="square" lIns="0" tIns="28575" rIns="0" bIns="0" rtlCol="0" vert="horz">
            <a:spAutoFit/>
          </a:bodyPr>
          <a:lstStyle/>
          <a:p>
            <a:pPr algn="just" marL="53340" marR="45085">
              <a:lnSpc>
                <a:spcPts val="1090"/>
              </a:lnSpc>
              <a:spcBef>
                <a:spcPts val="225"/>
              </a:spcBef>
            </a:pPr>
            <a:r>
              <a:rPr dirty="0" sz="1000">
                <a:latin typeface="Times New Roman"/>
                <a:cs typeface="Times New Roman"/>
              </a:rPr>
              <a:t>Figure</a:t>
            </a:r>
            <a:r>
              <a:rPr dirty="0" sz="1000" spc="114">
                <a:latin typeface="Times New Roman"/>
                <a:cs typeface="Times New Roman"/>
              </a:rPr>
              <a:t> </a:t>
            </a:r>
            <a:r>
              <a:rPr dirty="0" sz="1000">
                <a:latin typeface="Times New Roman"/>
                <a:cs typeface="Times New Roman"/>
              </a:rPr>
              <a:t>2:</a:t>
            </a:r>
            <a:r>
              <a:rPr dirty="0" sz="1000" spc="290">
                <a:latin typeface="Times New Roman"/>
                <a:cs typeface="Times New Roman"/>
              </a:rPr>
              <a:t> </a:t>
            </a:r>
            <a:r>
              <a:rPr dirty="0" sz="1000">
                <a:latin typeface="Times New Roman"/>
                <a:cs typeface="Times New Roman"/>
              </a:rPr>
              <a:t>(left)</a:t>
            </a:r>
            <a:r>
              <a:rPr dirty="0" sz="1000" spc="120">
                <a:latin typeface="Times New Roman"/>
                <a:cs typeface="Times New Roman"/>
              </a:rPr>
              <a:t> </a:t>
            </a:r>
            <a:r>
              <a:rPr dirty="0" sz="1000">
                <a:latin typeface="Times New Roman"/>
                <a:cs typeface="Times New Roman"/>
              </a:rPr>
              <a:t>Scaled</a:t>
            </a:r>
            <a:r>
              <a:rPr dirty="0" sz="1000" spc="120">
                <a:latin typeface="Times New Roman"/>
                <a:cs typeface="Times New Roman"/>
              </a:rPr>
              <a:t> </a:t>
            </a:r>
            <a:r>
              <a:rPr dirty="0" sz="1000">
                <a:latin typeface="Times New Roman"/>
                <a:cs typeface="Times New Roman"/>
              </a:rPr>
              <a:t>Dot-Product</a:t>
            </a:r>
            <a:r>
              <a:rPr dirty="0" sz="1000" spc="120">
                <a:latin typeface="Times New Roman"/>
                <a:cs typeface="Times New Roman"/>
              </a:rPr>
              <a:t> </a:t>
            </a:r>
            <a:r>
              <a:rPr dirty="0" sz="1000">
                <a:latin typeface="Times New Roman"/>
                <a:cs typeface="Times New Roman"/>
              </a:rPr>
              <a:t>Attention.</a:t>
            </a:r>
            <a:r>
              <a:rPr dirty="0" sz="1000" spc="385">
                <a:latin typeface="Times New Roman"/>
                <a:cs typeface="Times New Roman"/>
              </a:rPr>
              <a:t> </a:t>
            </a:r>
            <a:r>
              <a:rPr dirty="0" sz="1000">
                <a:latin typeface="Times New Roman"/>
                <a:cs typeface="Times New Roman"/>
              </a:rPr>
              <a:t>(right)</a:t>
            </a:r>
            <a:r>
              <a:rPr dirty="0" sz="1000" spc="120">
                <a:latin typeface="Times New Roman"/>
                <a:cs typeface="Times New Roman"/>
              </a:rPr>
              <a:t> </a:t>
            </a:r>
            <a:r>
              <a:rPr dirty="0" sz="1000">
                <a:latin typeface="Times New Roman"/>
                <a:cs typeface="Times New Roman"/>
              </a:rPr>
              <a:t>Multi-Head</a:t>
            </a:r>
            <a:r>
              <a:rPr dirty="0" sz="1000" spc="120">
                <a:latin typeface="Times New Roman"/>
                <a:cs typeface="Times New Roman"/>
              </a:rPr>
              <a:t> </a:t>
            </a:r>
            <a:r>
              <a:rPr dirty="0" sz="1000">
                <a:latin typeface="Times New Roman"/>
                <a:cs typeface="Times New Roman"/>
              </a:rPr>
              <a:t>Attention</a:t>
            </a:r>
            <a:r>
              <a:rPr dirty="0" sz="1000" spc="120">
                <a:latin typeface="Times New Roman"/>
                <a:cs typeface="Times New Roman"/>
              </a:rPr>
              <a:t> </a:t>
            </a:r>
            <a:r>
              <a:rPr dirty="0" sz="1000">
                <a:latin typeface="Times New Roman"/>
                <a:cs typeface="Times New Roman"/>
              </a:rPr>
              <a:t>consists</a:t>
            </a:r>
            <a:r>
              <a:rPr dirty="0" sz="1000" spc="120">
                <a:latin typeface="Times New Roman"/>
                <a:cs typeface="Times New Roman"/>
              </a:rPr>
              <a:t> </a:t>
            </a:r>
            <a:r>
              <a:rPr dirty="0" sz="1000">
                <a:latin typeface="Times New Roman"/>
                <a:cs typeface="Times New Roman"/>
              </a:rPr>
              <a:t>of</a:t>
            </a:r>
            <a:r>
              <a:rPr dirty="0" sz="1000" spc="120">
                <a:latin typeface="Times New Roman"/>
                <a:cs typeface="Times New Roman"/>
              </a:rPr>
              <a:t> </a:t>
            </a:r>
            <a:r>
              <a:rPr dirty="0" sz="1000" spc="-10">
                <a:latin typeface="Times New Roman"/>
                <a:cs typeface="Times New Roman"/>
              </a:rPr>
              <a:t>several </a:t>
            </a:r>
            <a:r>
              <a:rPr dirty="0" sz="1000">
                <a:latin typeface="Times New Roman"/>
                <a:cs typeface="Times New Roman"/>
              </a:rPr>
              <a:t>attention</a:t>
            </a:r>
            <a:r>
              <a:rPr dirty="0" sz="1000" spc="-30">
                <a:latin typeface="Times New Roman"/>
                <a:cs typeface="Times New Roman"/>
              </a:rPr>
              <a:t> </a:t>
            </a:r>
            <a:r>
              <a:rPr dirty="0" sz="1000">
                <a:latin typeface="Times New Roman"/>
                <a:cs typeface="Times New Roman"/>
              </a:rPr>
              <a:t>layers</a:t>
            </a:r>
            <a:r>
              <a:rPr dirty="0" sz="1000" spc="-30">
                <a:latin typeface="Times New Roman"/>
                <a:cs typeface="Times New Roman"/>
              </a:rPr>
              <a:t> </a:t>
            </a:r>
            <a:r>
              <a:rPr dirty="0" sz="1000">
                <a:latin typeface="Times New Roman"/>
                <a:cs typeface="Times New Roman"/>
              </a:rPr>
              <a:t>running</a:t>
            </a:r>
            <a:r>
              <a:rPr dirty="0" sz="1000" spc="-25">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spc="-10">
                <a:latin typeface="Times New Roman"/>
                <a:cs typeface="Times New Roman"/>
              </a:rPr>
              <a:t>parallel.</a:t>
            </a: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140"/>
              </a:spcBef>
            </a:pPr>
            <a:endParaRPr sz="1000">
              <a:latin typeface="Times New Roman"/>
              <a:cs typeface="Times New Roman"/>
            </a:endParaRPr>
          </a:p>
          <a:p>
            <a:pPr algn="just" marL="50800" marR="45085" indent="2540">
              <a:lnSpc>
                <a:spcPts val="1090"/>
              </a:lnSpc>
            </a:pPr>
            <a:r>
              <a:rPr dirty="0" sz="1000">
                <a:latin typeface="Times New Roman"/>
                <a:cs typeface="Times New Roman"/>
              </a:rPr>
              <a:t>query</a:t>
            </a:r>
            <a:r>
              <a:rPr dirty="0" sz="1000" spc="-5">
                <a:latin typeface="Times New Roman"/>
                <a:cs typeface="Times New Roman"/>
              </a:rPr>
              <a:t> </a:t>
            </a:r>
            <a:r>
              <a:rPr dirty="0" sz="1000">
                <a:latin typeface="Times New Roman"/>
                <a:cs typeface="Times New Roman"/>
              </a:rPr>
              <a:t>with all keys,</a:t>
            </a:r>
            <a:r>
              <a:rPr dirty="0" sz="1000" spc="-5">
                <a:latin typeface="Times New Roman"/>
                <a:cs typeface="Times New Roman"/>
              </a:rPr>
              <a:t> </a:t>
            </a:r>
            <a:r>
              <a:rPr dirty="0" sz="1000">
                <a:latin typeface="Times New Roman"/>
                <a:cs typeface="Times New Roman"/>
              </a:rPr>
              <a:t>divide each by </a:t>
            </a:r>
            <a:r>
              <a:rPr dirty="0" baseline="41666" sz="1500">
                <a:latin typeface="Lucida Sans Unicode"/>
                <a:cs typeface="Lucida Sans Unicode"/>
              </a:rPr>
              <a:t>√</a:t>
            </a:r>
            <a:r>
              <a:rPr dirty="0" sz="1000" i="1">
                <a:latin typeface="Calibri"/>
                <a:cs typeface="Calibri"/>
              </a:rPr>
              <a:t>d</a:t>
            </a:r>
            <a:r>
              <a:rPr dirty="0" baseline="-11904" sz="1050" i="1">
                <a:latin typeface="Calibri"/>
                <a:cs typeface="Calibri"/>
              </a:rPr>
              <a:t>k</a:t>
            </a:r>
            <a:r>
              <a:rPr dirty="0" sz="1000">
                <a:latin typeface="Times New Roman"/>
                <a:cs typeface="Times New Roman"/>
              </a:rPr>
              <a:t>,</a:t>
            </a:r>
            <a:r>
              <a:rPr dirty="0" sz="1000" spc="-5">
                <a:latin typeface="Times New Roman"/>
                <a:cs typeface="Times New Roman"/>
              </a:rPr>
              <a:t> </a:t>
            </a:r>
            <a:r>
              <a:rPr dirty="0" sz="1000">
                <a:latin typeface="Times New Roman"/>
                <a:cs typeface="Times New Roman"/>
              </a:rPr>
              <a:t>and apply a softmax</a:t>
            </a:r>
            <a:r>
              <a:rPr dirty="0" sz="1000" spc="-5">
                <a:latin typeface="Times New Roman"/>
                <a:cs typeface="Times New Roman"/>
              </a:rPr>
              <a:t> </a:t>
            </a:r>
            <a:r>
              <a:rPr dirty="0" sz="1000">
                <a:latin typeface="Times New Roman"/>
                <a:cs typeface="Times New Roman"/>
              </a:rPr>
              <a:t>function to obtain the</a:t>
            </a:r>
            <a:r>
              <a:rPr dirty="0" sz="1000" spc="-5">
                <a:latin typeface="Times New Roman"/>
                <a:cs typeface="Times New Roman"/>
              </a:rPr>
              <a:t> </a:t>
            </a:r>
            <a:r>
              <a:rPr dirty="0" sz="1000">
                <a:latin typeface="Times New Roman"/>
                <a:cs typeface="Times New Roman"/>
              </a:rPr>
              <a:t>weights on </a:t>
            </a:r>
            <a:r>
              <a:rPr dirty="0" sz="1000" spc="-25">
                <a:latin typeface="Times New Roman"/>
                <a:cs typeface="Times New Roman"/>
              </a:rPr>
              <a:t>the </a:t>
            </a:r>
            <a:r>
              <a:rPr dirty="0" sz="1000" spc="-10">
                <a:latin typeface="Times New Roman"/>
                <a:cs typeface="Times New Roman"/>
              </a:rPr>
              <a:t>values.</a:t>
            </a:r>
            <a:endParaRPr sz="1000">
              <a:latin typeface="Times New Roman"/>
              <a:cs typeface="Times New Roman"/>
            </a:endParaRPr>
          </a:p>
          <a:p>
            <a:pPr algn="just" marL="53340" marR="43180">
              <a:lnSpc>
                <a:spcPts val="1090"/>
              </a:lnSpc>
              <a:spcBef>
                <a:spcPts val="550"/>
              </a:spcBef>
            </a:pPr>
            <a:r>
              <a:rPr dirty="0" sz="1000">
                <a:latin typeface="Times New Roman"/>
                <a:cs typeface="Times New Roman"/>
              </a:rPr>
              <a:t>In</a:t>
            </a:r>
            <a:r>
              <a:rPr dirty="0" sz="1000" spc="10">
                <a:latin typeface="Times New Roman"/>
                <a:cs typeface="Times New Roman"/>
              </a:rPr>
              <a:t> </a:t>
            </a:r>
            <a:r>
              <a:rPr dirty="0" sz="1000">
                <a:latin typeface="Times New Roman"/>
                <a:cs typeface="Times New Roman"/>
              </a:rPr>
              <a:t>practice,</a:t>
            </a:r>
            <a:r>
              <a:rPr dirty="0" sz="1000" spc="10">
                <a:latin typeface="Times New Roman"/>
                <a:cs typeface="Times New Roman"/>
              </a:rPr>
              <a:t> </a:t>
            </a:r>
            <a:r>
              <a:rPr dirty="0" sz="1000">
                <a:latin typeface="Times New Roman"/>
                <a:cs typeface="Times New Roman"/>
              </a:rPr>
              <a:t>we</a:t>
            </a:r>
            <a:r>
              <a:rPr dirty="0" sz="1000" spc="15">
                <a:latin typeface="Times New Roman"/>
                <a:cs typeface="Times New Roman"/>
              </a:rPr>
              <a:t> </a:t>
            </a:r>
            <a:r>
              <a:rPr dirty="0" sz="1000">
                <a:latin typeface="Times New Roman"/>
                <a:cs typeface="Times New Roman"/>
              </a:rPr>
              <a:t>compute</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attention</a:t>
            </a:r>
            <a:r>
              <a:rPr dirty="0" sz="1000" spc="10">
                <a:latin typeface="Times New Roman"/>
                <a:cs typeface="Times New Roman"/>
              </a:rPr>
              <a:t> </a:t>
            </a:r>
            <a:r>
              <a:rPr dirty="0" sz="1000">
                <a:latin typeface="Times New Roman"/>
                <a:cs typeface="Times New Roman"/>
              </a:rPr>
              <a:t>function</a:t>
            </a:r>
            <a:r>
              <a:rPr dirty="0" sz="1000" spc="15">
                <a:latin typeface="Times New Roman"/>
                <a:cs typeface="Times New Roman"/>
              </a:rPr>
              <a:t> </a:t>
            </a:r>
            <a:r>
              <a:rPr dirty="0" sz="1000">
                <a:latin typeface="Times New Roman"/>
                <a:cs typeface="Times New Roman"/>
              </a:rPr>
              <a:t>on</a:t>
            </a:r>
            <a:r>
              <a:rPr dirty="0" sz="1000" spc="10">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a:latin typeface="Times New Roman"/>
                <a:cs typeface="Times New Roman"/>
              </a:rPr>
              <a:t>set</a:t>
            </a:r>
            <a:r>
              <a:rPr dirty="0" sz="1000" spc="1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queries</a:t>
            </a:r>
            <a:r>
              <a:rPr dirty="0" sz="1000" spc="10">
                <a:latin typeface="Times New Roman"/>
                <a:cs typeface="Times New Roman"/>
              </a:rPr>
              <a:t> </a:t>
            </a:r>
            <a:r>
              <a:rPr dirty="0" sz="1000">
                <a:latin typeface="Times New Roman"/>
                <a:cs typeface="Times New Roman"/>
              </a:rPr>
              <a:t>simultaneously,</a:t>
            </a:r>
            <a:r>
              <a:rPr dirty="0" sz="1000" spc="15">
                <a:latin typeface="Times New Roman"/>
                <a:cs typeface="Times New Roman"/>
              </a:rPr>
              <a:t> </a:t>
            </a:r>
            <a:r>
              <a:rPr dirty="0" sz="1000">
                <a:latin typeface="Times New Roman"/>
                <a:cs typeface="Times New Roman"/>
              </a:rPr>
              <a:t>packed</a:t>
            </a:r>
            <a:r>
              <a:rPr dirty="0" sz="1000" spc="10">
                <a:latin typeface="Times New Roman"/>
                <a:cs typeface="Times New Roman"/>
              </a:rPr>
              <a:t> </a:t>
            </a:r>
            <a:r>
              <a:rPr dirty="0" sz="1000" spc="-10">
                <a:latin typeface="Times New Roman"/>
                <a:cs typeface="Times New Roman"/>
              </a:rPr>
              <a:t>together </a:t>
            </a:r>
            <a:r>
              <a:rPr dirty="0" sz="1000">
                <a:latin typeface="Times New Roman"/>
                <a:cs typeface="Times New Roman"/>
              </a:rPr>
              <a:t>into</a:t>
            </a:r>
            <a:r>
              <a:rPr dirty="0" sz="1000" spc="-3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matrix</a:t>
            </a:r>
            <a:r>
              <a:rPr dirty="0" sz="1000" spc="-20">
                <a:latin typeface="Times New Roman"/>
                <a:cs typeface="Times New Roman"/>
              </a:rPr>
              <a:t> </a:t>
            </a:r>
            <a:r>
              <a:rPr dirty="0" sz="1000" spc="55" i="1">
                <a:latin typeface="Calibri"/>
                <a:cs typeface="Calibri"/>
              </a:rPr>
              <a:t>Q</a:t>
            </a:r>
            <a:r>
              <a:rPr dirty="0" sz="1000" spc="55">
                <a:latin typeface="Times New Roman"/>
                <a:cs typeface="Times New Roman"/>
              </a:rPr>
              <a:t>.</a:t>
            </a:r>
            <a:r>
              <a:rPr dirty="0" sz="1000" spc="3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keys</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values</a:t>
            </a:r>
            <a:r>
              <a:rPr dirty="0" sz="1000" spc="-20">
                <a:latin typeface="Times New Roman"/>
                <a:cs typeface="Times New Roman"/>
              </a:rPr>
              <a:t> </a:t>
            </a:r>
            <a:r>
              <a:rPr dirty="0" sz="1000">
                <a:latin typeface="Times New Roman"/>
                <a:cs typeface="Times New Roman"/>
              </a:rPr>
              <a:t>are</a:t>
            </a:r>
            <a:r>
              <a:rPr dirty="0" sz="1000" spc="-20">
                <a:latin typeface="Times New Roman"/>
                <a:cs typeface="Times New Roman"/>
              </a:rPr>
              <a:t> </a:t>
            </a:r>
            <a:r>
              <a:rPr dirty="0" sz="1000">
                <a:latin typeface="Times New Roman"/>
                <a:cs typeface="Times New Roman"/>
              </a:rPr>
              <a:t>also</a:t>
            </a:r>
            <a:r>
              <a:rPr dirty="0" sz="1000" spc="-20">
                <a:latin typeface="Times New Roman"/>
                <a:cs typeface="Times New Roman"/>
              </a:rPr>
              <a:t> </a:t>
            </a:r>
            <a:r>
              <a:rPr dirty="0" sz="1000">
                <a:latin typeface="Times New Roman"/>
                <a:cs typeface="Times New Roman"/>
              </a:rPr>
              <a:t>packed</a:t>
            </a:r>
            <a:r>
              <a:rPr dirty="0" sz="1000" spc="-20">
                <a:latin typeface="Times New Roman"/>
                <a:cs typeface="Times New Roman"/>
              </a:rPr>
              <a:t> </a:t>
            </a:r>
            <a:r>
              <a:rPr dirty="0" sz="1000">
                <a:latin typeface="Times New Roman"/>
                <a:cs typeface="Times New Roman"/>
              </a:rPr>
              <a:t>together</a:t>
            </a:r>
            <a:r>
              <a:rPr dirty="0" sz="1000" spc="-20">
                <a:latin typeface="Times New Roman"/>
                <a:cs typeface="Times New Roman"/>
              </a:rPr>
              <a:t> </a:t>
            </a:r>
            <a:r>
              <a:rPr dirty="0" sz="1000">
                <a:latin typeface="Times New Roman"/>
                <a:cs typeface="Times New Roman"/>
              </a:rPr>
              <a:t>into</a:t>
            </a:r>
            <a:r>
              <a:rPr dirty="0" sz="1000" spc="-20">
                <a:latin typeface="Times New Roman"/>
                <a:cs typeface="Times New Roman"/>
              </a:rPr>
              <a:t> </a:t>
            </a:r>
            <a:r>
              <a:rPr dirty="0" sz="1000">
                <a:latin typeface="Times New Roman"/>
                <a:cs typeface="Times New Roman"/>
              </a:rPr>
              <a:t>matrices</a:t>
            </a:r>
            <a:r>
              <a:rPr dirty="0" sz="1000" spc="-20">
                <a:latin typeface="Times New Roman"/>
                <a:cs typeface="Times New Roman"/>
              </a:rPr>
              <a:t> </a:t>
            </a:r>
            <a:r>
              <a:rPr dirty="0" sz="1000" spc="320" i="1">
                <a:latin typeface="Calibri"/>
                <a:cs typeface="Calibri"/>
              </a:rPr>
              <a:t>K</a:t>
            </a:r>
            <a:r>
              <a:rPr dirty="0" sz="1000" spc="75" i="1">
                <a:latin typeface="Calibri"/>
                <a:cs typeface="Calibri"/>
              </a:rPr>
              <a:t> </a:t>
            </a:r>
            <a:r>
              <a:rPr dirty="0" sz="1000">
                <a:latin typeface="Times New Roman"/>
                <a:cs typeface="Times New Roman"/>
              </a:rPr>
              <a:t>and</a:t>
            </a:r>
            <a:r>
              <a:rPr dirty="0" sz="1000" spc="-20">
                <a:latin typeface="Times New Roman"/>
                <a:cs typeface="Times New Roman"/>
              </a:rPr>
              <a:t> </a:t>
            </a:r>
            <a:r>
              <a:rPr dirty="0" sz="1000" i="1">
                <a:latin typeface="Calibri"/>
                <a:cs typeface="Calibri"/>
              </a:rPr>
              <a:t>V</a:t>
            </a:r>
            <a:r>
              <a:rPr dirty="0" sz="1000" spc="-20" i="1">
                <a:latin typeface="Calibri"/>
                <a:cs typeface="Calibri"/>
              </a:rPr>
              <a:t> </a:t>
            </a:r>
            <a:r>
              <a:rPr dirty="0" sz="1000">
                <a:latin typeface="Times New Roman"/>
                <a:cs typeface="Times New Roman"/>
              </a:rPr>
              <a:t>.</a:t>
            </a:r>
            <a:r>
              <a:rPr dirty="0" sz="1000" spc="35">
                <a:latin typeface="Times New Roman"/>
                <a:cs typeface="Times New Roman"/>
              </a:rPr>
              <a:t> </a:t>
            </a:r>
            <a:r>
              <a:rPr dirty="0" sz="1000" spc="-50">
                <a:latin typeface="Times New Roman"/>
                <a:cs typeface="Times New Roman"/>
              </a:rPr>
              <a:t>We</a:t>
            </a:r>
            <a:r>
              <a:rPr dirty="0" sz="1000" spc="-10">
                <a:latin typeface="Times New Roman"/>
                <a:cs typeface="Times New Roman"/>
              </a:rPr>
              <a:t> compute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matrix</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outputs</a:t>
            </a:r>
            <a:r>
              <a:rPr dirty="0" sz="1000" spc="-25">
                <a:latin typeface="Times New Roman"/>
                <a:cs typeface="Times New Roman"/>
              </a:rPr>
              <a:t> as:</a:t>
            </a:r>
            <a:endParaRPr sz="1000">
              <a:latin typeface="Times New Roman"/>
              <a:cs typeface="Times New Roman"/>
            </a:endParaRPr>
          </a:p>
        </p:txBody>
      </p:sp>
      <p:sp>
        <p:nvSpPr>
          <p:cNvPr id="8" name="object 8" descr=""/>
          <p:cNvSpPr txBox="1"/>
          <p:nvPr/>
        </p:nvSpPr>
        <p:spPr>
          <a:xfrm>
            <a:off x="4478134" y="5042502"/>
            <a:ext cx="352425" cy="177800"/>
          </a:xfrm>
          <a:prstGeom prst="rect">
            <a:avLst/>
          </a:prstGeom>
        </p:spPr>
        <p:txBody>
          <a:bodyPr wrap="square" lIns="0" tIns="12065" rIns="0" bIns="0" rtlCol="0" vert="horz">
            <a:spAutoFit/>
          </a:bodyPr>
          <a:lstStyle/>
          <a:p>
            <a:pPr marL="38100">
              <a:lnSpc>
                <a:spcPct val="100000"/>
              </a:lnSpc>
              <a:spcBef>
                <a:spcPts val="95"/>
              </a:spcBef>
            </a:pPr>
            <a:r>
              <a:rPr dirty="0" sz="1000" spc="185" i="1">
                <a:latin typeface="Calibri"/>
                <a:cs typeface="Calibri"/>
              </a:rPr>
              <a:t>QK</a:t>
            </a:r>
            <a:r>
              <a:rPr dirty="0" baseline="27777" sz="1050" spc="277" i="1">
                <a:latin typeface="Calibri"/>
                <a:cs typeface="Calibri"/>
              </a:rPr>
              <a:t>T</a:t>
            </a:r>
            <a:endParaRPr baseline="27777" sz="1050">
              <a:latin typeface="Calibri"/>
              <a:cs typeface="Calibri"/>
            </a:endParaRPr>
          </a:p>
        </p:txBody>
      </p:sp>
      <p:grpSp>
        <p:nvGrpSpPr>
          <p:cNvPr id="9" name="object 9" descr=""/>
          <p:cNvGrpSpPr/>
          <p:nvPr/>
        </p:nvGrpSpPr>
        <p:grpSpPr>
          <a:xfrm>
            <a:off x="4516234" y="5233161"/>
            <a:ext cx="296545" cy="30480"/>
            <a:chOff x="4516234" y="5233161"/>
            <a:chExt cx="296545" cy="30480"/>
          </a:xfrm>
        </p:grpSpPr>
        <p:sp>
          <p:nvSpPr>
            <p:cNvPr id="10" name="object 10" descr=""/>
            <p:cNvSpPr/>
            <p:nvPr/>
          </p:nvSpPr>
          <p:spPr>
            <a:xfrm>
              <a:off x="4516234" y="5235689"/>
              <a:ext cx="296545" cy="0"/>
            </a:xfrm>
            <a:custGeom>
              <a:avLst/>
              <a:gdLst/>
              <a:ahLst/>
              <a:cxnLst/>
              <a:rect l="l" t="t" r="r" b="b"/>
              <a:pathLst>
                <a:path w="296545" h="0">
                  <a:moveTo>
                    <a:pt x="0" y="0"/>
                  </a:moveTo>
                  <a:lnTo>
                    <a:pt x="296240" y="0"/>
                  </a:lnTo>
                </a:path>
              </a:pathLst>
            </a:custGeom>
            <a:ln w="5054">
              <a:solidFill>
                <a:srgbClr val="000000"/>
              </a:solidFill>
            </a:ln>
          </p:spPr>
          <p:txBody>
            <a:bodyPr wrap="square" lIns="0" tIns="0" rIns="0" bIns="0" rtlCol="0"/>
            <a:lstStyle/>
            <a:p/>
          </p:txBody>
        </p:sp>
        <p:sp>
          <p:nvSpPr>
            <p:cNvPr id="11" name="object 11" descr=""/>
            <p:cNvSpPr/>
            <p:nvPr/>
          </p:nvSpPr>
          <p:spPr>
            <a:xfrm>
              <a:off x="4653013" y="5260987"/>
              <a:ext cx="128270" cy="0"/>
            </a:xfrm>
            <a:custGeom>
              <a:avLst/>
              <a:gdLst/>
              <a:ahLst/>
              <a:cxnLst/>
              <a:rect l="l" t="t" r="r" b="b"/>
              <a:pathLst>
                <a:path w="128270" h="0">
                  <a:moveTo>
                    <a:pt x="0" y="0"/>
                  </a:moveTo>
                  <a:lnTo>
                    <a:pt x="128104" y="0"/>
                  </a:lnTo>
                </a:path>
              </a:pathLst>
            </a:custGeom>
            <a:ln w="5054">
              <a:solidFill>
                <a:srgbClr val="000000"/>
              </a:solidFill>
            </a:ln>
          </p:spPr>
          <p:txBody>
            <a:bodyPr wrap="square" lIns="0" tIns="0" rIns="0" bIns="0" rtlCol="0"/>
            <a:lstStyle/>
            <a:p/>
          </p:txBody>
        </p:sp>
      </p:grpSp>
      <p:sp>
        <p:nvSpPr>
          <p:cNvPr id="12" name="object 12" descr=""/>
          <p:cNvSpPr txBox="1"/>
          <p:nvPr/>
        </p:nvSpPr>
        <p:spPr>
          <a:xfrm>
            <a:off x="2755519" y="5128087"/>
            <a:ext cx="2233295" cy="177800"/>
          </a:xfrm>
          <a:prstGeom prst="rect">
            <a:avLst/>
          </a:prstGeom>
        </p:spPr>
        <p:txBody>
          <a:bodyPr wrap="square" lIns="0" tIns="12065" rIns="0" bIns="0" rtlCol="0" vert="horz">
            <a:spAutoFit/>
          </a:bodyPr>
          <a:lstStyle/>
          <a:p>
            <a:pPr marL="38100">
              <a:lnSpc>
                <a:spcPct val="100000"/>
              </a:lnSpc>
              <a:spcBef>
                <a:spcPts val="95"/>
              </a:spcBef>
            </a:pPr>
            <a:r>
              <a:rPr dirty="0" sz="1000" spc="30">
                <a:latin typeface="Calibri"/>
                <a:cs typeface="Calibri"/>
              </a:rPr>
              <a:t>Attention(</a:t>
            </a:r>
            <a:r>
              <a:rPr dirty="0" sz="1000" spc="30" i="1">
                <a:latin typeface="Calibri"/>
                <a:cs typeface="Calibri"/>
              </a:rPr>
              <a:t>Q,</a:t>
            </a:r>
            <a:r>
              <a:rPr dirty="0" sz="1000" spc="-55" i="1">
                <a:latin typeface="Calibri"/>
                <a:cs typeface="Calibri"/>
              </a:rPr>
              <a:t> </a:t>
            </a:r>
            <a:r>
              <a:rPr dirty="0" sz="1000" spc="180" i="1">
                <a:latin typeface="Calibri"/>
                <a:cs typeface="Calibri"/>
              </a:rPr>
              <a:t>K,</a:t>
            </a:r>
            <a:r>
              <a:rPr dirty="0" sz="1000" spc="-55" i="1">
                <a:latin typeface="Calibri"/>
                <a:cs typeface="Calibri"/>
              </a:rPr>
              <a:t> </a:t>
            </a:r>
            <a:r>
              <a:rPr dirty="0" sz="1000" spc="30" i="1">
                <a:latin typeface="Calibri"/>
                <a:cs typeface="Calibri"/>
              </a:rPr>
              <a:t>V</a:t>
            </a:r>
            <a:r>
              <a:rPr dirty="0" sz="1000" i="1">
                <a:latin typeface="Calibri"/>
                <a:cs typeface="Calibri"/>
              </a:rPr>
              <a:t> </a:t>
            </a:r>
            <a:r>
              <a:rPr dirty="0" sz="1000" spc="80">
                <a:latin typeface="Calibri"/>
                <a:cs typeface="Calibri"/>
              </a:rPr>
              <a:t>)</a:t>
            </a:r>
            <a:r>
              <a:rPr dirty="0" sz="1000" spc="60">
                <a:latin typeface="Calibri"/>
                <a:cs typeface="Calibri"/>
              </a:rPr>
              <a:t> </a:t>
            </a:r>
            <a:r>
              <a:rPr dirty="0" sz="1000" spc="270">
                <a:latin typeface="Calibri"/>
                <a:cs typeface="Calibri"/>
              </a:rPr>
              <a:t>=</a:t>
            </a:r>
            <a:r>
              <a:rPr dirty="0" sz="1000" spc="60">
                <a:latin typeface="Calibri"/>
                <a:cs typeface="Calibri"/>
              </a:rPr>
              <a:t> </a:t>
            </a:r>
            <a:r>
              <a:rPr dirty="0" sz="1000" spc="30">
                <a:latin typeface="Calibri"/>
                <a:cs typeface="Calibri"/>
              </a:rPr>
              <a:t>softmax(</a:t>
            </a:r>
            <a:r>
              <a:rPr dirty="0" sz="1000" spc="150">
                <a:latin typeface="Calibri"/>
                <a:cs typeface="Calibri"/>
              </a:rPr>
              <a:t> </a:t>
            </a:r>
            <a:r>
              <a:rPr dirty="0" baseline="2777" sz="1500" spc="44">
                <a:latin typeface="Lucida Sans Unicode"/>
                <a:cs typeface="Lucida Sans Unicode"/>
              </a:rPr>
              <a:t>√</a:t>
            </a:r>
            <a:r>
              <a:rPr dirty="0" baseline="-41666" sz="1500" spc="44" i="1">
                <a:latin typeface="Calibri"/>
                <a:cs typeface="Calibri"/>
              </a:rPr>
              <a:t>d</a:t>
            </a:r>
            <a:r>
              <a:rPr dirty="0" baseline="-41666" sz="1500" spc="322" i="1">
                <a:latin typeface="Calibri"/>
                <a:cs typeface="Calibri"/>
              </a:rPr>
              <a:t>  </a:t>
            </a:r>
            <a:r>
              <a:rPr dirty="0" sz="1000" spc="25">
                <a:latin typeface="Calibri"/>
                <a:cs typeface="Calibri"/>
              </a:rPr>
              <a:t>)</a:t>
            </a:r>
            <a:r>
              <a:rPr dirty="0" sz="1000" spc="25" i="1">
                <a:latin typeface="Calibri"/>
                <a:cs typeface="Calibri"/>
              </a:rPr>
              <a:t>V</a:t>
            </a:r>
            <a:endParaRPr sz="1000">
              <a:latin typeface="Calibri"/>
              <a:cs typeface="Calibri"/>
            </a:endParaRPr>
          </a:p>
        </p:txBody>
      </p:sp>
      <p:sp>
        <p:nvSpPr>
          <p:cNvPr id="13" name="object 13" descr=""/>
          <p:cNvSpPr txBox="1"/>
          <p:nvPr/>
        </p:nvSpPr>
        <p:spPr>
          <a:xfrm>
            <a:off x="6240576" y="5128087"/>
            <a:ext cx="173355" cy="177800"/>
          </a:xfrm>
          <a:prstGeom prst="rect">
            <a:avLst/>
          </a:prstGeom>
        </p:spPr>
        <p:txBody>
          <a:bodyPr wrap="square" lIns="0" tIns="12065" rIns="0" bIns="0" rtlCol="0" vert="horz">
            <a:spAutoFit/>
          </a:bodyPr>
          <a:lstStyle/>
          <a:p>
            <a:pPr marL="12700">
              <a:lnSpc>
                <a:spcPct val="100000"/>
              </a:lnSpc>
              <a:spcBef>
                <a:spcPts val="95"/>
              </a:spcBef>
            </a:pPr>
            <a:r>
              <a:rPr dirty="0" sz="1000" spc="-25">
                <a:latin typeface="Times New Roman"/>
                <a:cs typeface="Times New Roman"/>
              </a:rPr>
              <a:t>(1)</a:t>
            </a:r>
            <a:endParaRPr sz="1000">
              <a:latin typeface="Times New Roman"/>
              <a:cs typeface="Times New Roman"/>
            </a:endParaRPr>
          </a:p>
        </p:txBody>
      </p:sp>
      <p:sp>
        <p:nvSpPr>
          <p:cNvPr id="14" name="object 14" descr=""/>
          <p:cNvSpPr txBox="1"/>
          <p:nvPr/>
        </p:nvSpPr>
        <p:spPr>
          <a:xfrm>
            <a:off x="1354975" y="5279570"/>
            <a:ext cx="5080000" cy="563245"/>
          </a:xfrm>
          <a:prstGeom prst="rect">
            <a:avLst/>
          </a:prstGeom>
        </p:spPr>
        <p:txBody>
          <a:bodyPr wrap="square" lIns="0" tIns="12065" rIns="0" bIns="0" rtlCol="0" vert="horz">
            <a:spAutoFit/>
          </a:bodyPr>
          <a:lstStyle/>
          <a:p>
            <a:pPr marL="3363595">
              <a:lnSpc>
                <a:spcPct val="100000"/>
              </a:lnSpc>
              <a:spcBef>
                <a:spcPts val="95"/>
              </a:spcBef>
            </a:pPr>
            <a:r>
              <a:rPr dirty="0" sz="700" spc="55" i="1">
                <a:latin typeface="Calibri"/>
                <a:cs typeface="Calibri"/>
              </a:rPr>
              <a:t>k</a:t>
            </a:r>
            <a:endParaRPr sz="700">
              <a:latin typeface="Calibri"/>
              <a:cs typeface="Calibri"/>
            </a:endParaRPr>
          </a:p>
          <a:p>
            <a:pPr>
              <a:lnSpc>
                <a:spcPct val="100000"/>
              </a:lnSpc>
              <a:spcBef>
                <a:spcPts val="375"/>
              </a:spcBef>
            </a:pPr>
            <a:endParaRPr sz="700">
              <a:latin typeface="Calibri"/>
              <a:cs typeface="Calibri"/>
            </a:endParaRPr>
          </a:p>
          <a:p>
            <a:pPr marL="16510" marR="5080" indent="-4445">
              <a:lnSpc>
                <a:spcPts val="1090"/>
              </a:lnSpc>
              <a:spcBef>
                <a:spcPts val="5"/>
              </a:spcBef>
            </a:pP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two</a:t>
            </a:r>
            <a:r>
              <a:rPr dirty="0" sz="1000" spc="-15">
                <a:latin typeface="Times New Roman"/>
                <a:cs typeface="Times New Roman"/>
              </a:rPr>
              <a:t> </a:t>
            </a:r>
            <a:r>
              <a:rPr dirty="0" sz="1000">
                <a:latin typeface="Times New Roman"/>
                <a:cs typeface="Times New Roman"/>
              </a:rPr>
              <a:t>most</a:t>
            </a:r>
            <a:r>
              <a:rPr dirty="0" sz="1000" spc="-20">
                <a:latin typeface="Times New Roman"/>
                <a:cs typeface="Times New Roman"/>
              </a:rPr>
              <a:t> </a:t>
            </a:r>
            <a:r>
              <a:rPr dirty="0" sz="1000">
                <a:latin typeface="Times New Roman"/>
                <a:cs typeface="Times New Roman"/>
              </a:rPr>
              <a:t>commonly</a:t>
            </a:r>
            <a:r>
              <a:rPr dirty="0" sz="1000" spc="-15">
                <a:latin typeface="Times New Roman"/>
                <a:cs typeface="Times New Roman"/>
              </a:rPr>
              <a:t> </a:t>
            </a:r>
            <a:r>
              <a:rPr dirty="0" sz="1000">
                <a:latin typeface="Times New Roman"/>
                <a:cs typeface="Times New Roman"/>
              </a:rPr>
              <a:t>used</a:t>
            </a:r>
            <a:r>
              <a:rPr dirty="0" sz="1000" spc="-20">
                <a:latin typeface="Times New Roman"/>
                <a:cs typeface="Times New Roman"/>
              </a:rPr>
              <a:t> </a:t>
            </a:r>
            <a:r>
              <a:rPr dirty="0" sz="1000">
                <a:latin typeface="Times New Roman"/>
                <a:cs typeface="Times New Roman"/>
              </a:rPr>
              <a:t>attention</a:t>
            </a:r>
            <a:r>
              <a:rPr dirty="0" sz="1000" spc="-15">
                <a:latin typeface="Times New Roman"/>
                <a:cs typeface="Times New Roman"/>
              </a:rPr>
              <a:t> </a:t>
            </a:r>
            <a:r>
              <a:rPr dirty="0" sz="1000">
                <a:latin typeface="Times New Roman"/>
                <a:cs typeface="Times New Roman"/>
              </a:rPr>
              <a:t>functions</a:t>
            </a:r>
            <a:r>
              <a:rPr dirty="0" sz="1000" spc="-15">
                <a:latin typeface="Times New Roman"/>
                <a:cs typeface="Times New Roman"/>
              </a:rPr>
              <a:t> </a:t>
            </a:r>
            <a:r>
              <a:rPr dirty="0" sz="1000">
                <a:latin typeface="Times New Roman"/>
                <a:cs typeface="Times New Roman"/>
              </a:rPr>
              <a:t>are</a:t>
            </a:r>
            <a:r>
              <a:rPr dirty="0" sz="1000" spc="-20">
                <a:latin typeface="Times New Roman"/>
                <a:cs typeface="Times New Roman"/>
              </a:rPr>
              <a:t> </a:t>
            </a:r>
            <a:r>
              <a:rPr dirty="0" sz="1000">
                <a:latin typeface="Times New Roman"/>
                <a:cs typeface="Times New Roman"/>
              </a:rPr>
              <a:t>additive</a:t>
            </a:r>
            <a:r>
              <a:rPr dirty="0" sz="1000" spc="-15">
                <a:latin typeface="Times New Roman"/>
                <a:cs typeface="Times New Roman"/>
              </a:rPr>
              <a:t> </a:t>
            </a:r>
            <a:r>
              <a:rPr dirty="0" sz="1000">
                <a:latin typeface="Times New Roman"/>
                <a:cs typeface="Times New Roman"/>
              </a:rPr>
              <a:t>attention</a:t>
            </a:r>
            <a:r>
              <a:rPr dirty="0" sz="1000" spc="-20">
                <a:latin typeface="Times New Roman"/>
                <a:cs typeface="Times New Roman"/>
              </a:rPr>
              <a:t> </a:t>
            </a:r>
            <a:r>
              <a:rPr dirty="0" sz="1000">
                <a:latin typeface="Times New Roman"/>
                <a:cs typeface="Times New Roman"/>
              </a:rPr>
              <a:t>[2],</a:t>
            </a:r>
            <a:r>
              <a:rPr dirty="0" sz="1000" spc="-15">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spc="-10">
                <a:latin typeface="Times New Roman"/>
                <a:cs typeface="Times New Roman"/>
              </a:rPr>
              <a:t>dot-</a:t>
            </a:r>
            <a:r>
              <a:rPr dirty="0" sz="1000">
                <a:latin typeface="Times New Roman"/>
                <a:cs typeface="Times New Roman"/>
              </a:rPr>
              <a:t>product</a:t>
            </a:r>
            <a:r>
              <a:rPr dirty="0" sz="1000" spc="-20">
                <a:latin typeface="Times New Roman"/>
                <a:cs typeface="Times New Roman"/>
              </a:rPr>
              <a:t> </a:t>
            </a:r>
            <a:r>
              <a:rPr dirty="0" sz="1000" spc="-10">
                <a:latin typeface="Times New Roman"/>
                <a:cs typeface="Times New Roman"/>
              </a:rPr>
              <a:t>(multi- plicative)</a:t>
            </a:r>
            <a:r>
              <a:rPr dirty="0" sz="1000" spc="-25">
                <a:latin typeface="Times New Roman"/>
                <a:cs typeface="Times New Roman"/>
              </a:rPr>
              <a:t> </a:t>
            </a:r>
            <a:r>
              <a:rPr dirty="0" sz="1000">
                <a:latin typeface="Times New Roman"/>
                <a:cs typeface="Times New Roman"/>
              </a:rPr>
              <a:t>attention.</a:t>
            </a:r>
            <a:r>
              <a:rPr dirty="0" sz="1000" spc="30">
                <a:latin typeface="Times New Roman"/>
                <a:cs typeface="Times New Roman"/>
              </a:rPr>
              <a:t> </a:t>
            </a:r>
            <a:r>
              <a:rPr dirty="0" sz="1000" spc="-10">
                <a:latin typeface="Times New Roman"/>
                <a:cs typeface="Times New Roman"/>
              </a:rPr>
              <a:t>Dot-</a:t>
            </a:r>
            <a:r>
              <a:rPr dirty="0" sz="1000">
                <a:latin typeface="Times New Roman"/>
                <a:cs typeface="Times New Roman"/>
              </a:rPr>
              <a:t>product</a:t>
            </a:r>
            <a:r>
              <a:rPr dirty="0" sz="1000" spc="-20">
                <a:latin typeface="Times New Roman"/>
                <a:cs typeface="Times New Roman"/>
              </a:rPr>
              <a:t> </a:t>
            </a:r>
            <a:r>
              <a:rPr dirty="0" sz="1000">
                <a:latin typeface="Times New Roman"/>
                <a:cs typeface="Times New Roman"/>
              </a:rPr>
              <a:t>attention</a:t>
            </a:r>
            <a:r>
              <a:rPr dirty="0" sz="1000" spc="-25">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a:latin typeface="Times New Roman"/>
                <a:cs typeface="Times New Roman"/>
              </a:rPr>
              <a:t>identical</a:t>
            </a:r>
            <a:r>
              <a:rPr dirty="0" sz="1000" spc="-20">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our</a:t>
            </a:r>
            <a:r>
              <a:rPr dirty="0" sz="1000" spc="-25">
                <a:latin typeface="Times New Roman"/>
                <a:cs typeface="Times New Roman"/>
              </a:rPr>
              <a:t> </a:t>
            </a:r>
            <a:r>
              <a:rPr dirty="0" sz="1000">
                <a:latin typeface="Times New Roman"/>
                <a:cs typeface="Times New Roman"/>
              </a:rPr>
              <a:t>algorithm,</a:t>
            </a:r>
            <a:r>
              <a:rPr dirty="0" sz="1000" spc="-25">
                <a:latin typeface="Times New Roman"/>
                <a:cs typeface="Times New Roman"/>
              </a:rPr>
              <a:t> </a:t>
            </a:r>
            <a:r>
              <a:rPr dirty="0" sz="1000">
                <a:latin typeface="Times New Roman"/>
                <a:cs typeface="Times New Roman"/>
              </a:rPr>
              <a:t>except</a:t>
            </a:r>
            <a:r>
              <a:rPr dirty="0" sz="1000" spc="-20">
                <a:latin typeface="Times New Roman"/>
                <a:cs typeface="Times New Roman"/>
              </a:rPr>
              <a:t> </a:t>
            </a:r>
            <a:r>
              <a:rPr dirty="0" sz="1000">
                <a:latin typeface="Times New Roman"/>
                <a:cs typeface="Times New Roman"/>
              </a:rPr>
              <a:t>for</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scaling</a:t>
            </a:r>
            <a:r>
              <a:rPr dirty="0" sz="1000" spc="-25">
                <a:latin typeface="Times New Roman"/>
                <a:cs typeface="Times New Roman"/>
              </a:rPr>
              <a:t> </a:t>
            </a:r>
            <a:r>
              <a:rPr dirty="0" sz="1000" spc="-10">
                <a:latin typeface="Times New Roman"/>
                <a:cs typeface="Times New Roman"/>
              </a:rPr>
              <a:t>factor</a:t>
            </a:r>
            <a:endParaRPr sz="1000">
              <a:latin typeface="Times New Roman"/>
              <a:cs typeface="Times New Roman"/>
            </a:endParaRPr>
          </a:p>
        </p:txBody>
      </p:sp>
      <p:sp>
        <p:nvSpPr>
          <p:cNvPr id="15" name="object 15" descr=""/>
          <p:cNvSpPr txBox="1"/>
          <p:nvPr/>
        </p:nvSpPr>
        <p:spPr>
          <a:xfrm>
            <a:off x="1582356" y="5791774"/>
            <a:ext cx="146685" cy="132080"/>
          </a:xfrm>
          <a:prstGeom prst="rect">
            <a:avLst/>
          </a:prstGeom>
        </p:spPr>
        <p:txBody>
          <a:bodyPr wrap="square" lIns="0" tIns="12065" rIns="0" bIns="0" rtlCol="0" vert="horz">
            <a:spAutoFit/>
          </a:bodyPr>
          <a:lstStyle/>
          <a:p>
            <a:pPr marL="12700">
              <a:lnSpc>
                <a:spcPct val="100000"/>
              </a:lnSpc>
              <a:spcBef>
                <a:spcPts val="95"/>
              </a:spcBef>
            </a:pPr>
            <a:r>
              <a:rPr dirty="0" u="sng" sz="700" spc="-50">
                <a:uFill>
                  <a:solidFill>
                    <a:srgbClr val="000000"/>
                  </a:solidFill>
                </a:uFill>
                <a:latin typeface="Tahoma"/>
                <a:cs typeface="Tahoma"/>
              </a:rPr>
              <a:t>1</a:t>
            </a:r>
            <a:r>
              <a:rPr dirty="0" u="sng" sz="700" spc="500">
                <a:uFill>
                  <a:solidFill>
                    <a:srgbClr val="000000"/>
                  </a:solidFill>
                </a:uFill>
                <a:latin typeface="Tahoma"/>
                <a:cs typeface="Tahoma"/>
              </a:rPr>
              <a:t> </a:t>
            </a:r>
            <a:endParaRPr sz="700">
              <a:latin typeface="Tahoma"/>
              <a:cs typeface="Tahoma"/>
            </a:endParaRPr>
          </a:p>
        </p:txBody>
      </p:sp>
      <p:sp>
        <p:nvSpPr>
          <p:cNvPr id="16" name="object 16" descr=""/>
          <p:cNvSpPr/>
          <p:nvPr/>
        </p:nvSpPr>
        <p:spPr>
          <a:xfrm>
            <a:off x="1524711" y="5911215"/>
            <a:ext cx="191135" cy="0"/>
          </a:xfrm>
          <a:custGeom>
            <a:avLst/>
            <a:gdLst/>
            <a:ahLst/>
            <a:cxnLst/>
            <a:rect l="l" t="t" r="r" b="b"/>
            <a:pathLst>
              <a:path w="191135" h="0">
                <a:moveTo>
                  <a:pt x="0" y="0"/>
                </a:moveTo>
                <a:lnTo>
                  <a:pt x="191096" y="0"/>
                </a:lnTo>
              </a:path>
            </a:pathLst>
          </a:custGeom>
          <a:ln w="5054">
            <a:solidFill>
              <a:srgbClr val="000000"/>
            </a:solidFill>
          </a:ln>
        </p:spPr>
        <p:txBody>
          <a:bodyPr wrap="square" lIns="0" tIns="0" rIns="0" bIns="0" rtlCol="0"/>
          <a:lstStyle/>
          <a:p/>
        </p:txBody>
      </p:sp>
      <p:sp>
        <p:nvSpPr>
          <p:cNvPr id="17" name="object 17" descr=""/>
          <p:cNvSpPr txBox="1"/>
          <p:nvPr/>
        </p:nvSpPr>
        <p:spPr>
          <a:xfrm>
            <a:off x="1512011" y="5826153"/>
            <a:ext cx="95885" cy="132080"/>
          </a:xfrm>
          <a:prstGeom prst="rect">
            <a:avLst/>
          </a:prstGeom>
        </p:spPr>
        <p:txBody>
          <a:bodyPr wrap="square" lIns="0" tIns="12065" rIns="0" bIns="0" rtlCol="0" vert="horz">
            <a:spAutoFit/>
          </a:bodyPr>
          <a:lstStyle/>
          <a:p>
            <a:pPr marL="12700">
              <a:lnSpc>
                <a:spcPct val="100000"/>
              </a:lnSpc>
              <a:spcBef>
                <a:spcPts val="95"/>
              </a:spcBef>
            </a:pPr>
            <a:r>
              <a:rPr dirty="0" sz="700" spc="30">
                <a:latin typeface="Cambria"/>
                <a:cs typeface="Cambria"/>
              </a:rPr>
              <a:t>√</a:t>
            </a:r>
            <a:endParaRPr sz="700">
              <a:latin typeface="Cambria"/>
              <a:cs typeface="Cambria"/>
            </a:endParaRPr>
          </a:p>
        </p:txBody>
      </p:sp>
      <p:sp>
        <p:nvSpPr>
          <p:cNvPr id="18" name="object 18" descr=""/>
          <p:cNvSpPr txBox="1"/>
          <p:nvPr/>
        </p:nvSpPr>
        <p:spPr>
          <a:xfrm>
            <a:off x="1569732" y="5895012"/>
            <a:ext cx="177165" cy="132080"/>
          </a:xfrm>
          <a:prstGeom prst="rect">
            <a:avLst/>
          </a:prstGeom>
        </p:spPr>
        <p:txBody>
          <a:bodyPr wrap="square" lIns="0" tIns="12065" rIns="0" bIns="0" rtlCol="0" vert="horz">
            <a:spAutoFit/>
          </a:bodyPr>
          <a:lstStyle/>
          <a:p>
            <a:pPr marL="38100">
              <a:lnSpc>
                <a:spcPct val="100000"/>
              </a:lnSpc>
              <a:spcBef>
                <a:spcPts val="95"/>
              </a:spcBef>
            </a:pPr>
            <a:r>
              <a:rPr dirty="0" sz="700" spc="55" i="1">
                <a:latin typeface="Calibri"/>
                <a:cs typeface="Calibri"/>
              </a:rPr>
              <a:t>d</a:t>
            </a:r>
            <a:r>
              <a:rPr dirty="0" baseline="-11111" sz="750" spc="82" i="1">
                <a:latin typeface="Georgia"/>
                <a:cs typeface="Georgia"/>
              </a:rPr>
              <a:t>k</a:t>
            </a:r>
            <a:endParaRPr baseline="-11111" sz="750">
              <a:latin typeface="Georgia"/>
              <a:cs typeface="Georgia"/>
            </a:endParaRPr>
          </a:p>
        </p:txBody>
      </p:sp>
      <p:sp>
        <p:nvSpPr>
          <p:cNvPr id="19" name="object 19" descr=""/>
          <p:cNvSpPr txBox="1"/>
          <p:nvPr/>
        </p:nvSpPr>
        <p:spPr>
          <a:xfrm>
            <a:off x="1358900" y="5803625"/>
            <a:ext cx="5055235" cy="177800"/>
          </a:xfrm>
          <a:prstGeom prst="rect">
            <a:avLst/>
          </a:prstGeom>
        </p:spPr>
        <p:txBody>
          <a:bodyPr wrap="square" lIns="0" tIns="12065" rIns="0" bIns="0" rtlCol="0" vert="horz">
            <a:spAutoFit/>
          </a:bodyPr>
          <a:lstStyle/>
          <a:p>
            <a:pPr marL="12700">
              <a:lnSpc>
                <a:spcPct val="100000"/>
              </a:lnSpc>
              <a:spcBef>
                <a:spcPts val="95"/>
              </a:spcBef>
              <a:tabLst>
                <a:tab pos="371475" algn="l"/>
              </a:tabLst>
            </a:pPr>
            <a:r>
              <a:rPr dirty="0" sz="1000" spc="-25">
                <a:latin typeface="Times New Roman"/>
                <a:cs typeface="Times New Roman"/>
              </a:rPr>
              <a:t>of</a:t>
            </a:r>
            <a:r>
              <a:rPr dirty="0" sz="1000">
                <a:latin typeface="Times New Roman"/>
                <a:cs typeface="Times New Roman"/>
              </a:rPr>
              <a:t>	.</a:t>
            </a:r>
            <a:r>
              <a:rPr dirty="0" sz="1000" spc="45">
                <a:latin typeface="Times New Roman"/>
                <a:cs typeface="Times New Roman"/>
              </a:rPr>
              <a:t> </a:t>
            </a:r>
            <a:r>
              <a:rPr dirty="0" sz="1000">
                <a:latin typeface="Times New Roman"/>
                <a:cs typeface="Times New Roman"/>
              </a:rPr>
              <a:t>Additive</a:t>
            </a:r>
            <a:r>
              <a:rPr dirty="0" sz="1000" spc="-15">
                <a:latin typeface="Times New Roman"/>
                <a:cs typeface="Times New Roman"/>
              </a:rPr>
              <a:t> </a:t>
            </a:r>
            <a:r>
              <a:rPr dirty="0" sz="1000">
                <a:latin typeface="Times New Roman"/>
                <a:cs typeface="Times New Roman"/>
              </a:rPr>
              <a:t>attention</a:t>
            </a:r>
            <a:r>
              <a:rPr dirty="0" sz="1000" spc="-10">
                <a:latin typeface="Times New Roman"/>
                <a:cs typeface="Times New Roman"/>
              </a:rPr>
              <a:t> </a:t>
            </a:r>
            <a:r>
              <a:rPr dirty="0" sz="1000">
                <a:latin typeface="Times New Roman"/>
                <a:cs typeface="Times New Roman"/>
              </a:rPr>
              <a:t>computes</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compatibility</a:t>
            </a:r>
            <a:r>
              <a:rPr dirty="0" sz="1000" spc="-10">
                <a:latin typeface="Times New Roman"/>
                <a:cs typeface="Times New Roman"/>
              </a:rPr>
              <a:t> </a:t>
            </a:r>
            <a:r>
              <a:rPr dirty="0" sz="1000">
                <a:latin typeface="Times New Roman"/>
                <a:cs typeface="Times New Roman"/>
              </a:rPr>
              <a:t>function</a:t>
            </a:r>
            <a:r>
              <a:rPr dirty="0" sz="1000" spc="-15">
                <a:latin typeface="Times New Roman"/>
                <a:cs typeface="Times New Roman"/>
              </a:rPr>
              <a:t> </a:t>
            </a:r>
            <a:r>
              <a:rPr dirty="0" sz="1000">
                <a:latin typeface="Times New Roman"/>
                <a:cs typeface="Times New Roman"/>
              </a:rPr>
              <a:t>using</a:t>
            </a:r>
            <a:r>
              <a:rPr dirty="0" sz="1000" spc="-10">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spc="-10">
                <a:latin typeface="Times New Roman"/>
                <a:cs typeface="Times New Roman"/>
              </a:rPr>
              <a:t>feed-</a:t>
            </a:r>
            <a:r>
              <a:rPr dirty="0" sz="1000">
                <a:latin typeface="Times New Roman"/>
                <a:cs typeface="Times New Roman"/>
              </a:rPr>
              <a:t>forward</a:t>
            </a:r>
            <a:r>
              <a:rPr dirty="0" sz="1000" spc="-10">
                <a:latin typeface="Times New Roman"/>
                <a:cs typeface="Times New Roman"/>
              </a:rPr>
              <a:t> </a:t>
            </a:r>
            <a:r>
              <a:rPr dirty="0" sz="1000">
                <a:latin typeface="Times New Roman"/>
                <a:cs typeface="Times New Roman"/>
              </a:rPr>
              <a:t>network</a:t>
            </a:r>
            <a:r>
              <a:rPr dirty="0" sz="1000" spc="-15">
                <a:latin typeface="Times New Roman"/>
                <a:cs typeface="Times New Roman"/>
              </a:rPr>
              <a:t> </a:t>
            </a:r>
            <a:r>
              <a:rPr dirty="0" sz="1000" spc="-20">
                <a:latin typeface="Times New Roman"/>
                <a:cs typeface="Times New Roman"/>
              </a:rPr>
              <a:t>with</a:t>
            </a:r>
            <a:endParaRPr sz="1000">
              <a:latin typeface="Times New Roman"/>
              <a:cs typeface="Times New Roman"/>
            </a:endParaRPr>
          </a:p>
        </p:txBody>
      </p:sp>
      <p:sp>
        <p:nvSpPr>
          <p:cNvPr id="20" name="object 20" descr=""/>
          <p:cNvSpPr txBox="1"/>
          <p:nvPr/>
        </p:nvSpPr>
        <p:spPr>
          <a:xfrm>
            <a:off x="1327556" y="5970897"/>
            <a:ext cx="5111750" cy="939800"/>
          </a:xfrm>
          <a:prstGeom prst="rect">
            <a:avLst/>
          </a:prstGeom>
        </p:spPr>
        <p:txBody>
          <a:bodyPr wrap="square" lIns="0" tIns="28575" rIns="0" bIns="0" rtlCol="0" vert="horz">
            <a:spAutoFit/>
          </a:bodyPr>
          <a:lstStyle/>
          <a:p>
            <a:pPr algn="just" marL="43815" marR="30480">
              <a:lnSpc>
                <a:spcPts val="1090"/>
              </a:lnSpc>
              <a:spcBef>
                <a:spcPts val="225"/>
              </a:spcBef>
            </a:pPr>
            <a:r>
              <a:rPr dirty="0" sz="1000">
                <a:latin typeface="Times New Roman"/>
                <a:cs typeface="Times New Roman"/>
              </a:rPr>
              <a:t>a</a:t>
            </a:r>
            <a:r>
              <a:rPr dirty="0" sz="1000" spc="10">
                <a:latin typeface="Times New Roman"/>
                <a:cs typeface="Times New Roman"/>
              </a:rPr>
              <a:t> </a:t>
            </a:r>
            <a:r>
              <a:rPr dirty="0" sz="1000">
                <a:latin typeface="Times New Roman"/>
                <a:cs typeface="Times New Roman"/>
              </a:rPr>
              <a:t>single</a:t>
            </a:r>
            <a:r>
              <a:rPr dirty="0" sz="1000" spc="15">
                <a:latin typeface="Times New Roman"/>
                <a:cs typeface="Times New Roman"/>
              </a:rPr>
              <a:t> </a:t>
            </a:r>
            <a:r>
              <a:rPr dirty="0" sz="1000">
                <a:latin typeface="Times New Roman"/>
                <a:cs typeface="Times New Roman"/>
              </a:rPr>
              <a:t>hidden</a:t>
            </a:r>
            <a:r>
              <a:rPr dirty="0" sz="1000" spc="10">
                <a:latin typeface="Times New Roman"/>
                <a:cs typeface="Times New Roman"/>
              </a:rPr>
              <a:t> </a:t>
            </a:r>
            <a:r>
              <a:rPr dirty="0" sz="1000">
                <a:latin typeface="Times New Roman"/>
                <a:cs typeface="Times New Roman"/>
              </a:rPr>
              <a:t>layer.</a:t>
            </a:r>
            <a:r>
              <a:rPr dirty="0" sz="1000" spc="90">
                <a:latin typeface="Times New Roman"/>
                <a:cs typeface="Times New Roman"/>
              </a:rPr>
              <a:t> </a:t>
            </a:r>
            <a:r>
              <a:rPr dirty="0" sz="1000">
                <a:latin typeface="Times New Roman"/>
                <a:cs typeface="Times New Roman"/>
              </a:rPr>
              <a:t>While</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two</a:t>
            </a:r>
            <a:r>
              <a:rPr dirty="0" sz="1000" spc="10">
                <a:latin typeface="Times New Roman"/>
                <a:cs typeface="Times New Roman"/>
              </a:rPr>
              <a:t> </a:t>
            </a:r>
            <a:r>
              <a:rPr dirty="0" sz="1000">
                <a:latin typeface="Times New Roman"/>
                <a:cs typeface="Times New Roman"/>
              </a:rPr>
              <a:t>are</a:t>
            </a:r>
            <a:r>
              <a:rPr dirty="0" sz="1000" spc="15">
                <a:latin typeface="Times New Roman"/>
                <a:cs typeface="Times New Roman"/>
              </a:rPr>
              <a:t> </a:t>
            </a:r>
            <a:r>
              <a:rPr dirty="0" sz="1000">
                <a:latin typeface="Times New Roman"/>
                <a:cs typeface="Times New Roman"/>
              </a:rPr>
              <a:t>similar</a:t>
            </a:r>
            <a:r>
              <a:rPr dirty="0" sz="1000" spc="15">
                <a:latin typeface="Times New Roman"/>
                <a:cs typeface="Times New Roman"/>
              </a:rPr>
              <a:t> </a:t>
            </a:r>
            <a:r>
              <a:rPr dirty="0" sz="1000">
                <a:latin typeface="Times New Roman"/>
                <a:cs typeface="Times New Roman"/>
              </a:rPr>
              <a:t>in</a:t>
            </a:r>
            <a:r>
              <a:rPr dirty="0" sz="1000" spc="10">
                <a:latin typeface="Times New Roman"/>
                <a:cs typeface="Times New Roman"/>
              </a:rPr>
              <a:t> </a:t>
            </a:r>
            <a:r>
              <a:rPr dirty="0" sz="1000">
                <a:latin typeface="Times New Roman"/>
                <a:cs typeface="Times New Roman"/>
              </a:rPr>
              <a:t>theoretical</a:t>
            </a:r>
            <a:r>
              <a:rPr dirty="0" sz="1000" spc="15">
                <a:latin typeface="Times New Roman"/>
                <a:cs typeface="Times New Roman"/>
              </a:rPr>
              <a:t> </a:t>
            </a:r>
            <a:r>
              <a:rPr dirty="0" sz="1000">
                <a:latin typeface="Times New Roman"/>
                <a:cs typeface="Times New Roman"/>
              </a:rPr>
              <a:t>complexity,</a:t>
            </a:r>
            <a:r>
              <a:rPr dirty="0" sz="1000" spc="10">
                <a:latin typeface="Times New Roman"/>
                <a:cs typeface="Times New Roman"/>
              </a:rPr>
              <a:t> </a:t>
            </a:r>
            <a:r>
              <a:rPr dirty="0" sz="1000">
                <a:latin typeface="Times New Roman"/>
                <a:cs typeface="Times New Roman"/>
              </a:rPr>
              <a:t>dot-product</a:t>
            </a:r>
            <a:r>
              <a:rPr dirty="0" sz="1000" spc="15">
                <a:latin typeface="Times New Roman"/>
                <a:cs typeface="Times New Roman"/>
              </a:rPr>
              <a:t> </a:t>
            </a:r>
            <a:r>
              <a:rPr dirty="0" sz="1000">
                <a:latin typeface="Times New Roman"/>
                <a:cs typeface="Times New Roman"/>
              </a:rPr>
              <a:t>attention</a:t>
            </a:r>
            <a:r>
              <a:rPr dirty="0" sz="1000" spc="15">
                <a:latin typeface="Times New Roman"/>
                <a:cs typeface="Times New Roman"/>
              </a:rPr>
              <a:t> </a:t>
            </a:r>
            <a:r>
              <a:rPr dirty="0" sz="1000" spc="-25">
                <a:latin typeface="Times New Roman"/>
                <a:cs typeface="Times New Roman"/>
              </a:rPr>
              <a:t>is </a:t>
            </a:r>
            <a:r>
              <a:rPr dirty="0" sz="1000" spc="-10">
                <a:latin typeface="Times New Roman"/>
                <a:cs typeface="Times New Roman"/>
              </a:rPr>
              <a:t>much</a:t>
            </a:r>
            <a:r>
              <a:rPr dirty="0" sz="1000" spc="-30">
                <a:latin typeface="Times New Roman"/>
                <a:cs typeface="Times New Roman"/>
              </a:rPr>
              <a:t> </a:t>
            </a:r>
            <a:r>
              <a:rPr dirty="0" sz="1000" spc="-10">
                <a:latin typeface="Times New Roman"/>
                <a:cs typeface="Times New Roman"/>
              </a:rPr>
              <a:t>faster</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more</a:t>
            </a:r>
            <a:r>
              <a:rPr dirty="0" sz="1000" spc="-30">
                <a:latin typeface="Times New Roman"/>
                <a:cs typeface="Times New Roman"/>
              </a:rPr>
              <a:t> </a:t>
            </a:r>
            <a:r>
              <a:rPr dirty="0" sz="1000" spc="-20">
                <a:latin typeface="Times New Roman"/>
                <a:cs typeface="Times New Roman"/>
              </a:rPr>
              <a:t>space-efficient</a:t>
            </a:r>
            <a:r>
              <a:rPr dirty="0" sz="1000" spc="-25">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spc="-10">
                <a:latin typeface="Times New Roman"/>
                <a:cs typeface="Times New Roman"/>
              </a:rPr>
              <a:t>practice,</a:t>
            </a:r>
            <a:r>
              <a:rPr dirty="0" sz="1000" spc="-30">
                <a:latin typeface="Times New Roman"/>
                <a:cs typeface="Times New Roman"/>
              </a:rPr>
              <a:t> </a:t>
            </a:r>
            <a:r>
              <a:rPr dirty="0" sz="1000" spc="-10">
                <a:latin typeface="Times New Roman"/>
                <a:cs typeface="Times New Roman"/>
              </a:rPr>
              <a:t>since</a:t>
            </a:r>
            <a:r>
              <a:rPr dirty="0" sz="1000" spc="-30">
                <a:latin typeface="Times New Roman"/>
                <a:cs typeface="Times New Roman"/>
              </a:rPr>
              <a:t> </a:t>
            </a:r>
            <a:r>
              <a:rPr dirty="0" sz="1000">
                <a:latin typeface="Times New Roman"/>
                <a:cs typeface="Times New Roman"/>
              </a:rPr>
              <a:t>it</a:t>
            </a:r>
            <a:r>
              <a:rPr dirty="0" sz="1000" spc="-30">
                <a:latin typeface="Times New Roman"/>
                <a:cs typeface="Times New Roman"/>
              </a:rPr>
              <a:t> </a:t>
            </a:r>
            <a:r>
              <a:rPr dirty="0" sz="1000">
                <a:latin typeface="Times New Roman"/>
                <a:cs typeface="Times New Roman"/>
              </a:rPr>
              <a:t>can</a:t>
            </a:r>
            <a:r>
              <a:rPr dirty="0" sz="1000" spc="-25">
                <a:latin typeface="Times New Roman"/>
                <a:cs typeface="Times New Roman"/>
              </a:rPr>
              <a:t> </a:t>
            </a:r>
            <a:r>
              <a:rPr dirty="0" sz="1000">
                <a:latin typeface="Times New Roman"/>
                <a:cs typeface="Times New Roman"/>
              </a:rPr>
              <a:t>be</a:t>
            </a:r>
            <a:r>
              <a:rPr dirty="0" sz="1000" spc="-30">
                <a:latin typeface="Times New Roman"/>
                <a:cs typeface="Times New Roman"/>
              </a:rPr>
              <a:t> </a:t>
            </a:r>
            <a:r>
              <a:rPr dirty="0" sz="1000" spc="-10">
                <a:latin typeface="Times New Roman"/>
                <a:cs typeface="Times New Roman"/>
              </a:rPr>
              <a:t>implemented</a:t>
            </a:r>
            <a:r>
              <a:rPr dirty="0" sz="1000" spc="-30">
                <a:latin typeface="Times New Roman"/>
                <a:cs typeface="Times New Roman"/>
              </a:rPr>
              <a:t> </a:t>
            </a:r>
            <a:r>
              <a:rPr dirty="0" sz="1000">
                <a:latin typeface="Times New Roman"/>
                <a:cs typeface="Times New Roman"/>
              </a:rPr>
              <a:t>using</a:t>
            </a:r>
            <a:r>
              <a:rPr dirty="0" sz="1000" spc="-30">
                <a:latin typeface="Times New Roman"/>
                <a:cs typeface="Times New Roman"/>
              </a:rPr>
              <a:t> </a:t>
            </a:r>
            <a:r>
              <a:rPr dirty="0" sz="1000">
                <a:latin typeface="Times New Roman"/>
                <a:cs typeface="Times New Roman"/>
              </a:rPr>
              <a:t>highly</a:t>
            </a:r>
            <a:r>
              <a:rPr dirty="0" sz="1000" spc="-30">
                <a:latin typeface="Times New Roman"/>
                <a:cs typeface="Times New Roman"/>
              </a:rPr>
              <a:t> </a:t>
            </a:r>
            <a:r>
              <a:rPr dirty="0" sz="1000" spc="-10">
                <a:latin typeface="Times New Roman"/>
                <a:cs typeface="Times New Roman"/>
              </a:rPr>
              <a:t>optimized </a:t>
            </a:r>
            <a:r>
              <a:rPr dirty="0" sz="1000">
                <a:latin typeface="Times New Roman"/>
                <a:cs typeface="Times New Roman"/>
              </a:rPr>
              <a:t>matrix</a:t>
            </a:r>
            <a:r>
              <a:rPr dirty="0" sz="1000" spc="-50">
                <a:latin typeface="Times New Roman"/>
                <a:cs typeface="Times New Roman"/>
              </a:rPr>
              <a:t> </a:t>
            </a:r>
            <a:r>
              <a:rPr dirty="0" sz="1000">
                <a:latin typeface="Times New Roman"/>
                <a:cs typeface="Times New Roman"/>
              </a:rPr>
              <a:t>multiplication</a:t>
            </a:r>
            <a:r>
              <a:rPr dirty="0" sz="1000" spc="-45">
                <a:latin typeface="Times New Roman"/>
                <a:cs typeface="Times New Roman"/>
              </a:rPr>
              <a:t> </a:t>
            </a:r>
            <a:r>
              <a:rPr dirty="0" sz="1000" spc="-10">
                <a:latin typeface="Times New Roman"/>
                <a:cs typeface="Times New Roman"/>
              </a:rPr>
              <a:t>code.</a:t>
            </a:r>
            <a:endParaRPr sz="1000">
              <a:latin typeface="Times New Roman"/>
              <a:cs typeface="Times New Roman"/>
            </a:endParaRPr>
          </a:p>
          <a:p>
            <a:pPr algn="just" marL="43815" marR="30480" indent="-6350">
              <a:lnSpc>
                <a:spcPts val="1090"/>
              </a:lnSpc>
              <a:spcBef>
                <a:spcPts val="550"/>
              </a:spcBef>
            </a:pPr>
            <a:r>
              <a:rPr dirty="0" sz="1000">
                <a:latin typeface="Times New Roman"/>
                <a:cs typeface="Times New Roman"/>
              </a:rPr>
              <a:t>While</a:t>
            </a:r>
            <a:r>
              <a:rPr dirty="0" sz="1000" spc="-20">
                <a:latin typeface="Times New Roman"/>
                <a:cs typeface="Times New Roman"/>
              </a:rPr>
              <a:t> </a:t>
            </a: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small</a:t>
            </a:r>
            <a:r>
              <a:rPr dirty="0" sz="1000" spc="-15">
                <a:latin typeface="Times New Roman"/>
                <a:cs typeface="Times New Roman"/>
              </a:rPr>
              <a:t> </a:t>
            </a:r>
            <a:r>
              <a:rPr dirty="0" sz="1000">
                <a:latin typeface="Times New Roman"/>
                <a:cs typeface="Times New Roman"/>
              </a:rPr>
              <a:t>values</a:t>
            </a:r>
            <a:r>
              <a:rPr dirty="0" sz="1000" spc="-2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55" i="1">
                <a:latin typeface="Calibri"/>
                <a:cs typeface="Calibri"/>
              </a:rPr>
              <a:t>d</a:t>
            </a:r>
            <a:r>
              <a:rPr dirty="0" baseline="-11904" sz="1050" spc="82" i="1">
                <a:latin typeface="Calibri"/>
                <a:cs typeface="Calibri"/>
              </a:rPr>
              <a:t>k</a:t>
            </a:r>
            <a:r>
              <a:rPr dirty="0" baseline="-11904" sz="1050" spc="202" i="1">
                <a:latin typeface="Calibri"/>
                <a:cs typeface="Calibri"/>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two</a:t>
            </a:r>
            <a:r>
              <a:rPr dirty="0" sz="1000" spc="-20">
                <a:latin typeface="Times New Roman"/>
                <a:cs typeface="Times New Roman"/>
              </a:rPr>
              <a:t> </a:t>
            </a:r>
            <a:r>
              <a:rPr dirty="0" sz="1000">
                <a:latin typeface="Times New Roman"/>
                <a:cs typeface="Times New Roman"/>
              </a:rPr>
              <a:t>mechanisms</a:t>
            </a:r>
            <a:r>
              <a:rPr dirty="0" sz="1000" spc="-15">
                <a:latin typeface="Times New Roman"/>
                <a:cs typeface="Times New Roman"/>
              </a:rPr>
              <a:t> </a:t>
            </a:r>
            <a:r>
              <a:rPr dirty="0" sz="1000">
                <a:latin typeface="Times New Roman"/>
                <a:cs typeface="Times New Roman"/>
              </a:rPr>
              <a:t>perform</a:t>
            </a:r>
            <a:r>
              <a:rPr dirty="0" sz="1000" spc="-20">
                <a:latin typeface="Times New Roman"/>
                <a:cs typeface="Times New Roman"/>
              </a:rPr>
              <a:t> </a:t>
            </a:r>
            <a:r>
              <a:rPr dirty="0" sz="1000" spc="-10">
                <a:latin typeface="Times New Roman"/>
                <a:cs typeface="Times New Roman"/>
              </a:rPr>
              <a:t>similarly,</a:t>
            </a:r>
            <a:r>
              <a:rPr dirty="0" sz="1000" spc="-15">
                <a:latin typeface="Times New Roman"/>
                <a:cs typeface="Times New Roman"/>
              </a:rPr>
              <a:t> </a:t>
            </a:r>
            <a:r>
              <a:rPr dirty="0" sz="1000">
                <a:latin typeface="Times New Roman"/>
                <a:cs typeface="Times New Roman"/>
              </a:rPr>
              <a:t>additive</a:t>
            </a:r>
            <a:r>
              <a:rPr dirty="0" sz="1000" spc="-20">
                <a:latin typeface="Times New Roman"/>
                <a:cs typeface="Times New Roman"/>
              </a:rPr>
              <a:t> </a:t>
            </a:r>
            <a:r>
              <a:rPr dirty="0" sz="1000">
                <a:latin typeface="Times New Roman"/>
                <a:cs typeface="Times New Roman"/>
              </a:rPr>
              <a:t>attention</a:t>
            </a:r>
            <a:r>
              <a:rPr dirty="0" sz="1000" spc="-15">
                <a:latin typeface="Times New Roman"/>
                <a:cs typeface="Times New Roman"/>
              </a:rPr>
              <a:t> </a:t>
            </a:r>
            <a:r>
              <a:rPr dirty="0" sz="1000" spc="-10">
                <a:latin typeface="Times New Roman"/>
                <a:cs typeface="Times New Roman"/>
              </a:rPr>
              <a:t>outperforms </a:t>
            </a:r>
            <a:r>
              <a:rPr dirty="0" sz="1000">
                <a:latin typeface="Times New Roman"/>
                <a:cs typeface="Times New Roman"/>
              </a:rPr>
              <a:t>dot</a:t>
            </a:r>
            <a:r>
              <a:rPr dirty="0" sz="1000" spc="-35">
                <a:latin typeface="Times New Roman"/>
                <a:cs typeface="Times New Roman"/>
              </a:rPr>
              <a:t> </a:t>
            </a:r>
            <a:r>
              <a:rPr dirty="0" sz="1000">
                <a:latin typeface="Times New Roman"/>
                <a:cs typeface="Times New Roman"/>
              </a:rPr>
              <a:t>product</a:t>
            </a:r>
            <a:r>
              <a:rPr dirty="0" sz="1000" spc="-20">
                <a:latin typeface="Times New Roman"/>
                <a:cs typeface="Times New Roman"/>
              </a:rPr>
              <a:t> </a:t>
            </a:r>
            <a:r>
              <a:rPr dirty="0" sz="1000">
                <a:latin typeface="Times New Roman"/>
                <a:cs typeface="Times New Roman"/>
              </a:rPr>
              <a:t>attention</a:t>
            </a:r>
            <a:r>
              <a:rPr dirty="0" sz="1000" spc="-20">
                <a:latin typeface="Times New Roman"/>
                <a:cs typeface="Times New Roman"/>
              </a:rPr>
              <a:t> </a:t>
            </a:r>
            <a:r>
              <a:rPr dirty="0" sz="1000">
                <a:latin typeface="Times New Roman"/>
                <a:cs typeface="Times New Roman"/>
              </a:rPr>
              <a:t>without</a:t>
            </a:r>
            <a:r>
              <a:rPr dirty="0" sz="1000" spc="-20">
                <a:latin typeface="Times New Roman"/>
                <a:cs typeface="Times New Roman"/>
              </a:rPr>
              <a:t> </a:t>
            </a:r>
            <a:r>
              <a:rPr dirty="0" sz="1000">
                <a:latin typeface="Times New Roman"/>
                <a:cs typeface="Times New Roman"/>
              </a:rPr>
              <a:t>scaling</a:t>
            </a:r>
            <a:r>
              <a:rPr dirty="0" sz="1000" spc="-20">
                <a:latin typeface="Times New Roman"/>
                <a:cs typeface="Times New Roman"/>
              </a:rPr>
              <a:t> </a:t>
            </a: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larger</a:t>
            </a:r>
            <a:r>
              <a:rPr dirty="0" sz="1000" spc="-20">
                <a:latin typeface="Times New Roman"/>
                <a:cs typeface="Times New Roman"/>
              </a:rPr>
              <a:t> </a:t>
            </a:r>
            <a:r>
              <a:rPr dirty="0" sz="1000">
                <a:latin typeface="Times New Roman"/>
                <a:cs typeface="Times New Roman"/>
              </a:rPr>
              <a:t>values</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55" i="1">
                <a:latin typeface="Calibri"/>
                <a:cs typeface="Calibri"/>
              </a:rPr>
              <a:t>d</a:t>
            </a:r>
            <a:r>
              <a:rPr dirty="0" baseline="-11904" sz="1050" spc="82" i="1">
                <a:latin typeface="Calibri"/>
                <a:cs typeface="Calibri"/>
              </a:rPr>
              <a:t>k</a:t>
            </a:r>
            <a:r>
              <a:rPr dirty="0" baseline="-11904" sz="1050" spc="202" i="1">
                <a:latin typeface="Calibri"/>
                <a:cs typeface="Calibri"/>
              </a:rPr>
              <a:t> </a:t>
            </a:r>
            <a:r>
              <a:rPr dirty="0" sz="1000">
                <a:latin typeface="Times New Roman"/>
                <a:cs typeface="Times New Roman"/>
              </a:rPr>
              <a:t>[3].</a:t>
            </a:r>
            <a:r>
              <a:rPr dirty="0" sz="1000" spc="40">
                <a:latin typeface="Times New Roman"/>
                <a:cs typeface="Times New Roman"/>
              </a:rPr>
              <a:t> </a:t>
            </a:r>
            <a:r>
              <a:rPr dirty="0" sz="1000" spc="-50">
                <a:latin typeface="Times New Roman"/>
                <a:cs typeface="Times New Roman"/>
              </a:rPr>
              <a:t>We</a:t>
            </a:r>
            <a:r>
              <a:rPr dirty="0" sz="1000" spc="-15">
                <a:latin typeface="Times New Roman"/>
                <a:cs typeface="Times New Roman"/>
              </a:rPr>
              <a:t> </a:t>
            </a:r>
            <a:r>
              <a:rPr dirty="0" sz="1000">
                <a:latin typeface="Times New Roman"/>
                <a:cs typeface="Times New Roman"/>
              </a:rPr>
              <a:t>suspect</a:t>
            </a:r>
            <a:r>
              <a:rPr dirty="0" sz="1000" spc="-15">
                <a:latin typeface="Times New Roman"/>
                <a:cs typeface="Times New Roman"/>
              </a:rPr>
              <a:t> </a:t>
            </a:r>
            <a:r>
              <a:rPr dirty="0" sz="1000">
                <a:latin typeface="Times New Roman"/>
                <a:cs typeface="Times New Roman"/>
              </a:rPr>
              <a:t>that</a:t>
            </a:r>
            <a:r>
              <a:rPr dirty="0" sz="1000" spc="-25">
                <a:latin typeface="Times New Roman"/>
                <a:cs typeface="Times New Roman"/>
              </a:rPr>
              <a:t> </a:t>
            </a:r>
            <a:r>
              <a:rPr dirty="0" sz="1000">
                <a:latin typeface="Times New Roman"/>
                <a:cs typeface="Times New Roman"/>
              </a:rPr>
              <a:t>for</a:t>
            </a:r>
            <a:r>
              <a:rPr dirty="0" sz="1000" spc="-15">
                <a:latin typeface="Times New Roman"/>
                <a:cs typeface="Times New Roman"/>
              </a:rPr>
              <a:t> </a:t>
            </a:r>
            <a:r>
              <a:rPr dirty="0" sz="1000">
                <a:latin typeface="Times New Roman"/>
                <a:cs typeface="Times New Roman"/>
              </a:rPr>
              <a:t>large</a:t>
            </a:r>
            <a:r>
              <a:rPr dirty="0" sz="1000" spc="-25">
                <a:latin typeface="Times New Roman"/>
                <a:cs typeface="Times New Roman"/>
              </a:rPr>
              <a:t> </a:t>
            </a:r>
            <a:r>
              <a:rPr dirty="0" sz="1000">
                <a:latin typeface="Times New Roman"/>
                <a:cs typeface="Times New Roman"/>
              </a:rPr>
              <a:t>values</a:t>
            </a:r>
            <a:r>
              <a:rPr dirty="0" sz="1000" spc="-20">
                <a:latin typeface="Times New Roman"/>
                <a:cs typeface="Times New Roman"/>
              </a:rPr>
              <a:t> </a:t>
            </a:r>
            <a:r>
              <a:rPr dirty="0" sz="1000" spc="-25">
                <a:latin typeface="Times New Roman"/>
                <a:cs typeface="Times New Roman"/>
              </a:rPr>
              <a:t>of </a:t>
            </a:r>
            <a:r>
              <a:rPr dirty="0" sz="1000" spc="55" i="1">
                <a:latin typeface="Calibri"/>
                <a:cs typeface="Calibri"/>
              </a:rPr>
              <a:t>d</a:t>
            </a:r>
            <a:r>
              <a:rPr dirty="0" baseline="-11904" sz="1050" spc="82" i="1">
                <a:latin typeface="Calibri"/>
                <a:cs typeface="Calibri"/>
              </a:rPr>
              <a:t>k</a:t>
            </a:r>
            <a:r>
              <a:rPr dirty="0" sz="1000" spc="55">
                <a:latin typeface="Times New Roman"/>
                <a:cs typeface="Times New Roman"/>
              </a:rPr>
              <a:t>,</a:t>
            </a:r>
            <a:r>
              <a:rPr dirty="0" sz="1000" spc="-1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dot</a:t>
            </a:r>
            <a:r>
              <a:rPr dirty="0" sz="1000" spc="-20">
                <a:latin typeface="Times New Roman"/>
                <a:cs typeface="Times New Roman"/>
              </a:rPr>
              <a:t> </a:t>
            </a:r>
            <a:r>
              <a:rPr dirty="0" sz="1000" spc="-10">
                <a:latin typeface="Times New Roman"/>
                <a:cs typeface="Times New Roman"/>
              </a:rPr>
              <a:t>products</a:t>
            </a:r>
            <a:r>
              <a:rPr dirty="0" sz="1000" spc="-15">
                <a:latin typeface="Times New Roman"/>
                <a:cs typeface="Times New Roman"/>
              </a:rPr>
              <a:t> </a:t>
            </a:r>
            <a:r>
              <a:rPr dirty="0" sz="1000" spc="-10">
                <a:latin typeface="Times New Roman"/>
                <a:cs typeface="Times New Roman"/>
              </a:rPr>
              <a:t>grow</a:t>
            </a:r>
            <a:r>
              <a:rPr dirty="0" sz="1000" spc="-20">
                <a:latin typeface="Times New Roman"/>
                <a:cs typeface="Times New Roman"/>
              </a:rPr>
              <a:t> </a:t>
            </a:r>
            <a:r>
              <a:rPr dirty="0" sz="1000" spc="-10">
                <a:latin typeface="Times New Roman"/>
                <a:cs typeface="Times New Roman"/>
              </a:rPr>
              <a:t>large</a:t>
            </a:r>
            <a:r>
              <a:rPr dirty="0" sz="1000" spc="-20">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spc="-10">
                <a:latin typeface="Times New Roman"/>
                <a:cs typeface="Times New Roman"/>
              </a:rPr>
              <a:t>magnitude,</a:t>
            </a:r>
            <a:r>
              <a:rPr dirty="0" sz="1000" spc="-15">
                <a:latin typeface="Times New Roman"/>
                <a:cs typeface="Times New Roman"/>
              </a:rPr>
              <a:t> </a:t>
            </a:r>
            <a:r>
              <a:rPr dirty="0" sz="1000" spc="-10">
                <a:latin typeface="Times New Roman"/>
                <a:cs typeface="Times New Roman"/>
              </a:rPr>
              <a:t>pushing</a:t>
            </a:r>
            <a:r>
              <a:rPr dirty="0" sz="1000" spc="-1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10">
                <a:latin typeface="Times New Roman"/>
                <a:cs typeface="Times New Roman"/>
              </a:rPr>
              <a:t>softmax</a:t>
            </a:r>
            <a:r>
              <a:rPr dirty="0" sz="1000" spc="-20">
                <a:latin typeface="Times New Roman"/>
                <a:cs typeface="Times New Roman"/>
              </a:rPr>
              <a:t> </a:t>
            </a:r>
            <a:r>
              <a:rPr dirty="0" sz="1000" spc="-10">
                <a:latin typeface="Times New Roman"/>
                <a:cs typeface="Times New Roman"/>
              </a:rPr>
              <a:t>function</a:t>
            </a:r>
            <a:r>
              <a:rPr dirty="0" sz="1000" spc="-15">
                <a:latin typeface="Times New Roman"/>
                <a:cs typeface="Times New Roman"/>
              </a:rPr>
              <a:t> </a:t>
            </a:r>
            <a:r>
              <a:rPr dirty="0" sz="1000">
                <a:latin typeface="Times New Roman"/>
                <a:cs typeface="Times New Roman"/>
              </a:rPr>
              <a:t>into</a:t>
            </a:r>
            <a:r>
              <a:rPr dirty="0" sz="1000" spc="-20">
                <a:latin typeface="Times New Roman"/>
                <a:cs typeface="Times New Roman"/>
              </a:rPr>
              <a:t> </a:t>
            </a:r>
            <a:r>
              <a:rPr dirty="0" sz="1000" spc="-10">
                <a:latin typeface="Times New Roman"/>
                <a:cs typeface="Times New Roman"/>
              </a:rPr>
              <a:t>regions</a:t>
            </a:r>
            <a:r>
              <a:rPr dirty="0" sz="1000" spc="-20">
                <a:latin typeface="Times New Roman"/>
                <a:cs typeface="Times New Roman"/>
              </a:rPr>
              <a:t> </a:t>
            </a:r>
            <a:r>
              <a:rPr dirty="0" sz="1000" spc="-10">
                <a:latin typeface="Times New Roman"/>
                <a:cs typeface="Times New Roman"/>
              </a:rPr>
              <a:t>where</a:t>
            </a:r>
            <a:r>
              <a:rPr dirty="0" sz="1000" spc="-15">
                <a:latin typeface="Times New Roman"/>
                <a:cs typeface="Times New Roman"/>
              </a:rPr>
              <a:t> </a:t>
            </a:r>
            <a:r>
              <a:rPr dirty="0" sz="1000">
                <a:latin typeface="Times New Roman"/>
                <a:cs typeface="Times New Roman"/>
              </a:rPr>
              <a:t>it</a:t>
            </a:r>
            <a:r>
              <a:rPr dirty="0" sz="1000" spc="-15">
                <a:latin typeface="Times New Roman"/>
                <a:cs typeface="Times New Roman"/>
              </a:rPr>
              <a:t> </a:t>
            </a:r>
            <a:r>
              <a:rPr dirty="0" sz="1000" spc="-25">
                <a:latin typeface="Times New Roman"/>
                <a:cs typeface="Times New Roman"/>
              </a:rPr>
              <a:t>has</a:t>
            </a:r>
            <a:endParaRPr sz="1000">
              <a:latin typeface="Times New Roman"/>
              <a:cs typeface="Times New Roman"/>
            </a:endParaRPr>
          </a:p>
        </p:txBody>
      </p:sp>
      <p:sp>
        <p:nvSpPr>
          <p:cNvPr id="21" name="object 21" descr=""/>
          <p:cNvSpPr txBox="1"/>
          <p:nvPr/>
        </p:nvSpPr>
        <p:spPr>
          <a:xfrm>
            <a:off x="2695879" y="6863793"/>
            <a:ext cx="3105785" cy="132080"/>
          </a:xfrm>
          <a:prstGeom prst="rect">
            <a:avLst/>
          </a:prstGeom>
        </p:spPr>
        <p:txBody>
          <a:bodyPr wrap="square" lIns="0" tIns="12065" rIns="0" bIns="0" rtlCol="0" vert="horz">
            <a:spAutoFit/>
          </a:bodyPr>
          <a:lstStyle/>
          <a:p>
            <a:pPr marL="12700">
              <a:lnSpc>
                <a:spcPct val="100000"/>
              </a:lnSpc>
              <a:spcBef>
                <a:spcPts val="95"/>
              </a:spcBef>
              <a:tabLst>
                <a:tab pos="2971165" algn="l"/>
              </a:tabLst>
            </a:pPr>
            <a:r>
              <a:rPr dirty="0" sz="700" spc="-50">
                <a:latin typeface="Times New Roman"/>
                <a:cs typeface="Times New Roman"/>
              </a:rPr>
              <a:t>4</a:t>
            </a:r>
            <a:r>
              <a:rPr dirty="0" sz="700">
                <a:latin typeface="Times New Roman"/>
                <a:cs typeface="Times New Roman"/>
              </a:rPr>
              <a:t>	</a:t>
            </a:r>
            <a:r>
              <a:rPr dirty="0" u="sng" baseline="3968" sz="1050" spc="-75">
                <a:uFill>
                  <a:solidFill>
                    <a:srgbClr val="000000"/>
                  </a:solidFill>
                </a:uFill>
                <a:latin typeface="Tahoma"/>
                <a:cs typeface="Tahoma"/>
              </a:rPr>
              <a:t>1</a:t>
            </a:r>
            <a:r>
              <a:rPr dirty="0" u="sng" baseline="3968" sz="1050" spc="750">
                <a:uFill>
                  <a:solidFill>
                    <a:srgbClr val="000000"/>
                  </a:solidFill>
                </a:uFill>
                <a:latin typeface="Tahoma"/>
                <a:cs typeface="Tahoma"/>
              </a:rPr>
              <a:t> </a:t>
            </a:r>
            <a:endParaRPr baseline="3968" sz="1050">
              <a:latin typeface="Tahoma"/>
              <a:cs typeface="Tahoma"/>
            </a:endParaRPr>
          </a:p>
        </p:txBody>
      </p:sp>
      <p:sp>
        <p:nvSpPr>
          <p:cNvPr id="22" name="object 22" descr=""/>
          <p:cNvSpPr/>
          <p:nvPr/>
        </p:nvSpPr>
        <p:spPr>
          <a:xfrm>
            <a:off x="5597258" y="6979348"/>
            <a:ext cx="191135" cy="0"/>
          </a:xfrm>
          <a:custGeom>
            <a:avLst/>
            <a:gdLst/>
            <a:ahLst/>
            <a:cxnLst/>
            <a:rect l="l" t="t" r="r" b="b"/>
            <a:pathLst>
              <a:path w="191135" h="0">
                <a:moveTo>
                  <a:pt x="0" y="0"/>
                </a:moveTo>
                <a:lnTo>
                  <a:pt x="191096" y="0"/>
                </a:lnTo>
              </a:path>
            </a:pathLst>
          </a:custGeom>
          <a:ln w="5054">
            <a:solidFill>
              <a:srgbClr val="000000"/>
            </a:solidFill>
          </a:ln>
        </p:spPr>
        <p:txBody>
          <a:bodyPr wrap="square" lIns="0" tIns="0" rIns="0" bIns="0" rtlCol="0"/>
          <a:lstStyle/>
          <a:p/>
        </p:txBody>
      </p:sp>
      <p:sp>
        <p:nvSpPr>
          <p:cNvPr id="23" name="object 23" descr=""/>
          <p:cNvSpPr txBox="1"/>
          <p:nvPr/>
        </p:nvSpPr>
        <p:spPr>
          <a:xfrm>
            <a:off x="5584558" y="6894273"/>
            <a:ext cx="95885" cy="132080"/>
          </a:xfrm>
          <a:prstGeom prst="rect">
            <a:avLst/>
          </a:prstGeom>
        </p:spPr>
        <p:txBody>
          <a:bodyPr wrap="square" lIns="0" tIns="12065" rIns="0" bIns="0" rtlCol="0" vert="horz">
            <a:spAutoFit/>
          </a:bodyPr>
          <a:lstStyle/>
          <a:p>
            <a:pPr marL="12700">
              <a:lnSpc>
                <a:spcPct val="100000"/>
              </a:lnSpc>
              <a:spcBef>
                <a:spcPts val="95"/>
              </a:spcBef>
            </a:pPr>
            <a:r>
              <a:rPr dirty="0" sz="700" spc="30">
                <a:latin typeface="Cambria"/>
                <a:cs typeface="Cambria"/>
              </a:rPr>
              <a:t>√</a:t>
            </a:r>
            <a:endParaRPr sz="700">
              <a:latin typeface="Cambria"/>
              <a:cs typeface="Cambria"/>
            </a:endParaRPr>
          </a:p>
        </p:txBody>
      </p:sp>
      <p:sp>
        <p:nvSpPr>
          <p:cNvPr id="24" name="object 24" descr=""/>
          <p:cNvSpPr txBox="1"/>
          <p:nvPr/>
        </p:nvSpPr>
        <p:spPr>
          <a:xfrm>
            <a:off x="5642279" y="6963133"/>
            <a:ext cx="177165" cy="132080"/>
          </a:xfrm>
          <a:prstGeom prst="rect">
            <a:avLst/>
          </a:prstGeom>
        </p:spPr>
        <p:txBody>
          <a:bodyPr wrap="square" lIns="0" tIns="12065" rIns="0" bIns="0" rtlCol="0" vert="horz">
            <a:spAutoFit/>
          </a:bodyPr>
          <a:lstStyle/>
          <a:p>
            <a:pPr marL="38100">
              <a:lnSpc>
                <a:spcPct val="100000"/>
              </a:lnSpc>
              <a:spcBef>
                <a:spcPts val="95"/>
              </a:spcBef>
            </a:pPr>
            <a:r>
              <a:rPr dirty="0" sz="700" spc="55" i="1">
                <a:latin typeface="Calibri"/>
                <a:cs typeface="Calibri"/>
              </a:rPr>
              <a:t>d</a:t>
            </a:r>
            <a:r>
              <a:rPr dirty="0" baseline="-11111" sz="750" spc="82" i="1">
                <a:latin typeface="Georgia"/>
                <a:cs typeface="Georgia"/>
              </a:rPr>
              <a:t>k</a:t>
            </a:r>
            <a:endParaRPr baseline="-11111" sz="750">
              <a:latin typeface="Georgia"/>
              <a:cs typeface="Georgia"/>
            </a:endParaRPr>
          </a:p>
        </p:txBody>
      </p:sp>
      <p:sp>
        <p:nvSpPr>
          <p:cNvPr id="25" name="object 25" descr=""/>
          <p:cNvSpPr txBox="1"/>
          <p:nvPr/>
        </p:nvSpPr>
        <p:spPr>
          <a:xfrm>
            <a:off x="1358900" y="6871759"/>
            <a:ext cx="4489450" cy="177800"/>
          </a:xfrm>
          <a:prstGeom prst="rect">
            <a:avLst/>
          </a:prstGeom>
        </p:spPr>
        <p:txBody>
          <a:bodyPr wrap="square" lIns="0" tIns="12065" rIns="0" bIns="0" rtlCol="0" vert="horz">
            <a:spAutoFit/>
          </a:bodyPr>
          <a:lstStyle/>
          <a:p>
            <a:pPr marL="12700">
              <a:lnSpc>
                <a:spcPct val="100000"/>
              </a:lnSpc>
              <a:spcBef>
                <a:spcPts val="95"/>
              </a:spcBef>
              <a:tabLst>
                <a:tab pos="4444365" algn="l"/>
              </a:tabLst>
            </a:pPr>
            <a:r>
              <a:rPr dirty="0" sz="1000" spc="-10">
                <a:latin typeface="Times New Roman"/>
                <a:cs typeface="Times New Roman"/>
              </a:rPr>
              <a:t>extremely</a:t>
            </a:r>
            <a:r>
              <a:rPr dirty="0" sz="1000" spc="-20">
                <a:latin typeface="Times New Roman"/>
                <a:cs typeface="Times New Roman"/>
              </a:rPr>
              <a:t> </a:t>
            </a:r>
            <a:r>
              <a:rPr dirty="0" sz="1000">
                <a:latin typeface="Times New Roman"/>
                <a:cs typeface="Times New Roman"/>
              </a:rPr>
              <a:t>small</a:t>
            </a:r>
            <a:r>
              <a:rPr dirty="0" sz="1000" spc="-20">
                <a:latin typeface="Times New Roman"/>
                <a:cs typeface="Times New Roman"/>
              </a:rPr>
              <a:t> </a:t>
            </a:r>
            <a:r>
              <a:rPr dirty="0" sz="1000">
                <a:latin typeface="Times New Roman"/>
                <a:cs typeface="Times New Roman"/>
              </a:rPr>
              <a:t>gradients</a:t>
            </a:r>
            <a:r>
              <a:rPr dirty="0" sz="1000" spc="355">
                <a:latin typeface="Times New Roman"/>
                <a:cs typeface="Times New Roman"/>
              </a:rPr>
              <a:t> </a:t>
            </a:r>
            <a:r>
              <a:rPr dirty="0" sz="1000">
                <a:latin typeface="Times New Roman"/>
                <a:cs typeface="Times New Roman"/>
              </a:rPr>
              <a:t>.</a:t>
            </a:r>
            <a:r>
              <a:rPr dirty="0" sz="1000" spc="35">
                <a:latin typeface="Times New Roman"/>
                <a:cs typeface="Times New Roman"/>
              </a:rPr>
              <a:t> </a:t>
            </a:r>
            <a:r>
              <a:rPr dirty="0" sz="1000" spc="-35">
                <a:latin typeface="Times New Roman"/>
                <a:cs typeface="Times New Roman"/>
              </a:rPr>
              <a:t>To</a:t>
            </a:r>
            <a:r>
              <a:rPr dirty="0" sz="1000" spc="-20">
                <a:latin typeface="Times New Roman"/>
                <a:cs typeface="Times New Roman"/>
              </a:rPr>
              <a:t> </a:t>
            </a:r>
            <a:r>
              <a:rPr dirty="0" sz="1000">
                <a:latin typeface="Times New Roman"/>
                <a:cs typeface="Times New Roman"/>
              </a:rPr>
              <a:t>counteract</a:t>
            </a:r>
            <a:r>
              <a:rPr dirty="0" sz="1000" spc="-20">
                <a:latin typeface="Times New Roman"/>
                <a:cs typeface="Times New Roman"/>
              </a:rPr>
              <a:t> </a:t>
            </a:r>
            <a:r>
              <a:rPr dirty="0" sz="1000">
                <a:latin typeface="Times New Roman"/>
                <a:cs typeface="Times New Roman"/>
              </a:rPr>
              <a:t>this</a:t>
            </a:r>
            <a:r>
              <a:rPr dirty="0" sz="1000" spc="-20">
                <a:latin typeface="Times New Roman"/>
                <a:cs typeface="Times New Roman"/>
              </a:rPr>
              <a:t> </a:t>
            </a:r>
            <a:r>
              <a:rPr dirty="0" sz="1000" spc="-10">
                <a:latin typeface="Times New Roman"/>
                <a:cs typeface="Times New Roman"/>
              </a:rPr>
              <a:t>effect,</a:t>
            </a:r>
            <a:r>
              <a:rPr dirty="0" sz="1000" spc="-20">
                <a:latin typeface="Times New Roman"/>
                <a:cs typeface="Times New Roman"/>
              </a:rPr>
              <a:t> </a:t>
            </a:r>
            <a:r>
              <a:rPr dirty="0" sz="1000">
                <a:latin typeface="Times New Roman"/>
                <a:cs typeface="Times New Roman"/>
              </a:rPr>
              <a:t>we</a:t>
            </a:r>
            <a:r>
              <a:rPr dirty="0" sz="1000" spc="-20">
                <a:latin typeface="Times New Roman"/>
                <a:cs typeface="Times New Roman"/>
              </a:rPr>
              <a:t> </a:t>
            </a:r>
            <a:r>
              <a:rPr dirty="0" sz="1000">
                <a:latin typeface="Times New Roman"/>
                <a:cs typeface="Times New Roman"/>
              </a:rPr>
              <a:t>scale</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dot</a:t>
            </a:r>
            <a:r>
              <a:rPr dirty="0" sz="1000" spc="-20">
                <a:latin typeface="Times New Roman"/>
                <a:cs typeface="Times New Roman"/>
              </a:rPr>
              <a:t> </a:t>
            </a:r>
            <a:r>
              <a:rPr dirty="0" sz="1000">
                <a:latin typeface="Times New Roman"/>
                <a:cs typeface="Times New Roman"/>
              </a:rPr>
              <a:t>products</a:t>
            </a:r>
            <a:r>
              <a:rPr dirty="0" sz="1000" spc="-20">
                <a:latin typeface="Times New Roman"/>
                <a:cs typeface="Times New Roman"/>
              </a:rPr>
              <a:t> </a:t>
            </a:r>
            <a:r>
              <a:rPr dirty="0" sz="1000" spc="-25">
                <a:latin typeface="Times New Roman"/>
                <a:cs typeface="Times New Roman"/>
              </a:rPr>
              <a:t>by</a:t>
            </a:r>
            <a:r>
              <a:rPr dirty="0" sz="1000">
                <a:latin typeface="Times New Roman"/>
                <a:cs typeface="Times New Roman"/>
              </a:rPr>
              <a:t>	</a:t>
            </a:r>
            <a:r>
              <a:rPr dirty="0" sz="1000" spc="-50">
                <a:latin typeface="Times New Roman"/>
                <a:cs typeface="Times New Roman"/>
              </a:rPr>
              <a:t>.</a:t>
            </a:r>
            <a:endParaRPr sz="1000">
              <a:latin typeface="Times New Roman"/>
              <a:cs typeface="Times New Roman"/>
            </a:endParaRPr>
          </a:p>
        </p:txBody>
      </p:sp>
      <p:sp>
        <p:nvSpPr>
          <p:cNvPr id="26" name="object 26" descr=""/>
          <p:cNvSpPr/>
          <p:nvPr/>
        </p:nvSpPr>
        <p:spPr>
          <a:xfrm>
            <a:off x="1371600" y="8864574"/>
            <a:ext cx="1822450" cy="0"/>
          </a:xfrm>
          <a:custGeom>
            <a:avLst/>
            <a:gdLst/>
            <a:ahLst/>
            <a:cxnLst/>
            <a:rect l="l" t="t" r="r" b="b"/>
            <a:pathLst>
              <a:path w="1822450" h="0">
                <a:moveTo>
                  <a:pt x="0" y="0"/>
                </a:moveTo>
                <a:lnTo>
                  <a:pt x="1821967" y="0"/>
                </a:lnTo>
              </a:path>
            </a:pathLst>
          </a:custGeom>
          <a:ln w="5054">
            <a:solidFill>
              <a:srgbClr val="000000"/>
            </a:solidFill>
          </a:ln>
        </p:spPr>
        <p:txBody>
          <a:bodyPr wrap="square" lIns="0" tIns="0" rIns="0" bIns="0" rtlCol="0"/>
          <a:lstStyle/>
          <a:p/>
        </p:txBody>
      </p:sp>
      <p:sp>
        <p:nvSpPr>
          <p:cNvPr id="27" name="object 27" descr=""/>
          <p:cNvSpPr txBox="1"/>
          <p:nvPr/>
        </p:nvSpPr>
        <p:spPr>
          <a:xfrm>
            <a:off x="1316240" y="7242015"/>
            <a:ext cx="5151120" cy="1793875"/>
          </a:xfrm>
          <a:prstGeom prst="rect">
            <a:avLst/>
          </a:prstGeom>
        </p:spPr>
        <p:txBody>
          <a:bodyPr wrap="square" lIns="0" tIns="12065" rIns="0" bIns="0" rtlCol="0" vert="horz">
            <a:spAutoFit/>
          </a:bodyPr>
          <a:lstStyle/>
          <a:p>
            <a:pPr marL="55244">
              <a:lnSpc>
                <a:spcPct val="100000"/>
              </a:lnSpc>
              <a:spcBef>
                <a:spcPts val="95"/>
              </a:spcBef>
            </a:pPr>
            <a:r>
              <a:rPr dirty="0" sz="1000" b="1">
                <a:latin typeface="Times New Roman"/>
                <a:cs typeface="Times New Roman"/>
              </a:rPr>
              <a:t>3.2.2</a:t>
            </a:r>
            <a:r>
              <a:rPr dirty="0" sz="1000" spc="240" b="1">
                <a:latin typeface="Times New Roman"/>
                <a:cs typeface="Times New Roman"/>
              </a:rPr>
              <a:t>  </a:t>
            </a:r>
            <a:r>
              <a:rPr dirty="0" sz="1000" spc="-10" b="1">
                <a:latin typeface="Times New Roman"/>
                <a:cs typeface="Times New Roman"/>
              </a:rPr>
              <a:t>Multi-</a:t>
            </a:r>
            <a:r>
              <a:rPr dirty="0" sz="1000" b="1">
                <a:latin typeface="Times New Roman"/>
                <a:cs typeface="Times New Roman"/>
              </a:rPr>
              <a:t>Head </a:t>
            </a:r>
            <a:r>
              <a:rPr dirty="0" sz="1000" spc="-10" b="1">
                <a:latin typeface="Times New Roman"/>
                <a:cs typeface="Times New Roman"/>
              </a:rPr>
              <a:t>Attention</a:t>
            </a:r>
            <a:endParaRPr sz="1000">
              <a:latin typeface="Times New Roman"/>
              <a:cs typeface="Times New Roman"/>
            </a:endParaRPr>
          </a:p>
          <a:p>
            <a:pPr algn="just" marL="50800" marR="43180" indent="4445">
              <a:lnSpc>
                <a:spcPts val="1090"/>
              </a:lnSpc>
              <a:spcBef>
                <a:spcPts val="940"/>
              </a:spcBef>
            </a:pPr>
            <a:r>
              <a:rPr dirty="0" sz="1000">
                <a:latin typeface="Times New Roman"/>
                <a:cs typeface="Times New Roman"/>
              </a:rPr>
              <a:t>Instead of performing</a:t>
            </a:r>
            <a:r>
              <a:rPr dirty="0" sz="1000" spc="5">
                <a:latin typeface="Times New Roman"/>
                <a:cs typeface="Times New Roman"/>
              </a:rPr>
              <a:t> </a:t>
            </a:r>
            <a:r>
              <a:rPr dirty="0" sz="1000">
                <a:latin typeface="Times New Roman"/>
                <a:cs typeface="Times New Roman"/>
              </a:rPr>
              <a:t>a single</a:t>
            </a:r>
            <a:r>
              <a:rPr dirty="0" sz="1000" spc="5">
                <a:latin typeface="Times New Roman"/>
                <a:cs typeface="Times New Roman"/>
              </a:rPr>
              <a:t> </a:t>
            </a:r>
            <a:r>
              <a:rPr dirty="0" sz="1000">
                <a:latin typeface="Times New Roman"/>
                <a:cs typeface="Times New Roman"/>
              </a:rPr>
              <a:t>attention function</a:t>
            </a:r>
            <a:r>
              <a:rPr dirty="0" sz="1000" spc="5">
                <a:latin typeface="Times New Roman"/>
                <a:cs typeface="Times New Roman"/>
              </a:rPr>
              <a:t> </a:t>
            </a:r>
            <a:r>
              <a:rPr dirty="0" sz="1000">
                <a:latin typeface="Times New Roman"/>
                <a:cs typeface="Times New Roman"/>
              </a:rPr>
              <a:t>with </a:t>
            </a:r>
            <a:r>
              <a:rPr dirty="0" sz="1000" i="1">
                <a:latin typeface="Calibri"/>
                <a:cs typeface="Calibri"/>
              </a:rPr>
              <a:t>d</a:t>
            </a:r>
            <a:r>
              <a:rPr dirty="0" baseline="-11904" sz="1050">
                <a:latin typeface="Times New Roman"/>
                <a:cs typeface="Times New Roman"/>
              </a:rPr>
              <a:t>model</a:t>
            </a:r>
            <a:r>
              <a:rPr dirty="0" sz="1000">
                <a:latin typeface="Times New Roman"/>
                <a:cs typeface="Times New Roman"/>
              </a:rPr>
              <a:t>-dimensional keys,</a:t>
            </a:r>
            <a:r>
              <a:rPr dirty="0" sz="1000" spc="5">
                <a:latin typeface="Times New Roman"/>
                <a:cs typeface="Times New Roman"/>
              </a:rPr>
              <a:t> </a:t>
            </a:r>
            <a:r>
              <a:rPr dirty="0" sz="1000">
                <a:latin typeface="Times New Roman"/>
                <a:cs typeface="Times New Roman"/>
              </a:rPr>
              <a:t>values and</a:t>
            </a:r>
            <a:r>
              <a:rPr dirty="0" sz="1000" spc="5">
                <a:latin typeface="Times New Roman"/>
                <a:cs typeface="Times New Roman"/>
              </a:rPr>
              <a:t> </a:t>
            </a:r>
            <a:r>
              <a:rPr dirty="0" sz="1000" spc="-10">
                <a:latin typeface="Times New Roman"/>
                <a:cs typeface="Times New Roman"/>
              </a:rPr>
              <a:t>queries, </a:t>
            </a:r>
            <a:r>
              <a:rPr dirty="0" sz="1000">
                <a:latin typeface="Times New Roman"/>
                <a:cs typeface="Times New Roman"/>
              </a:rPr>
              <a:t>we</a:t>
            </a:r>
            <a:r>
              <a:rPr dirty="0" sz="1000" spc="-25">
                <a:latin typeface="Times New Roman"/>
                <a:cs typeface="Times New Roman"/>
              </a:rPr>
              <a:t> </a:t>
            </a:r>
            <a:r>
              <a:rPr dirty="0" sz="1000">
                <a:latin typeface="Times New Roman"/>
                <a:cs typeface="Times New Roman"/>
              </a:rPr>
              <a:t>found</a:t>
            </a:r>
            <a:r>
              <a:rPr dirty="0" sz="1000" spc="-25">
                <a:latin typeface="Times New Roman"/>
                <a:cs typeface="Times New Roman"/>
              </a:rPr>
              <a:t> </a:t>
            </a:r>
            <a:r>
              <a:rPr dirty="0" sz="1000">
                <a:latin typeface="Times New Roman"/>
                <a:cs typeface="Times New Roman"/>
              </a:rPr>
              <a:t>it</a:t>
            </a:r>
            <a:r>
              <a:rPr dirty="0" sz="1000" spc="-25">
                <a:latin typeface="Times New Roman"/>
                <a:cs typeface="Times New Roman"/>
              </a:rPr>
              <a:t> </a:t>
            </a:r>
            <a:r>
              <a:rPr dirty="0" sz="1000" spc="-10">
                <a:latin typeface="Times New Roman"/>
                <a:cs typeface="Times New Roman"/>
              </a:rPr>
              <a:t>beneficial</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linearly</a:t>
            </a:r>
            <a:r>
              <a:rPr dirty="0" sz="1000" spc="-25">
                <a:latin typeface="Times New Roman"/>
                <a:cs typeface="Times New Roman"/>
              </a:rPr>
              <a:t> </a:t>
            </a:r>
            <a:r>
              <a:rPr dirty="0" sz="1000">
                <a:latin typeface="Times New Roman"/>
                <a:cs typeface="Times New Roman"/>
              </a:rPr>
              <a:t>project</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queries,</a:t>
            </a:r>
            <a:r>
              <a:rPr dirty="0" sz="1000" spc="-25">
                <a:latin typeface="Times New Roman"/>
                <a:cs typeface="Times New Roman"/>
              </a:rPr>
              <a:t> </a:t>
            </a:r>
            <a:r>
              <a:rPr dirty="0" sz="1000">
                <a:latin typeface="Times New Roman"/>
                <a:cs typeface="Times New Roman"/>
              </a:rPr>
              <a:t>keys</a:t>
            </a:r>
            <a:r>
              <a:rPr dirty="0" sz="1000" spc="-2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values</a:t>
            </a:r>
            <a:r>
              <a:rPr dirty="0" sz="1000" spc="-25">
                <a:latin typeface="Times New Roman"/>
                <a:cs typeface="Times New Roman"/>
              </a:rPr>
              <a:t> </a:t>
            </a:r>
            <a:r>
              <a:rPr dirty="0" sz="1000" spc="55" i="1">
                <a:latin typeface="Calibri"/>
                <a:cs typeface="Calibri"/>
              </a:rPr>
              <a:t>h</a:t>
            </a:r>
            <a:r>
              <a:rPr dirty="0" sz="1000" i="1">
                <a:latin typeface="Calibri"/>
                <a:cs typeface="Calibri"/>
              </a:rPr>
              <a:t> </a:t>
            </a:r>
            <a:r>
              <a:rPr dirty="0" sz="1000">
                <a:latin typeface="Times New Roman"/>
                <a:cs typeface="Times New Roman"/>
              </a:rPr>
              <a:t>times</a:t>
            </a:r>
            <a:r>
              <a:rPr dirty="0" sz="1000" spc="-25">
                <a:latin typeface="Times New Roman"/>
                <a:cs typeface="Times New Roman"/>
              </a:rPr>
              <a:t> </a:t>
            </a:r>
            <a:r>
              <a:rPr dirty="0" sz="1000">
                <a:latin typeface="Times New Roman"/>
                <a:cs typeface="Times New Roman"/>
              </a:rPr>
              <a:t>with</a:t>
            </a:r>
            <a:r>
              <a:rPr dirty="0" sz="1000" spc="-25">
                <a:latin typeface="Times New Roman"/>
                <a:cs typeface="Times New Roman"/>
              </a:rPr>
              <a:t> </a:t>
            </a:r>
            <a:r>
              <a:rPr dirty="0" sz="1000" spc="-10">
                <a:latin typeface="Times New Roman"/>
                <a:cs typeface="Times New Roman"/>
              </a:rPr>
              <a:t>different,</a:t>
            </a:r>
            <a:r>
              <a:rPr dirty="0" sz="1000" spc="-20">
                <a:latin typeface="Times New Roman"/>
                <a:cs typeface="Times New Roman"/>
              </a:rPr>
              <a:t> </a:t>
            </a:r>
            <a:r>
              <a:rPr dirty="0" sz="1000" spc="-10">
                <a:latin typeface="Times New Roman"/>
                <a:cs typeface="Times New Roman"/>
              </a:rPr>
              <a:t>learned </a:t>
            </a:r>
            <a:r>
              <a:rPr dirty="0" sz="1000">
                <a:latin typeface="Times New Roman"/>
                <a:cs typeface="Times New Roman"/>
              </a:rPr>
              <a:t>linear</a:t>
            </a:r>
            <a:r>
              <a:rPr dirty="0" sz="1000" spc="-15">
                <a:latin typeface="Times New Roman"/>
                <a:cs typeface="Times New Roman"/>
              </a:rPr>
              <a:t> </a:t>
            </a:r>
            <a:r>
              <a:rPr dirty="0" sz="1000">
                <a:latin typeface="Times New Roman"/>
                <a:cs typeface="Times New Roman"/>
              </a:rPr>
              <a:t>projections</a:t>
            </a:r>
            <a:r>
              <a:rPr dirty="0" sz="1000" spc="-15">
                <a:latin typeface="Times New Roman"/>
                <a:cs typeface="Times New Roman"/>
              </a:rPr>
              <a:t> </a:t>
            </a:r>
            <a:r>
              <a:rPr dirty="0" sz="1000">
                <a:latin typeface="Times New Roman"/>
                <a:cs typeface="Times New Roman"/>
              </a:rPr>
              <a:t>to</a:t>
            </a:r>
            <a:r>
              <a:rPr dirty="0" sz="1000" spc="-10">
                <a:latin typeface="Times New Roman"/>
                <a:cs typeface="Times New Roman"/>
              </a:rPr>
              <a:t> </a:t>
            </a:r>
            <a:r>
              <a:rPr dirty="0" sz="1000" spc="55" i="1">
                <a:latin typeface="Calibri"/>
                <a:cs typeface="Calibri"/>
              </a:rPr>
              <a:t>d</a:t>
            </a:r>
            <a:r>
              <a:rPr dirty="0" baseline="-11904" sz="1050" spc="82" i="1">
                <a:latin typeface="Calibri"/>
                <a:cs typeface="Calibri"/>
              </a:rPr>
              <a:t>k</a:t>
            </a:r>
            <a:r>
              <a:rPr dirty="0" sz="1000" spc="55">
                <a:latin typeface="Times New Roman"/>
                <a:cs typeface="Times New Roman"/>
              </a:rPr>
              <a:t>,</a:t>
            </a:r>
            <a:r>
              <a:rPr dirty="0" sz="1000" spc="-15">
                <a:latin typeface="Times New Roman"/>
                <a:cs typeface="Times New Roman"/>
              </a:rPr>
              <a:t> </a:t>
            </a:r>
            <a:r>
              <a:rPr dirty="0" sz="1000" spc="55" i="1">
                <a:latin typeface="Calibri"/>
                <a:cs typeface="Calibri"/>
              </a:rPr>
              <a:t>d</a:t>
            </a:r>
            <a:r>
              <a:rPr dirty="0" baseline="-11904" sz="1050" spc="82" i="1">
                <a:latin typeface="Calibri"/>
                <a:cs typeface="Calibri"/>
              </a:rPr>
              <a:t>k</a:t>
            </a:r>
            <a:r>
              <a:rPr dirty="0" baseline="-11904" sz="1050" spc="217" i="1">
                <a:latin typeface="Calibri"/>
                <a:cs typeface="Calibri"/>
              </a:rPr>
              <a:t> </a:t>
            </a:r>
            <a:r>
              <a:rPr dirty="0" sz="1000">
                <a:latin typeface="Times New Roman"/>
                <a:cs typeface="Times New Roman"/>
              </a:rPr>
              <a:t>and</a:t>
            </a:r>
            <a:r>
              <a:rPr dirty="0" sz="1000" spc="-15">
                <a:latin typeface="Times New Roman"/>
                <a:cs typeface="Times New Roman"/>
              </a:rPr>
              <a:t> </a:t>
            </a:r>
            <a:r>
              <a:rPr dirty="0" sz="1000" i="1">
                <a:latin typeface="Calibri"/>
                <a:cs typeface="Calibri"/>
              </a:rPr>
              <a:t>d</a:t>
            </a:r>
            <a:r>
              <a:rPr dirty="0" baseline="-11904" sz="1050" i="1">
                <a:latin typeface="Calibri"/>
                <a:cs typeface="Calibri"/>
              </a:rPr>
              <a:t>v</a:t>
            </a:r>
            <a:r>
              <a:rPr dirty="0" baseline="-11904" sz="1050" spc="232" i="1">
                <a:latin typeface="Calibri"/>
                <a:cs typeface="Calibri"/>
              </a:rPr>
              <a:t> </a:t>
            </a:r>
            <a:r>
              <a:rPr dirty="0" sz="1000">
                <a:latin typeface="Times New Roman"/>
                <a:cs typeface="Times New Roman"/>
              </a:rPr>
              <a:t>dimensions,</a:t>
            </a:r>
            <a:r>
              <a:rPr dirty="0" sz="1000" spc="-15">
                <a:latin typeface="Times New Roman"/>
                <a:cs typeface="Times New Roman"/>
              </a:rPr>
              <a:t> </a:t>
            </a:r>
            <a:r>
              <a:rPr dirty="0" sz="1000" spc="-10">
                <a:latin typeface="Times New Roman"/>
                <a:cs typeface="Times New Roman"/>
              </a:rPr>
              <a:t>respectively.</a:t>
            </a:r>
            <a:r>
              <a:rPr dirty="0" sz="1000" spc="45">
                <a:latin typeface="Times New Roman"/>
                <a:cs typeface="Times New Roman"/>
              </a:rPr>
              <a:t> </a:t>
            </a:r>
            <a:r>
              <a:rPr dirty="0" sz="1000">
                <a:latin typeface="Times New Roman"/>
                <a:cs typeface="Times New Roman"/>
              </a:rPr>
              <a:t>On</a:t>
            </a:r>
            <a:r>
              <a:rPr dirty="0" sz="1000" spc="-15">
                <a:latin typeface="Times New Roman"/>
                <a:cs typeface="Times New Roman"/>
              </a:rPr>
              <a:t> </a:t>
            </a:r>
            <a:r>
              <a:rPr dirty="0" sz="1000">
                <a:latin typeface="Times New Roman"/>
                <a:cs typeface="Times New Roman"/>
              </a:rPr>
              <a:t>each</a:t>
            </a:r>
            <a:r>
              <a:rPr dirty="0" sz="1000" spc="-1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these</a:t>
            </a:r>
            <a:r>
              <a:rPr dirty="0" sz="1000" spc="-15">
                <a:latin typeface="Times New Roman"/>
                <a:cs typeface="Times New Roman"/>
              </a:rPr>
              <a:t> </a:t>
            </a:r>
            <a:r>
              <a:rPr dirty="0" sz="1000">
                <a:latin typeface="Times New Roman"/>
                <a:cs typeface="Times New Roman"/>
              </a:rPr>
              <a:t>projected</a:t>
            </a:r>
            <a:r>
              <a:rPr dirty="0" sz="1000" spc="-10">
                <a:latin typeface="Times New Roman"/>
                <a:cs typeface="Times New Roman"/>
              </a:rPr>
              <a:t> </a:t>
            </a:r>
            <a:r>
              <a:rPr dirty="0" sz="1000">
                <a:latin typeface="Times New Roman"/>
                <a:cs typeface="Times New Roman"/>
              </a:rPr>
              <a:t>versions</a:t>
            </a:r>
            <a:r>
              <a:rPr dirty="0" sz="1000" spc="-15">
                <a:latin typeface="Times New Roman"/>
                <a:cs typeface="Times New Roman"/>
              </a:rPr>
              <a:t> </a:t>
            </a:r>
            <a:r>
              <a:rPr dirty="0" sz="1000" spc="-25">
                <a:latin typeface="Times New Roman"/>
                <a:cs typeface="Times New Roman"/>
              </a:rPr>
              <a:t>of </a:t>
            </a:r>
            <a:r>
              <a:rPr dirty="0" sz="1000" spc="-10">
                <a:latin typeface="Times New Roman"/>
                <a:cs typeface="Times New Roman"/>
              </a:rPr>
              <a:t>queries,</a:t>
            </a:r>
            <a:r>
              <a:rPr dirty="0" sz="1000" spc="-55">
                <a:latin typeface="Times New Roman"/>
                <a:cs typeface="Times New Roman"/>
              </a:rPr>
              <a:t> </a:t>
            </a:r>
            <a:r>
              <a:rPr dirty="0" sz="1000">
                <a:latin typeface="Times New Roman"/>
                <a:cs typeface="Times New Roman"/>
              </a:rPr>
              <a:t>keys</a:t>
            </a:r>
            <a:r>
              <a:rPr dirty="0" sz="1000" spc="-20">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spc="-10">
                <a:latin typeface="Times New Roman"/>
                <a:cs typeface="Times New Roman"/>
              </a:rPr>
              <a:t>values </a:t>
            </a:r>
            <a:r>
              <a:rPr dirty="0" sz="1000">
                <a:latin typeface="Times New Roman"/>
                <a:cs typeface="Times New Roman"/>
              </a:rPr>
              <a:t>we</a:t>
            </a:r>
            <a:r>
              <a:rPr dirty="0" sz="1000" spc="-15">
                <a:latin typeface="Times New Roman"/>
                <a:cs typeface="Times New Roman"/>
              </a:rPr>
              <a:t> </a:t>
            </a:r>
            <a:r>
              <a:rPr dirty="0" sz="1000">
                <a:latin typeface="Times New Roman"/>
                <a:cs typeface="Times New Roman"/>
              </a:rPr>
              <a:t>then</a:t>
            </a:r>
            <a:r>
              <a:rPr dirty="0" sz="1000" spc="-15">
                <a:latin typeface="Times New Roman"/>
                <a:cs typeface="Times New Roman"/>
              </a:rPr>
              <a:t> </a:t>
            </a:r>
            <a:r>
              <a:rPr dirty="0" sz="1000" spc="-10">
                <a:latin typeface="Times New Roman"/>
                <a:cs typeface="Times New Roman"/>
              </a:rPr>
              <a:t>perform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attention</a:t>
            </a:r>
            <a:r>
              <a:rPr dirty="0" sz="1000" spc="-10">
                <a:latin typeface="Times New Roman"/>
                <a:cs typeface="Times New Roman"/>
              </a:rPr>
              <a:t> </a:t>
            </a:r>
            <a:r>
              <a:rPr dirty="0" sz="1000">
                <a:latin typeface="Times New Roman"/>
                <a:cs typeface="Times New Roman"/>
              </a:rPr>
              <a:t>function</a:t>
            </a:r>
            <a:r>
              <a:rPr dirty="0" sz="1000" spc="-1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spc="-10">
                <a:latin typeface="Times New Roman"/>
                <a:cs typeface="Times New Roman"/>
              </a:rPr>
              <a:t>parallel, </a:t>
            </a:r>
            <a:r>
              <a:rPr dirty="0" sz="1000">
                <a:latin typeface="Times New Roman"/>
                <a:cs typeface="Times New Roman"/>
              </a:rPr>
              <a:t>yielding</a:t>
            </a:r>
            <a:r>
              <a:rPr dirty="0" sz="1000" spc="-15">
                <a:latin typeface="Times New Roman"/>
                <a:cs typeface="Times New Roman"/>
              </a:rPr>
              <a:t> </a:t>
            </a:r>
            <a:r>
              <a:rPr dirty="0" sz="1000" i="1">
                <a:latin typeface="Calibri"/>
                <a:cs typeface="Calibri"/>
              </a:rPr>
              <a:t>d</a:t>
            </a:r>
            <a:r>
              <a:rPr dirty="0" baseline="-11904" sz="1050" i="1">
                <a:latin typeface="Calibri"/>
                <a:cs typeface="Calibri"/>
              </a:rPr>
              <a:t>v</a:t>
            </a:r>
            <a:r>
              <a:rPr dirty="0" baseline="-11904" sz="1050" spc="-60" i="1">
                <a:latin typeface="Calibri"/>
                <a:cs typeface="Calibri"/>
              </a:rPr>
              <a:t> </a:t>
            </a:r>
            <a:r>
              <a:rPr dirty="0" sz="1000" spc="-10">
                <a:latin typeface="Times New Roman"/>
                <a:cs typeface="Times New Roman"/>
              </a:rPr>
              <a:t>-dimensional </a:t>
            </a:r>
            <a:r>
              <a:rPr dirty="0" sz="1000">
                <a:latin typeface="Times New Roman"/>
                <a:cs typeface="Times New Roman"/>
              </a:rPr>
              <a:t>output</a:t>
            </a:r>
            <a:r>
              <a:rPr dirty="0" sz="1000" spc="65">
                <a:latin typeface="Times New Roman"/>
                <a:cs typeface="Times New Roman"/>
              </a:rPr>
              <a:t> </a:t>
            </a:r>
            <a:r>
              <a:rPr dirty="0" sz="1000">
                <a:latin typeface="Times New Roman"/>
                <a:cs typeface="Times New Roman"/>
              </a:rPr>
              <a:t>values.</a:t>
            </a:r>
            <a:r>
              <a:rPr dirty="0" sz="1000" spc="254">
                <a:latin typeface="Times New Roman"/>
                <a:cs typeface="Times New Roman"/>
              </a:rPr>
              <a:t> </a:t>
            </a:r>
            <a:r>
              <a:rPr dirty="0" sz="1000">
                <a:latin typeface="Times New Roman"/>
                <a:cs typeface="Times New Roman"/>
              </a:rPr>
              <a:t>These</a:t>
            </a:r>
            <a:r>
              <a:rPr dirty="0" sz="1000" spc="70">
                <a:latin typeface="Times New Roman"/>
                <a:cs typeface="Times New Roman"/>
              </a:rPr>
              <a:t> </a:t>
            </a:r>
            <a:r>
              <a:rPr dirty="0" sz="1000">
                <a:latin typeface="Times New Roman"/>
                <a:cs typeface="Times New Roman"/>
              </a:rPr>
              <a:t>are</a:t>
            </a:r>
            <a:r>
              <a:rPr dirty="0" sz="1000" spc="65">
                <a:latin typeface="Times New Roman"/>
                <a:cs typeface="Times New Roman"/>
              </a:rPr>
              <a:t> </a:t>
            </a:r>
            <a:r>
              <a:rPr dirty="0" sz="1000">
                <a:latin typeface="Times New Roman"/>
                <a:cs typeface="Times New Roman"/>
              </a:rPr>
              <a:t>concatenated</a:t>
            </a:r>
            <a:r>
              <a:rPr dirty="0" sz="1000" spc="70">
                <a:latin typeface="Times New Roman"/>
                <a:cs typeface="Times New Roman"/>
              </a:rPr>
              <a:t> </a:t>
            </a:r>
            <a:r>
              <a:rPr dirty="0" sz="1000">
                <a:latin typeface="Times New Roman"/>
                <a:cs typeface="Times New Roman"/>
              </a:rPr>
              <a:t>and</a:t>
            </a:r>
            <a:r>
              <a:rPr dirty="0" sz="1000" spc="70">
                <a:latin typeface="Times New Roman"/>
                <a:cs typeface="Times New Roman"/>
              </a:rPr>
              <a:t> </a:t>
            </a:r>
            <a:r>
              <a:rPr dirty="0" sz="1000">
                <a:latin typeface="Times New Roman"/>
                <a:cs typeface="Times New Roman"/>
              </a:rPr>
              <a:t>once</a:t>
            </a:r>
            <a:r>
              <a:rPr dirty="0" sz="1000" spc="65">
                <a:latin typeface="Times New Roman"/>
                <a:cs typeface="Times New Roman"/>
              </a:rPr>
              <a:t> </a:t>
            </a:r>
            <a:r>
              <a:rPr dirty="0" sz="1000">
                <a:latin typeface="Times New Roman"/>
                <a:cs typeface="Times New Roman"/>
              </a:rPr>
              <a:t>again</a:t>
            </a:r>
            <a:r>
              <a:rPr dirty="0" sz="1000" spc="70">
                <a:latin typeface="Times New Roman"/>
                <a:cs typeface="Times New Roman"/>
              </a:rPr>
              <a:t> </a:t>
            </a:r>
            <a:r>
              <a:rPr dirty="0" sz="1000">
                <a:latin typeface="Times New Roman"/>
                <a:cs typeface="Times New Roman"/>
              </a:rPr>
              <a:t>projected,</a:t>
            </a:r>
            <a:r>
              <a:rPr dirty="0" sz="1000" spc="85">
                <a:latin typeface="Times New Roman"/>
                <a:cs typeface="Times New Roman"/>
              </a:rPr>
              <a:t> </a:t>
            </a:r>
            <a:r>
              <a:rPr dirty="0" sz="1000">
                <a:latin typeface="Times New Roman"/>
                <a:cs typeface="Times New Roman"/>
              </a:rPr>
              <a:t>resulting</a:t>
            </a:r>
            <a:r>
              <a:rPr dirty="0" sz="1000" spc="65">
                <a:latin typeface="Times New Roman"/>
                <a:cs typeface="Times New Roman"/>
              </a:rPr>
              <a:t> </a:t>
            </a:r>
            <a:r>
              <a:rPr dirty="0" sz="1000">
                <a:latin typeface="Times New Roman"/>
                <a:cs typeface="Times New Roman"/>
              </a:rPr>
              <a:t>in</a:t>
            </a:r>
            <a:r>
              <a:rPr dirty="0" sz="1000" spc="70">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final</a:t>
            </a:r>
            <a:r>
              <a:rPr dirty="0" sz="1000" spc="70">
                <a:latin typeface="Times New Roman"/>
                <a:cs typeface="Times New Roman"/>
              </a:rPr>
              <a:t> </a:t>
            </a:r>
            <a:r>
              <a:rPr dirty="0" sz="1000">
                <a:latin typeface="Times New Roman"/>
                <a:cs typeface="Times New Roman"/>
              </a:rPr>
              <a:t>values,</a:t>
            </a:r>
            <a:r>
              <a:rPr dirty="0" sz="1000" spc="85">
                <a:latin typeface="Times New Roman"/>
                <a:cs typeface="Times New Roman"/>
              </a:rPr>
              <a:t> </a:t>
            </a:r>
            <a:r>
              <a:rPr dirty="0" sz="1000" spc="-25">
                <a:latin typeface="Times New Roman"/>
                <a:cs typeface="Times New Roman"/>
              </a:rPr>
              <a:t>as </a:t>
            </a:r>
            <a:r>
              <a:rPr dirty="0" sz="1000">
                <a:latin typeface="Times New Roman"/>
                <a:cs typeface="Times New Roman"/>
              </a:rPr>
              <a:t>depicted</a:t>
            </a:r>
            <a:r>
              <a:rPr dirty="0" sz="1000" spc="-25">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Figure</a:t>
            </a:r>
            <a:r>
              <a:rPr dirty="0" sz="1000" spc="-25">
                <a:latin typeface="Times New Roman"/>
                <a:cs typeface="Times New Roman"/>
              </a:rPr>
              <a:t> 2.</a:t>
            </a:r>
            <a:endParaRPr sz="1000">
              <a:latin typeface="Times New Roman"/>
              <a:cs typeface="Times New Roman"/>
            </a:endParaRPr>
          </a:p>
          <a:p>
            <a:pPr algn="just" marL="55244" marR="58419">
              <a:lnSpc>
                <a:spcPts val="1090"/>
              </a:lnSpc>
              <a:spcBef>
                <a:spcPts val="550"/>
              </a:spcBef>
            </a:pPr>
            <a:r>
              <a:rPr dirty="0" sz="1000" spc="-10">
                <a:latin typeface="Times New Roman"/>
                <a:cs typeface="Times New Roman"/>
              </a:rPr>
              <a:t>Multi-</a:t>
            </a:r>
            <a:r>
              <a:rPr dirty="0" sz="1000">
                <a:latin typeface="Times New Roman"/>
                <a:cs typeface="Times New Roman"/>
              </a:rPr>
              <a:t>head</a:t>
            </a:r>
            <a:r>
              <a:rPr dirty="0" sz="1000" spc="-15">
                <a:latin typeface="Times New Roman"/>
                <a:cs typeface="Times New Roman"/>
              </a:rPr>
              <a:t> </a:t>
            </a:r>
            <a:r>
              <a:rPr dirty="0" sz="1000">
                <a:latin typeface="Times New Roman"/>
                <a:cs typeface="Times New Roman"/>
              </a:rPr>
              <a:t>attention</a:t>
            </a:r>
            <a:r>
              <a:rPr dirty="0" sz="1000" spc="-15">
                <a:latin typeface="Times New Roman"/>
                <a:cs typeface="Times New Roman"/>
              </a:rPr>
              <a:t> </a:t>
            </a:r>
            <a:r>
              <a:rPr dirty="0" sz="1000">
                <a:latin typeface="Times New Roman"/>
                <a:cs typeface="Times New Roman"/>
              </a:rPr>
              <a:t>allows</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model</a:t>
            </a:r>
            <a:r>
              <a:rPr dirty="0" sz="1000" spc="-1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jointly</a:t>
            </a:r>
            <a:r>
              <a:rPr dirty="0" sz="1000" spc="-10">
                <a:latin typeface="Times New Roman"/>
                <a:cs typeface="Times New Roman"/>
              </a:rPr>
              <a:t> </a:t>
            </a:r>
            <a:r>
              <a:rPr dirty="0" sz="1000">
                <a:latin typeface="Times New Roman"/>
                <a:cs typeface="Times New Roman"/>
              </a:rPr>
              <a:t>attend</a:t>
            </a:r>
            <a:r>
              <a:rPr dirty="0" sz="1000" spc="-15">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information</a:t>
            </a:r>
            <a:r>
              <a:rPr dirty="0" sz="1000" spc="-10">
                <a:latin typeface="Times New Roman"/>
                <a:cs typeface="Times New Roman"/>
              </a:rPr>
              <a:t> </a:t>
            </a:r>
            <a:r>
              <a:rPr dirty="0" sz="1000">
                <a:latin typeface="Times New Roman"/>
                <a:cs typeface="Times New Roman"/>
              </a:rPr>
              <a:t>from</a:t>
            </a:r>
            <a:r>
              <a:rPr dirty="0" sz="1000" spc="-15">
                <a:latin typeface="Times New Roman"/>
                <a:cs typeface="Times New Roman"/>
              </a:rPr>
              <a:t> </a:t>
            </a:r>
            <a:r>
              <a:rPr dirty="0" sz="1000" spc="-10">
                <a:latin typeface="Times New Roman"/>
                <a:cs typeface="Times New Roman"/>
              </a:rPr>
              <a:t>different representation </a:t>
            </a:r>
            <a:r>
              <a:rPr dirty="0" sz="1000">
                <a:latin typeface="Times New Roman"/>
                <a:cs typeface="Times New Roman"/>
              </a:rPr>
              <a:t>subspaces</a:t>
            </a:r>
            <a:r>
              <a:rPr dirty="0" sz="1000" spc="-25">
                <a:latin typeface="Times New Roman"/>
                <a:cs typeface="Times New Roman"/>
              </a:rPr>
              <a:t> </a:t>
            </a:r>
            <a:r>
              <a:rPr dirty="0" sz="1000">
                <a:latin typeface="Times New Roman"/>
                <a:cs typeface="Times New Roman"/>
              </a:rPr>
              <a:t>at</a:t>
            </a:r>
            <a:r>
              <a:rPr dirty="0" sz="1000" spc="-20">
                <a:latin typeface="Times New Roman"/>
                <a:cs typeface="Times New Roman"/>
              </a:rPr>
              <a:t> </a:t>
            </a:r>
            <a:r>
              <a:rPr dirty="0" sz="1000" spc="-10">
                <a:latin typeface="Times New Roman"/>
                <a:cs typeface="Times New Roman"/>
              </a:rPr>
              <a:t>different</a:t>
            </a:r>
            <a:r>
              <a:rPr dirty="0" sz="1000" spc="-20">
                <a:latin typeface="Times New Roman"/>
                <a:cs typeface="Times New Roman"/>
              </a:rPr>
              <a:t> </a:t>
            </a:r>
            <a:r>
              <a:rPr dirty="0" sz="1000">
                <a:latin typeface="Times New Roman"/>
                <a:cs typeface="Times New Roman"/>
              </a:rPr>
              <a:t>positions.</a:t>
            </a:r>
            <a:r>
              <a:rPr dirty="0" sz="1000" spc="35">
                <a:latin typeface="Times New Roman"/>
                <a:cs typeface="Times New Roman"/>
              </a:rPr>
              <a:t> </a:t>
            </a:r>
            <a:r>
              <a:rPr dirty="0" sz="1000" spc="-10">
                <a:latin typeface="Times New Roman"/>
                <a:cs typeface="Times New Roman"/>
              </a:rPr>
              <a:t>With</a:t>
            </a:r>
            <a:r>
              <a:rPr dirty="0" sz="1000" spc="-2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single</a:t>
            </a:r>
            <a:r>
              <a:rPr dirty="0" sz="1000" spc="-20">
                <a:latin typeface="Times New Roman"/>
                <a:cs typeface="Times New Roman"/>
              </a:rPr>
              <a:t> </a:t>
            </a:r>
            <a:r>
              <a:rPr dirty="0" sz="1000">
                <a:latin typeface="Times New Roman"/>
                <a:cs typeface="Times New Roman"/>
              </a:rPr>
              <a:t>attention</a:t>
            </a:r>
            <a:r>
              <a:rPr dirty="0" sz="1000" spc="-20">
                <a:latin typeface="Times New Roman"/>
                <a:cs typeface="Times New Roman"/>
              </a:rPr>
              <a:t> </a:t>
            </a:r>
            <a:r>
              <a:rPr dirty="0" sz="1000">
                <a:latin typeface="Times New Roman"/>
                <a:cs typeface="Times New Roman"/>
              </a:rPr>
              <a:t>head,</a:t>
            </a:r>
            <a:r>
              <a:rPr dirty="0" sz="1000" spc="-25">
                <a:latin typeface="Times New Roman"/>
                <a:cs typeface="Times New Roman"/>
              </a:rPr>
              <a:t> </a:t>
            </a:r>
            <a:r>
              <a:rPr dirty="0" sz="1000" spc="-10">
                <a:latin typeface="Times New Roman"/>
                <a:cs typeface="Times New Roman"/>
              </a:rPr>
              <a:t>averaging</a:t>
            </a:r>
            <a:r>
              <a:rPr dirty="0" sz="1000" spc="-20">
                <a:latin typeface="Times New Roman"/>
                <a:cs typeface="Times New Roman"/>
              </a:rPr>
              <a:t> </a:t>
            </a:r>
            <a:r>
              <a:rPr dirty="0" sz="1000">
                <a:latin typeface="Times New Roman"/>
                <a:cs typeface="Times New Roman"/>
              </a:rPr>
              <a:t>inhibits</a:t>
            </a:r>
            <a:r>
              <a:rPr dirty="0" sz="1000" spc="-20">
                <a:latin typeface="Times New Roman"/>
                <a:cs typeface="Times New Roman"/>
              </a:rPr>
              <a:t> </a:t>
            </a:r>
            <a:r>
              <a:rPr dirty="0" sz="1000" spc="-10">
                <a:latin typeface="Times New Roman"/>
                <a:cs typeface="Times New Roman"/>
              </a:rPr>
              <a:t>this.</a:t>
            </a:r>
            <a:endParaRPr sz="1000">
              <a:latin typeface="Times New Roman"/>
              <a:cs typeface="Times New Roman"/>
            </a:endParaRPr>
          </a:p>
          <a:p>
            <a:pPr>
              <a:lnSpc>
                <a:spcPct val="100000"/>
              </a:lnSpc>
              <a:spcBef>
                <a:spcPts val="285"/>
              </a:spcBef>
            </a:pPr>
            <a:endParaRPr sz="1000">
              <a:latin typeface="Times New Roman"/>
              <a:cs typeface="Times New Roman"/>
            </a:endParaRPr>
          </a:p>
          <a:p>
            <a:pPr marL="215900">
              <a:lnSpc>
                <a:spcPct val="100000"/>
              </a:lnSpc>
            </a:pPr>
            <a:r>
              <a:rPr dirty="0" baseline="37037" sz="900" spc="-15">
                <a:latin typeface="Times New Roman"/>
                <a:cs typeface="Times New Roman"/>
              </a:rPr>
              <a:t>4</a:t>
            </a:r>
            <a:r>
              <a:rPr dirty="0" sz="900" spc="-10">
                <a:latin typeface="Times New Roman"/>
                <a:cs typeface="Times New Roman"/>
              </a:rPr>
              <a:t>To</a:t>
            </a:r>
            <a:r>
              <a:rPr dirty="0" sz="900" spc="-35">
                <a:latin typeface="Times New Roman"/>
                <a:cs typeface="Times New Roman"/>
              </a:rPr>
              <a:t> </a:t>
            </a:r>
            <a:r>
              <a:rPr dirty="0" sz="900" spc="-10">
                <a:latin typeface="Times New Roman"/>
                <a:cs typeface="Times New Roman"/>
              </a:rPr>
              <a:t>illustrate</a:t>
            </a:r>
            <a:r>
              <a:rPr dirty="0" sz="900" spc="-30">
                <a:latin typeface="Times New Roman"/>
                <a:cs typeface="Times New Roman"/>
              </a:rPr>
              <a:t> </a:t>
            </a:r>
            <a:r>
              <a:rPr dirty="0" sz="900" spc="-10">
                <a:latin typeface="Times New Roman"/>
                <a:cs typeface="Times New Roman"/>
              </a:rPr>
              <a:t>why</a:t>
            </a:r>
            <a:r>
              <a:rPr dirty="0" sz="900" spc="-30">
                <a:latin typeface="Times New Roman"/>
                <a:cs typeface="Times New Roman"/>
              </a:rPr>
              <a:t> </a:t>
            </a:r>
            <a:r>
              <a:rPr dirty="0" sz="900">
                <a:latin typeface="Times New Roman"/>
                <a:cs typeface="Times New Roman"/>
              </a:rPr>
              <a:t>the</a:t>
            </a:r>
            <a:r>
              <a:rPr dirty="0" sz="900" spc="-35">
                <a:latin typeface="Times New Roman"/>
                <a:cs typeface="Times New Roman"/>
              </a:rPr>
              <a:t> </a:t>
            </a:r>
            <a:r>
              <a:rPr dirty="0" sz="900">
                <a:latin typeface="Times New Roman"/>
                <a:cs typeface="Times New Roman"/>
              </a:rPr>
              <a:t>dot</a:t>
            </a:r>
            <a:r>
              <a:rPr dirty="0" sz="900" spc="-30">
                <a:latin typeface="Times New Roman"/>
                <a:cs typeface="Times New Roman"/>
              </a:rPr>
              <a:t> </a:t>
            </a:r>
            <a:r>
              <a:rPr dirty="0" sz="900" spc="-10">
                <a:latin typeface="Times New Roman"/>
                <a:cs typeface="Times New Roman"/>
              </a:rPr>
              <a:t>products</a:t>
            </a:r>
            <a:r>
              <a:rPr dirty="0" sz="900" spc="-30">
                <a:latin typeface="Times New Roman"/>
                <a:cs typeface="Times New Roman"/>
              </a:rPr>
              <a:t> </a:t>
            </a:r>
            <a:r>
              <a:rPr dirty="0" sz="900">
                <a:latin typeface="Times New Roman"/>
                <a:cs typeface="Times New Roman"/>
              </a:rPr>
              <a:t>get</a:t>
            </a:r>
            <a:r>
              <a:rPr dirty="0" sz="900" spc="-35">
                <a:latin typeface="Times New Roman"/>
                <a:cs typeface="Times New Roman"/>
              </a:rPr>
              <a:t> </a:t>
            </a:r>
            <a:r>
              <a:rPr dirty="0" sz="900" spc="-10">
                <a:latin typeface="Times New Roman"/>
                <a:cs typeface="Times New Roman"/>
              </a:rPr>
              <a:t>large,</a:t>
            </a:r>
            <a:r>
              <a:rPr dirty="0" sz="900" spc="-30">
                <a:latin typeface="Times New Roman"/>
                <a:cs typeface="Times New Roman"/>
              </a:rPr>
              <a:t> </a:t>
            </a:r>
            <a:r>
              <a:rPr dirty="0" sz="900" spc="-10">
                <a:latin typeface="Times New Roman"/>
                <a:cs typeface="Times New Roman"/>
              </a:rPr>
              <a:t>assume</a:t>
            </a:r>
            <a:r>
              <a:rPr dirty="0" sz="900" spc="-30">
                <a:latin typeface="Times New Roman"/>
                <a:cs typeface="Times New Roman"/>
              </a:rPr>
              <a:t> </a:t>
            </a:r>
            <a:r>
              <a:rPr dirty="0" sz="900">
                <a:latin typeface="Times New Roman"/>
                <a:cs typeface="Times New Roman"/>
              </a:rPr>
              <a:t>that</a:t>
            </a:r>
            <a:r>
              <a:rPr dirty="0" sz="900" spc="-30">
                <a:latin typeface="Times New Roman"/>
                <a:cs typeface="Times New Roman"/>
              </a:rPr>
              <a:t> </a:t>
            </a:r>
            <a:r>
              <a:rPr dirty="0" sz="900">
                <a:latin typeface="Times New Roman"/>
                <a:cs typeface="Times New Roman"/>
              </a:rPr>
              <a:t>the</a:t>
            </a:r>
            <a:r>
              <a:rPr dirty="0" sz="900" spc="-35">
                <a:latin typeface="Times New Roman"/>
                <a:cs typeface="Times New Roman"/>
              </a:rPr>
              <a:t> </a:t>
            </a:r>
            <a:r>
              <a:rPr dirty="0" sz="900" spc="-10">
                <a:latin typeface="Times New Roman"/>
                <a:cs typeface="Times New Roman"/>
              </a:rPr>
              <a:t>components</a:t>
            </a:r>
            <a:r>
              <a:rPr dirty="0" sz="900" spc="-30">
                <a:latin typeface="Times New Roman"/>
                <a:cs typeface="Times New Roman"/>
              </a:rPr>
              <a:t> </a:t>
            </a:r>
            <a:r>
              <a:rPr dirty="0" sz="900">
                <a:latin typeface="Times New Roman"/>
                <a:cs typeface="Times New Roman"/>
              </a:rPr>
              <a:t>of</a:t>
            </a:r>
            <a:r>
              <a:rPr dirty="0" sz="900" spc="-30">
                <a:latin typeface="Times New Roman"/>
                <a:cs typeface="Times New Roman"/>
              </a:rPr>
              <a:t> </a:t>
            </a:r>
            <a:r>
              <a:rPr dirty="0" sz="900" i="1">
                <a:latin typeface="Calibri"/>
                <a:cs typeface="Calibri"/>
              </a:rPr>
              <a:t>q</a:t>
            </a:r>
            <a:r>
              <a:rPr dirty="0" sz="900" spc="20" i="1">
                <a:latin typeface="Calibri"/>
                <a:cs typeface="Calibri"/>
              </a:rPr>
              <a:t> </a:t>
            </a:r>
            <a:r>
              <a:rPr dirty="0" sz="900">
                <a:latin typeface="Times New Roman"/>
                <a:cs typeface="Times New Roman"/>
              </a:rPr>
              <a:t>and</a:t>
            </a:r>
            <a:r>
              <a:rPr dirty="0" sz="900" spc="-35">
                <a:latin typeface="Times New Roman"/>
                <a:cs typeface="Times New Roman"/>
              </a:rPr>
              <a:t> </a:t>
            </a:r>
            <a:r>
              <a:rPr dirty="0" sz="900" spc="65" i="1">
                <a:latin typeface="Calibri"/>
                <a:cs typeface="Calibri"/>
              </a:rPr>
              <a:t>k</a:t>
            </a:r>
            <a:r>
              <a:rPr dirty="0" sz="900" spc="20" i="1">
                <a:latin typeface="Calibri"/>
                <a:cs typeface="Calibri"/>
              </a:rPr>
              <a:t> </a:t>
            </a:r>
            <a:r>
              <a:rPr dirty="0" sz="900">
                <a:latin typeface="Times New Roman"/>
                <a:cs typeface="Times New Roman"/>
              </a:rPr>
              <a:t>are</a:t>
            </a:r>
            <a:r>
              <a:rPr dirty="0" sz="900" spc="-35">
                <a:latin typeface="Times New Roman"/>
                <a:cs typeface="Times New Roman"/>
              </a:rPr>
              <a:t> </a:t>
            </a:r>
            <a:r>
              <a:rPr dirty="0" sz="900" spc="-10">
                <a:latin typeface="Times New Roman"/>
                <a:cs typeface="Times New Roman"/>
              </a:rPr>
              <a:t>independent</a:t>
            </a:r>
            <a:r>
              <a:rPr dirty="0" sz="900" spc="-30">
                <a:latin typeface="Times New Roman"/>
                <a:cs typeface="Times New Roman"/>
              </a:rPr>
              <a:t> </a:t>
            </a:r>
            <a:r>
              <a:rPr dirty="0" sz="900" spc="-10">
                <a:latin typeface="Times New Roman"/>
                <a:cs typeface="Times New Roman"/>
              </a:rPr>
              <a:t>random</a:t>
            </a:r>
            <a:endParaRPr sz="900">
              <a:latin typeface="Times New Roman"/>
              <a:cs typeface="Times New Roman"/>
            </a:endParaRPr>
          </a:p>
        </p:txBody>
      </p:sp>
      <p:sp>
        <p:nvSpPr>
          <p:cNvPr id="30" name="object 30" descr=""/>
          <p:cNvSpPr txBox="1">
            <a:spLocks noGrp="1"/>
          </p:cNvSpPr>
          <p:nvPr>
            <p:ph type="sldNum" idx="7" sz="quarter"/>
          </p:nvPr>
        </p:nvSpPr>
        <p:spPr>
          <a:prstGeom prst="rect"/>
        </p:spPr>
        <p:txBody>
          <a:bodyPr wrap="square" lIns="0" tIns="2540" rIns="0" bIns="0" rtlCol="0" vert="horz">
            <a:spAutoFit/>
          </a:bodyPr>
          <a:lstStyle/>
          <a:p>
            <a:pPr marL="69215">
              <a:lnSpc>
                <a:spcPct val="100000"/>
              </a:lnSpc>
              <a:spcBef>
                <a:spcPts val="20"/>
              </a:spcBef>
            </a:pPr>
            <a:fld id="{81D60167-4931-47E6-BA6A-407CBD079E47}" type="slidenum">
              <a:rPr dirty="0" spc="-50"/>
              <a:t>3</a:t>
            </a:fld>
          </a:p>
        </p:txBody>
      </p:sp>
      <p:sp>
        <p:nvSpPr>
          <p:cNvPr id="28" name="object 28" descr=""/>
          <p:cNvSpPr txBox="1"/>
          <p:nvPr/>
        </p:nvSpPr>
        <p:spPr>
          <a:xfrm>
            <a:off x="4668304" y="9090182"/>
            <a:ext cx="177165" cy="116839"/>
          </a:xfrm>
          <a:prstGeom prst="rect">
            <a:avLst/>
          </a:prstGeom>
        </p:spPr>
        <p:txBody>
          <a:bodyPr wrap="square" lIns="0" tIns="12065" rIns="0" bIns="0" rtlCol="0" vert="horz">
            <a:spAutoFit/>
          </a:bodyPr>
          <a:lstStyle/>
          <a:p>
            <a:pPr marL="12700">
              <a:lnSpc>
                <a:spcPct val="100000"/>
              </a:lnSpc>
              <a:spcBef>
                <a:spcPts val="95"/>
              </a:spcBef>
            </a:pPr>
            <a:r>
              <a:rPr dirty="0" sz="600" spc="105" i="1">
                <a:latin typeface="Calibri"/>
                <a:cs typeface="Calibri"/>
              </a:rPr>
              <a:t>i</a:t>
            </a:r>
            <a:r>
              <a:rPr dirty="0" sz="600" spc="105">
                <a:latin typeface="Georgia"/>
                <a:cs typeface="Georgia"/>
              </a:rPr>
              <a:t>=1</a:t>
            </a:r>
            <a:endParaRPr sz="600">
              <a:latin typeface="Georgia"/>
              <a:cs typeface="Georgia"/>
            </a:endParaRPr>
          </a:p>
        </p:txBody>
      </p:sp>
      <p:sp>
        <p:nvSpPr>
          <p:cNvPr id="29" name="object 29" descr=""/>
          <p:cNvSpPr txBox="1"/>
          <p:nvPr/>
        </p:nvSpPr>
        <p:spPr>
          <a:xfrm>
            <a:off x="1330655" y="9017427"/>
            <a:ext cx="5107305" cy="162560"/>
          </a:xfrm>
          <a:prstGeom prst="rect">
            <a:avLst/>
          </a:prstGeom>
        </p:spPr>
        <p:txBody>
          <a:bodyPr wrap="square" lIns="0" tIns="12065" rIns="0" bIns="0" rtlCol="0" vert="horz">
            <a:spAutoFit/>
          </a:bodyPr>
          <a:lstStyle/>
          <a:p>
            <a:pPr marL="38100">
              <a:lnSpc>
                <a:spcPct val="100000"/>
              </a:lnSpc>
              <a:spcBef>
                <a:spcPts val="95"/>
              </a:spcBef>
            </a:pPr>
            <a:r>
              <a:rPr dirty="0" sz="900" spc="-10">
                <a:latin typeface="Times New Roman"/>
                <a:cs typeface="Times New Roman"/>
              </a:rPr>
              <a:t>variables </a:t>
            </a:r>
            <a:r>
              <a:rPr dirty="0" sz="900">
                <a:latin typeface="Times New Roman"/>
                <a:cs typeface="Times New Roman"/>
              </a:rPr>
              <a:t>with</a:t>
            </a:r>
            <a:r>
              <a:rPr dirty="0" sz="900" spc="-10">
                <a:latin typeface="Times New Roman"/>
                <a:cs typeface="Times New Roman"/>
              </a:rPr>
              <a:t> </a:t>
            </a:r>
            <a:r>
              <a:rPr dirty="0" sz="900">
                <a:latin typeface="Times New Roman"/>
                <a:cs typeface="Times New Roman"/>
              </a:rPr>
              <a:t>mean</a:t>
            </a:r>
            <a:r>
              <a:rPr dirty="0" sz="900" spc="-10">
                <a:latin typeface="Times New Roman"/>
                <a:cs typeface="Times New Roman"/>
              </a:rPr>
              <a:t> </a:t>
            </a:r>
            <a:r>
              <a:rPr dirty="0" sz="900">
                <a:latin typeface="Calibri"/>
                <a:cs typeface="Calibri"/>
              </a:rPr>
              <a:t>0</a:t>
            </a:r>
            <a:r>
              <a:rPr dirty="0" sz="900" spc="20">
                <a:latin typeface="Calibri"/>
                <a:cs typeface="Calibri"/>
              </a:rPr>
              <a:t> </a:t>
            </a:r>
            <a:r>
              <a:rPr dirty="0" sz="900">
                <a:latin typeface="Times New Roman"/>
                <a:cs typeface="Times New Roman"/>
              </a:rPr>
              <a:t>and</a:t>
            </a:r>
            <a:r>
              <a:rPr dirty="0" sz="900" spc="-10">
                <a:latin typeface="Times New Roman"/>
                <a:cs typeface="Times New Roman"/>
              </a:rPr>
              <a:t> variance </a:t>
            </a:r>
            <a:r>
              <a:rPr dirty="0" sz="900">
                <a:latin typeface="Calibri"/>
                <a:cs typeface="Calibri"/>
              </a:rPr>
              <a:t>1</a:t>
            </a:r>
            <a:r>
              <a:rPr dirty="0" sz="900">
                <a:latin typeface="Times New Roman"/>
                <a:cs typeface="Times New Roman"/>
              </a:rPr>
              <a:t>.</a:t>
            </a:r>
            <a:r>
              <a:rPr dirty="0" sz="900" spc="45">
                <a:latin typeface="Times New Roman"/>
                <a:cs typeface="Times New Roman"/>
              </a:rPr>
              <a:t> </a:t>
            </a:r>
            <a:r>
              <a:rPr dirty="0" sz="900">
                <a:latin typeface="Times New Roman"/>
                <a:cs typeface="Times New Roman"/>
              </a:rPr>
              <a:t>Then</a:t>
            </a:r>
            <a:r>
              <a:rPr dirty="0" sz="900" spc="-5">
                <a:latin typeface="Times New Roman"/>
                <a:cs typeface="Times New Roman"/>
              </a:rPr>
              <a:t> </a:t>
            </a:r>
            <a:r>
              <a:rPr dirty="0" sz="900">
                <a:latin typeface="Times New Roman"/>
                <a:cs typeface="Times New Roman"/>
              </a:rPr>
              <a:t>their</a:t>
            </a:r>
            <a:r>
              <a:rPr dirty="0" sz="900" spc="-10">
                <a:latin typeface="Times New Roman"/>
                <a:cs typeface="Times New Roman"/>
              </a:rPr>
              <a:t> </a:t>
            </a:r>
            <a:r>
              <a:rPr dirty="0" sz="900">
                <a:latin typeface="Times New Roman"/>
                <a:cs typeface="Times New Roman"/>
              </a:rPr>
              <a:t>dot</a:t>
            </a:r>
            <a:r>
              <a:rPr dirty="0" sz="900" spc="-10">
                <a:latin typeface="Times New Roman"/>
                <a:cs typeface="Times New Roman"/>
              </a:rPr>
              <a:t> </a:t>
            </a:r>
            <a:r>
              <a:rPr dirty="0" sz="900">
                <a:latin typeface="Times New Roman"/>
                <a:cs typeface="Times New Roman"/>
              </a:rPr>
              <a:t>product,</a:t>
            </a:r>
            <a:r>
              <a:rPr dirty="0" sz="900" spc="-5">
                <a:latin typeface="Times New Roman"/>
                <a:cs typeface="Times New Roman"/>
              </a:rPr>
              <a:t> </a:t>
            </a:r>
            <a:r>
              <a:rPr dirty="0" sz="900" i="1">
                <a:latin typeface="Calibri"/>
                <a:cs typeface="Calibri"/>
              </a:rPr>
              <a:t>q</a:t>
            </a:r>
            <a:r>
              <a:rPr dirty="0" sz="900" spc="25" i="1">
                <a:latin typeface="Calibri"/>
                <a:cs typeface="Calibri"/>
              </a:rPr>
              <a:t> </a:t>
            </a:r>
            <a:r>
              <a:rPr dirty="0" sz="900" i="1">
                <a:latin typeface="Georgia"/>
                <a:cs typeface="Georgia"/>
              </a:rPr>
              <a:t>·</a:t>
            </a:r>
            <a:r>
              <a:rPr dirty="0" sz="900" spc="-20" i="1">
                <a:latin typeface="Georgia"/>
                <a:cs typeface="Georgia"/>
              </a:rPr>
              <a:t> </a:t>
            </a:r>
            <a:r>
              <a:rPr dirty="0" sz="900" spc="65" i="1">
                <a:latin typeface="Calibri"/>
                <a:cs typeface="Calibri"/>
              </a:rPr>
              <a:t>k</a:t>
            </a:r>
            <a:r>
              <a:rPr dirty="0" sz="900" spc="75" i="1">
                <a:latin typeface="Calibri"/>
                <a:cs typeface="Calibri"/>
              </a:rPr>
              <a:t> </a:t>
            </a:r>
            <a:r>
              <a:rPr dirty="0" sz="900" spc="265">
                <a:latin typeface="Calibri"/>
                <a:cs typeface="Calibri"/>
              </a:rPr>
              <a:t>=</a:t>
            </a:r>
            <a:r>
              <a:rPr dirty="0" sz="900" spc="45">
                <a:latin typeface="Calibri"/>
                <a:cs typeface="Calibri"/>
              </a:rPr>
              <a:t> </a:t>
            </a:r>
            <a:r>
              <a:rPr dirty="0" baseline="40123" sz="1350" spc="300">
                <a:latin typeface="Lucida Sans Unicode"/>
                <a:cs typeface="Lucida Sans Unicode"/>
              </a:rPr>
              <a:t>Σ</a:t>
            </a:r>
            <a:r>
              <a:rPr dirty="0" baseline="41666" sz="900" spc="300" i="1">
                <a:latin typeface="Calibri"/>
                <a:cs typeface="Calibri"/>
              </a:rPr>
              <a:t>d</a:t>
            </a:r>
            <a:r>
              <a:rPr dirty="0" baseline="33333" sz="750" spc="300" i="1">
                <a:latin typeface="Georgia"/>
                <a:cs typeface="Georgia"/>
              </a:rPr>
              <a:t>k</a:t>
            </a:r>
            <a:r>
              <a:rPr dirty="0" baseline="33333" sz="750" spc="292" i="1">
                <a:latin typeface="Georgia"/>
                <a:cs typeface="Georgia"/>
              </a:rPr>
              <a:t>  </a:t>
            </a:r>
            <a:r>
              <a:rPr dirty="0" sz="900" spc="70" i="1">
                <a:latin typeface="Calibri"/>
                <a:cs typeface="Calibri"/>
              </a:rPr>
              <a:t>q</a:t>
            </a:r>
            <a:r>
              <a:rPr dirty="0" baseline="-9259" sz="900" spc="104" i="1">
                <a:latin typeface="Calibri"/>
                <a:cs typeface="Calibri"/>
              </a:rPr>
              <a:t>i</a:t>
            </a:r>
            <a:r>
              <a:rPr dirty="0" sz="900" spc="70" i="1">
                <a:latin typeface="Calibri"/>
                <a:cs typeface="Calibri"/>
              </a:rPr>
              <a:t>k</a:t>
            </a:r>
            <a:r>
              <a:rPr dirty="0" baseline="-9259" sz="900" spc="104" i="1">
                <a:latin typeface="Calibri"/>
                <a:cs typeface="Calibri"/>
              </a:rPr>
              <a:t>i</a:t>
            </a:r>
            <a:r>
              <a:rPr dirty="0" sz="900" spc="70">
                <a:latin typeface="Times New Roman"/>
                <a:cs typeface="Times New Roman"/>
              </a:rPr>
              <a:t>,</a:t>
            </a:r>
            <a:r>
              <a:rPr dirty="0" sz="900" spc="-10">
                <a:latin typeface="Times New Roman"/>
                <a:cs typeface="Times New Roman"/>
              </a:rPr>
              <a:t> </a:t>
            </a:r>
            <a:r>
              <a:rPr dirty="0" sz="900">
                <a:latin typeface="Times New Roman"/>
                <a:cs typeface="Times New Roman"/>
              </a:rPr>
              <a:t>has</a:t>
            </a:r>
            <a:r>
              <a:rPr dirty="0" sz="900" spc="-10">
                <a:latin typeface="Times New Roman"/>
                <a:cs typeface="Times New Roman"/>
              </a:rPr>
              <a:t> </a:t>
            </a:r>
            <a:r>
              <a:rPr dirty="0" sz="900">
                <a:latin typeface="Times New Roman"/>
                <a:cs typeface="Times New Roman"/>
              </a:rPr>
              <a:t>mean</a:t>
            </a:r>
            <a:r>
              <a:rPr dirty="0" sz="900" spc="-5">
                <a:latin typeface="Times New Roman"/>
                <a:cs typeface="Times New Roman"/>
              </a:rPr>
              <a:t> </a:t>
            </a:r>
            <a:r>
              <a:rPr dirty="0" sz="900">
                <a:latin typeface="Calibri"/>
                <a:cs typeface="Calibri"/>
              </a:rPr>
              <a:t>0</a:t>
            </a:r>
            <a:r>
              <a:rPr dirty="0" sz="900" spc="15">
                <a:latin typeface="Calibri"/>
                <a:cs typeface="Calibri"/>
              </a:rPr>
              <a:t> </a:t>
            </a:r>
            <a:r>
              <a:rPr dirty="0" sz="900">
                <a:latin typeface="Times New Roman"/>
                <a:cs typeface="Times New Roman"/>
              </a:rPr>
              <a:t>and</a:t>
            </a:r>
            <a:r>
              <a:rPr dirty="0" sz="900" spc="-10">
                <a:latin typeface="Times New Roman"/>
                <a:cs typeface="Times New Roman"/>
              </a:rPr>
              <a:t> variance</a:t>
            </a:r>
            <a:r>
              <a:rPr dirty="0" sz="900" spc="-5">
                <a:latin typeface="Times New Roman"/>
                <a:cs typeface="Times New Roman"/>
              </a:rPr>
              <a:t> </a:t>
            </a:r>
            <a:r>
              <a:rPr dirty="0" sz="900" spc="65" i="1">
                <a:latin typeface="Calibri"/>
                <a:cs typeface="Calibri"/>
              </a:rPr>
              <a:t>d</a:t>
            </a:r>
            <a:r>
              <a:rPr dirty="0" baseline="-9259" sz="900" spc="97" i="1">
                <a:latin typeface="Calibri"/>
                <a:cs typeface="Calibri"/>
              </a:rPr>
              <a:t>k</a:t>
            </a:r>
            <a:r>
              <a:rPr dirty="0" baseline="-9259" sz="900" spc="-112" i="1">
                <a:latin typeface="Calibri"/>
                <a:cs typeface="Calibri"/>
              </a:rPr>
              <a:t> </a:t>
            </a:r>
            <a:r>
              <a:rPr dirty="0" sz="900" spc="-50">
                <a:latin typeface="Times New Roman"/>
                <a:cs typeface="Times New Roman"/>
              </a:rPr>
              <a:t>.</a:t>
            </a:r>
            <a:endParaRPr sz="9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object 22" descr=""/>
          <p:cNvSpPr txBox="1">
            <a:spLocks noGrp="1"/>
          </p:cNvSpPr>
          <p:nvPr>
            <p:ph type="sldNum" idx="7" sz="quarter"/>
          </p:nvPr>
        </p:nvSpPr>
        <p:spPr>
          <a:prstGeom prst="rect"/>
        </p:spPr>
        <p:txBody>
          <a:bodyPr wrap="square" lIns="0" tIns="2540" rIns="0" bIns="0" rtlCol="0" vert="horz">
            <a:spAutoFit/>
          </a:bodyPr>
          <a:lstStyle/>
          <a:p>
            <a:pPr marL="69215">
              <a:lnSpc>
                <a:spcPct val="100000"/>
              </a:lnSpc>
              <a:spcBef>
                <a:spcPts val="20"/>
              </a:spcBef>
            </a:pPr>
            <a:fld id="{81D60167-4931-47E6-BA6A-407CBD079E47}" type="slidenum">
              <a:rPr dirty="0" spc="-50"/>
              <a:t>3</a:t>
            </a:fld>
          </a:p>
        </p:txBody>
      </p:sp>
      <p:sp>
        <p:nvSpPr>
          <p:cNvPr id="2" name="object 2" descr=""/>
          <p:cNvSpPr txBox="1"/>
          <p:nvPr/>
        </p:nvSpPr>
        <p:spPr>
          <a:xfrm>
            <a:off x="2323338" y="1066717"/>
            <a:ext cx="3138805" cy="480059"/>
          </a:xfrm>
          <a:prstGeom prst="rect">
            <a:avLst/>
          </a:prstGeom>
        </p:spPr>
        <p:txBody>
          <a:bodyPr wrap="square" lIns="0" tIns="73660" rIns="0" bIns="0" rtlCol="0" vert="horz">
            <a:spAutoFit/>
          </a:bodyPr>
          <a:lstStyle/>
          <a:p>
            <a:pPr marL="50800">
              <a:lnSpc>
                <a:spcPct val="100000"/>
              </a:lnSpc>
              <a:spcBef>
                <a:spcPts val="580"/>
              </a:spcBef>
            </a:pPr>
            <a:r>
              <a:rPr dirty="0" sz="1000">
                <a:latin typeface="Calibri"/>
                <a:cs typeface="Calibri"/>
              </a:rPr>
              <a:t>MultiHead(</a:t>
            </a:r>
            <a:r>
              <a:rPr dirty="0" sz="1000" i="1">
                <a:latin typeface="Calibri"/>
                <a:cs typeface="Calibri"/>
              </a:rPr>
              <a:t>Q,</a:t>
            </a:r>
            <a:r>
              <a:rPr dirty="0" sz="1000" spc="65" i="1">
                <a:latin typeface="Calibri"/>
                <a:cs typeface="Calibri"/>
              </a:rPr>
              <a:t> </a:t>
            </a:r>
            <a:r>
              <a:rPr dirty="0" sz="1000" spc="180" i="1">
                <a:latin typeface="Calibri"/>
                <a:cs typeface="Calibri"/>
              </a:rPr>
              <a:t>K,</a:t>
            </a:r>
            <a:r>
              <a:rPr dirty="0" sz="1000" spc="70" i="1">
                <a:latin typeface="Calibri"/>
                <a:cs typeface="Calibri"/>
              </a:rPr>
              <a:t> </a:t>
            </a:r>
            <a:r>
              <a:rPr dirty="0" sz="1000" i="1">
                <a:latin typeface="Calibri"/>
                <a:cs typeface="Calibri"/>
              </a:rPr>
              <a:t>V</a:t>
            </a:r>
            <a:r>
              <a:rPr dirty="0" sz="1000" spc="165" i="1">
                <a:latin typeface="Calibri"/>
                <a:cs typeface="Calibri"/>
              </a:rPr>
              <a:t> </a:t>
            </a:r>
            <a:r>
              <a:rPr dirty="0" sz="1000" spc="80">
                <a:latin typeface="Calibri"/>
                <a:cs typeface="Calibri"/>
              </a:rPr>
              <a:t>)</a:t>
            </a:r>
            <a:r>
              <a:rPr dirty="0" sz="1000" spc="265">
                <a:latin typeface="Calibri"/>
                <a:cs typeface="Calibri"/>
              </a:rPr>
              <a:t> </a:t>
            </a:r>
            <a:r>
              <a:rPr dirty="0" sz="1000" spc="270">
                <a:latin typeface="Calibri"/>
                <a:cs typeface="Calibri"/>
              </a:rPr>
              <a:t>=</a:t>
            </a:r>
            <a:r>
              <a:rPr dirty="0" sz="1000" spc="265">
                <a:latin typeface="Calibri"/>
                <a:cs typeface="Calibri"/>
              </a:rPr>
              <a:t> </a:t>
            </a:r>
            <a:r>
              <a:rPr dirty="0" sz="1000">
                <a:latin typeface="Calibri"/>
                <a:cs typeface="Calibri"/>
              </a:rPr>
              <a:t>Concat(head</a:t>
            </a:r>
            <a:r>
              <a:rPr dirty="0" baseline="-11904" sz="1050">
                <a:latin typeface="Tahoma"/>
                <a:cs typeface="Tahoma"/>
              </a:rPr>
              <a:t>1</a:t>
            </a:r>
            <a:r>
              <a:rPr dirty="0" sz="1000" i="1">
                <a:latin typeface="Calibri"/>
                <a:cs typeface="Calibri"/>
              </a:rPr>
              <a:t>,</a:t>
            </a:r>
            <a:r>
              <a:rPr dirty="0" sz="1000" spc="65" i="1">
                <a:latin typeface="Calibri"/>
                <a:cs typeface="Calibri"/>
              </a:rPr>
              <a:t> </a:t>
            </a:r>
            <a:r>
              <a:rPr dirty="0" sz="1000" i="1">
                <a:latin typeface="Calibri"/>
                <a:cs typeface="Calibri"/>
              </a:rPr>
              <a:t>...,</a:t>
            </a:r>
            <a:r>
              <a:rPr dirty="0" sz="1000" spc="70" i="1">
                <a:latin typeface="Calibri"/>
                <a:cs typeface="Calibri"/>
              </a:rPr>
              <a:t> </a:t>
            </a:r>
            <a:r>
              <a:rPr dirty="0" sz="1000" spc="50">
                <a:latin typeface="Calibri"/>
                <a:cs typeface="Calibri"/>
              </a:rPr>
              <a:t>head</a:t>
            </a:r>
            <a:r>
              <a:rPr dirty="0" baseline="-11904" sz="1050" spc="75">
                <a:latin typeface="Tahoma"/>
                <a:cs typeface="Tahoma"/>
              </a:rPr>
              <a:t>h</a:t>
            </a:r>
            <a:r>
              <a:rPr dirty="0" sz="1000" spc="50">
                <a:latin typeface="Calibri"/>
                <a:cs typeface="Calibri"/>
              </a:rPr>
              <a:t>)</a:t>
            </a:r>
            <a:r>
              <a:rPr dirty="0" sz="1000" spc="50" i="1">
                <a:latin typeface="Calibri"/>
                <a:cs typeface="Calibri"/>
              </a:rPr>
              <a:t>W</a:t>
            </a:r>
            <a:r>
              <a:rPr dirty="0" baseline="31746" sz="1050" spc="75" i="1">
                <a:latin typeface="Calibri"/>
                <a:cs typeface="Calibri"/>
              </a:rPr>
              <a:t>O</a:t>
            </a:r>
            <a:endParaRPr baseline="31746" sz="1050">
              <a:latin typeface="Calibri"/>
              <a:cs typeface="Calibri"/>
            </a:endParaRPr>
          </a:p>
          <a:p>
            <a:pPr marL="527685">
              <a:lnSpc>
                <a:spcPts val="890"/>
              </a:lnSpc>
              <a:spcBef>
                <a:spcPts val="480"/>
              </a:spcBef>
            </a:pPr>
            <a:r>
              <a:rPr dirty="0" sz="1000">
                <a:latin typeface="Times New Roman"/>
                <a:cs typeface="Times New Roman"/>
              </a:rPr>
              <a:t>where</a:t>
            </a:r>
            <a:r>
              <a:rPr dirty="0" sz="1000" spc="10">
                <a:latin typeface="Times New Roman"/>
                <a:cs typeface="Times New Roman"/>
              </a:rPr>
              <a:t> </a:t>
            </a:r>
            <a:r>
              <a:rPr dirty="0" sz="1000">
                <a:latin typeface="Calibri"/>
                <a:cs typeface="Calibri"/>
              </a:rPr>
              <a:t>head</a:t>
            </a:r>
            <a:r>
              <a:rPr dirty="0" baseline="-11904" sz="1050">
                <a:latin typeface="Tahoma"/>
                <a:cs typeface="Tahoma"/>
              </a:rPr>
              <a:t>i</a:t>
            </a:r>
            <a:r>
              <a:rPr dirty="0" baseline="-11904" sz="1050" spc="195">
                <a:latin typeface="Tahoma"/>
                <a:cs typeface="Tahoma"/>
              </a:rPr>
              <a:t> </a:t>
            </a:r>
            <a:r>
              <a:rPr dirty="0" sz="1000" spc="270">
                <a:latin typeface="Calibri"/>
                <a:cs typeface="Calibri"/>
              </a:rPr>
              <a:t>=</a:t>
            </a:r>
            <a:r>
              <a:rPr dirty="0" sz="1000" spc="70">
                <a:latin typeface="Calibri"/>
                <a:cs typeface="Calibri"/>
              </a:rPr>
              <a:t> </a:t>
            </a:r>
            <a:r>
              <a:rPr dirty="0" sz="1000" spc="60">
                <a:latin typeface="Calibri"/>
                <a:cs typeface="Calibri"/>
              </a:rPr>
              <a:t>Attention(</a:t>
            </a:r>
            <a:r>
              <a:rPr dirty="0" sz="1000" spc="60" i="1">
                <a:latin typeface="Calibri"/>
                <a:cs typeface="Calibri"/>
              </a:rPr>
              <a:t>QW</a:t>
            </a:r>
            <a:r>
              <a:rPr dirty="0" baseline="39682" sz="1050" spc="89" i="1">
                <a:latin typeface="Calibri"/>
                <a:cs typeface="Calibri"/>
              </a:rPr>
              <a:t>Q</a:t>
            </a:r>
            <a:r>
              <a:rPr dirty="0" sz="1000" spc="60" i="1">
                <a:latin typeface="Calibri"/>
                <a:cs typeface="Calibri"/>
              </a:rPr>
              <a:t>,</a:t>
            </a:r>
            <a:r>
              <a:rPr dirty="0" sz="1000" spc="-50" i="1">
                <a:latin typeface="Calibri"/>
                <a:cs typeface="Calibri"/>
              </a:rPr>
              <a:t> </a:t>
            </a:r>
            <a:r>
              <a:rPr dirty="0" sz="1000" spc="245" i="1">
                <a:latin typeface="Calibri"/>
                <a:cs typeface="Calibri"/>
              </a:rPr>
              <a:t>KW</a:t>
            </a:r>
            <a:r>
              <a:rPr dirty="0" baseline="31746" sz="1050" spc="367" i="1">
                <a:latin typeface="Calibri"/>
                <a:cs typeface="Calibri"/>
              </a:rPr>
              <a:t>K</a:t>
            </a:r>
            <a:r>
              <a:rPr dirty="0" sz="1000" spc="245" i="1">
                <a:latin typeface="Calibri"/>
                <a:cs typeface="Calibri"/>
              </a:rPr>
              <a:t>,</a:t>
            </a:r>
            <a:r>
              <a:rPr dirty="0" sz="1000" spc="-50" i="1">
                <a:latin typeface="Calibri"/>
                <a:cs typeface="Calibri"/>
              </a:rPr>
              <a:t> </a:t>
            </a:r>
            <a:r>
              <a:rPr dirty="0" sz="1000" i="1">
                <a:latin typeface="Calibri"/>
                <a:cs typeface="Calibri"/>
              </a:rPr>
              <a:t>V</a:t>
            </a:r>
            <a:r>
              <a:rPr dirty="0" sz="1000" spc="10" i="1">
                <a:latin typeface="Calibri"/>
                <a:cs typeface="Calibri"/>
              </a:rPr>
              <a:t> </a:t>
            </a:r>
            <a:r>
              <a:rPr dirty="0" sz="1000" spc="120" i="1">
                <a:latin typeface="Calibri"/>
                <a:cs typeface="Calibri"/>
              </a:rPr>
              <a:t>W</a:t>
            </a:r>
            <a:r>
              <a:rPr dirty="0" baseline="31746" sz="1050" spc="179" i="1">
                <a:latin typeface="Calibri"/>
                <a:cs typeface="Calibri"/>
              </a:rPr>
              <a:t>V</a:t>
            </a:r>
            <a:r>
              <a:rPr dirty="0" baseline="31746" sz="1050" spc="120" i="1">
                <a:latin typeface="Calibri"/>
                <a:cs typeface="Calibri"/>
              </a:rPr>
              <a:t> </a:t>
            </a:r>
            <a:r>
              <a:rPr dirty="0" sz="1000" spc="30">
                <a:latin typeface="Calibri"/>
                <a:cs typeface="Calibri"/>
              </a:rPr>
              <a:t>)</a:t>
            </a:r>
            <a:endParaRPr sz="1000">
              <a:latin typeface="Calibri"/>
              <a:cs typeface="Calibri"/>
            </a:endParaRPr>
          </a:p>
          <a:p>
            <a:pPr algn="r" marR="174625">
              <a:lnSpc>
                <a:spcPts val="530"/>
              </a:lnSpc>
              <a:tabLst>
                <a:tab pos="395605" algn="l"/>
                <a:tab pos="788035" algn="l"/>
              </a:tabLst>
            </a:pPr>
            <a:r>
              <a:rPr dirty="0" sz="700" spc="65" i="1">
                <a:latin typeface="Calibri"/>
                <a:cs typeface="Calibri"/>
              </a:rPr>
              <a:t>i</a:t>
            </a:r>
            <a:r>
              <a:rPr dirty="0" sz="700" i="1">
                <a:latin typeface="Calibri"/>
                <a:cs typeface="Calibri"/>
              </a:rPr>
              <a:t>	</a:t>
            </a:r>
            <a:r>
              <a:rPr dirty="0" baseline="3968" sz="1050" spc="97" i="1">
                <a:latin typeface="Calibri"/>
                <a:cs typeface="Calibri"/>
              </a:rPr>
              <a:t>i</a:t>
            </a:r>
            <a:r>
              <a:rPr dirty="0" baseline="3968" sz="1050" i="1">
                <a:latin typeface="Calibri"/>
                <a:cs typeface="Calibri"/>
              </a:rPr>
              <a:t>	</a:t>
            </a:r>
            <a:r>
              <a:rPr dirty="0" baseline="3968" sz="1050" spc="82" i="1">
                <a:latin typeface="Calibri"/>
                <a:cs typeface="Calibri"/>
              </a:rPr>
              <a:t>i</a:t>
            </a:r>
            <a:endParaRPr baseline="3968" sz="1050">
              <a:latin typeface="Calibri"/>
              <a:cs typeface="Calibri"/>
            </a:endParaRPr>
          </a:p>
        </p:txBody>
      </p:sp>
      <p:sp>
        <p:nvSpPr>
          <p:cNvPr id="3" name="object 3" descr=""/>
          <p:cNvSpPr txBox="1"/>
          <p:nvPr/>
        </p:nvSpPr>
        <p:spPr>
          <a:xfrm>
            <a:off x="3755225" y="1828776"/>
            <a:ext cx="105410" cy="132080"/>
          </a:xfrm>
          <a:prstGeom prst="rect">
            <a:avLst/>
          </a:prstGeom>
        </p:spPr>
        <p:txBody>
          <a:bodyPr wrap="square" lIns="0" tIns="12065" rIns="0" bIns="0" rtlCol="0" vert="horz">
            <a:spAutoFit/>
          </a:bodyPr>
          <a:lstStyle/>
          <a:p>
            <a:pPr marL="12700">
              <a:lnSpc>
                <a:spcPct val="100000"/>
              </a:lnSpc>
              <a:spcBef>
                <a:spcPts val="95"/>
              </a:spcBef>
            </a:pPr>
            <a:r>
              <a:rPr dirty="0" sz="700" spc="110" i="1">
                <a:latin typeface="Calibri"/>
                <a:cs typeface="Calibri"/>
              </a:rPr>
              <a:t>Q</a:t>
            </a:r>
            <a:endParaRPr sz="700">
              <a:latin typeface="Calibri"/>
              <a:cs typeface="Calibri"/>
            </a:endParaRPr>
          </a:p>
        </p:txBody>
      </p:sp>
      <p:sp>
        <p:nvSpPr>
          <p:cNvPr id="4" name="object 4" descr=""/>
          <p:cNvSpPr txBox="1"/>
          <p:nvPr/>
        </p:nvSpPr>
        <p:spPr>
          <a:xfrm>
            <a:off x="3737660" y="1924852"/>
            <a:ext cx="61594" cy="132080"/>
          </a:xfrm>
          <a:prstGeom prst="rect">
            <a:avLst/>
          </a:prstGeom>
        </p:spPr>
        <p:txBody>
          <a:bodyPr wrap="square" lIns="0" tIns="12065" rIns="0" bIns="0" rtlCol="0" vert="horz">
            <a:spAutoFit/>
          </a:bodyPr>
          <a:lstStyle/>
          <a:p>
            <a:pPr marL="12700">
              <a:lnSpc>
                <a:spcPct val="100000"/>
              </a:lnSpc>
              <a:spcBef>
                <a:spcPts val="95"/>
              </a:spcBef>
            </a:pPr>
            <a:r>
              <a:rPr dirty="0" sz="700" spc="65" i="1">
                <a:latin typeface="Calibri"/>
                <a:cs typeface="Calibri"/>
              </a:rPr>
              <a:t>i</a:t>
            </a:r>
            <a:endParaRPr sz="700">
              <a:latin typeface="Calibri"/>
              <a:cs typeface="Calibri"/>
            </a:endParaRPr>
          </a:p>
        </p:txBody>
      </p:sp>
      <p:sp>
        <p:nvSpPr>
          <p:cNvPr id="5" name="object 5" descr=""/>
          <p:cNvSpPr txBox="1"/>
          <p:nvPr/>
        </p:nvSpPr>
        <p:spPr>
          <a:xfrm>
            <a:off x="1352956" y="1851627"/>
            <a:ext cx="2633345" cy="177800"/>
          </a:xfrm>
          <a:prstGeom prst="rect">
            <a:avLst/>
          </a:prstGeom>
        </p:spPr>
        <p:txBody>
          <a:bodyPr wrap="square" lIns="0" tIns="12065" rIns="0" bIns="0" rtlCol="0" vert="horz">
            <a:spAutoFit/>
          </a:bodyPr>
          <a:lstStyle/>
          <a:p>
            <a:pPr marL="12700">
              <a:lnSpc>
                <a:spcPct val="100000"/>
              </a:lnSpc>
              <a:spcBef>
                <a:spcPts val="95"/>
              </a:spcBef>
              <a:tabLst>
                <a:tab pos="2535555" algn="l"/>
              </a:tabLst>
            </a:pPr>
            <a:r>
              <a:rPr dirty="0" sz="1000" spc="-25">
                <a:latin typeface="Times New Roman"/>
                <a:cs typeface="Times New Roman"/>
              </a:rPr>
              <a:t>Where</a:t>
            </a:r>
            <a:r>
              <a:rPr dirty="0" sz="1000" spc="-5">
                <a:latin typeface="Times New Roman"/>
                <a:cs typeface="Times New Roman"/>
              </a:rPr>
              <a:t> </a:t>
            </a:r>
            <a:r>
              <a:rPr dirty="0" sz="1000" spc="-10">
                <a:latin typeface="Times New Roman"/>
                <a:cs typeface="Times New Roman"/>
              </a:rPr>
              <a:t>the</a:t>
            </a:r>
            <a:r>
              <a:rPr dirty="0" sz="1000" spc="-5">
                <a:latin typeface="Times New Roman"/>
                <a:cs typeface="Times New Roman"/>
              </a:rPr>
              <a:t> </a:t>
            </a:r>
            <a:r>
              <a:rPr dirty="0" sz="1000" spc="-20">
                <a:latin typeface="Times New Roman"/>
                <a:cs typeface="Times New Roman"/>
              </a:rPr>
              <a:t>projections</a:t>
            </a:r>
            <a:r>
              <a:rPr dirty="0" sz="1000" spc="-5">
                <a:latin typeface="Times New Roman"/>
                <a:cs typeface="Times New Roman"/>
              </a:rPr>
              <a:t> </a:t>
            </a:r>
            <a:r>
              <a:rPr dirty="0" sz="1000" spc="-20">
                <a:latin typeface="Times New Roman"/>
                <a:cs typeface="Times New Roman"/>
              </a:rPr>
              <a:t>are</a:t>
            </a:r>
            <a:r>
              <a:rPr dirty="0" sz="1000" spc="-5">
                <a:latin typeface="Times New Roman"/>
                <a:cs typeface="Times New Roman"/>
              </a:rPr>
              <a:t> </a:t>
            </a:r>
            <a:r>
              <a:rPr dirty="0" sz="1000" spc="-20">
                <a:latin typeface="Times New Roman"/>
                <a:cs typeface="Times New Roman"/>
              </a:rPr>
              <a:t>parameter</a:t>
            </a:r>
            <a:r>
              <a:rPr dirty="0" sz="1000" spc="-5">
                <a:latin typeface="Times New Roman"/>
                <a:cs typeface="Times New Roman"/>
              </a:rPr>
              <a:t> </a:t>
            </a:r>
            <a:r>
              <a:rPr dirty="0" sz="1000" spc="-20">
                <a:latin typeface="Times New Roman"/>
                <a:cs typeface="Times New Roman"/>
              </a:rPr>
              <a:t>matrices</a:t>
            </a:r>
            <a:r>
              <a:rPr dirty="0" sz="1000" spc="-5">
                <a:latin typeface="Times New Roman"/>
                <a:cs typeface="Times New Roman"/>
              </a:rPr>
              <a:t> </a:t>
            </a:r>
            <a:r>
              <a:rPr dirty="0" sz="1000" spc="-50" i="1">
                <a:latin typeface="Calibri"/>
                <a:cs typeface="Calibri"/>
              </a:rPr>
              <a:t>W</a:t>
            </a:r>
            <a:r>
              <a:rPr dirty="0" sz="1000" i="1">
                <a:latin typeface="Calibri"/>
                <a:cs typeface="Calibri"/>
              </a:rPr>
              <a:t>	</a:t>
            </a:r>
            <a:r>
              <a:rPr dirty="0" sz="1000" spc="-80">
                <a:latin typeface="Lucida Sans Unicode"/>
                <a:cs typeface="Lucida Sans Unicode"/>
              </a:rPr>
              <a:t>∈</a:t>
            </a:r>
            <a:endParaRPr sz="1000">
              <a:latin typeface="Lucida Sans Unicode"/>
              <a:cs typeface="Lucida Sans Unicode"/>
            </a:endParaRPr>
          </a:p>
        </p:txBody>
      </p:sp>
      <p:sp>
        <p:nvSpPr>
          <p:cNvPr id="6" name="object 6" descr=""/>
          <p:cNvSpPr txBox="1"/>
          <p:nvPr/>
        </p:nvSpPr>
        <p:spPr>
          <a:xfrm>
            <a:off x="4139933" y="1882390"/>
            <a:ext cx="370205" cy="101600"/>
          </a:xfrm>
          <a:prstGeom prst="rect">
            <a:avLst/>
          </a:prstGeom>
        </p:spPr>
        <p:txBody>
          <a:bodyPr wrap="square" lIns="0" tIns="12065" rIns="0" bIns="0" rtlCol="0" vert="horz">
            <a:spAutoFit/>
          </a:bodyPr>
          <a:lstStyle/>
          <a:p>
            <a:pPr marL="12700">
              <a:lnSpc>
                <a:spcPct val="100000"/>
              </a:lnSpc>
              <a:spcBef>
                <a:spcPts val="95"/>
              </a:spcBef>
              <a:tabLst>
                <a:tab pos="308610" algn="l"/>
              </a:tabLst>
            </a:pPr>
            <a:r>
              <a:rPr dirty="0" sz="500" spc="-10">
                <a:latin typeface="Times New Roman"/>
                <a:cs typeface="Times New Roman"/>
              </a:rPr>
              <a:t>model</a:t>
            </a:r>
            <a:r>
              <a:rPr dirty="0" sz="500">
                <a:latin typeface="Times New Roman"/>
                <a:cs typeface="Times New Roman"/>
              </a:rPr>
              <a:t>	</a:t>
            </a:r>
            <a:r>
              <a:rPr dirty="0" sz="500" spc="60" i="1">
                <a:latin typeface="Georgia"/>
                <a:cs typeface="Georgia"/>
              </a:rPr>
              <a:t>k</a:t>
            </a:r>
            <a:endParaRPr sz="500">
              <a:latin typeface="Georgia"/>
              <a:cs typeface="Georgia"/>
            </a:endParaRPr>
          </a:p>
        </p:txBody>
      </p:sp>
      <p:sp>
        <p:nvSpPr>
          <p:cNvPr id="7" name="object 7" descr=""/>
          <p:cNvSpPr txBox="1"/>
          <p:nvPr/>
        </p:nvSpPr>
        <p:spPr>
          <a:xfrm>
            <a:off x="4087253" y="1843661"/>
            <a:ext cx="717550" cy="132080"/>
          </a:xfrm>
          <a:prstGeom prst="rect">
            <a:avLst/>
          </a:prstGeom>
        </p:spPr>
        <p:txBody>
          <a:bodyPr wrap="square" lIns="0" tIns="12065" rIns="0" bIns="0" rtlCol="0" vert="horz">
            <a:spAutoFit/>
          </a:bodyPr>
          <a:lstStyle/>
          <a:p>
            <a:pPr marL="12700">
              <a:lnSpc>
                <a:spcPct val="100000"/>
              </a:lnSpc>
              <a:spcBef>
                <a:spcPts val="95"/>
              </a:spcBef>
              <a:tabLst>
                <a:tab pos="229235" algn="l"/>
                <a:tab pos="619125" algn="l"/>
              </a:tabLst>
            </a:pPr>
            <a:r>
              <a:rPr dirty="0" sz="700" i="1">
                <a:latin typeface="Calibri"/>
                <a:cs typeface="Calibri"/>
              </a:rPr>
              <a:t>d	</a:t>
            </a:r>
            <a:r>
              <a:rPr dirty="0" sz="700" spc="114">
                <a:latin typeface="Cambria"/>
                <a:cs typeface="Cambria"/>
              </a:rPr>
              <a:t>×</a:t>
            </a:r>
            <a:r>
              <a:rPr dirty="0" sz="700" spc="114" i="1">
                <a:latin typeface="Calibri"/>
                <a:cs typeface="Calibri"/>
              </a:rPr>
              <a:t>d</a:t>
            </a:r>
            <a:r>
              <a:rPr dirty="0" sz="700" i="1">
                <a:latin typeface="Calibri"/>
                <a:cs typeface="Calibri"/>
              </a:rPr>
              <a:t>	</a:t>
            </a:r>
            <a:r>
              <a:rPr dirty="0" sz="700" spc="250" i="1">
                <a:latin typeface="Calibri"/>
                <a:cs typeface="Calibri"/>
              </a:rPr>
              <a:t>K</a:t>
            </a:r>
            <a:endParaRPr sz="700">
              <a:latin typeface="Calibri"/>
              <a:cs typeface="Calibri"/>
            </a:endParaRPr>
          </a:p>
        </p:txBody>
      </p:sp>
      <p:sp>
        <p:nvSpPr>
          <p:cNvPr id="8" name="object 8" descr=""/>
          <p:cNvSpPr txBox="1"/>
          <p:nvPr/>
        </p:nvSpPr>
        <p:spPr>
          <a:xfrm>
            <a:off x="4676622" y="1922516"/>
            <a:ext cx="61594" cy="132080"/>
          </a:xfrm>
          <a:prstGeom prst="rect">
            <a:avLst/>
          </a:prstGeom>
        </p:spPr>
        <p:txBody>
          <a:bodyPr wrap="square" lIns="0" tIns="12065" rIns="0" bIns="0" rtlCol="0" vert="horz">
            <a:spAutoFit/>
          </a:bodyPr>
          <a:lstStyle/>
          <a:p>
            <a:pPr marL="12700">
              <a:lnSpc>
                <a:spcPct val="100000"/>
              </a:lnSpc>
              <a:spcBef>
                <a:spcPts val="95"/>
              </a:spcBef>
            </a:pPr>
            <a:r>
              <a:rPr dirty="0" sz="700" spc="65" i="1">
                <a:latin typeface="Calibri"/>
                <a:cs typeface="Calibri"/>
              </a:rPr>
              <a:t>i</a:t>
            </a:r>
            <a:endParaRPr sz="700">
              <a:latin typeface="Calibri"/>
              <a:cs typeface="Calibri"/>
            </a:endParaRPr>
          </a:p>
        </p:txBody>
      </p:sp>
      <p:sp>
        <p:nvSpPr>
          <p:cNvPr id="9" name="object 9" descr=""/>
          <p:cNvSpPr txBox="1"/>
          <p:nvPr/>
        </p:nvSpPr>
        <p:spPr>
          <a:xfrm>
            <a:off x="3995877" y="1851627"/>
            <a:ext cx="1067435" cy="177800"/>
          </a:xfrm>
          <a:prstGeom prst="rect">
            <a:avLst/>
          </a:prstGeom>
        </p:spPr>
        <p:txBody>
          <a:bodyPr wrap="square" lIns="0" tIns="12065" rIns="0" bIns="0" rtlCol="0" vert="horz">
            <a:spAutoFit/>
          </a:bodyPr>
          <a:lstStyle/>
          <a:p>
            <a:pPr marL="12700">
              <a:lnSpc>
                <a:spcPct val="100000"/>
              </a:lnSpc>
              <a:spcBef>
                <a:spcPts val="95"/>
              </a:spcBef>
              <a:tabLst>
                <a:tab pos="514350" algn="l"/>
                <a:tab pos="843280" algn="l"/>
              </a:tabLst>
            </a:pPr>
            <a:r>
              <a:rPr dirty="0" sz="1000" spc="-50">
                <a:latin typeface="Arial MT"/>
                <a:cs typeface="Arial MT"/>
              </a:rPr>
              <a:t>R</a:t>
            </a:r>
            <a:r>
              <a:rPr dirty="0" sz="1000">
                <a:latin typeface="Arial MT"/>
                <a:cs typeface="Arial MT"/>
              </a:rPr>
              <a:t>	</a:t>
            </a:r>
            <a:r>
              <a:rPr dirty="0" sz="1000">
                <a:latin typeface="Times New Roman"/>
                <a:cs typeface="Times New Roman"/>
              </a:rPr>
              <a:t>,</a:t>
            </a:r>
            <a:r>
              <a:rPr dirty="0" sz="1000" spc="-40">
                <a:latin typeface="Times New Roman"/>
                <a:cs typeface="Times New Roman"/>
              </a:rPr>
              <a:t> </a:t>
            </a:r>
            <a:r>
              <a:rPr dirty="0" sz="1000" spc="-50" i="1">
                <a:latin typeface="Calibri"/>
                <a:cs typeface="Calibri"/>
              </a:rPr>
              <a:t>W</a:t>
            </a:r>
            <a:r>
              <a:rPr dirty="0" sz="1000" i="1">
                <a:latin typeface="Calibri"/>
                <a:cs typeface="Calibri"/>
              </a:rPr>
              <a:t>	</a:t>
            </a:r>
            <a:r>
              <a:rPr dirty="0" sz="1000" spc="-150">
                <a:latin typeface="Lucida Sans Unicode"/>
                <a:cs typeface="Lucida Sans Unicode"/>
              </a:rPr>
              <a:t>∈</a:t>
            </a:r>
            <a:r>
              <a:rPr dirty="0" sz="1000" spc="-35">
                <a:latin typeface="Lucida Sans Unicode"/>
                <a:cs typeface="Lucida Sans Unicode"/>
              </a:rPr>
              <a:t> </a:t>
            </a:r>
            <a:r>
              <a:rPr dirty="0" sz="1000" spc="-50">
                <a:latin typeface="Arial MT"/>
                <a:cs typeface="Arial MT"/>
              </a:rPr>
              <a:t>R</a:t>
            </a:r>
            <a:endParaRPr sz="1000">
              <a:latin typeface="Arial MT"/>
              <a:cs typeface="Arial MT"/>
            </a:endParaRPr>
          </a:p>
        </p:txBody>
      </p:sp>
      <p:sp>
        <p:nvSpPr>
          <p:cNvPr id="10" name="object 10" descr=""/>
          <p:cNvSpPr txBox="1"/>
          <p:nvPr/>
        </p:nvSpPr>
        <p:spPr>
          <a:xfrm>
            <a:off x="5037759" y="1843661"/>
            <a:ext cx="374650" cy="132080"/>
          </a:xfrm>
          <a:prstGeom prst="rect">
            <a:avLst/>
          </a:prstGeom>
        </p:spPr>
        <p:txBody>
          <a:bodyPr wrap="square" lIns="0" tIns="12065" rIns="0" bIns="0" rtlCol="0" vert="horz">
            <a:spAutoFit/>
          </a:bodyPr>
          <a:lstStyle/>
          <a:p>
            <a:pPr marL="12700">
              <a:lnSpc>
                <a:spcPct val="100000"/>
              </a:lnSpc>
              <a:spcBef>
                <a:spcPts val="95"/>
              </a:spcBef>
              <a:tabLst>
                <a:tab pos="229235" algn="l"/>
              </a:tabLst>
            </a:pPr>
            <a:r>
              <a:rPr dirty="0" sz="700" i="1">
                <a:latin typeface="Calibri"/>
                <a:cs typeface="Calibri"/>
              </a:rPr>
              <a:t>d	</a:t>
            </a:r>
            <a:r>
              <a:rPr dirty="0" sz="700" spc="114">
                <a:latin typeface="Cambria"/>
                <a:cs typeface="Cambria"/>
              </a:rPr>
              <a:t>×</a:t>
            </a:r>
            <a:r>
              <a:rPr dirty="0" sz="700" spc="114" i="1">
                <a:latin typeface="Calibri"/>
                <a:cs typeface="Calibri"/>
              </a:rPr>
              <a:t>d</a:t>
            </a:r>
            <a:endParaRPr sz="700">
              <a:latin typeface="Calibri"/>
              <a:cs typeface="Calibri"/>
            </a:endParaRPr>
          </a:p>
        </p:txBody>
      </p:sp>
      <p:sp>
        <p:nvSpPr>
          <p:cNvPr id="11" name="object 11" descr=""/>
          <p:cNvSpPr txBox="1"/>
          <p:nvPr/>
        </p:nvSpPr>
        <p:spPr>
          <a:xfrm>
            <a:off x="5090439" y="1882390"/>
            <a:ext cx="370205" cy="101600"/>
          </a:xfrm>
          <a:prstGeom prst="rect">
            <a:avLst/>
          </a:prstGeom>
        </p:spPr>
        <p:txBody>
          <a:bodyPr wrap="square" lIns="0" tIns="12065" rIns="0" bIns="0" rtlCol="0" vert="horz">
            <a:spAutoFit/>
          </a:bodyPr>
          <a:lstStyle/>
          <a:p>
            <a:pPr marL="12700">
              <a:lnSpc>
                <a:spcPct val="100000"/>
              </a:lnSpc>
              <a:spcBef>
                <a:spcPts val="95"/>
              </a:spcBef>
              <a:tabLst>
                <a:tab pos="308610" algn="l"/>
              </a:tabLst>
            </a:pPr>
            <a:r>
              <a:rPr dirty="0" sz="500" spc="-10">
                <a:latin typeface="Times New Roman"/>
                <a:cs typeface="Times New Roman"/>
              </a:rPr>
              <a:t>model</a:t>
            </a:r>
            <a:r>
              <a:rPr dirty="0" sz="500">
                <a:latin typeface="Times New Roman"/>
                <a:cs typeface="Times New Roman"/>
              </a:rPr>
              <a:t>	</a:t>
            </a:r>
            <a:r>
              <a:rPr dirty="0" sz="500" spc="60" i="1">
                <a:latin typeface="Georgia"/>
                <a:cs typeface="Georgia"/>
              </a:rPr>
              <a:t>k</a:t>
            </a:r>
            <a:endParaRPr sz="500">
              <a:latin typeface="Georgia"/>
              <a:cs typeface="Georgia"/>
            </a:endParaRPr>
          </a:p>
        </p:txBody>
      </p:sp>
      <p:sp>
        <p:nvSpPr>
          <p:cNvPr id="12" name="object 12" descr=""/>
          <p:cNvSpPr txBox="1"/>
          <p:nvPr/>
        </p:nvSpPr>
        <p:spPr>
          <a:xfrm>
            <a:off x="5644705" y="1843661"/>
            <a:ext cx="85090" cy="132080"/>
          </a:xfrm>
          <a:prstGeom prst="rect">
            <a:avLst/>
          </a:prstGeom>
        </p:spPr>
        <p:txBody>
          <a:bodyPr wrap="square" lIns="0" tIns="12065" rIns="0" bIns="0" rtlCol="0" vert="horz">
            <a:spAutoFit/>
          </a:bodyPr>
          <a:lstStyle/>
          <a:p>
            <a:pPr marL="12700">
              <a:lnSpc>
                <a:spcPct val="100000"/>
              </a:lnSpc>
              <a:spcBef>
                <a:spcPts val="95"/>
              </a:spcBef>
            </a:pPr>
            <a:r>
              <a:rPr dirty="0" sz="700" spc="15" i="1">
                <a:latin typeface="Calibri"/>
                <a:cs typeface="Calibri"/>
              </a:rPr>
              <a:t>V</a:t>
            </a:r>
            <a:endParaRPr sz="700">
              <a:latin typeface="Calibri"/>
              <a:cs typeface="Calibri"/>
            </a:endParaRPr>
          </a:p>
        </p:txBody>
      </p:sp>
      <p:sp>
        <p:nvSpPr>
          <p:cNvPr id="13" name="object 13" descr=""/>
          <p:cNvSpPr txBox="1"/>
          <p:nvPr/>
        </p:nvSpPr>
        <p:spPr>
          <a:xfrm>
            <a:off x="5627128" y="1922516"/>
            <a:ext cx="61594" cy="132080"/>
          </a:xfrm>
          <a:prstGeom prst="rect">
            <a:avLst/>
          </a:prstGeom>
        </p:spPr>
        <p:txBody>
          <a:bodyPr wrap="square" lIns="0" tIns="12065" rIns="0" bIns="0" rtlCol="0" vert="horz">
            <a:spAutoFit/>
          </a:bodyPr>
          <a:lstStyle/>
          <a:p>
            <a:pPr marL="12700">
              <a:lnSpc>
                <a:spcPct val="100000"/>
              </a:lnSpc>
              <a:spcBef>
                <a:spcPts val="95"/>
              </a:spcBef>
            </a:pPr>
            <a:r>
              <a:rPr dirty="0" sz="700" spc="65" i="1">
                <a:latin typeface="Calibri"/>
                <a:cs typeface="Calibri"/>
              </a:rPr>
              <a:t>i</a:t>
            </a:r>
            <a:endParaRPr sz="700">
              <a:latin typeface="Calibri"/>
              <a:cs typeface="Calibri"/>
            </a:endParaRPr>
          </a:p>
        </p:txBody>
      </p:sp>
      <p:sp>
        <p:nvSpPr>
          <p:cNvPr id="14" name="object 14" descr=""/>
          <p:cNvSpPr txBox="1"/>
          <p:nvPr/>
        </p:nvSpPr>
        <p:spPr>
          <a:xfrm>
            <a:off x="5448300" y="1851627"/>
            <a:ext cx="556260" cy="177800"/>
          </a:xfrm>
          <a:prstGeom prst="rect">
            <a:avLst/>
          </a:prstGeom>
        </p:spPr>
        <p:txBody>
          <a:bodyPr wrap="square" lIns="0" tIns="12065" rIns="0" bIns="0" rtlCol="0" vert="horz">
            <a:spAutoFit/>
          </a:bodyPr>
          <a:lstStyle/>
          <a:p>
            <a:pPr marL="12700">
              <a:lnSpc>
                <a:spcPct val="100000"/>
              </a:lnSpc>
              <a:spcBef>
                <a:spcPts val="95"/>
              </a:spcBef>
              <a:tabLst>
                <a:tab pos="331470" algn="l"/>
              </a:tabLst>
            </a:pPr>
            <a:r>
              <a:rPr dirty="0" sz="1000">
                <a:latin typeface="Times New Roman"/>
                <a:cs typeface="Times New Roman"/>
              </a:rPr>
              <a:t>,</a:t>
            </a:r>
            <a:r>
              <a:rPr dirty="0" sz="1000" spc="-40">
                <a:latin typeface="Times New Roman"/>
                <a:cs typeface="Times New Roman"/>
              </a:rPr>
              <a:t> </a:t>
            </a:r>
            <a:r>
              <a:rPr dirty="0" sz="1000" spc="-50" i="1">
                <a:latin typeface="Calibri"/>
                <a:cs typeface="Calibri"/>
              </a:rPr>
              <a:t>W</a:t>
            </a:r>
            <a:r>
              <a:rPr dirty="0" sz="1000" i="1">
                <a:latin typeface="Calibri"/>
                <a:cs typeface="Calibri"/>
              </a:rPr>
              <a:t>	</a:t>
            </a:r>
            <a:r>
              <a:rPr dirty="0" sz="1000" spc="-150">
                <a:latin typeface="Lucida Sans Unicode"/>
                <a:cs typeface="Lucida Sans Unicode"/>
              </a:rPr>
              <a:t>∈</a:t>
            </a:r>
            <a:r>
              <a:rPr dirty="0" sz="1000" spc="-35">
                <a:latin typeface="Lucida Sans Unicode"/>
                <a:cs typeface="Lucida Sans Unicode"/>
              </a:rPr>
              <a:t> </a:t>
            </a:r>
            <a:r>
              <a:rPr dirty="0" sz="1000" spc="-50">
                <a:latin typeface="Arial MT"/>
                <a:cs typeface="Arial MT"/>
              </a:rPr>
              <a:t>R</a:t>
            </a:r>
            <a:endParaRPr sz="1000">
              <a:latin typeface="Arial MT"/>
              <a:cs typeface="Arial MT"/>
            </a:endParaRPr>
          </a:p>
        </p:txBody>
      </p:sp>
      <p:sp>
        <p:nvSpPr>
          <p:cNvPr id="15" name="object 15" descr=""/>
          <p:cNvSpPr txBox="1"/>
          <p:nvPr/>
        </p:nvSpPr>
        <p:spPr>
          <a:xfrm>
            <a:off x="5978588" y="1843661"/>
            <a:ext cx="374650" cy="132080"/>
          </a:xfrm>
          <a:prstGeom prst="rect">
            <a:avLst/>
          </a:prstGeom>
        </p:spPr>
        <p:txBody>
          <a:bodyPr wrap="square" lIns="0" tIns="12065" rIns="0" bIns="0" rtlCol="0" vert="horz">
            <a:spAutoFit/>
          </a:bodyPr>
          <a:lstStyle/>
          <a:p>
            <a:pPr marL="12700">
              <a:lnSpc>
                <a:spcPct val="100000"/>
              </a:lnSpc>
              <a:spcBef>
                <a:spcPts val="95"/>
              </a:spcBef>
              <a:tabLst>
                <a:tab pos="229235" algn="l"/>
              </a:tabLst>
            </a:pPr>
            <a:r>
              <a:rPr dirty="0" sz="700" i="1">
                <a:latin typeface="Calibri"/>
                <a:cs typeface="Calibri"/>
              </a:rPr>
              <a:t>d	</a:t>
            </a:r>
            <a:r>
              <a:rPr dirty="0" sz="700" spc="114">
                <a:latin typeface="Cambria"/>
                <a:cs typeface="Cambria"/>
              </a:rPr>
              <a:t>×</a:t>
            </a:r>
            <a:r>
              <a:rPr dirty="0" sz="700" spc="114" i="1">
                <a:latin typeface="Calibri"/>
                <a:cs typeface="Calibri"/>
              </a:rPr>
              <a:t>d</a:t>
            </a:r>
            <a:endParaRPr sz="700">
              <a:latin typeface="Calibri"/>
              <a:cs typeface="Calibri"/>
            </a:endParaRPr>
          </a:p>
        </p:txBody>
      </p:sp>
      <p:sp>
        <p:nvSpPr>
          <p:cNvPr id="16" name="object 16" descr=""/>
          <p:cNvSpPr txBox="1"/>
          <p:nvPr/>
        </p:nvSpPr>
        <p:spPr>
          <a:xfrm>
            <a:off x="6031255" y="1881615"/>
            <a:ext cx="367665" cy="101600"/>
          </a:xfrm>
          <a:prstGeom prst="rect">
            <a:avLst/>
          </a:prstGeom>
        </p:spPr>
        <p:txBody>
          <a:bodyPr wrap="square" lIns="0" tIns="12065" rIns="0" bIns="0" rtlCol="0" vert="horz">
            <a:spAutoFit/>
          </a:bodyPr>
          <a:lstStyle/>
          <a:p>
            <a:pPr marL="12700">
              <a:lnSpc>
                <a:spcPct val="100000"/>
              </a:lnSpc>
              <a:spcBef>
                <a:spcPts val="95"/>
              </a:spcBef>
              <a:tabLst>
                <a:tab pos="308610" algn="l"/>
              </a:tabLst>
            </a:pPr>
            <a:r>
              <a:rPr dirty="0" sz="500" spc="-10">
                <a:latin typeface="Times New Roman"/>
                <a:cs typeface="Times New Roman"/>
              </a:rPr>
              <a:t>model</a:t>
            </a:r>
            <a:r>
              <a:rPr dirty="0" sz="500">
                <a:latin typeface="Times New Roman"/>
                <a:cs typeface="Times New Roman"/>
              </a:rPr>
              <a:t>	</a:t>
            </a:r>
            <a:r>
              <a:rPr dirty="0" sz="500" spc="30" i="1">
                <a:latin typeface="Georgia"/>
                <a:cs typeface="Georgia"/>
              </a:rPr>
              <a:t>v</a:t>
            </a:r>
            <a:endParaRPr sz="500">
              <a:latin typeface="Georgia"/>
              <a:cs typeface="Georgia"/>
            </a:endParaRPr>
          </a:p>
        </p:txBody>
      </p:sp>
      <p:sp>
        <p:nvSpPr>
          <p:cNvPr id="17" name="object 17" descr=""/>
          <p:cNvSpPr txBox="1"/>
          <p:nvPr/>
        </p:nvSpPr>
        <p:spPr>
          <a:xfrm>
            <a:off x="1333500" y="1973699"/>
            <a:ext cx="1260475" cy="177800"/>
          </a:xfrm>
          <a:prstGeom prst="rect">
            <a:avLst/>
          </a:prstGeom>
        </p:spPr>
        <p:txBody>
          <a:bodyPr wrap="square" lIns="0" tIns="12065" rIns="0" bIns="0" rtlCol="0" vert="horz">
            <a:spAutoFit/>
          </a:bodyPr>
          <a:lstStyle/>
          <a:p>
            <a:pPr marL="38100">
              <a:lnSpc>
                <a:spcPct val="100000"/>
              </a:lnSpc>
              <a:spcBef>
                <a:spcPts val="95"/>
              </a:spcBef>
            </a:pPr>
            <a:r>
              <a:rPr dirty="0" baseline="-13888" sz="1500">
                <a:latin typeface="Times New Roman"/>
                <a:cs typeface="Times New Roman"/>
              </a:rPr>
              <a:t>and</a:t>
            </a:r>
            <a:r>
              <a:rPr dirty="0" baseline="-13888" sz="1500" spc="89">
                <a:latin typeface="Times New Roman"/>
                <a:cs typeface="Times New Roman"/>
              </a:rPr>
              <a:t> </a:t>
            </a:r>
            <a:r>
              <a:rPr dirty="0" baseline="-13888" sz="1500" spc="232" i="1">
                <a:latin typeface="Calibri"/>
                <a:cs typeface="Calibri"/>
              </a:rPr>
              <a:t>W</a:t>
            </a:r>
            <a:r>
              <a:rPr dirty="0" baseline="7936" sz="1050" spc="232" i="1">
                <a:latin typeface="Calibri"/>
                <a:cs typeface="Calibri"/>
              </a:rPr>
              <a:t>O</a:t>
            </a:r>
            <a:r>
              <a:rPr dirty="0" baseline="7936" sz="1050" spc="427" i="1">
                <a:latin typeface="Calibri"/>
                <a:cs typeface="Calibri"/>
              </a:rPr>
              <a:t> </a:t>
            </a:r>
            <a:r>
              <a:rPr dirty="0" baseline="-13888" sz="1500" spc="-225">
                <a:latin typeface="Lucida Sans Unicode"/>
                <a:cs typeface="Lucida Sans Unicode"/>
              </a:rPr>
              <a:t>∈</a:t>
            </a:r>
            <a:r>
              <a:rPr dirty="0" baseline="-13888" sz="1500" spc="44">
                <a:latin typeface="Lucida Sans Unicode"/>
                <a:cs typeface="Lucida Sans Unicode"/>
              </a:rPr>
              <a:t> </a:t>
            </a:r>
            <a:r>
              <a:rPr dirty="0" baseline="-13888" sz="1500" spc="82">
                <a:latin typeface="Arial MT"/>
                <a:cs typeface="Arial MT"/>
              </a:rPr>
              <a:t>R</a:t>
            </a:r>
            <a:r>
              <a:rPr dirty="0" baseline="7936" sz="1050" spc="82" i="1">
                <a:latin typeface="Calibri"/>
                <a:cs typeface="Calibri"/>
              </a:rPr>
              <a:t>hd</a:t>
            </a:r>
            <a:r>
              <a:rPr dirty="0" sz="500" spc="55" i="1">
                <a:latin typeface="Georgia"/>
                <a:cs typeface="Georgia"/>
              </a:rPr>
              <a:t>v</a:t>
            </a:r>
            <a:r>
              <a:rPr dirty="0" sz="500" spc="-35" i="1">
                <a:latin typeface="Georgia"/>
                <a:cs typeface="Georgia"/>
              </a:rPr>
              <a:t> </a:t>
            </a:r>
            <a:r>
              <a:rPr dirty="0" baseline="7936" sz="1050">
                <a:latin typeface="Cambria"/>
                <a:cs typeface="Cambria"/>
              </a:rPr>
              <a:t>×</a:t>
            </a:r>
            <a:r>
              <a:rPr dirty="0" baseline="7936" sz="1050" i="1">
                <a:latin typeface="Calibri"/>
                <a:cs typeface="Calibri"/>
              </a:rPr>
              <a:t>d</a:t>
            </a:r>
            <a:r>
              <a:rPr dirty="0" sz="500">
                <a:latin typeface="Times New Roman"/>
                <a:cs typeface="Times New Roman"/>
              </a:rPr>
              <a:t>model</a:t>
            </a:r>
            <a:r>
              <a:rPr dirty="0" sz="500" spc="-5">
                <a:latin typeface="Times New Roman"/>
                <a:cs typeface="Times New Roman"/>
              </a:rPr>
              <a:t> </a:t>
            </a:r>
            <a:r>
              <a:rPr dirty="0" baseline="-13888" sz="1500" spc="-75">
                <a:latin typeface="Times New Roman"/>
                <a:cs typeface="Times New Roman"/>
              </a:rPr>
              <a:t>.</a:t>
            </a:r>
            <a:endParaRPr baseline="-13888" sz="1500">
              <a:latin typeface="Times New Roman"/>
              <a:cs typeface="Times New Roman"/>
            </a:endParaRPr>
          </a:p>
        </p:txBody>
      </p:sp>
      <p:sp>
        <p:nvSpPr>
          <p:cNvPr id="18" name="object 18" descr=""/>
          <p:cNvSpPr txBox="1"/>
          <p:nvPr/>
        </p:nvSpPr>
        <p:spPr>
          <a:xfrm>
            <a:off x="1358900" y="8163463"/>
            <a:ext cx="4617085" cy="177800"/>
          </a:xfrm>
          <a:prstGeom prst="rect">
            <a:avLst/>
          </a:prstGeom>
        </p:spPr>
        <p:txBody>
          <a:bodyPr wrap="square" lIns="0" tIns="12065" rIns="0" bIns="0" rtlCol="0" vert="horz">
            <a:spAutoFit/>
          </a:bodyPr>
          <a:lstStyle/>
          <a:p>
            <a:pPr marL="12700">
              <a:lnSpc>
                <a:spcPct val="100000"/>
              </a:lnSpc>
              <a:spcBef>
                <a:spcPts val="95"/>
              </a:spcBef>
            </a:pPr>
            <a:r>
              <a:rPr dirty="0" sz="1000" spc="-10">
                <a:latin typeface="Times New Roman"/>
                <a:cs typeface="Times New Roman"/>
              </a:rPr>
              <a:t>linear</a:t>
            </a:r>
            <a:r>
              <a:rPr dirty="0" sz="1000" spc="-35">
                <a:latin typeface="Times New Roman"/>
                <a:cs typeface="Times New Roman"/>
              </a:rPr>
              <a:t> </a:t>
            </a:r>
            <a:r>
              <a:rPr dirty="0" sz="1000" spc="-10">
                <a:latin typeface="Times New Roman"/>
                <a:cs typeface="Times New Roman"/>
              </a:rPr>
              <a:t>transformation,</a:t>
            </a:r>
            <a:r>
              <a:rPr dirty="0" sz="1000" spc="-30">
                <a:latin typeface="Times New Roman"/>
                <a:cs typeface="Times New Roman"/>
              </a:rPr>
              <a:t> </a:t>
            </a:r>
            <a:r>
              <a:rPr dirty="0" sz="1000" spc="-10">
                <a:latin typeface="Times New Roman"/>
                <a:cs typeface="Times New Roman"/>
              </a:rPr>
              <a:t>similar</a:t>
            </a:r>
            <a:r>
              <a:rPr dirty="0" sz="1000" spc="-30">
                <a:latin typeface="Times New Roman"/>
                <a:cs typeface="Times New Roman"/>
              </a:rPr>
              <a:t> </a:t>
            </a:r>
            <a:r>
              <a:rPr dirty="0" sz="1000">
                <a:latin typeface="Times New Roman"/>
                <a:cs typeface="Times New Roman"/>
              </a:rPr>
              <a:t>to</a:t>
            </a:r>
            <a:r>
              <a:rPr dirty="0" sz="1000" spc="-35">
                <a:latin typeface="Times New Roman"/>
                <a:cs typeface="Times New Roman"/>
              </a:rPr>
              <a:t> </a:t>
            </a:r>
            <a:r>
              <a:rPr dirty="0" sz="1000">
                <a:latin typeface="Times New Roman"/>
                <a:cs typeface="Times New Roman"/>
              </a:rPr>
              <a:t>[24].</a:t>
            </a:r>
            <a:r>
              <a:rPr dirty="0" sz="1000" spc="30">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spc="-20">
                <a:latin typeface="Times New Roman"/>
                <a:cs typeface="Times New Roman"/>
              </a:rPr>
              <a:t>embedding</a:t>
            </a:r>
            <a:r>
              <a:rPr dirty="0" sz="1000" spc="-30">
                <a:latin typeface="Times New Roman"/>
                <a:cs typeface="Times New Roman"/>
              </a:rPr>
              <a:t> </a:t>
            </a:r>
            <a:r>
              <a:rPr dirty="0" sz="1000" spc="-10">
                <a:latin typeface="Times New Roman"/>
                <a:cs typeface="Times New Roman"/>
              </a:rPr>
              <a:t>layers,</a:t>
            </a:r>
            <a:r>
              <a:rPr dirty="0" sz="1000" spc="-30">
                <a:latin typeface="Times New Roman"/>
                <a:cs typeface="Times New Roman"/>
              </a:rPr>
              <a:t> </a:t>
            </a:r>
            <a:r>
              <a:rPr dirty="0" sz="1000">
                <a:latin typeface="Times New Roman"/>
                <a:cs typeface="Times New Roman"/>
              </a:rPr>
              <a:t>we</a:t>
            </a:r>
            <a:r>
              <a:rPr dirty="0" sz="1000" spc="-35">
                <a:latin typeface="Times New Roman"/>
                <a:cs typeface="Times New Roman"/>
              </a:rPr>
              <a:t> </a:t>
            </a:r>
            <a:r>
              <a:rPr dirty="0" sz="1000" spc="-10">
                <a:latin typeface="Times New Roman"/>
                <a:cs typeface="Times New Roman"/>
              </a:rPr>
              <a:t>multiply</a:t>
            </a:r>
            <a:r>
              <a:rPr dirty="0" sz="1000" spc="-30">
                <a:latin typeface="Times New Roman"/>
                <a:cs typeface="Times New Roman"/>
              </a:rPr>
              <a:t> </a:t>
            </a:r>
            <a:r>
              <a:rPr dirty="0" sz="1000" spc="-10">
                <a:latin typeface="Times New Roman"/>
                <a:cs typeface="Times New Roman"/>
              </a:rPr>
              <a:t>those</a:t>
            </a:r>
            <a:r>
              <a:rPr dirty="0" sz="1000" spc="-30">
                <a:latin typeface="Times New Roman"/>
                <a:cs typeface="Times New Roman"/>
              </a:rPr>
              <a:t> </a:t>
            </a:r>
            <a:r>
              <a:rPr dirty="0" sz="1000" spc="-10">
                <a:latin typeface="Times New Roman"/>
                <a:cs typeface="Times New Roman"/>
              </a:rPr>
              <a:t>weights</a:t>
            </a:r>
            <a:r>
              <a:rPr dirty="0" sz="1000" spc="-30">
                <a:latin typeface="Times New Roman"/>
                <a:cs typeface="Times New Roman"/>
              </a:rPr>
              <a:t> </a:t>
            </a:r>
            <a:r>
              <a:rPr dirty="0" sz="1000" spc="-25">
                <a:latin typeface="Times New Roman"/>
                <a:cs typeface="Times New Roman"/>
              </a:rPr>
              <a:t>by</a:t>
            </a:r>
            <a:endParaRPr sz="1000">
              <a:latin typeface="Times New Roman"/>
              <a:cs typeface="Times New Roman"/>
            </a:endParaRPr>
          </a:p>
        </p:txBody>
      </p:sp>
      <p:sp>
        <p:nvSpPr>
          <p:cNvPr id="19" name="object 19" descr=""/>
          <p:cNvSpPr txBox="1"/>
          <p:nvPr/>
        </p:nvSpPr>
        <p:spPr>
          <a:xfrm>
            <a:off x="1181100" y="2215101"/>
            <a:ext cx="5410835" cy="5987415"/>
          </a:xfrm>
          <a:prstGeom prst="rect">
            <a:avLst/>
          </a:prstGeom>
        </p:spPr>
        <p:txBody>
          <a:bodyPr wrap="square" lIns="0" tIns="28575" rIns="0" bIns="0" rtlCol="0" vert="horz">
            <a:spAutoFit/>
          </a:bodyPr>
          <a:lstStyle/>
          <a:p>
            <a:pPr algn="just" marL="190500" marR="183515">
              <a:lnSpc>
                <a:spcPts val="1090"/>
              </a:lnSpc>
              <a:spcBef>
                <a:spcPts val="225"/>
              </a:spcBef>
            </a:pPr>
            <a:r>
              <a:rPr dirty="0" sz="1000">
                <a:latin typeface="Times New Roman"/>
                <a:cs typeface="Times New Roman"/>
              </a:rPr>
              <a:t>In</a:t>
            </a:r>
            <a:r>
              <a:rPr dirty="0" sz="1000" spc="150">
                <a:latin typeface="Times New Roman"/>
                <a:cs typeface="Times New Roman"/>
              </a:rPr>
              <a:t> </a:t>
            </a:r>
            <a:r>
              <a:rPr dirty="0" sz="1000">
                <a:latin typeface="Times New Roman"/>
                <a:cs typeface="Times New Roman"/>
              </a:rPr>
              <a:t>this</a:t>
            </a:r>
            <a:r>
              <a:rPr dirty="0" sz="1000" spc="150">
                <a:latin typeface="Times New Roman"/>
                <a:cs typeface="Times New Roman"/>
              </a:rPr>
              <a:t> </a:t>
            </a:r>
            <a:r>
              <a:rPr dirty="0" sz="1000">
                <a:latin typeface="Times New Roman"/>
                <a:cs typeface="Times New Roman"/>
              </a:rPr>
              <a:t>work</a:t>
            </a:r>
            <a:r>
              <a:rPr dirty="0" sz="1000" spc="150">
                <a:latin typeface="Times New Roman"/>
                <a:cs typeface="Times New Roman"/>
              </a:rPr>
              <a:t> </a:t>
            </a:r>
            <a:r>
              <a:rPr dirty="0" sz="1000">
                <a:latin typeface="Times New Roman"/>
                <a:cs typeface="Times New Roman"/>
              </a:rPr>
              <a:t>we</a:t>
            </a:r>
            <a:r>
              <a:rPr dirty="0" sz="1000" spc="150">
                <a:latin typeface="Times New Roman"/>
                <a:cs typeface="Times New Roman"/>
              </a:rPr>
              <a:t> </a:t>
            </a:r>
            <a:r>
              <a:rPr dirty="0" sz="1000">
                <a:latin typeface="Times New Roman"/>
                <a:cs typeface="Times New Roman"/>
              </a:rPr>
              <a:t>employ</a:t>
            </a:r>
            <a:r>
              <a:rPr dirty="0" sz="1000" spc="150">
                <a:latin typeface="Times New Roman"/>
                <a:cs typeface="Times New Roman"/>
              </a:rPr>
              <a:t> </a:t>
            </a:r>
            <a:r>
              <a:rPr dirty="0" sz="1000" spc="55" i="1">
                <a:latin typeface="Calibri"/>
                <a:cs typeface="Calibri"/>
              </a:rPr>
              <a:t>h</a:t>
            </a:r>
            <a:r>
              <a:rPr dirty="0" sz="1000" spc="320" i="1">
                <a:latin typeface="Calibri"/>
                <a:cs typeface="Calibri"/>
              </a:rPr>
              <a:t> </a:t>
            </a:r>
            <a:r>
              <a:rPr dirty="0" sz="1000" spc="270">
                <a:latin typeface="Calibri"/>
                <a:cs typeface="Calibri"/>
              </a:rPr>
              <a:t>=</a:t>
            </a:r>
            <a:r>
              <a:rPr dirty="0" sz="1000" spc="325">
                <a:latin typeface="Calibri"/>
                <a:cs typeface="Calibri"/>
              </a:rPr>
              <a:t> </a:t>
            </a:r>
            <a:r>
              <a:rPr dirty="0" sz="1000">
                <a:latin typeface="Calibri"/>
                <a:cs typeface="Calibri"/>
              </a:rPr>
              <a:t>8</a:t>
            </a:r>
            <a:r>
              <a:rPr dirty="0" sz="1000" spc="170">
                <a:latin typeface="Calibri"/>
                <a:cs typeface="Calibri"/>
              </a:rPr>
              <a:t> </a:t>
            </a:r>
            <a:r>
              <a:rPr dirty="0" sz="1000">
                <a:latin typeface="Times New Roman"/>
                <a:cs typeface="Times New Roman"/>
              </a:rPr>
              <a:t>parallel</a:t>
            </a:r>
            <a:r>
              <a:rPr dirty="0" sz="1000" spc="150">
                <a:latin typeface="Times New Roman"/>
                <a:cs typeface="Times New Roman"/>
              </a:rPr>
              <a:t> </a:t>
            </a:r>
            <a:r>
              <a:rPr dirty="0" sz="1000">
                <a:latin typeface="Times New Roman"/>
                <a:cs typeface="Times New Roman"/>
              </a:rPr>
              <a:t>attention</a:t>
            </a:r>
            <a:r>
              <a:rPr dirty="0" sz="1000" spc="150">
                <a:latin typeface="Times New Roman"/>
                <a:cs typeface="Times New Roman"/>
              </a:rPr>
              <a:t> </a:t>
            </a:r>
            <a:r>
              <a:rPr dirty="0" sz="1000">
                <a:latin typeface="Times New Roman"/>
                <a:cs typeface="Times New Roman"/>
              </a:rPr>
              <a:t>layers,</a:t>
            </a:r>
            <a:r>
              <a:rPr dirty="0" sz="1000" spc="185">
                <a:latin typeface="Times New Roman"/>
                <a:cs typeface="Times New Roman"/>
              </a:rPr>
              <a:t> </a:t>
            </a:r>
            <a:r>
              <a:rPr dirty="0" sz="1000">
                <a:latin typeface="Times New Roman"/>
                <a:cs typeface="Times New Roman"/>
              </a:rPr>
              <a:t>or</a:t>
            </a:r>
            <a:r>
              <a:rPr dirty="0" sz="1000" spc="150">
                <a:latin typeface="Times New Roman"/>
                <a:cs typeface="Times New Roman"/>
              </a:rPr>
              <a:t> </a:t>
            </a:r>
            <a:r>
              <a:rPr dirty="0" sz="1000">
                <a:latin typeface="Times New Roman"/>
                <a:cs typeface="Times New Roman"/>
              </a:rPr>
              <a:t>heads.</a:t>
            </a:r>
            <a:r>
              <a:rPr dirty="0" sz="1000" spc="125">
                <a:latin typeface="Times New Roman"/>
                <a:cs typeface="Times New Roman"/>
              </a:rPr>
              <a:t>  </a:t>
            </a:r>
            <a:r>
              <a:rPr dirty="0" sz="1000">
                <a:latin typeface="Times New Roman"/>
                <a:cs typeface="Times New Roman"/>
              </a:rPr>
              <a:t>For</a:t>
            </a:r>
            <a:r>
              <a:rPr dirty="0" sz="1000" spc="150">
                <a:latin typeface="Times New Roman"/>
                <a:cs typeface="Times New Roman"/>
              </a:rPr>
              <a:t> </a:t>
            </a:r>
            <a:r>
              <a:rPr dirty="0" sz="1000">
                <a:latin typeface="Times New Roman"/>
                <a:cs typeface="Times New Roman"/>
              </a:rPr>
              <a:t>each</a:t>
            </a:r>
            <a:r>
              <a:rPr dirty="0" sz="1000" spc="150">
                <a:latin typeface="Times New Roman"/>
                <a:cs typeface="Times New Roman"/>
              </a:rPr>
              <a:t> </a:t>
            </a:r>
            <a:r>
              <a:rPr dirty="0" sz="1000">
                <a:latin typeface="Times New Roman"/>
                <a:cs typeface="Times New Roman"/>
              </a:rPr>
              <a:t>of</a:t>
            </a:r>
            <a:r>
              <a:rPr dirty="0" sz="1000" spc="150">
                <a:latin typeface="Times New Roman"/>
                <a:cs typeface="Times New Roman"/>
              </a:rPr>
              <a:t> </a:t>
            </a:r>
            <a:r>
              <a:rPr dirty="0" sz="1000">
                <a:latin typeface="Times New Roman"/>
                <a:cs typeface="Times New Roman"/>
              </a:rPr>
              <a:t>these</a:t>
            </a:r>
            <a:r>
              <a:rPr dirty="0" sz="1000" spc="150">
                <a:latin typeface="Times New Roman"/>
                <a:cs typeface="Times New Roman"/>
              </a:rPr>
              <a:t> </a:t>
            </a:r>
            <a:r>
              <a:rPr dirty="0" sz="1000">
                <a:latin typeface="Times New Roman"/>
                <a:cs typeface="Times New Roman"/>
              </a:rPr>
              <a:t>we</a:t>
            </a:r>
            <a:r>
              <a:rPr dirty="0" sz="1000" spc="150">
                <a:latin typeface="Times New Roman"/>
                <a:cs typeface="Times New Roman"/>
              </a:rPr>
              <a:t> </a:t>
            </a:r>
            <a:r>
              <a:rPr dirty="0" sz="1000" spc="-25">
                <a:latin typeface="Times New Roman"/>
                <a:cs typeface="Times New Roman"/>
              </a:rPr>
              <a:t>use </a:t>
            </a:r>
            <a:r>
              <a:rPr dirty="0" sz="1000" spc="55" i="1">
                <a:latin typeface="Calibri"/>
                <a:cs typeface="Calibri"/>
              </a:rPr>
              <a:t>d</a:t>
            </a:r>
            <a:r>
              <a:rPr dirty="0" baseline="-11904" sz="1050" spc="82" i="1">
                <a:latin typeface="Calibri"/>
                <a:cs typeface="Calibri"/>
              </a:rPr>
              <a:t>k</a:t>
            </a:r>
            <a:r>
              <a:rPr dirty="0" baseline="-11904" sz="1050" spc="270" i="1">
                <a:latin typeface="Calibri"/>
                <a:cs typeface="Calibri"/>
              </a:rPr>
              <a:t> </a:t>
            </a:r>
            <a:r>
              <a:rPr dirty="0" sz="1000" spc="270">
                <a:latin typeface="Calibri"/>
                <a:cs typeface="Calibri"/>
              </a:rPr>
              <a:t>=</a:t>
            </a:r>
            <a:r>
              <a:rPr dirty="0" sz="1000" spc="45">
                <a:latin typeface="Calibri"/>
                <a:cs typeface="Calibri"/>
              </a:rPr>
              <a:t> </a:t>
            </a:r>
            <a:r>
              <a:rPr dirty="0" sz="1000" i="1">
                <a:latin typeface="Calibri"/>
                <a:cs typeface="Calibri"/>
              </a:rPr>
              <a:t>d</a:t>
            </a:r>
            <a:r>
              <a:rPr dirty="0" baseline="-11904" sz="1050" i="1">
                <a:latin typeface="Calibri"/>
                <a:cs typeface="Calibri"/>
              </a:rPr>
              <a:t>v</a:t>
            </a:r>
            <a:r>
              <a:rPr dirty="0" baseline="-11904" sz="1050" spc="284" i="1">
                <a:latin typeface="Calibri"/>
                <a:cs typeface="Calibri"/>
              </a:rPr>
              <a:t> </a:t>
            </a:r>
            <a:r>
              <a:rPr dirty="0" sz="1000" spc="270">
                <a:latin typeface="Calibri"/>
                <a:cs typeface="Calibri"/>
              </a:rPr>
              <a:t>=</a:t>
            </a:r>
            <a:r>
              <a:rPr dirty="0" sz="1000" spc="50">
                <a:latin typeface="Calibri"/>
                <a:cs typeface="Calibri"/>
              </a:rPr>
              <a:t> </a:t>
            </a:r>
            <a:r>
              <a:rPr dirty="0" sz="1000" i="1">
                <a:latin typeface="Calibri"/>
                <a:cs typeface="Calibri"/>
              </a:rPr>
              <a:t>d</a:t>
            </a:r>
            <a:r>
              <a:rPr dirty="0" baseline="-11904" sz="1050">
                <a:latin typeface="Times New Roman"/>
                <a:cs typeface="Times New Roman"/>
              </a:rPr>
              <a:t>model</a:t>
            </a:r>
            <a:r>
              <a:rPr dirty="0" sz="1000" i="1">
                <a:latin typeface="Calibri"/>
                <a:cs typeface="Calibri"/>
              </a:rPr>
              <a:t>/h</a:t>
            </a:r>
            <a:r>
              <a:rPr dirty="0" sz="1000" spc="45" i="1">
                <a:latin typeface="Calibri"/>
                <a:cs typeface="Calibri"/>
              </a:rPr>
              <a:t> </a:t>
            </a:r>
            <a:r>
              <a:rPr dirty="0" sz="1000" spc="270">
                <a:latin typeface="Calibri"/>
                <a:cs typeface="Calibri"/>
              </a:rPr>
              <a:t>=</a:t>
            </a:r>
            <a:r>
              <a:rPr dirty="0" sz="1000" spc="50">
                <a:latin typeface="Calibri"/>
                <a:cs typeface="Calibri"/>
              </a:rPr>
              <a:t> </a:t>
            </a:r>
            <a:r>
              <a:rPr dirty="0" sz="1000">
                <a:latin typeface="Calibri"/>
                <a:cs typeface="Calibri"/>
              </a:rPr>
              <a:t>64</a:t>
            </a:r>
            <a:r>
              <a:rPr dirty="0" sz="1000">
                <a:latin typeface="Times New Roman"/>
                <a:cs typeface="Times New Roman"/>
              </a:rPr>
              <a:t>.</a:t>
            </a:r>
            <a:r>
              <a:rPr dirty="0" sz="1000" spc="50">
                <a:latin typeface="Times New Roman"/>
                <a:cs typeface="Times New Roman"/>
              </a:rPr>
              <a:t> </a:t>
            </a:r>
            <a:r>
              <a:rPr dirty="0" sz="1000">
                <a:latin typeface="Times New Roman"/>
                <a:cs typeface="Times New Roman"/>
              </a:rPr>
              <a:t>Due</a:t>
            </a:r>
            <a:r>
              <a:rPr dirty="0" sz="1000" spc="-5">
                <a:latin typeface="Times New Roman"/>
                <a:cs typeface="Times New Roman"/>
              </a:rPr>
              <a:t> </a:t>
            </a:r>
            <a:r>
              <a:rPr dirty="0" sz="1000">
                <a:latin typeface="Times New Roman"/>
                <a:cs typeface="Times New Roman"/>
              </a:rPr>
              <a:t>to</a:t>
            </a:r>
            <a:r>
              <a:rPr dirty="0" sz="1000" spc="-10">
                <a:latin typeface="Times New Roman"/>
                <a:cs typeface="Times New Roman"/>
              </a:rPr>
              <a:t> </a:t>
            </a:r>
            <a:r>
              <a:rPr dirty="0" sz="1000">
                <a:latin typeface="Times New Roman"/>
                <a:cs typeface="Times New Roman"/>
              </a:rPr>
              <a:t>the </a:t>
            </a:r>
            <a:r>
              <a:rPr dirty="0" sz="1000" spc="-10">
                <a:latin typeface="Times New Roman"/>
                <a:cs typeface="Times New Roman"/>
              </a:rPr>
              <a:t>reduced </a:t>
            </a:r>
            <a:r>
              <a:rPr dirty="0" sz="1000">
                <a:latin typeface="Times New Roman"/>
                <a:cs typeface="Times New Roman"/>
              </a:rPr>
              <a:t>dimension</a:t>
            </a:r>
            <a:r>
              <a:rPr dirty="0" sz="1000" spc="-10">
                <a:latin typeface="Times New Roman"/>
                <a:cs typeface="Times New Roman"/>
              </a:rPr>
              <a:t> </a:t>
            </a:r>
            <a:r>
              <a:rPr dirty="0" sz="1000">
                <a:latin typeface="Times New Roman"/>
                <a:cs typeface="Times New Roman"/>
              </a:rPr>
              <a:t>of</a:t>
            </a:r>
            <a:r>
              <a:rPr dirty="0" sz="1000" spc="-5">
                <a:latin typeface="Times New Roman"/>
                <a:cs typeface="Times New Roman"/>
              </a:rPr>
              <a:t> </a:t>
            </a:r>
            <a:r>
              <a:rPr dirty="0" sz="1000">
                <a:latin typeface="Times New Roman"/>
                <a:cs typeface="Times New Roman"/>
              </a:rPr>
              <a:t>each</a:t>
            </a:r>
            <a:r>
              <a:rPr dirty="0" sz="1000" spc="-10">
                <a:latin typeface="Times New Roman"/>
                <a:cs typeface="Times New Roman"/>
              </a:rPr>
              <a:t> </a:t>
            </a:r>
            <a:r>
              <a:rPr dirty="0" sz="1000">
                <a:latin typeface="Times New Roman"/>
                <a:cs typeface="Times New Roman"/>
              </a:rPr>
              <a:t>head, the</a:t>
            </a:r>
            <a:r>
              <a:rPr dirty="0" sz="1000" spc="-10">
                <a:latin typeface="Times New Roman"/>
                <a:cs typeface="Times New Roman"/>
              </a:rPr>
              <a:t> </a:t>
            </a:r>
            <a:r>
              <a:rPr dirty="0" sz="1000">
                <a:latin typeface="Times New Roman"/>
                <a:cs typeface="Times New Roman"/>
              </a:rPr>
              <a:t>total</a:t>
            </a:r>
            <a:r>
              <a:rPr dirty="0" sz="1000" spc="-5">
                <a:latin typeface="Times New Roman"/>
                <a:cs typeface="Times New Roman"/>
              </a:rPr>
              <a:t> </a:t>
            </a:r>
            <a:r>
              <a:rPr dirty="0" sz="1000">
                <a:latin typeface="Times New Roman"/>
                <a:cs typeface="Times New Roman"/>
              </a:rPr>
              <a:t>computational</a:t>
            </a:r>
            <a:r>
              <a:rPr dirty="0" sz="1000" spc="-10">
                <a:latin typeface="Times New Roman"/>
                <a:cs typeface="Times New Roman"/>
              </a:rPr>
              <a:t> </a:t>
            </a:r>
            <a:r>
              <a:rPr dirty="0" sz="1000" spc="-20">
                <a:latin typeface="Times New Roman"/>
                <a:cs typeface="Times New Roman"/>
              </a:rPr>
              <a:t>cost </a:t>
            </a:r>
            <a:r>
              <a:rPr dirty="0" sz="1000">
                <a:latin typeface="Times New Roman"/>
                <a:cs typeface="Times New Roman"/>
              </a:rPr>
              <a:t>is</a:t>
            </a:r>
            <a:r>
              <a:rPr dirty="0" sz="1000" spc="-20">
                <a:latin typeface="Times New Roman"/>
                <a:cs typeface="Times New Roman"/>
              </a:rPr>
              <a:t> </a:t>
            </a:r>
            <a:r>
              <a:rPr dirty="0" sz="1000">
                <a:latin typeface="Times New Roman"/>
                <a:cs typeface="Times New Roman"/>
              </a:rPr>
              <a:t>similar</a:t>
            </a:r>
            <a:r>
              <a:rPr dirty="0" sz="1000" spc="-15">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that</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10">
                <a:latin typeface="Times New Roman"/>
                <a:cs typeface="Times New Roman"/>
              </a:rPr>
              <a:t>single-</a:t>
            </a:r>
            <a:r>
              <a:rPr dirty="0" sz="1000">
                <a:latin typeface="Times New Roman"/>
                <a:cs typeface="Times New Roman"/>
              </a:rPr>
              <a:t>head</a:t>
            </a:r>
            <a:r>
              <a:rPr dirty="0" sz="1000" spc="-15">
                <a:latin typeface="Times New Roman"/>
                <a:cs typeface="Times New Roman"/>
              </a:rPr>
              <a:t> </a:t>
            </a:r>
            <a:r>
              <a:rPr dirty="0" sz="1000">
                <a:latin typeface="Times New Roman"/>
                <a:cs typeface="Times New Roman"/>
              </a:rPr>
              <a:t>attention</a:t>
            </a:r>
            <a:r>
              <a:rPr dirty="0" sz="1000" spc="-15">
                <a:latin typeface="Times New Roman"/>
                <a:cs typeface="Times New Roman"/>
              </a:rPr>
              <a:t> </a:t>
            </a:r>
            <a:r>
              <a:rPr dirty="0" sz="1000">
                <a:latin typeface="Times New Roman"/>
                <a:cs typeface="Times New Roman"/>
              </a:rPr>
              <a:t>with</a:t>
            </a:r>
            <a:r>
              <a:rPr dirty="0" sz="1000" spc="-15">
                <a:latin typeface="Times New Roman"/>
                <a:cs typeface="Times New Roman"/>
              </a:rPr>
              <a:t> </a:t>
            </a:r>
            <a:r>
              <a:rPr dirty="0" sz="1000">
                <a:latin typeface="Times New Roman"/>
                <a:cs typeface="Times New Roman"/>
              </a:rPr>
              <a:t>full</a:t>
            </a:r>
            <a:r>
              <a:rPr dirty="0" sz="1000" spc="-15">
                <a:latin typeface="Times New Roman"/>
                <a:cs typeface="Times New Roman"/>
              </a:rPr>
              <a:t> </a:t>
            </a:r>
            <a:r>
              <a:rPr dirty="0" sz="1000" spc="-10">
                <a:latin typeface="Times New Roman"/>
                <a:cs typeface="Times New Roman"/>
              </a:rPr>
              <a:t>dimensionality.</a:t>
            </a:r>
            <a:endParaRPr sz="1000">
              <a:latin typeface="Times New Roman"/>
              <a:cs typeface="Times New Roman"/>
            </a:endParaRPr>
          </a:p>
          <a:p>
            <a:pPr lvl="2" marL="569595" indent="-379095">
              <a:lnSpc>
                <a:spcPct val="100000"/>
              </a:lnSpc>
              <a:spcBef>
                <a:spcPts val="1090"/>
              </a:spcBef>
              <a:buAutoNum type="arabicPeriod" startAt="3"/>
              <a:tabLst>
                <a:tab pos="569595" algn="l"/>
              </a:tabLst>
            </a:pPr>
            <a:r>
              <a:rPr dirty="0" sz="1000" b="1">
                <a:latin typeface="Times New Roman"/>
                <a:cs typeface="Times New Roman"/>
              </a:rPr>
              <a:t>Applications</a:t>
            </a:r>
            <a:r>
              <a:rPr dirty="0" sz="1000" spc="-25" b="1">
                <a:latin typeface="Times New Roman"/>
                <a:cs typeface="Times New Roman"/>
              </a:rPr>
              <a:t> </a:t>
            </a:r>
            <a:r>
              <a:rPr dirty="0" sz="1000" b="1">
                <a:latin typeface="Times New Roman"/>
                <a:cs typeface="Times New Roman"/>
              </a:rPr>
              <a:t>of</a:t>
            </a:r>
            <a:r>
              <a:rPr dirty="0" sz="1000" spc="-25" b="1">
                <a:latin typeface="Times New Roman"/>
                <a:cs typeface="Times New Roman"/>
              </a:rPr>
              <a:t> </a:t>
            </a:r>
            <a:r>
              <a:rPr dirty="0" sz="1000" b="1">
                <a:latin typeface="Times New Roman"/>
                <a:cs typeface="Times New Roman"/>
              </a:rPr>
              <a:t>Attention</a:t>
            </a:r>
            <a:r>
              <a:rPr dirty="0" sz="1000" spc="-25" b="1">
                <a:latin typeface="Times New Roman"/>
                <a:cs typeface="Times New Roman"/>
              </a:rPr>
              <a:t> </a:t>
            </a:r>
            <a:r>
              <a:rPr dirty="0" sz="1000" b="1">
                <a:latin typeface="Times New Roman"/>
                <a:cs typeface="Times New Roman"/>
              </a:rPr>
              <a:t>in</a:t>
            </a:r>
            <a:r>
              <a:rPr dirty="0" sz="1000" spc="-25" b="1">
                <a:latin typeface="Times New Roman"/>
                <a:cs typeface="Times New Roman"/>
              </a:rPr>
              <a:t> </a:t>
            </a:r>
            <a:r>
              <a:rPr dirty="0" sz="1000" b="1">
                <a:latin typeface="Times New Roman"/>
                <a:cs typeface="Times New Roman"/>
              </a:rPr>
              <a:t>our</a:t>
            </a:r>
            <a:r>
              <a:rPr dirty="0" sz="1000" spc="-25" b="1">
                <a:latin typeface="Times New Roman"/>
                <a:cs typeface="Times New Roman"/>
              </a:rPr>
              <a:t> </a:t>
            </a:r>
            <a:r>
              <a:rPr dirty="0" sz="1000" spc="-10" b="1">
                <a:latin typeface="Times New Roman"/>
                <a:cs typeface="Times New Roman"/>
              </a:rPr>
              <a:t>Model</a:t>
            </a:r>
            <a:endParaRPr sz="1000">
              <a:latin typeface="Times New Roman"/>
              <a:cs typeface="Times New Roman"/>
            </a:endParaRPr>
          </a:p>
          <a:p>
            <a:pPr algn="just" marL="186055">
              <a:lnSpc>
                <a:spcPct val="100000"/>
              </a:lnSpc>
              <a:spcBef>
                <a:spcPts val="665"/>
              </a:spcBef>
            </a:pP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Transformer </a:t>
            </a:r>
            <a:r>
              <a:rPr dirty="0" sz="1000">
                <a:latin typeface="Times New Roman"/>
                <a:cs typeface="Times New Roman"/>
              </a:rPr>
              <a:t>uses</a:t>
            </a:r>
            <a:r>
              <a:rPr dirty="0" sz="1000" spc="-15">
                <a:latin typeface="Times New Roman"/>
                <a:cs typeface="Times New Roman"/>
              </a:rPr>
              <a:t> </a:t>
            </a:r>
            <a:r>
              <a:rPr dirty="0" sz="1000" spc="-10">
                <a:latin typeface="Times New Roman"/>
                <a:cs typeface="Times New Roman"/>
              </a:rPr>
              <a:t>multi-</a:t>
            </a:r>
            <a:r>
              <a:rPr dirty="0" sz="1000">
                <a:latin typeface="Times New Roman"/>
                <a:cs typeface="Times New Roman"/>
              </a:rPr>
              <a:t>head</a:t>
            </a:r>
            <a:r>
              <a:rPr dirty="0" sz="1000" spc="-10">
                <a:latin typeface="Times New Roman"/>
                <a:cs typeface="Times New Roman"/>
              </a:rPr>
              <a:t> </a:t>
            </a:r>
            <a:r>
              <a:rPr dirty="0" sz="1000">
                <a:latin typeface="Times New Roman"/>
                <a:cs typeface="Times New Roman"/>
              </a:rPr>
              <a:t>attention</a:t>
            </a:r>
            <a:r>
              <a:rPr dirty="0" sz="1000" spc="-15">
                <a:latin typeface="Times New Roman"/>
                <a:cs typeface="Times New Roman"/>
              </a:rPr>
              <a:t> </a:t>
            </a:r>
            <a:r>
              <a:rPr dirty="0" sz="1000">
                <a:latin typeface="Times New Roman"/>
                <a:cs typeface="Times New Roman"/>
              </a:rPr>
              <a:t>in</a:t>
            </a:r>
            <a:r>
              <a:rPr dirty="0" sz="1000" spc="-10">
                <a:latin typeface="Times New Roman"/>
                <a:cs typeface="Times New Roman"/>
              </a:rPr>
              <a:t> </a:t>
            </a:r>
            <a:r>
              <a:rPr dirty="0" sz="1000">
                <a:latin typeface="Times New Roman"/>
                <a:cs typeface="Times New Roman"/>
              </a:rPr>
              <a:t>three</a:t>
            </a:r>
            <a:r>
              <a:rPr dirty="0" sz="1000" spc="-15">
                <a:latin typeface="Times New Roman"/>
                <a:cs typeface="Times New Roman"/>
              </a:rPr>
              <a:t> </a:t>
            </a:r>
            <a:r>
              <a:rPr dirty="0" sz="1000" spc="-10">
                <a:latin typeface="Times New Roman"/>
                <a:cs typeface="Times New Roman"/>
              </a:rPr>
              <a:t>different ways:</a:t>
            </a:r>
            <a:endParaRPr sz="1000">
              <a:latin typeface="Times New Roman"/>
              <a:cs typeface="Times New Roman"/>
            </a:endParaRPr>
          </a:p>
          <a:p>
            <a:pPr algn="just" lvl="3" marL="643890" marR="167005" indent="-125095">
              <a:lnSpc>
                <a:spcPts val="1090"/>
              </a:lnSpc>
              <a:spcBef>
                <a:spcPts val="965"/>
              </a:spcBef>
              <a:buFont typeface="Lucida Sans Unicode"/>
              <a:buChar char="•"/>
              <a:tabLst>
                <a:tab pos="645795" algn="l"/>
              </a:tabLst>
            </a:pPr>
            <a:r>
              <a:rPr dirty="0" sz="1000">
                <a:latin typeface="Times New Roman"/>
                <a:cs typeface="Times New Roman"/>
              </a:rPr>
              <a:t>In</a:t>
            </a:r>
            <a:r>
              <a:rPr dirty="0" sz="1000" spc="35">
                <a:latin typeface="Times New Roman"/>
                <a:cs typeface="Times New Roman"/>
              </a:rPr>
              <a:t> </a:t>
            </a:r>
            <a:r>
              <a:rPr dirty="0" sz="1000" spc="-10">
                <a:latin typeface="Times New Roman"/>
                <a:cs typeface="Times New Roman"/>
              </a:rPr>
              <a:t>"encoder-</a:t>
            </a:r>
            <a:r>
              <a:rPr dirty="0" sz="1000">
                <a:latin typeface="Times New Roman"/>
                <a:cs typeface="Times New Roman"/>
              </a:rPr>
              <a:t>decoder</a:t>
            </a:r>
            <a:r>
              <a:rPr dirty="0" sz="1000" spc="35">
                <a:latin typeface="Times New Roman"/>
                <a:cs typeface="Times New Roman"/>
              </a:rPr>
              <a:t> </a:t>
            </a:r>
            <a:r>
              <a:rPr dirty="0" sz="1000">
                <a:latin typeface="Times New Roman"/>
                <a:cs typeface="Times New Roman"/>
              </a:rPr>
              <a:t>attention"</a:t>
            </a:r>
            <a:r>
              <a:rPr dirty="0" sz="1000" spc="35">
                <a:latin typeface="Times New Roman"/>
                <a:cs typeface="Times New Roman"/>
              </a:rPr>
              <a:t> </a:t>
            </a:r>
            <a:r>
              <a:rPr dirty="0" sz="1000">
                <a:latin typeface="Times New Roman"/>
                <a:cs typeface="Times New Roman"/>
              </a:rPr>
              <a:t>layers,</a:t>
            </a:r>
            <a:r>
              <a:rPr dirty="0" sz="1000" spc="4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queries</a:t>
            </a:r>
            <a:r>
              <a:rPr dirty="0" sz="1000" spc="40">
                <a:latin typeface="Times New Roman"/>
                <a:cs typeface="Times New Roman"/>
              </a:rPr>
              <a:t> </a:t>
            </a:r>
            <a:r>
              <a:rPr dirty="0" sz="1000">
                <a:latin typeface="Times New Roman"/>
                <a:cs typeface="Times New Roman"/>
              </a:rPr>
              <a:t>come</a:t>
            </a:r>
            <a:r>
              <a:rPr dirty="0" sz="1000" spc="35">
                <a:latin typeface="Times New Roman"/>
                <a:cs typeface="Times New Roman"/>
              </a:rPr>
              <a:t> </a:t>
            </a:r>
            <a:r>
              <a:rPr dirty="0" sz="1000">
                <a:latin typeface="Times New Roman"/>
                <a:cs typeface="Times New Roman"/>
              </a:rPr>
              <a:t>from</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previous</a:t>
            </a:r>
            <a:r>
              <a:rPr dirty="0" sz="1000" spc="35">
                <a:latin typeface="Times New Roman"/>
                <a:cs typeface="Times New Roman"/>
              </a:rPr>
              <a:t> </a:t>
            </a:r>
            <a:r>
              <a:rPr dirty="0" sz="1000">
                <a:latin typeface="Times New Roman"/>
                <a:cs typeface="Times New Roman"/>
              </a:rPr>
              <a:t>decoder</a:t>
            </a:r>
            <a:r>
              <a:rPr dirty="0" sz="1000" spc="40">
                <a:latin typeface="Times New Roman"/>
                <a:cs typeface="Times New Roman"/>
              </a:rPr>
              <a:t> </a:t>
            </a:r>
            <a:r>
              <a:rPr dirty="0" sz="1000" spc="-10">
                <a:latin typeface="Times New Roman"/>
                <a:cs typeface="Times New Roman"/>
              </a:rPr>
              <a:t>layer, </a:t>
            </a:r>
            <a:r>
              <a:rPr dirty="0" sz="1000" spc="-10">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memory</a:t>
            </a:r>
            <a:r>
              <a:rPr dirty="0" sz="1000" spc="10">
                <a:latin typeface="Times New Roman"/>
                <a:cs typeface="Times New Roman"/>
              </a:rPr>
              <a:t> </a:t>
            </a:r>
            <a:r>
              <a:rPr dirty="0" sz="1000">
                <a:latin typeface="Times New Roman"/>
                <a:cs typeface="Times New Roman"/>
              </a:rPr>
              <a:t>keys</a:t>
            </a:r>
            <a:r>
              <a:rPr dirty="0" sz="1000" spc="15">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values</a:t>
            </a:r>
            <a:r>
              <a:rPr dirty="0" sz="1000" spc="10">
                <a:latin typeface="Times New Roman"/>
                <a:cs typeface="Times New Roman"/>
              </a:rPr>
              <a:t> </a:t>
            </a:r>
            <a:r>
              <a:rPr dirty="0" sz="1000">
                <a:latin typeface="Times New Roman"/>
                <a:cs typeface="Times New Roman"/>
              </a:rPr>
              <a:t>come</a:t>
            </a:r>
            <a:r>
              <a:rPr dirty="0" sz="1000" spc="15">
                <a:latin typeface="Times New Roman"/>
                <a:cs typeface="Times New Roman"/>
              </a:rPr>
              <a:t> </a:t>
            </a:r>
            <a:r>
              <a:rPr dirty="0" sz="1000">
                <a:latin typeface="Times New Roman"/>
                <a:cs typeface="Times New Roman"/>
              </a:rPr>
              <a:t>from</a:t>
            </a:r>
            <a:r>
              <a:rPr dirty="0" sz="1000" spc="15">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output</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encoder.</a:t>
            </a:r>
            <a:r>
              <a:rPr dirty="0" sz="1000" spc="85">
                <a:latin typeface="Times New Roman"/>
                <a:cs typeface="Times New Roman"/>
              </a:rPr>
              <a:t> </a:t>
            </a:r>
            <a:r>
              <a:rPr dirty="0" sz="1000">
                <a:latin typeface="Times New Roman"/>
                <a:cs typeface="Times New Roman"/>
              </a:rPr>
              <a:t>This</a:t>
            </a:r>
            <a:r>
              <a:rPr dirty="0" sz="1000" spc="15">
                <a:latin typeface="Times New Roman"/>
                <a:cs typeface="Times New Roman"/>
              </a:rPr>
              <a:t> </a:t>
            </a:r>
            <a:r>
              <a:rPr dirty="0" sz="1000">
                <a:latin typeface="Times New Roman"/>
                <a:cs typeface="Times New Roman"/>
              </a:rPr>
              <a:t>allows</a:t>
            </a:r>
            <a:r>
              <a:rPr dirty="0" sz="1000" spc="15">
                <a:latin typeface="Times New Roman"/>
                <a:cs typeface="Times New Roman"/>
              </a:rPr>
              <a:t> </a:t>
            </a:r>
            <a:r>
              <a:rPr dirty="0" sz="1000" spc="-10">
                <a:latin typeface="Times New Roman"/>
                <a:cs typeface="Times New Roman"/>
              </a:rPr>
              <a:t>every </a:t>
            </a:r>
            <a:r>
              <a:rPr dirty="0" sz="1000" spc="-10">
                <a:latin typeface="Times New Roman"/>
                <a:cs typeface="Times New Roman"/>
              </a:rPr>
              <a:t>	</a:t>
            </a:r>
            <a:r>
              <a:rPr dirty="0" sz="1000">
                <a:latin typeface="Times New Roman"/>
                <a:cs typeface="Times New Roman"/>
              </a:rPr>
              <a:t>position in</a:t>
            </a:r>
            <a:r>
              <a:rPr dirty="0" sz="1000" spc="5">
                <a:latin typeface="Times New Roman"/>
                <a:cs typeface="Times New Roman"/>
              </a:rPr>
              <a:t> </a:t>
            </a:r>
            <a:r>
              <a:rPr dirty="0" sz="1000">
                <a:latin typeface="Times New Roman"/>
                <a:cs typeface="Times New Roman"/>
              </a:rPr>
              <a:t>the decoder</a:t>
            </a:r>
            <a:r>
              <a:rPr dirty="0" sz="1000" spc="5">
                <a:latin typeface="Times New Roman"/>
                <a:cs typeface="Times New Roman"/>
              </a:rPr>
              <a:t> </a:t>
            </a:r>
            <a:r>
              <a:rPr dirty="0" sz="1000">
                <a:latin typeface="Times New Roman"/>
                <a:cs typeface="Times New Roman"/>
              </a:rPr>
              <a:t>to attend</a:t>
            </a:r>
            <a:r>
              <a:rPr dirty="0" sz="1000" spc="5">
                <a:latin typeface="Times New Roman"/>
                <a:cs typeface="Times New Roman"/>
              </a:rPr>
              <a:t> </a:t>
            </a:r>
            <a:r>
              <a:rPr dirty="0" sz="1000">
                <a:latin typeface="Times New Roman"/>
                <a:cs typeface="Times New Roman"/>
              </a:rPr>
              <a:t>over all</a:t>
            </a:r>
            <a:r>
              <a:rPr dirty="0" sz="1000" spc="5">
                <a:latin typeface="Times New Roman"/>
                <a:cs typeface="Times New Roman"/>
              </a:rPr>
              <a:t> </a:t>
            </a:r>
            <a:r>
              <a:rPr dirty="0" sz="1000">
                <a:latin typeface="Times New Roman"/>
                <a:cs typeface="Times New Roman"/>
              </a:rPr>
              <a:t>positions in</a:t>
            </a:r>
            <a:r>
              <a:rPr dirty="0" sz="1000" spc="5">
                <a:latin typeface="Times New Roman"/>
                <a:cs typeface="Times New Roman"/>
              </a:rPr>
              <a:t> </a:t>
            </a:r>
            <a:r>
              <a:rPr dirty="0" sz="1000">
                <a:latin typeface="Times New Roman"/>
                <a:cs typeface="Times New Roman"/>
              </a:rPr>
              <a:t>the input</a:t>
            </a:r>
            <a:r>
              <a:rPr dirty="0" sz="1000" spc="5">
                <a:latin typeface="Times New Roman"/>
                <a:cs typeface="Times New Roman"/>
              </a:rPr>
              <a:t> </a:t>
            </a:r>
            <a:r>
              <a:rPr dirty="0" sz="1000">
                <a:latin typeface="Times New Roman"/>
                <a:cs typeface="Times New Roman"/>
              </a:rPr>
              <a:t>sequence.</a:t>
            </a:r>
            <a:r>
              <a:rPr dirty="0" sz="1000" spc="70">
                <a:latin typeface="Times New Roman"/>
                <a:cs typeface="Times New Roman"/>
              </a:rPr>
              <a:t> </a:t>
            </a:r>
            <a:r>
              <a:rPr dirty="0" sz="1000">
                <a:latin typeface="Times New Roman"/>
                <a:cs typeface="Times New Roman"/>
              </a:rPr>
              <a:t>This</a:t>
            </a:r>
            <a:r>
              <a:rPr dirty="0" sz="1000" spc="5">
                <a:latin typeface="Times New Roman"/>
                <a:cs typeface="Times New Roman"/>
              </a:rPr>
              <a:t> </a:t>
            </a:r>
            <a:r>
              <a:rPr dirty="0" sz="1000">
                <a:latin typeface="Times New Roman"/>
                <a:cs typeface="Times New Roman"/>
              </a:rPr>
              <a:t>mimics </a:t>
            </a:r>
            <a:r>
              <a:rPr dirty="0" sz="1000" spc="-25">
                <a:latin typeface="Times New Roman"/>
                <a:cs typeface="Times New Roman"/>
              </a:rPr>
              <a:t>the </a:t>
            </a:r>
            <a:r>
              <a:rPr dirty="0" sz="1000" spc="-25">
                <a:latin typeface="Times New Roman"/>
                <a:cs typeface="Times New Roman"/>
              </a:rPr>
              <a:t>	</a:t>
            </a:r>
            <a:r>
              <a:rPr dirty="0" sz="1000">
                <a:latin typeface="Times New Roman"/>
                <a:cs typeface="Times New Roman"/>
              </a:rPr>
              <a:t>typical</a:t>
            </a:r>
            <a:r>
              <a:rPr dirty="0" sz="1000" spc="110">
                <a:latin typeface="Times New Roman"/>
                <a:cs typeface="Times New Roman"/>
              </a:rPr>
              <a:t> </a:t>
            </a:r>
            <a:r>
              <a:rPr dirty="0" sz="1000" spc="-10">
                <a:latin typeface="Times New Roman"/>
                <a:cs typeface="Times New Roman"/>
              </a:rPr>
              <a:t>encoder-</a:t>
            </a:r>
            <a:r>
              <a:rPr dirty="0" sz="1000">
                <a:latin typeface="Times New Roman"/>
                <a:cs typeface="Times New Roman"/>
              </a:rPr>
              <a:t>decoder</a:t>
            </a:r>
            <a:r>
              <a:rPr dirty="0" sz="1000" spc="110">
                <a:latin typeface="Times New Roman"/>
                <a:cs typeface="Times New Roman"/>
              </a:rPr>
              <a:t> </a:t>
            </a:r>
            <a:r>
              <a:rPr dirty="0" sz="1000">
                <a:latin typeface="Times New Roman"/>
                <a:cs typeface="Times New Roman"/>
              </a:rPr>
              <a:t>attention</a:t>
            </a:r>
            <a:r>
              <a:rPr dirty="0" sz="1000" spc="110">
                <a:latin typeface="Times New Roman"/>
                <a:cs typeface="Times New Roman"/>
              </a:rPr>
              <a:t> </a:t>
            </a:r>
            <a:r>
              <a:rPr dirty="0" sz="1000">
                <a:latin typeface="Times New Roman"/>
                <a:cs typeface="Times New Roman"/>
              </a:rPr>
              <a:t>mechanisms</a:t>
            </a:r>
            <a:r>
              <a:rPr dirty="0" sz="1000" spc="110">
                <a:latin typeface="Times New Roman"/>
                <a:cs typeface="Times New Roman"/>
              </a:rPr>
              <a:t> </a:t>
            </a:r>
            <a:r>
              <a:rPr dirty="0" sz="1000">
                <a:latin typeface="Times New Roman"/>
                <a:cs typeface="Times New Roman"/>
              </a:rPr>
              <a:t>in</a:t>
            </a:r>
            <a:r>
              <a:rPr dirty="0" sz="1000" spc="110">
                <a:latin typeface="Times New Roman"/>
                <a:cs typeface="Times New Roman"/>
              </a:rPr>
              <a:t> </a:t>
            </a:r>
            <a:r>
              <a:rPr dirty="0" sz="1000">
                <a:latin typeface="Times New Roman"/>
                <a:cs typeface="Times New Roman"/>
              </a:rPr>
              <a:t>sequence-to-sequence</a:t>
            </a:r>
            <a:r>
              <a:rPr dirty="0" sz="1000" spc="110">
                <a:latin typeface="Times New Roman"/>
                <a:cs typeface="Times New Roman"/>
              </a:rPr>
              <a:t> </a:t>
            </a:r>
            <a:r>
              <a:rPr dirty="0" sz="1000">
                <a:latin typeface="Times New Roman"/>
                <a:cs typeface="Times New Roman"/>
              </a:rPr>
              <a:t>models</a:t>
            </a:r>
            <a:r>
              <a:rPr dirty="0" sz="1000" spc="110">
                <a:latin typeface="Times New Roman"/>
                <a:cs typeface="Times New Roman"/>
              </a:rPr>
              <a:t> </a:t>
            </a:r>
            <a:r>
              <a:rPr dirty="0" sz="1000">
                <a:latin typeface="Times New Roman"/>
                <a:cs typeface="Times New Roman"/>
              </a:rPr>
              <a:t>such</a:t>
            </a:r>
            <a:r>
              <a:rPr dirty="0" sz="1000" spc="110">
                <a:latin typeface="Times New Roman"/>
                <a:cs typeface="Times New Roman"/>
              </a:rPr>
              <a:t> </a:t>
            </a:r>
            <a:r>
              <a:rPr dirty="0" sz="1000" spc="-25">
                <a:latin typeface="Times New Roman"/>
                <a:cs typeface="Times New Roman"/>
              </a:rPr>
              <a:t>as </a:t>
            </a:r>
            <a:r>
              <a:rPr dirty="0" sz="1000" spc="-25">
                <a:latin typeface="Times New Roman"/>
                <a:cs typeface="Times New Roman"/>
              </a:rPr>
              <a:t>	</a:t>
            </a:r>
            <a:r>
              <a:rPr dirty="0" sz="1000">
                <a:latin typeface="Times New Roman"/>
                <a:cs typeface="Times New Roman"/>
              </a:rPr>
              <a:t>[31,</a:t>
            </a:r>
            <a:r>
              <a:rPr dirty="0" sz="1000" spc="-20">
                <a:latin typeface="Times New Roman"/>
                <a:cs typeface="Times New Roman"/>
              </a:rPr>
              <a:t> </a:t>
            </a:r>
            <a:r>
              <a:rPr dirty="0" sz="1000">
                <a:latin typeface="Times New Roman"/>
                <a:cs typeface="Times New Roman"/>
              </a:rPr>
              <a:t>2,</a:t>
            </a:r>
            <a:r>
              <a:rPr dirty="0" sz="1000" spc="-15">
                <a:latin typeface="Times New Roman"/>
                <a:cs typeface="Times New Roman"/>
              </a:rPr>
              <a:t> </a:t>
            </a:r>
            <a:r>
              <a:rPr dirty="0" sz="1000" spc="-25">
                <a:latin typeface="Times New Roman"/>
                <a:cs typeface="Times New Roman"/>
              </a:rPr>
              <a:t>8].</a:t>
            </a:r>
            <a:endParaRPr sz="1000">
              <a:latin typeface="Times New Roman"/>
              <a:cs typeface="Times New Roman"/>
            </a:endParaRPr>
          </a:p>
          <a:p>
            <a:pPr algn="just" lvl="3" marL="643890" marR="182245" indent="-125095">
              <a:lnSpc>
                <a:spcPts val="1090"/>
              </a:lnSpc>
              <a:spcBef>
                <a:spcPts val="400"/>
              </a:spcBef>
              <a:buFont typeface="Lucida Sans Unicode"/>
              <a:buChar char="•"/>
              <a:tabLst>
                <a:tab pos="645795" algn="l"/>
              </a:tabLst>
            </a:pP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encoder</a:t>
            </a:r>
            <a:r>
              <a:rPr dirty="0" sz="1000" spc="15">
                <a:latin typeface="Times New Roman"/>
                <a:cs typeface="Times New Roman"/>
              </a:rPr>
              <a:t> </a:t>
            </a:r>
            <a:r>
              <a:rPr dirty="0" sz="1000">
                <a:latin typeface="Times New Roman"/>
                <a:cs typeface="Times New Roman"/>
              </a:rPr>
              <a:t>contains</a:t>
            </a:r>
            <a:r>
              <a:rPr dirty="0" sz="1000" spc="15">
                <a:latin typeface="Times New Roman"/>
                <a:cs typeface="Times New Roman"/>
              </a:rPr>
              <a:t> </a:t>
            </a:r>
            <a:r>
              <a:rPr dirty="0" sz="1000">
                <a:latin typeface="Times New Roman"/>
                <a:cs typeface="Times New Roman"/>
              </a:rPr>
              <a:t>self-attention</a:t>
            </a:r>
            <a:r>
              <a:rPr dirty="0" sz="1000" spc="15">
                <a:latin typeface="Times New Roman"/>
                <a:cs typeface="Times New Roman"/>
              </a:rPr>
              <a:t> </a:t>
            </a:r>
            <a:r>
              <a:rPr dirty="0" sz="1000">
                <a:latin typeface="Times New Roman"/>
                <a:cs typeface="Times New Roman"/>
              </a:rPr>
              <a:t>layers.</a:t>
            </a:r>
            <a:r>
              <a:rPr dirty="0" sz="1000" spc="8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a:latin typeface="Times New Roman"/>
                <a:cs typeface="Times New Roman"/>
              </a:rPr>
              <a:t>self-attention</a:t>
            </a:r>
            <a:r>
              <a:rPr dirty="0" sz="1000" spc="15">
                <a:latin typeface="Times New Roman"/>
                <a:cs typeface="Times New Roman"/>
              </a:rPr>
              <a:t> </a:t>
            </a:r>
            <a:r>
              <a:rPr dirty="0" sz="1000">
                <a:latin typeface="Times New Roman"/>
                <a:cs typeface="Times New Roman"/>
              </a:rPr>
              <a:t>layer</a:t>
            </a:r>
            <a:r>
              <a:rPr dirty="0" sz="1000" spc="15">
                <a:latin typeface="Times New Roman"/>
                <a:cs typeface="Times New Roman"/>
              </a:rPr>
              <a:t> </a:t>
            </a:r>
            <a:r>
              <a:rPr dirty="0" sz="1000">
                <a:latin typeface="Times New Roman"/>
                <a:cs typeface="Times New Roman"/>
              </a:rPr>
              <a:t>all</a:t>
            </a:r>
            <a:r>
              <a:rPr dirty="0" sz="1000" spc="1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keys,</a:t>
            </a:r>
            <a:r>
              <a:rPr dirty="0" sz="1000" spc="15">
                <a:latin typeface="Times New Roman"/>
                <a:cs typeface="Times New Roman"/>
              </a:rPr>
              <a:t> </a:t>
            </a:r>
            <a:r>
              <a:rPr dirty="0" sz="1000" spc="-10">
                <a:latin typeface="Times New Roman"/>
                <a:cs typeface="Times New Roman"/>
              </a:rPr>
              <a:t>values </a:t>
            </a:r>
            <a:r>
              <a:rPr dirty="0" sz="1000" spc="-10">
                <a:latin typeface="Times New Roman"/>
                <a:cs typeface="Times New Roman"/>
              </a:rPr>
              <a:t>	</a:t>
            </a:r>
            <a:r>
              <a:rPr dirty="0" sz="1000">
                <a:latin typeface="Times New Roman"/>
                <a:cs typeface="Times New Roman"/>
              </a:rPr>
              <a:t>and</a:t>
            </a:r>
            <a:r>
              <a:rPr dirty="0" sz="1000" spc="-5">
                <a:latin typeface="Times New Roman"/>
                <a:cs typeface="Times New Roman"/>
              </a:rPr>
              <a:t> </a:t>
            </a:r>
            <a:r>
              <a:rPr dirty="0" sz="1000">
                <a:latin typeface="Times New Roman"/>
                <a:cs typeface="Times New Roman"/>
              </a:rPr>
              <a:t>queries</a:t>
            </a:r>
            <a:r>
              <a:rPr dirty="0" sz="1000" spc="-5">
                <a:latin typeface="Times New Roman"/>
                <a:cs typeface="Times New Roman"/>
              </a:rPr>
              <a:t> </a:t>
            </a:r>
            <a:r>
              <a:rPr dirty="0" sz="1000">
                <a:latin typeface="Times New Roman"/>
                <a:cs typeface="Times New Roman"/>
              </a:rPr>
              <a:t>come from</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same place,</a:t>
            </a:r>
            <a:r>
              <a:rPr dirty="0" sz="1000" spc="-5">
                <a:latin typeface="Times New Roman"/>
                <a:cs typeface="Times New Roman"/>
              </a:rPr>
              <a:t> </a:t>
            </a:r>
            <a:r>
              <a:rPr dirty="0" sz="1000">
                <a:latin typeface="Times New Roman"/>
                <a:cs typeface="Times New Roman"/>
              </a:rPr>
              <a:t>in this</a:t>
            </a:r>
            <a:r>
              <a:rPr dirty="0" sz="1000" spc="-5">
                <a:latin typeface="Times New Roman"/>
                <a:cs typeface="Times New Roman"/>
              </a:rPr>
              <a:t> </a:t>
            </a:r>
            <a:r>
              <a:rPr dirty="0" sz="1000">
                <a:latin typeface="Times New Roman"/>
                <a:cs typeface="Times New Roman"/>
              </a:rPr>
              <a:t>case,</a:t>
            </a:r>
            <a:r>
              <a:rPr dirty="0" sz="1000" spc="-5">
                <a:latin typeface="Times New Roman"/>
                <a:cs typeface="Times New Roman"/>
              </a:rPr>
              <a:t> </a:t>
            </a:r>
            <a:r>
              <a:rPr dirty="0" sz="1000">
                <a:latin typeface="Times New Roman"/>
                <a:cs typeface="Times New Roman"/>
              </a:rPr>
              <a:t>the output</a:t>
            </a:r>
            <a:r>
              <a:rPr dirty="0" sz="1000" spc="-5">
                <a:latin typeface="Times New Roman"/>
                <a:cs typeface="Times New Roman"/>
              </a:rPr>
              <a:t> </a:t>
            </a:r>
            <a:r>
              <a:rPr dirty="0" sz="1000">
                <a:latin typeface="Times New Roman"/>
                <a:cs typeface="Times New Roman"/>
              </a:rPr>
              <a:t>of</a:t>
            </a:r>
            <a:r>
              <a:rPr dirty="0" sz="1000" spc="-5">
                <a:latin typeface="Times New Roman"/>
                <a:cs typeface="Times New Roman"/>
              </a:rPr>
              <a:t> </a:t>
            </a:r>
            <a:r>
              <a:rPr dirty="0" sz="1000">
                <a:latin typeface="Times New Roman"/>
                <a:cs typeface="Times New Roman"/>
              </a:rPr>
              <a:t>the previous</a:t>
            </a:r>
            <a:r>
              <a:rPr dirty="0" sz="1000" spc="-5">
                <a:latin typeface="Times New Roman"/>
                <a:cs typeface="Times New Roman"/>
              </a:rPr>
              <a:t> </a:t>
            </a:r>
            <a:r>
              <a:rPr dirty="0" sz="1000">
                <a:latin typeface="Times New Roman"/>
                <a:cs typeface="Times New Roman"/>
              </a:rPr>
              <a:t>layer in</a:t>
            </a:r>
            <a:r>
              <a:rPr dirty="0" sz="1000" spc="-5">
                <a:latin typeface="Times New Roman"/>
                <a:cs typeface="Times New Roman"/>
              </a:rPr>
              <a:t> </a:t>
            </a:r>
            <a:r>
              <a:rPr dirty="0" sz="1000" spc="-25">
                <a:latin typeface="Times New Roman"/>
                <a:cs typeface="Times New Roman"/>
              </a:rPr>
              <a:t>the </a:t>
            </a:r>
            <a:r>
              <a:rPr dirty="0" sz="1000" spc="-25">
                <a:latin typeface="Times New Roman"/>
                <a:cs typeface="Times New Roman"/>
              </a:rPr>
              <a:t>	</a:t>
            </a:r>
            <a:r>
              <a:rPr dirty="0" sz="1000" spc="-10">
                <a:latin typeface="Times New Roman"/>
                <a:cs typeface="Times New Roman"/>
              </a:rPr>
              <a:t>encoder.</a:t>
            </a:r>
            <a:r>
              <a:rPr dirty="0" sz="1000" spc="30">
                <a:latin typeface="Times New Roman"/>
                <a:cs typeface="Times New Roman"/>
              </a:rPr>
              <a:t> </a:t>
            </a:r>
            <a:r>
              <a:rPr dirty="0" sz="1000" spc="-10">
                <a:latin typeface="Times New Roman"/>
                <a:cs typeface="Times New Roman"/>
              </a:rPr>
              <a:t>Each</a:t>
            </a:r>
            <a:r>
              <a:rPr dirty="0" sz="1000" spc="-25">
                <a:latin typeface="Times New Roman"/>
                <a:cs typeface="Times New Roman"/>
              </a:rPr>
              <a:t> </a:t>
            </a:r>
            <a:r>
              <a:rPr dirty="0" sz="1000" spc="-10">
                <a:latin typeface="Times New Roman"/>
                <a:cs typeface="Times New Roman"/>
              </a:rPr>
              <a:t>position</a:t>
            </a:r>
            <a:r>
              <a:rPr dirty="0" sz="1000" spc="-30">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encoder</a:t>
            </a:r>
            <a:r>
              <a:rPr dirty="0" sz="1000" spc="-30">
                <a:latin typeface="Times New Roman"/>
                <a:cs typeface="Times New Roman"/>
              </a:rPr>
              <a:t> </a:t>
            </a:r>
            <a:r>
              <a:rPr dirty="0" sz="1000">
                <a:latin typeface="Times New Roman"/>
                <a:cs typeface="Times New Roman"/>
              </a:rPr>
              <a:t>can</a:t>
            </a:r>
            <a:r>
              <a:rPr dirty="0" sz="1000" spc="-25">
                <a:latin typeface="Times New Roman"/>
                <a:cs typeface="Times New Roman"/>
              </a:rPr>
              <a:t> </a:t>
            </a:r>
            <a:r>
              <a:rPr dirty="0" sz="1000">
                <a:latin typeface="Times New Roman"/>
                <a:cs typeface="Times New Roman"/>
              </a:rPr>
              <a:t>attend</a:t>
            </a:r>
            <a:r>
              <a:rPr dirty="0" sz="1000" spc="-2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Times New Roman"/>
                <a:cs typeface="Times New Roman"/>
              </a:rPr>
              <a:t>all</a:t>
            </a:r>
            <a:r>
              <a:rPr dirty="0" sz="1000" spc="-25">
                <a:latin typeface="Times New Roman"/>
                <a:cs typeface="Times New Roman"/>
              </a:rPr>
              <a:t> </a:t>
            </a:r>
            <a:r>
              <a:rPr dirty="0" sz="1000" spc="-10">
                <a:latin typeface="Times New Roman"/>
                <a:cs typeface="Times New Roman"/>
              </a:rPr>
              <a:t>positions</a:t>
            </a:r>
            <a:r>
              <a:rPr dirty="0" sz="1000" spc="-25">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previous</a:t>
            </a:r>
            <a:r>
              <a:rPr dirty="0" sz="1000" spc="-25">
                <a:latin typeface="Times New Roman"/>
                <a:cs typeface="Times New Roman"/>
              </a:rPr>
              <a:t> </a:t>
            </a:r>
            <a:r>
              <a:rPr dirty="0" sz="1000" spc="-10">
                <a:latin typeface="Times New Roman"/>
                <a:cs typeface="Times New Roman"/>
              </a:rPr>
              <a:t>layer</a:t>
            </a:r>
            <a:r>
              <a:rPr dirty="0" sz="1000" spc="-30">
                <a:latin typeface="Times New Roman"/>
                <a:cs typeface="Times New Roman"/>
              </a:rPr>
              <a:t> </a:t>
            </a:r>
            <a:r>
              <a:rPr dirty="0" sz="1000">
                <a:latin typeface="Times New Roman"/>
                <a:cs typeface="Times New Roman"/>
              </a:rPr>
              <a:t>of</a:t>
            </a:r>
            <a:r>
              <a:rPr dirty="0" sz="1000" spc="-25">
                <a:latin typeface="Times New Roman"/>
                <a:cs typeface="Times New Roman"/>
              </a:rPr>
              <a:t> the </a:t>
            </a:r>
            <a:r>
              <a:rPr dirty="0" sz="1000" spc="-25">
                <a:latin typeface="Times New Roman"/>
                <a:cs typeface="Times New Roman"/>
              </a:rPr>
              <a:t>	</a:t>
            </a:r>
            <a:r>
              <a:rPr dirty="0" sz="1000" spc="-10">
                <a:latin typeface="Times New Roman"/>
                <a:cs typeface="Times New Roman"/>
              </a:rPr>
              <a:t>encoder.</a:t>
            </a:r>
            <a:endParaRPr sz="1000">
              <a:latin typeface="Times New Roman"/>
              <a:cs typeface="Times New Roman"/>
            </a:endParaRPr>
          </a:p>
          <a:p>
            <a:pPr algn="just" lvl="3" marL="643890" marR="182245" indent="-125095">
              <a:lnSpc>
                <a:spcPts val="1090"/>
              </a:lnSpc>
              <a:spcBef>
                <a:spcPts val="405"/>
              </a:spcBef>
              <a:buFont typeface="Lucida Sans Unicode"/>
              <a:buChar char="•"/>
              <a:tabLst>
                <a:tab pos="645795" algn="l"/>
              </a:tabLst>
            </a:pPr>
            <a:r>
              <a:rPr dirty="0" sz="1000" spc="-10">
                <a:latin typeface="Times New Roman"/>
                <a:cs typeface="Times New Roman"/>
              </a:rPr>
              <a:t>Similarly,</a:t>
            </a:r>
            <a:r>
              <a:rPr dirty="0" sz="1000" spc="-25">
                <a:latin typeface="Times New Roman"/>
                <a:cs typeface="Times New Roman"/>
              </a:rPr>
              <a:t> </a:t>
            </a:r>
            <a:r>
              <a:rPr dirty="0" sz="1000" spc="-20">
                <a:latin typeface="Times New Roman"/>
                <a:cs typeface="Times New Roman"/>
              </a:rPr>
              <a:t>self-</a:t>
            </a:r>
            <a:r>
              <a:rPr dirty="0" sz="1000" spc="-10">
                <a:latin typeface="Times New Roman"/>
                <a:cs typeface="Times New Roman"/>
              </a:rPr>
              <a:t>attention</a:t>
            </a:r>
            <a:r>
              <a:rPr dirty="0" sz="1000" spc="-25">
                <a:latin typeface="Times New Roman"/>
                <a:cs typeface="Times New Roman"/>
              </a:rPr>
              <a:t> </a:t>
            </a:r>
            <a:r>
              <a:rPr dirty="0" sz="1000" spc="-10">
                <a:latin typeface="Times New Roman"/>
                <a:cs typeface="Times New Roman"/>
              </a:rPr>
              <a:t>layers</a:t>
            </a:r>
            <a:r>
              <a:rPr dirty="0" sz="1000" spc="-25">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decoder</a:t>
            </a:r>
            <a:r>
              <a:rPr dirty="0" sz="1000" spc="-25">
                <a:latin typeface="Times New Roman"/>
                <a:cs typeface="Times New Roman"/>
              </a:rPr>
              <a:t> </a:t>
            </a:r>
            <a:r>
              <a:rPr dirty="0" sz="1000" spc="-10">
                <a:latin typeface="Times New Roman"/>
                <a:cs typeface="Times New Roman"/>
              </a:rPr>
              <a:t>allow</a:t>
            </a:r>
            <a:r>
              <a:rPr dirty="0" sz="1000" spc="-25">
                <a:latin typeface="Times New Roman"/>
                <a:cs typeface="Times New Roman"/>
              </a:rPr>
              <a:t> </a:t>
            </a:r>
            <a:r>
              <a:rPr dirty="0" sz="1000">
                <a:latin typeface="Times New Roman"/>
                <a:cs typeface="Times New Roman"/>
              </a:rPr>
              <a:t>each</a:t>
            </a:r>
            <a:r>
              <a:rPr dirty="0" sz="1000" spc="-25">
                <a:latin typeface="Times New Roman"/>
                <a:cs typeface="Times New Roman"/>
              </a:rPr>
              <a:t> </a:t>
            </a:r>
            <a:r>
              <a:rPr dirty="0" sz="1000" spc="-10">
                <a:latin typeface="Times New Roman"/>
                <a:cs typeface="Times New Roman"/>
              </a:rPr>
              <a:t>position</a:t>
            </a:r>
            <a:r>
              <a:rPr dirty="0" sz="1000" spc="-25">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decoder</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attend</a:t>
            </a:r>
            <a:r>
              <a:rPr dirty="0" sz="1000" spc="-25">
                <a:latin typeface="Times New Roman"/>
                <a:cs typeface="Times New Roman"/>
              </a:rPr>
              <a:t> to </a:t>
            </a:r>
            <a:r>
              <a:rPr dirty="0" sz="1000" spc="-25">
                <a:latin typeface="Times New Roman"/>
                <a:cs typeface="Times New Roman"/>
              </a:rPr>
              <a:t>	</a:t>
            </a:r>
            <a:r>
              <a:rPr dirty="0" sz="1000">
                <a:latin typeface="Times New Roman"/>
                <a:cs typeface="Times New Roman"/>
              </a:rPr>
              <a:t>all</a:t>
            </a:r>
            <a:r>
              <a:rPr dirty="0" sz="1000" spc="-10">
                <a:latin typeface="Times New Roman"/>
                <a:cs typeface="Times New Roman"/>
              </a:rPr>
              <a:t> </a:t>
            </a:r>
            <a:r>
              <a:rPr dirty="0" sz="1000">
                <a:latin typeface="Times New Roman"/>
                <a:cs typeface="Times New Roman"/>
              </a:rPr>
              <a:t>positions</a:t>
            </a:r>
            <a:r>
              <a:rPr dirty="0" sz="1000" spc="-5">
                <a:latin typeface="Times New Roman"/>
                <a:cs typeface="Times New Roman"/>
              </a:rPr>
              <a:t> </a:t>
            </a:r>
            <a:r>
              <a:rPr dirty="0" sz="1000">
                <a:latin typeface="Times New Roman"/>
                <a:cs typeface="Times New Roman"/>
              </a:rPr>
              <a:t>in the</a:t>
            </a:r>
            <a:r>
              <a:rPr dirty="0" sz="1000" spc="-10">
                <a:latin typeface="Times New Roman"/>
                <a:cs typeface="Times New Roman"/>
              </a:rPr>
              <a:t> </a:t>
            </a:r>
            <a:r>
              <a:rPr dirty="0" sz="1000">
                <a:latin typeface="Times New Roman"/>
                <a:cs typeface="Times New Roman"/>
              </a:rPr>
              <a:t>decoder</a:t>
            </a:r>
            <a:r>
              <a:rPr dirty="0" sz="1000" spc="-5">
                <a:latin typeface="Times New Roman"/>
                <a:cs typeface="Times New Roman"/>
              </a:rPr>
              <a:t> </a:t>
            </a:r>
            <a:r>
              <a:rPr dirty="0" sz="1000">
                <a:latin typeface="Times New Roman"/>
                <a:cs typeface="Times New Roman"/>
              </a:rPr>
              <a:t>up</a:t>
            </a:r>
            <a:r>
              <a:rPr dirty="0" sz="1000" spc="-5">
                <a:latin typeface="Times New Roman"/>
                <a:cs typeface="Times New Roman"/>
              </a:rPr>
              <a:t> </a:t>
            </a:r>
            <a:r>
              <a:rPr dirty="0" sz="1000">
                <a:latin typeface="Times New Roman"/>
                <a:cs typeface="Times New Roman"/>
              </a:rPr>
              <a:t>to</a:t>
            </a:r>
            <a:r>
              <a:rPr dirty="0" sz="1000" spc="-5">
                <a:latin typeface="Times New Roman"/>
                <a:cs typeface="Times New Roman"/>
              </a:rPr>
              <a:t> </a:t>
            </a:r>
            <a:r>
              <a:rPr dirty="0" sz="1000">
                <a:latin typeface="Times New Roman"/>
                <a:cs typeface="Times New Roman"/>
              </a:rPr>
              <a:t>and</a:t>
            </a:r>
            <a:r>
              <a:rPr dirty="0" sz="1000" spc="-5">
                <a:latin typeface="Times New Roman"/>
                <a:cs typeface="Times New Roman"/>
              </a:rPr>
              <a:t> </a:t>
            </a:r>
            <a:r>
              <a:rPr dirty="0" sz="1000">
                <a:latin typeface="Times New Roman"/>
                <a:cs typeface="Times New Roman"/>
              </a:rPr>
              <a:t>including</a:t>
            </a:r>
            <a:r>
              <a:rPr dirty="0" sz="1000" spc="-5">
                <a:latin typeface="Times New Roman"/>
                <a:cs typeface="Times New Roman"/>
              </a:rPr>
              <a:t> </a:t>
            </a:r>
            <a:r>
              <a:rPr dirty="0" sz="1000">
                <a:latin typeface="Times New Roman"/>
                <a:cs typeface="Times New Roman"/>
              </a:rPr>
              <a:t>that</a:t>
            </a:r>
            <a:r>
              <a:rPr dirty="0" sz="1000" spc="-10">
                <a:latin typeface="Times New Roman"/>
                <a:cs typeface="Times New Roman"/>
              </a:rPr>
              <a:t> </a:t>
            </a:r>
            <a:r>
              <a:rPr dirty="0" sz="1000">
                <a:latin typeface="Times New Roman"/>
                <a:cs typeface="Times New Roman"/>
              </a:rPr>
              <a:t>position.</a:t>
            </a:r>
            <a:r>
              <a:rPr dirty="0" sz="1000" spc="60">
                <a:latin typeface="Times New Roman"/>
                <a:cs typeface="Times New Roman"/>
              </a:rPr>
              <a:t> </a:t>
            </a:r>
            <a:r>
              <a:rPr dirty="0" sz="1000" spc="-45">
                <a:latin typeface="Times New Roman"/>
                <a:cs typeface="Times New Roman"/>
              </a:rPr>
              <a:t>We</a:t>
            </a:r>
            <a:r>
              <a:rPr dirty="0" sz="1000" spc="-5">
                <a:latin typeface="Times New Roman"/>
                <a:cs typeface="Times New Roman"/>
              </a:rPr>
              <a:t> </a:t>
            </a:r>
            <a:r>
              <a:rPr dirty="0" sz="1000">
                <a:latin typeface="Times New Roman"/>
                <a:cs typeface="Times New Roman"/>
              </a:rPr>
              <a:t>need</a:t>
            </a:r>
            <a:r>
              <a:rPr dirty="0" sz="1000" spc="-5">
                <a:latin typeface="Times New Roman"/>
                <a:cs typeface="Times New Roman"/>
              </a:rPr>
              <a:t> </a:t>
            </a:r>
            <a:r>
              <a:rPr dirty="0" sz="1000">
                <a:latin typeface="Times New Roman"/>
                <a:cs typeface="Times New Roman"/>
              </a:rPr>
              <a:t>to</a:t>
            </a:r>
            <a:r>
              <a:rPr dirty="0" sz="1000" spc="-5">
                <a:latin typeface="Times New Roman"/>
                <a:cs typeface="Times New Roman"/>
              </a:rPr>
              <a:t> </a:t>
            </a:r>
            <a:r>
              <a:rPr dirty="0" sz="1000" spc="-10">
                <a:latin typeface="Times New Roman"/>
                <a:cs typeface="Times New Roman"/>
              </a:rPr>
              <a:t>prevent</a:t>
            </a:r>
            <a:r>
              <a:rPr dirty="0" sz="1000">
                <a:latin typeface="Times New Roman"/>
                <a:cs typeface="Times New Roman"/>
              </a:rPr>
              <a:t> </a:t>
            </a:r>
            <a:r>
              <a:rPr dirty="0" sz="1000" spc="-10">
                <a:latin typeface="Times New Roman"/>
                <a:cs typeface="Times New Roman"/>
              </a:rPr>
              <a:t>leftward 	information</a:t>
            </a:r>
            <a:r>
              <a:rPr dirty="0" sz="1000" spc="-55">
                <a:latin typeface="Times New Roman"/>
                <a:cs typeface="Times New Roman"/>
              </a:rPr>
              <a:t> </a:t>
            </a:r>
            <a:r>
              <a:rPr dirty="0" sz="1000" spc="-30">
                <a:latin typeface="Times New Roman"/>
                <a:cs typeface="Times New Roman"/>
              </a:rPr>
              <a:t>flow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decoder</a:t>
            </a:r>
            <a:r>
              <a:rPr dirty="0" sz="1000" spc="-20">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preserve</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20">
                <a:latin typeface="Times New Roman"/>
                <a:cs typeface="Times New Roman"/>
              </a:rPr>
              <a:t>auto-regressive </a:t>
            </a:r>
            <a:r>
              <a:rPr dirty="0" sz="1000" spc="-10">
                <a:latin typeface="Times New Roman"/>
                <a:cs typeface="Times New Roman"/>
              </a:rPr>
              <a:t>property.</a:t>
            </a:r>
            <a:r>
              <a:rPr dirty="0" sz="1000" spc="30">
                <a:latin typeface="Times New Roman"/>
                <a:cs typeface="Times New Roman"/>
              </a:rPr>
              <a:t> </a:t>
            </a:r>
            <a:r>
              <a:rPr dirty="0" sz="1000" spc="-75">
                <a:latin typeface="Times New Roman"/>
                <a:cs typeface="Times New Roman"/>
              </a:rPr>
              <a:t>We</a:t>
            </a:r>
            <a:r>
              <a:rPr dirty="0" sz="1000" spc="10">
                <a:latin typeface="Times New Roman"/>
                <a:cs typeface="Times New Roman"/>
              </a:rPr>
              <a:t> </a:t>
            </a:r>
            <a:r>
              <a:rPr dirty="0" sz="1000" spc="-10">
                <a:latin typeface="Times New Roman"/>
                <a:cs typeface="Times New Roman"/>
              </a:rPr>
              <a:t>implement</a:t>
            </a:r>
            <a:r>
              <a:rPr dirty="0" sz="1000" spc="-20">
                <a:latin typeface="Times New Roman"/>
                <a:cs typeface="Times New Roman"/>
              </a:rPr>
              <a:t> this </a:t>
            </a:r>
            <a:r>
              <a:rPr dirty="0" sz="1000" spc="-20">
                <a:latin typeface="Times New Roman"/>
                <a:cs typeface="Times New Roman"/>
              </a:rPr>
              <a:t>	</a:t>
            </a:r>
            <a:r>
              <a:rPr dirty="0" sz="1000" spc="-10">
                <a:latin typeface="Times New Roman"/>
                <a:cs typeface="Times New Roman"/>
              </a:rPr>
              <a:t>inside</a:t>
            </a:r>
            <a:r>
              <a:rPr dirty="0" sz="1000" spc="-30">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spc="-10">
                <a:latin typeface="Times New Roman"/>
                <a:cs typeface="Times New Roman"/>
              </a:rPr>
              <a:t>scaled</a:t>
            </a:r>
            <a:r>
              <a:rPr dirty="0" sz="1000" spc="-30">
                <a:latin typeface="Times New Roman"/>
                <a:cs typeface="Times New Roman"/>
              </a:rPr>
              <a:t> </a:t>
            </a:r>
            <a:r>
              <a:rPr dirty="0" sz="1000" spc="-20">
                <a:latin typeface="Times New Roman"/>
                <a:cs typeface="Times New Roman"/>
              </a:rPr>
              <a:t>dot-</a:t>
            </a:r>
            <a:r>
              <a:rPr dirty="0" sz="1000" spc="-10">
                <a:latin typeface="Times New Roman"/>
                <a:cs typeface="Times New Roman"/>
              </a:rPr>
              <a:t>product</a:t>
            </a:r>
            <a:r>
              <a:rPr dirty="0" sz="1000" spc="-25">
                <a:latin typeface="Times New Roman"/>
                <a:cs typeface="Times New Roman"/>
              </a:rPr>
              <a:t> </a:t>
            </a:r>
            <a:r>
              <a:rPr dirty="0" sz="1000" spc="-10">
                <a:latin typeface="Times New Roman"/>
                <a:cs typeface="Times New Roman"/>
              </a:rPr>
              <a:t>attention</a:t>
            </a:r>
            <a:r>
              <a:rPr dirty="0" sz="1000" spc="-30">
                <a:latin typeface="Times New Roman"/>
                <a:cs typeface="Times New Roman"/>
              </a:rPr>
              <a:t> </a:t>
            </a:r>
            <a:r>
              <a:rPr dirty="0" sz="1000">
                <a:latin typeface="Times New Roman"/>
                <a:cs typeface="Times New Roman"/>
              </a:rPr>
              <a:t>by</a:t>
            </a:r>
            <a:r>
              <a:rPr dirty="0" sz="1000" spc="-25">
                <a:latin typeface="Times New Roman"/>
                <a:cs typeface="Times New Roman"/>
              </a:rPr>
              <a:t> </a:t>
            </a:r>
            <a:r>
              <a:rPr dirty="0" sz="1000" spc="-10">
                <a:latin typeface="Times New Roman"/>
                <a:cs typeface="Times New Roman"/>
              </a:rPr>
              <a:t>masking</a:t>
            </a:r>
            <a:r>
              <a:rPr dirty="0" sz="1000" spc="-30">
                <a:latin typeface="Times New Roman"/>
                <a:cs typeface="Times New Roman"/>
              </a:rPr>
              <a:t> </a:t>
            </a:r>
            <a:r>
              <a:rPr dirty="0" sz="1000">
                <a:latin typeface="Times New Roman"/>
                <a:cs typeface="Times New Roman"/>
              </a:rPr>
              <a:t>out</a:t>
            </a:r>
            <a:r>
              <a:rPr dirty="0" sz="1000" spc="-25">
                <a:latin typeface="Times New Roman"/>
                <a:cs typeface="Times New Roman"/>
              </a:rPr>
              <a:t> </a:t>
            </a:r>
            <a:r>
              <a:rPr dirty="0" sz="1000" spc="-10">
                <a:latin typeface="Times New Roman"/>
                <a:cs typeface="Times New Roman"/>
              </a:rPr>
              <a:t>(setting</a:t>
            </a:r>
            <a:r>
              <a:rPr dirty="0" sz="1000" spc="-2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Lucida Sans Unicode"/>
                <a:cs typeface="Lucida Sans Unicode"/>
              </a:rPr>
              <a:t>−∞</a:t>
            </a:r>
            <a:r>
              <a:rPr dirty="0" sz="1000">
                <a:latin typeface="Times New Roman"/>
                <a:cs typeface="Times New Roman"/>
              </a:rPr>
              <a:t>)</a:t>
            </a:r>
            <a:r>
              <a:rPr dirty="0" sz="1000" spc="-25">
                <a:latin typeface="Times New Roman"/>
                <a:cs typeface="Times New Roman"/>
              </a:rPr>
              <a:t> </a:t>
            </a:r>
            <a:r>
              <a:rPr dirty="0" sz="1000">
                <a:latin typeface="Times New Roman"/>
                <a:cs typeface="Times New Roman"/>
              </a:rPr>
              <a:t>all</a:t>
            </a:r>
            <a:r>
              <a:rPr dirty="0" sz="1000" spc="-30">
                <a:latin typeface="Times New Roman"/>
                <a:cs typeface="Times New Roman"/>
              </a:rPr>
              <a:t> </a:t>
            </a:r>
            <a:r>
              <a:rPr dirty="0" sz="1000" spc="-10">
                <a:latin typeface="Times New Roman"/>
                <a:cs typeface="Times New Roman"/>
              </a:rPr>
              <a:t>values</a:t>
            </a:r>
            <a:r>
              <a:rPr dirty="0" sz="1000" spc="-25">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input </a:t>
            </a:r>
            <a:r>
              <a:rPr dirty="0" sz="1000" spc="-10">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softmax</a:t>
            </a:r>
            <a:r>
              <a:rPr dirty="0" sz="1000" spc="-30">
                <a:latin typeface="Times New Roman"/>
                <a:cs typeface="Times New Roman"/>
              </a:rPr>
              <a:t> </a:t>
            </a:r>
            <a:r>
              <a:rPr dirty="0" sz="1000">
                <a:latin typeface="Times New Roman"/>
                <a:cs typeface="Times New Roman"/>
              </a:rPr>
              <a:t>which</a:t>
            </a:r>
            <a:r>
              <a:rPr dirty="0" sz="1000" spc="-30">
                <a:latin typeface="Times New Roman"/>
                <a:cs typeface="Times New Roman"/>
              </a:rPr>
              <a:t> </a:t>
            </a:r>
            <a:r>
              <a:rPr dirty="0" sz="1000">
                <a:latin typeface="Times New Roman"/>
                <a:cs typeface="Times New Roman"/>
              </a:rPr>
              <a:t>correspond</a:t>
            </a:r>
            <a:r>
              <a:rPr dirty="0" sz="1000" spc="-30">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Times New Roman"/>
                <a:cs typeface="Times New Roman"/>
              </a:rPr>
              <a:t>illegal</a:t>
            </a:r>
            <a:r>
              <a:rPr dirty="0" sz="1000" spc="-30">
                <a:latin typeface="Times New Roman"/>
                <a:cs typeface="Times New Roman"/>
              </a:rPr>
              <a:t> </a:t>
            </a:r>
            <a:r>
              <a:rPr dirty="0" sz="1000">
                <a:latin typeface="Times New Roman"/>
                <a:cs typeface="Times New Roman"/>
              </a:rPr>
              <a:t>connections.</a:t>
            </a:r>
            <a:r>
              <a:rPr dirty="0" sz="1000" spc="25">
                <a:latin typeface="Times New Roman"/>
                <a:cs typeface="Times New Roman"/>
              </a:rPr>
              <a:t> </a:t>
            </a:r>
            <a:r>
              <a:rPr dirty="0" sz="1000">
                <a:latin typeface="Times New Roman"/>
                <a:cs typeface="Times New Roman"/>
              </a:rPr>
              <a:t>See</a:t>
            </a:r>
            <a:r>
              <a:rPr dirty="0" sz="1000" spc="-30">
                <a:latin typeface="Times New Roman"/>
                <a:cs typeface="Times New Roman"/>
              </a:rPr>
              <a:t> </a:t>
            </a:r>
            <a:r>
              <a:rPr dirty="0" sz="1000">
                <a:latin typeface="Times New Roman"/>
                <a:cs typeface="Times New Roman"/>
              </a:rPr>
              <a:t>Figure</a:t>
            </a:r>
            <a:r>
              <a:rPr dirty="0" sz="1000" spc="-30">
                <a:latin typeface="Times New Roman"/>
                <a:cs typeface="Times New Roman"/>
              </a:rPr>
              <a:t> </a:t>
            </a:r>
            <a:r>
              <a:rPr dirty="0" sz="1000" spc="-25">
                <a:latin typeface="Times New Roman"/>
                <a:cs typeface="Times New Roman"/>
              </a:rPr>
              <a:t>2.</a:t>
            </a:r>
            <a:endParaRPr sz="1000">
              <a:latin typeface="Times New Roman"/>
              <a:cs typeface="Times New Roman"/>
            </a:endParaRPr>
          </a:p>
          <a:p>
            <a:pPr lvl="3">
              <a:lnSpc>
                <a:spcPct val="100000"/>
              </a:lnSpc>
              <a:spcBef>
                <a:spcPts val="80"/>
              </a:spcBef>
              <a:buFont typeface="Lucida Sans Unicode"/>
              <a:buChar char="•"/>
            </a:pPr>
            <a:endParaRPr sz="1000">
              <a:latin typeface="Times New Roman"/>
              <a:cs typeface="Times New Roman"/>
            </a:endParaRPr>
          </a:p>
          <a:p>
            <a:pPr lvl="1" marL="474980" indent="-284480">
              <a:lnSpc>
                <a:spcPct val="100000"/>
              </a:lnSpc>
              <a:buAutoNum type="arabicPeriod" startAt="2"/>
              <a:tabLst>
                <a:tab pos="474980" algn="l"/>
              </a:tabLst>
            </a:pPr>
            <a:r>
              <a:rPr dirty="0" sz="1000" spc="-10" b="1">
                <a:latin typeface="Times New Roman"/>
                <a:cs typeface="Times New Roman"/>
              </a:rPr>
              <a:t>Position-</a:t>
            </a:r>
            <a:r>
              <a:rPr dirty="0" sz="1000" b="1">
                <a:latin typeface="Times New Roman"/>
                <a:cs typeface="Times New Roman"/>
              </a:rPr>
              <a:t>wise</a:t>
            </a:r>
            <a:r>
              <a:rPr dirty="0" sz="1000" spc="5" b="1">
                <a:latin typeface="Times New Roman"/>
                <a:cs typeface="Times New Roman"/>
              </a:rPr>
              <a:t> </a:t>
            </a:r>
            <a:r>
              <a:rPr dirty="0" sz="1000" spc="-10" b="1">
                <a:latin typeface="Times New Roman"/>
                <a:cs typeface="Times New Roman"/>
              </a:rPr>
              <a:t>Feed-Forward</a:t>
            </a:r>
            <a:r>
              <a:rPr dirty="0" sz="1000" spc="5" b="1">
                <a:latin typeface="Times New Roman"/>
                <a:cs typeface="Times New Roman"/>
              </a:rPr>
              <a:t> </a:t>
            </a:r>
            <a:r>
              <a:rPr dirty="0" sz="1000" spc="-10" b="1">
                <a:latin typeface="Times New Roman"/>
                <a:cs typeface="Times New Roman"/>
              </a:rPr>
              <a:t>Networks</a:t>
            </a:r>
            <a:endParaRPr sz="1000">
              <a:latin typeface="Times New Roman"/>
              <a:cs typeface="Times New Roman"/>
            </a:endParaRPr>
          </a:p>
          <a:p>
            <a:pPr algn="just" marL="190500" marR="178435">
              <a:lnSpc>
                <a:spcPts val="1090"/>
              </a:lnSpc>
              <a:spcBef>
                <a:spcPts val="925"/>
              </a:spcBef>
            </a:pPr>
            <a:r>
              <a:rPr dirty="0" sz="1000">
                <a:latin typeface="Times New Roman"/>
                <a:cs typeface="Times New Roman"/>
              </a:rPr>
              <a:t>In</a:t>
            </a:r>
            <a:r>
              <a:rPr dirty="0" sz="1000" spc="45">
                <a:latin typeface="Times New Roman"/>
                <a:cs typeface="Times New Roman"/>
              </a:rPr>
              <a:t> </a:t>
            </a:r>
            <a:r>
              <a:rPr dirty="0" sz="1000">
                <a:latin typeface="Times New Roman"/>
                <a:cs typeface="Times New Roman"/>
              </a:rPr>
              <a:t>addition</a:t>
            </a:r>
            <a:r>
              <a:rPr dirty="0" sz="1000" spc="45">
                <a:latin typeface="Times New Roman"/>
                <a:cs typeface="Times New Roman"/>
              </a:rPr>
              <a:t> </a:t>
            </a:r>
            <a:r>
              <a:rPr dirty="0" sz="1000">
                <a:latin typeface="Times New Roman"/>
                <a:cs typeface="Times New Roman"/>
              </a:rPr>
              <a:t>to</a:t>
            </a:r>
            <a:r>
              <a:rPr dirty="0" sz="1000" spc="45">
                <a:latin typeface="Times New Roman"/>
                <a:cs typeface="Times New Roman"/>
              </a:rPr>
              <a:t> </a:t>
            </a:r>
            <a:r>
              <a:rPr dirty="0" sz="1000">
                <a:latin typeface="Times New Roman"/>
                <a:cs typeface="Times New Roman"/>
              </a:rPr>
              <a:t>attention</a:t>
            </a:r>
            <a:r>
              <a:rPr dirty="0" sz="1000" spc="45">
                <a:latin typeface="Times New Roman"/>
                <a:cs typeface="Times New Roman"/>
              </a:rPr>
              <a:t> </a:t>
            </a:r>
            <a:r>
              <a:rPr dirty="0" sz="1000">
                <a:latin typeface="Times New Roman"/>
                <a:cs typeface="Times New Roman"/>
              </a:rPr>
              <a:t>sub-layers,</a:t>
            </a:r>
            <a:r>
              <a:rPr dirty="0" sz="1000" spc="55">
                <a:latin typeface="Times New Roman"/>
                <a:cs typeface="Times New Roman"/>
              </a:rPr>
              <a:t> </a:t>
            </a:r>
            <a:r>
              <a:rPr dirty="0" sz="1000">
                <a:latin typeface="Times New Roman"/>
                <a:cs typeface="Times New Roman"/>
              </a:rPr>
              <a:t>each</a:t>
            </a:r>
            <a:r>
              <a:rPr dirty="0" sz="1000" spc="45">
                <a:latin typeface="Times New Roman"/>
                <a:cs typeface="Times New Roman"/>
              </a:rPr>
              <a:t> </a:t>
            </a:r>
            <a:r>
              <a:rPr dirty="0" sz="1000">
                <a:latin typeface="Times New Roman"/>
                <a:cs typeface="Times New Roman"/>
              </a:rPr>
              <a:t>of</a:t>
            </a:r>
            <a:r>
              <a:rPr dirty="0" sz="1000" spc="45">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layers</a:t>
            </a:r>
            <a:r>
              <a:rPr dirty="0" sz="1000" spc="45">
                <a:latin typeface="Times New Roman"/>
                <a:cs typeface="Times New Roman"/>
              </a:rPr>
              <a:t> </a:t>
            </a:r>
            <a:r>
              <a:rPr dirty="0" sz="1000">
                <a:latin typeface="Times New Roman"/>
                <a:cs typeface="Times New Roman"/>
              </a:rPr>
              <a:t>in</a:t>
            </a:r>
            <a:r>
              <a:rPr dirty="0" sz="1000" spc="50">
                <a:latin typeface="Times New Roman"/>
                <a:cs typeface="Times New Roman"/>
              </a:rPr>
              <a:t> </a:t>
            </a:r>
            <a:r>
              <a:rPr dirty="0" sz="1000">
                <a:latin typeface="Times New Roman"/>
                <a:cs typeface="Times New Roman"/>
              </a:rPr>
              <a:t>our</a:t>
            </a:r>
            <a:r>
              <a:rPr dirty="0" sz="1000" spc="45">
                <a:latin typeface="Times New Roman"/>
                <a:cs typeface="Times New Roman"/>
              </a:rPr>
              <a:t> </a:t>
            </a:r>
            <a:r>
              <a:rPr dirty="0" sz="1000">
                <a:latin typeface="Times New Roman"/>
                <a:cs typeface="Times New Roman"/>
              </a:rPr>
              <a:t>encoder</a:t>
            </a:r>
            <a:r>
              <a:rPr dirty="0" sz="1000" spc="45">
                <a:latin typeface="Times New Roman"/>
                <a:cs typeface="Times New Roman"/>
              </a:rPr>
              <a:t> </a:t>
            </a:r>
            <a:r>
              <a:rPr dirty="0" sz="1000">
                <a:latin typeface="Times New Roman"/>
                <a:cs typeface="Times New Roman"/>
              </a:rPr>
              <a:t>and</a:t>
            </a:r>
            <a:r>
              <a:rPr dirty="0" sz="1000" spc="45">
                <a:latin typeface="Times New Roman"/>
                <a:cs typeface="Times New Roman"/>
              </a:rPr>
              <a:t> </a:t>
            </a:r>
            <a:r>
              <a:rPr dirty="0" sz="1000">
                <a:latin typeface="Times New Roman"/>
                <a:cs typeface="Times New Roman"/>
              </a:rPr>
              <a:t>decoder</a:t>
            </a:r>
            <a:r>
              <a:rPr dirty="0" sz="1000" spc="45">
                <a:latin typeface="Times New Roman"/>
                <a:cs typeface="Times New Roman"/>
              </a:rPr>
              <a:t> </a:t>
            </a:r>
            <a:r>
              <a:rPr dirty="0" sz="1000">
                <a:latin typeface="Times New Roman"/>
                <a:cs typeface="Times New Roman"/>
              </a:rPr>
              <a:t>contains</a:t>
            </a:r>
            <a:r>
              <a:rPr dirty="0" sz="1000" spc="50">
                <a:latin typeface="Times New Roman"/>
                <a:cs typeface="Times New Roman"/>
              </a:rPr>
              <a:t> </a:t>
            </a:r>
            <a:r>
              <a:rPr dirty="0" sz="1000">
                <a:latin typeface="Times New Roman"/>
                <a:cs typeface="Times New Roman"/>
              </a:rPr>
              <a:t>a</a:t>
            </a:r>
            <a:r>
              <a:rPr dirty="0" sz="1000" spc="45">
                <a:latin typeface="Times New Roman"/>
                <a:cs typeface="Times New Roman"/>
              </a:rPr>
              <a:t> </a:t>
            </a:r>
            <a:r>
              <a:rPr dirty="0" sz="1000" spc="-10">
                <a:latin typeface="Times New Roman"/>
                <a:cs typeface="Times New Roman"/>
              </a:rPr>
              <a:t>fully </a:t>
            </a:r>
            <a:r>
              <a:rPr dirty="0" sz="1000">
                <a:latin typeface="Times New Roman"/>
                <a:cs typeface="Times New Roman"/>
              </a:rPr>
              <a:t>connected</a:t>
            </a:r>
            <a:r>
              <a:rPr dirty="0" sz="1000" spc="-15">
                <a:latin typeface="Times New Roman"/>
                <a:cs typeface="Times New Roman"/>
              </a:rPr>
              <a:t> </a:t>
            </a:r>
            <a:r>
              <a:rPr dirty="0" sz="1000" spc="-10">
                <a:latin typeface="Times New Roman"/>
                <a:cs typeface="Times New Roman"/>
              </a:rPr>
              <a:t>feed-</a:t>
            </a:r>
            <a:r>
              <a:rPr dirty="0" sz="1000">
                <a:latin typeface="Times New Roman"/>
                <a:cs typeface="Times New Roman"/>
              </a:rPr>
              <a:t>forward</a:t>
            </a:r>
            <a:r>
              <a:rPr dirty="0" sz="1000" spc="-15">
                <a:latin typeface="Times New Roman"/>
                <a:cs typeface="Times New Roman"/>
              </a:rPr>
              <a:t> </a:t>
            </a:r>
            <a:r>
              <a:rPr dirty="0" sz="1000">
                <a:latin typeface="Times New Roman"/>
                <a:cs typeface="Times New Roman"/>
              </a:rPr>
              <a:t>network,</a:t>
            </a:r>
            <a:r>
              <a:rPr dirty="0" sz="1000" spc="-10">
                <a:latin typeface="Times New Roman"/>
                <a:cs typeface="Times New Roman"/>
              </a:rPr>
              <a:t> </a:t>
            </a:r>
            <a:r>
              <a:rPr dirty="0" sz="1000">
                <a:latin typeface="Times New Roman"/>
                <a:cs typeface="Times New Roman"/>
              </a:rPr>
              <a:t>which</a:t>
            </a:r>
            <a:r>
              <a:rPr dirty="0" sz="1000" spc="-10">
                <a:latin typeface="Times New Roman"/>
                <a:cs typeface="Times New Roman"/>
              </a:rPr>
              <a:t> </a:t>
            </a:r>
            <a:r>
              <a:rPr dirty="0" sz="1000">
                <a:latin typeface="Times New Roman"/>
                <a:cs typeface="Times New Roman"/>
              </a:rPr>
              <a:t>is</a:t>
            </a:r>
            <a:r>
              <a:rPr dirty="0" sz="1000" spc="-10">
                <a:latin typeface="Times New Roman"/>
                <a:cs typeface="Times New Roman"/>
              </a:rPr>
              <a:t> </a:t>
            </a:r>
            <a:r>
              <a:rPr dirty="0" sz="1000">
                <a:latin typeface="Times New Roman"/>
                <a:cs typeface="Times New Roman"/>
              </a:rPr>
              <a:t>applied</a:t>
            </a:r>
            <a:r>
              <a:rPr dirty="0" sz="1000" spc="-15">
                <a:latin typeface="Times New Roman"/>
                <a:cs typeface="Times New Roman"/>
              </a:rPr>
              <a:t> </a:t>
            </a:r>
            <a:r>
              <a:rPr dirty="0" sz="1000">
                <a:latin typeface="Times New Roman"/>
                <a:cs typeface="Times New Roman"/>
              </a:rPr>
              <a:t>to</a:t>
            </a:r>
            <a:r>
              <a:rPr dirty="0" sz="1000" spc="-10">
                <a:latin typeface="Times New Roman"/>
                <a:cs typeface="Times New Roman"/>
              </a:rPr>
              <a:t> </a:t>
            </a:r>
            <a:r>
              <a:rPr dirty="0" sz="1000">
                <a:latin typeface="Times New Roman"/>
                <a:cs typeface="Times New Roman"/>
              </a:rPr>
              <a:t>each</a:t>
            </a:r>
            <a:r>
              <a:rPr dirty="0" sz="1000" spc="-10">
                <a:latin typeface="Times New Roman"/>
                <a:cs typeface="Times New Roman"/>
              </a:rPr>
              <a:t> </a:t>
            </a:r>
            <a:r>
              <a:rPr dirty="0" sz="1000">
                <a:latin typeface="Times New Roman"/>
                <a:cs typeface="Times New Roman"/>
              </a:rPr>
              <a:t>position</a:t>
            </a:r>
            <a:r>
              <a:rPr dirty="0" sz="1000" spc="-15">
                <a:latin typeface="Times New Roman"/>
                <a:cs typeface="Times New Roman"/>
              </a:rPr>
              <a:t> </a:t>
            </a:r>
            <a:r>
              <a:rPr dirty="0" sz="1000">
                <a:latin typeface="Times New Roman"/>
                <a:cs typeface="Times New Roman"/>
              </a:rPr>
              <a:t>separately</a:t>
            </a:r>
            <a:r>
              <a:rPr dirty="0" sz="1000" spc="-10">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identically.</a:t>
            </a:r>
            <a:r>
              <a:rPr dirty="0" sz="1000" spc="50">
                <a:latin typeface="Times New Roman"/>
                <a:cs typeface="Times New Roman"/>
              </a:rPr>
              <a:t> </a:t>
            </a:r>
            <a:r>
              <a:rPr dirty="0" sz="1000" spc="-20">
                <a:latin typeface="Times New Roman"/>
                <a:cs typeface="Times New Roman"/>
              </a:rPr>
              <a:t>This </a:t>
            </a:r>
            <a:r>
              <a:rPr dirty="0" sz="1000">
                <a:latin typeface="Times New Roman"/>
                <a:cs typeface="Times New Roman"/>
              </a:rPr>
              <a:t>consists</a:t>
            </a:r>
            <a:r>
              <a:rPr dirty="0" sz="1000" spc="-10">
                <a:latin typeface="Times New Roman"/>
                <a:cs typeface="Times New Roman"/>
              </a:rPr>
              <a:t> </a:t>
            </a:r>
            <a:r>
              <a:rPr dirty="0" sz="1000">
                <a:latin typeface="Times New Roman"/>
                <a:cs typeface="Times New Roman"/>
              </a:rPr>
              <a:t>of</a:t>
            </a:r>
            <a:r>
              <a:rPr dirty="0" sz="1000" spc="-10">
                <a:latin typeface="Times New Roman"/>
                <a:cs typeface="Times New Roman"/>
              </a:rPr>
              <a:t> </a:t>
            </a:r>
            <a:r>
              <a:rPr dirty="0" sz="1000">
                <a:latin typeface="Times New Roman"/>
                <a:cs typeface="Times New Roman"/>
              </a:rPr>
              <a:t>two</a:t>
            </a:r>
            <a:r>
              <a:rPr dirty="0" sz="1000" spc="-10">
                <a:latin typeface="Times New Roman"/>
                <a:cs typeface="Times New Roman"/>
              </a:rPr>
              <a:t> </a:t>
            </a:r>
            <a:r>
              <a:rPr dirty="0" sz="1000">
                <a:latin typeface="Times New Roman"/>
                <a:cs typeface="Times New Roman"/>
              </a:rPr>
              <a:t>linear</a:t>
            </a:r>
            <a:r>
              <a:rPr dirty="0" sz="1000" spc="-10">
                <a:latin typeface="Times New Roman"/>
                <a:cs typeface="Times New Roman"/>
              </a:rPr>
              <a:t> transformations </a:t>
            </a:r>
            <a:r>
              <a:rPr dirty="0" sz="1000">
                <a:latin typeface="Times New Roman"/>
                <a:cs typeface="Times New Roman"/>
              </a:rPr>
              <a:t>with</a:t>
            </a:r>
            <a:r>
              <a:rPr dirty="0" sz="1000" spc="-5">
                <a:latin typeface="Times New Roman"/>
                <a:cs typeface="Times New Roman"/>
              </a:rPr>
              <a:t> </a:t>
            </a:r>
            <a:r>
              <a:rPr dirty="0" sz="1000">
                <a:latin typeface="Times New Roman"/>
                <a:cs typeface="Times New Roman"/>
              </a:rPr>
              <a:t>a</a:t>
            </a:r>
            <a:r>
              <a:rPr dirty="0" sz="1000" spc="-10">
                <a:latin typeface="Times New Roman"/>
                <a:cs typeface="Times New Roman"/>
              </a:rPr>
              <a:t> </a:t>
            </a:r>
            <a:r>
              <a:rPr dirty="0" sz="1000">
                <a:latin typeface="Times New Roman"/>
                <a:cs typeface="Times New Roman"/>
              </a:rPr>
              <a:t>ReLU</a:t>
            </a:r>
            <a:r>
              <a:rPr dirty="0" sz="1000" spc="-10">
                <a:latin typeface="Times New Roman"/>
                <a:cs typeface="Times New Roman"/>
              </a:rPr>
              <a:t> activation </a:t>
            </a:r>
            <a:r>
              <a:rPr dirty="0" sz="1000">
                <a:latin typeface="Times New Roman"/>
                <a:cs typeface="Times New Roman"/>
              </a:rPr>
              <a:t>in</a:t>
            </a:r>
            <a:r>
              <a:rPr dirty="0" sz="1000" spc="-10">
                <a:latin typeface="Times New Roman"/>
                <a:cs typeface="Times New Roman"/>
              </a:rPr>
              <a:t> between.</a:t>
            </a:r>
            <a:endParaRPr sz="1000">
              <a:latin typeface="Times New Roman"/>
              <a:cs typeface="Times New Roman"/>
            </a:endParaRPr>
          </a:p>
          <a:p>
            <a:pPr>
              <a:lnSpc>
                <a:spcPct val="100000"/>
              </a:lnSpc>
              <a:spcBef>
                <a:spcPts val="360"/>
              </a:spcBef>
            </a:pPr>
            <a:endParaRPr sz="1000">
              <a:latin typeface="Times New Roman"/>
              <a:cs typeface="Times New Roman"/>
            </a:endParaRPr>
          </a:p>
          <a:p>
            <a:pPr marL="1700530">
              <a:lnSpc>
                <a:spcPct val="100000"/>
              </a:lnSpc>
              <a:spcBef>
                <a:spcPts val="5"/>
              </a:spcBef>
              <a:tabLst>
                <a:tab pos="5071745" algn="l"/>
              </a:tabLst>
            </a:pPr>
            <a:r>
              <a:rPr dirty="0" sz="1000" spc="125">
                <a:latin typeface="Calibri"/>
                <a:cs typeface="Calibri"/>
              </a:rPr>
              <a:t>FFN(</a:t>
            </a:r>
            <a:r>
              <a:rPr dirty="0" sz="1000" spc="125" i="1">
                <a:latin typeface="Calibri"/>
                <a:cs typeface="Calibri"/>
              </a:rPr>
              <a:t>x</a:t>
            </a:r>
            <a:r>
              <a:rPr dirty="0" sz="1000" spc="125">
                <a:latin typeface="Calibri"/>
                <a:cs typeface="Calibri"/>
              </a:rPr>
              <a:t>)</a:t>
            </a:r>
            <a:r>
              <a:rPr dirty="0" sz="1000" spc="65">
                <a:latin typeface="Calibri"/>
                <a:cs typeface="Calibri"/>
              </a:rPr>
              <a:t> </a:t>
            </a:r>
            <a:r>
              <a:rPr dirty="0" sz="1000" spc="270">
                <a:latin typeface="Calibri"/>
                <a:cs typeface="Calibri"/>
              </a:rPr>
              <a:t>=</a:t>
            </a:r>
            <a:r>
              <a:rPr dirty="0" sz="1000" spc="70">
                <a:latin typeface="Calibri"/>
                <a:cs typeface="Calibri"/>
              </a:rPr>
              <a:t> </a:t>
            </a:r>
            <a:r>
              <a:rPr dirty="0" sz="1000" spc="20">
                <a:latin typeface="Calibri"/>
                <a:cs typeface="Calibri"/>
              </a:rPr>
              <a:t>max(0</a:t>
            </a:r>
            <a:r>
              <a:rPr dirty="0" sz="1000" spc="20" i="1">
                <a:latin typeface="Calibri"/>
                <a:cs typeface="Calibri"/>
              </a:rPr>
              <a:t>,</a:t>
            </a:r>
            <a:r>
              <a:rPr dirty="0" sz="1000" spc="-50" i="1">
                <a:latin typeface="Calibri"/>
                <a:cs typeface="Calibri"/>
              </a:rPr>
              <a:t> </a:t>
            </a:r>
            <a:r>
              <a:rPr dirty="0" sz="1000" spc="60" i="1">
                <a:latin typeface="Calibri"/>
                <a:cs typeface="Calibri"/>
              </a:rPr>
              <a:t>xW</a:t>
            </a:r>
            <a:r>
              <a:rPr dirty="0" baseline="-11904" sz="1050" spc="89">
                <a:latin typeface="Tahoma"/>
                <a:cs typeface="Tahoma"/>
              </a:rPr>
              <a:t>1</a:t>
            </a:r>
            <a:r>
              <a:rPr dirty="0" baseline="-11904" sz="1050" spc="104">
                <a:latin typeface="Tahoma"/>
                <a:cs typeface="Tahoma"/>
              </a:rPr>
              <a:t> </a:t>
            </a:r>
            <a:r>
              <a:rPr dirty="0" sz="1000" spc="270">
                <a:latin typeface="Calibri"/>
                <a:cs typeface="Calibri"/>
              </a:rPr>
              <a:t>+</a:t>
            </a:r>
            <a:r>
              <a:rPr dirty="0" sz="1000" spc="10">
                <a:latin typeface="Calibri"/>
                <a:cs typeface="Calibri"/>
              </a:rPr>
              <a:t> </a:t>
            </a:r>
            <a:r>
              <a:rPr dirty="0" sz="1000" spc="20" i="1">
                <a:latin typeface="Calibri"/>
                <a:cs typeface="Calibri"/>
              </a:rPr>
              <a:t>b</a:t>
            </a:r>
            <a:r>
              <a:rPr dirty="0" baseline="-11904" sz="1050" spc="30">
                <a:latin typeface="Tahoma"/>
                <a:cs typeface="Tahoma"/>
              </a:rPr>
              <a:t>1</a:t>
            </a:r>
            <a:r>
              <a:rPr dirty="0" sz="1000" spc="20">
                <a:latin typeface="Calibri"/>
                <a:cs typeface="Calibri"/>
              </a:rPr>
              <a:t>)</a:t>
            </a:r>
            <a:r>
              <a:rPr dirty="0" sz="1000" spc="20" i="1">
                <a:latin typeface="Calibri"/>
                <a:cs typeface="Calibri"/>
              </a:rPr>
              <a:t>W</a:t>
            </a:r>
            <a:r>
              <a:rPr dirty="0" baseline="-11904" sz="1050" spc="30">
                <a:latin typeface="Tahoma"/>
                <a:cs typeface="Tahoma"/>
              </a:rPr>
              <a:t>2</a:t>
            </a:r>
            <a:r>
              <a:rPr dirty="0" baseline="-11904" sz="1050" spc="104">
                <a:latin typeface="Tahoma"/>
                <a:cs typeface="Tahoma"/>
              </a:rPr>
              <a:t> </a:t>
            </a:r>
            <a:r>
              <a:rPr dirty="0" sz="1000" spc="270">
                <a:latin typeface="Calibri"/>
                <a:cs typeface="Calibri"/>
              </a:rPr>
              <a:t>+</a:t>
            </a:r>
            <a:r>
              <a:rPr dirty="0" sz="1000" spc="10">
                <a:latin typeface="Calibri"/>
                <a:cs typeface="Calibri"/>
              </a:rPr>
              <a:t> </a:t>
            </a:r>
            <a:r>
              <a:rPr dirty="0" sz="1000" spc="-25" i="1">
                <a:latin typeface="Calibri"/>
                <a:cs typeface="Calibri"/>
              </a:rPr>
              <a:t>b</a:t>
            </a:r>
            <a:r>
              <a:rPr dirty="0" baseline="-11904" sz="1050" spc="-37">
                <a:latin typeface="Tahoma"/>
                <a:cs typeface="Tahoma"/>
              </a:rPr>
              <a:t>2</a:t>
            </a:r>
            <a:r>
              <a:rPr dirty="0" baseline="-11904" sz="1050">
                <a:latin typeface="Tahoma"/>
                <a:cs typeface="Tahoma"/>
              </a:rPr>
              <a:t>	</a:t>
            </a:r>
            <a:r>
              <a:rPr dirty="0" sz="1000" spc="-25">
                <a:latin typeface="Times New Roman"/>
                <a:cs typeface="Times New Roman"/>
              </a:rPr>
              <a:t>(2)</a:t>
            </a:r>
            <a:endParaRPr sz="1000">
              <a:latin typeface="Times New Roman"/>
              <a:cs typeface="Times New Roman"/>
            </a:endParaRPr>
          </a:p>
          <a:p>
            <a:pPr algn="just" marL="186055" marR="160655" indent="-2540">
              <a:lnSpc>
                <a:spcPts val="1090"/>
              </a:lnSpc>
              <a:spcBef>
                <a:spcPts val="960"/>
              </a:spcBef>
            </a:pPr>
            <a:r>
              <a:rPr dirty="0" sz="1000" spc="-10">
                <a:latin typeface="Times New Roman"/>
                <a:cs typeface="Times New Roman"/>
              </a:rPr>
              <a:t>While</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linear</a:t>
            </a:r>
            <a:r>
              <a:rPr dirty="0" sz="1000" spc="-25">
                <a:latin typeface="Times New Roman"/>
                <a:cs typeface="Times New Roman"/>
              </a:rPr>
              <a:t> </a:t>
            </a:r>
            <a:r>
              <a:rPr dirty="0" sz="1000" spc="-10">
                <a:latin typeface="Times New Roman"/>
                <a:cs typeface="Times New Roman"/>
              </a:rPr>
              <a:t>transformations</a:t>
            </a:r>
            <a:r>
              <a:rPr dirty="0" sz="1000" spc="-25">
                <a:latin typeface="Times New Roman"/>
                <a:cs typeface="Times New Roman"/>
              </a:rPr>
              <a:t> </a:t>
            </a:r>
            <a:r>
              <a:rPr dirty="0" sz="1000">
                <a:latin typeface="Times New Roman"/>
                <a:cs typeface="Times New Roman"/>
              </a:rPr>
              <a:t>are</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same</a:t>
            </a:r>
            <a:r>
              <a:rPr dirty="0" sz="1000" spc="-25">
                <a:latin typeface="Times New Roman"/>
                <a:cs typeface="Times New Roman"/>
              </a:rPr>
              <a:t> </a:t>
            </a:r>
            <a:r>
              <a:rPr dirty="0" sz="1000" spc="-10">
                <a:latin typeface="Times New Roman"/>
                <a:cs typeface="Times New Roman"/>
              </a:rPr>
              <a:t>across</a:t>
            </a:r>
            <a:r>
              <a:rPr dirty="0" sz="1000" spc="-25">
                <a:latin typeface="Times New Roman"/>
                <a:cs typeface="Times New Roman"/>
              </a:rPr>
              <a:t> </a:t>
            </a:r>
            <a:r>
              <a:rPr dirty="0" sz="1000" spc="-20">
                <a:latin typeface="Times New Roman"/>
                <a:cs typeface="Times New Roman"/>
              </a:rPr>
              <a:t>different</a:t>
            </a:r>
            <a:r>
              <a:rPr dirty="0" sz="1000" spc="-25">
                <a:latin typeface="Times New Roman"/>
                <a:cs typeface="Times New Roman"/>
              </a:rPr>
              <a:t> </a:t>
            </a:r>
            <a:r>
              <a:rPr dirty="0" sz="1000" spc="-10">
                <a:latin typeface="Times New Roman"/>
                <a:cs typeface="Times New Roman"/>
              </a:rPr>
              <a:t>positions,</a:t>
            </a:r>
            <a:r>
              <a:rPr dirty="0" sz="1000" spc="-30">
                <a:latin typeface="Times New Roman"/>
                <a:cs typeface="Times New Roman"/>
              </a:rPr>
              <a:t> </a:t>
            </a:r>
            <a:r>
              <a:rPr dirty="0" sz="1000" spc="-10">
                <a:latin typeface="Times New Roman"/>
                <a:cs typeface="Times New Roman"/>
              </a:rPr>
              <a:t>they</a:t>
            </a:r>
            <a:r>
              <a:rPr dirty="0" sz="1000" spc="-25">
                <a:latin typeface="Times New Roman"/>
                <a:cs typeface="Times New Roman"/>
              </a:rPr>
              <a:t> </a:t>
            </a:r>
            <a:r>
              <a:rPr dirty="0" sz="1000">
                <a:latin typeface="Times New Roman"/>
                <a:cs typeface="Times New Roman"/>
              </a:rPr>
              <a:t>use</a:t>
            </a:r>
            <a:r>
              <a:rPr dirty="0" sz="1000" spc="-25">
                <a:latin typeface="Times New Roman"/>
                <a:cs typeface="Times New Roman"/>
              </a:rPr>
              <a:t> </a:t>
            </a:r>
            <a:r>
              <a:rPr dirty="0" sz="1000" spc="-20">
                <a:latin typeface="Times New Roman"/>
                <a:cs typeface="Times New Roman"/>
              </a:rPr>
              <a:t>different</a:t>
            </a:r>
            <a:r>
              <a:rPr dirty="0" sz="1000" spc="-25">
                <a:latin typeface="Times New Roman"/>
                <a:cs typeface="Times New Roman"/>
              </a:rPr>
              <a:t> </a:t>
            </a:r>
            <a:r>
              <a:rPr dirty="0" sz="1000" spc="-10">
                <a:latin typeface="Times New Roman"/>
                <a:cs typeface="Times New Roman"/>
              </a:rPr>
              <a:t>parameters </a:t>
            </a:r>
            <a:r>
              <a:rPr dirty="0" sz="1000">
                <a:latin typeface="Times New Roman"/>
                <a:cs typeface="Times New Roman"/>
              </a:rPr>
              <a:t>from</a:t>
            </a:r>
            <a:r>
              <a:rPr dirty="0" sz="1000" spc="125">
                <a:latin typeface="Times New Roman"/>
                <a:cs typeface="Times New Roman"/>
              </a:rPr>
              <a:t> </a:t>
            </a:r>
            <a:r>
              <a:rPr dirty="0" sz="1000">
                <a:latin typeface="Times New Roman"/>
                <a:cs typeface="Times New Roman"/>
              </a:rPr>
              <a:t>layer</a:t>
            </a:r>
            <a:r>
              <a:rPr dirty="0" sz="1000" spc="125">
                <a:latin typeface="Times New Roman"/>
                <a:cs typeface="Times New Roman"/>
              </a:rPr>
              <a:t> </a:t>
            </a:r>
            <a:r>
              <a:rPr dirty="0" sz="1000">
                <a:latin typeface="Times New Roman"/>
                <a:cs typeface="Times New Roman"/>
              </a:rPr>
              <a:t>to</a:t>
            </a:r>
            <a:r>
              <a:rPr dirty="0" sz="1000" spc="125">
                <a:latin typeface="Times New Roman"/>
                <a:cs typeface="Times New Roman"/>
              </a:rPr>
              <a:t> </a:t>
            </a:r>
            <a:r>
              <a:rPr dirty="0" sz="1000">
                <a:latin typeface="Times New Roman"/>
                <a:cs typeface="Times New Roman"/>
              </a:rPr>
              <a:t>layer.</a:t>
            </a:r>
            <a:r>
              <a:rPr dirty="0" sz="1000" spc="445">
                <a:latin typeface="Times New Roman"/>
                <a:cs typeface="Times New Roman"/>
              </a:rPr>
              <a:t> </a:t>
            </a:r>
            <a:r>
              <a:rPr dirty="0" sz="1000">
                <a:latin typeface="Times New Roman"/>
                <a:cs typeface="Times New Roman"/>
              </a:rPr>
              <a:t>Another</a:t>
            </a:r>
            <a:r>
              <a:rPr dirty="0" sz="1000" spc="125">
                <a:latin typeface="Times New Roman"/>
                <a:cs typeface="Times New Roman"/>
              </a:rPr>
              <a:t> </a:t>
            </a:r>
            <a:r>
              <a:rPr dirty="0" sz="1000">
                <a:latin typeface="Times New Roman"/>
                <a:cs typeface="Times New Roman"/>
              </a:rPr>
              <a:t>way</a:t>
            </a:r>
            <a:r>
              <a:rPr dirty="0" sz="1000" spc="125">
                <a:latin typeface="Times New Roman"/>
                <a:cs typeface="Times New Roman"/>
              </a:rPr>
              <a:t> </a:t>
            </a:r>
            <a:r>
              <a:rPr dirty="0" sz="1000">
                <a:latin typeface="Times New Roman"/>
                <a:cs typeface="Times New Roman"/>
              </a:rPr>
              <a:t>of</a:t>
            </a:r>
            <a:r>
              <a:rPr dirty="0" sz="1000" spc="125">
                <a:latin typeface="Times New Roman"/>
                <a:cs typeface="Times New Roman"/>
              </a:rPr>
              <a:t> </a:t>
            </a:r>
            <a:r>
              <a:rPr dirty="0" sz="1000">
                <a:latin typeface="Times New Roman"/>
                <a:cs typeface="Times New Roman"/>
              </a:rPr>
              <a:t>describing</a:t>
            </a:r>
            <a:r>
              <a:rPr dirty="0" sz="1000" spc="130">
                <a:latin typeface="Times New Roman"/>
                <a:cs typeface="Times New Roman"/>
              </a:rPr>
              <a:t> </a:t>
            </a:r>
            <a:r>
              <a:rPr dirty="0" sz="1000">
                <a:latin typeface="Times New Roman"/>
                <a:cs typeface="Times New Roman"/>
              </a:rPr>
              <a:t>this</a:t>
            </a:r>
            <a:r>
              <a:rPr dirty="0" sz="1000" spc="125">
                <a:latin typeface="Times New Roman"/>
                <a:cs typeface="Times New Roman"/>
              </a:rPr>
              <a:t> </a:t>
            </a:r>
            <a:r>
              <a:rPr dirty="0" sz="1000">
                <a:latin typeface="Times New Roman"/>
                <a:cs typeface="Times New Roman"/>
              </a:rPr>
              <a:t>is</a:t>
            </a:r>
            <a:r>
              <a:rPr dirty="0" sz="1000" spc="125">
                <a:latin typeface="Times New Roman"/>
                <a:cs typeface="Times New Roman"/>
              </a:rPr>
              <a:t> </a:t>
            </a:r>
            <a:r>
              <a:rPr dirty="0" sz="1000">
                <a:latin typeface="Times New Roman"/>
                <a:cs typeface="Times New Roman"/>
              </a:rPr>
              <a:t>as</a:t>
            </a:r>
            <a:r>
              <a:rPr dirty="0" sz="1000" spc="125">
                <a:latin typeface="Times New Roman"/>
                <a:cs typeface="Times New Roman"/>
              </a:rPr>
              <a:t> </a:t>
            </a:r>
            <a:r>
              <a:rPr dirty="0" sz="1000">
                <a:latin typeface="Times New Roman"/>
                <a:cs typeface="Times New Roman"/>
              </a:rPr>
              <a:t>two</a:t>
            </a:r>
            <a:r>
              <a:rPr dirty="0" sz="1000" spc="130">
                <a:latin typeface="Times New Roman"/>
                <a:cs typeface="Times New Roman"/>
              </a:rPr>
              <a:t> </a:t>
            </a:r>
            <a:r>
              <a:rPr dirty="0" sz="1000">
                <a:latin typeface="Times New Roman"/>
                <a:cs typeface="Times New Roman"/>
              </a:rPr>
              <a:t>convolutions</a:t>
            </a:r>
            <a:r>
              <a:rPr dirty="0" sz="1000" spc="125">
                <a:latin typeface="Times New Roman"/>
                <a:cs typeface="Times New Roman"/>
              </a:rPr>
              <a:t> </a:t>
            </a:r>
            <a:r>
              <a:rPr dirty="0" sz="1000">
                <a:latin typeface="Times New Roman"/>
                <a:cs typeface="Times New Roman"/>
              </a:rPr>
              <a:t>with</a:t>
            </a:r>
            <a:r>
              <a:rPr dirty="0" sz="1000" spc="125">
                <a:latin typeface="Times New Roman"/>
                <a:cs typeface="Times New Roman"/>
              </a:rPr>
              <a:t> </a:t>
            </a:r>
            <a:r>
              <a:rPr dirty="0" sz="1000">
                <a:latin typeface="Times New Roman"/>
                <a:cs typeface="Times New Roman"/>
              </a:rPr>
              <a:t>kernel</a:t>
            </a:r>
            <a:r>
              <a:rPr dirty="0" sz="1000" spc="125">
                <a:latin typeface="Times New Roman"/>
                <a:cs typeface="Times New Roman"/>
              </a:rPr>
              <a:t> </a:t>
            </a:r>
            <a:r>
              <a:rPr dirty="0" sz="1000">
                <a:latin typeface="Times New Roman"/>
                <a:cs typeface="Times New Roman"/>
              </a:rPr>
              <a:t>size</a:t>
            </a:r>
            <a:r>
              <a:rPr dirty="0" sz="1000" spc="130">
                <a:latin typeface="Times New Roman"/>
                <a:cs typeface="Times New Roman"/>
              </a:rPr>
              <a:t> </a:t>
            </a:r>
            <a:r>
              <a:rPr dirty="0" sz="1000" spc="-25">
                <a:latin typeface="Times New Roman"/>
                <a:cs typeface="Times New Roman"/>
              </a:rPr>
              <a:t>1.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dimensionality</a:t>
            </a:r>
            <a:r>
              <a:rPr dirty="0" sz="1000" spc="100">
                <a:latin typeface="Times New Roman"/>
                <a:cs typeface="Times New Roman"/>
              </a:rPr>
              <a:t> </a:t>
            </a:r>
            <a:r>
              <a:rPr dirty="0" sz="1000">
                <a:latin typeface="Times New Roman"/>
                <a:cs typeface="Times New Roman"/>
              </a:rPr>
              <a:t>of</a:t>
            </a:r>
            <a:r>
              <a:rPr dirty="0" sz="1000" spc="100">
                <a:latin typeface="Times New Roman"/>
                <a:cs typeface="Times New Roman"/>
              </a:rPr>
              <a:t> </a:t>
            </a:r>
            <a:r>
              <a:rPr dirty="0" sz="1000">
                <a:latin typeface="Times New Roman"/>
                <a:cs typeface="Times New Roman"/>
              </a:rPr>
              <a:t>input</a:t>
            </a:r>
            <a:r>
              <a:rPr dirty="0" sz="1000" spc="95">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a:latin typeface="Times New Roman"/>
                <a:cs typeface="Times New Roman"/>
              </a:rPr>
              <a:t>output</a:t>
            </a:r>
            <a:r>
              <a:rPr dirty="0" sz="1000" spc="100">
                <a:latin typeface="Times New Roman"/>
                <a:cs typeface="Times New Roman"/>
              </a:rPr>
              <a:t> </a:t>
            </a:r>
            <a:r>
              <a:rPr dirty="0" sz="1000">
                <a:latin typeface="Times New Roman"/>
                <a:cs typeface="Times New Roman"/>
              </a:rPr>
              <a:t>is</a:t>
            </a:r>
            <a:r>
              <a:rPr dirty="0" sz="1000" spc="95">
                <a:latin typeface="Times New Roman"/>
                <a:cs typeface="Times New Roman"/>
              </a:rPr>
              <a:t> </a:t>
            </a:r>
            <a:r>
              <a:rPr dirty="0" sz="1000" i="1">
                <a:latin typeface="Calibri"/>
                <a:cs typeface="Calibri"/>
              </a:rPr>
              <a:t>d</a:t>
            </a:r>
            <a:r>
              <a:rPr dirty="0" baseline="-11904" sz="1050">
                <a:latin typeface="Times New Roman"/>
                <a:cs typeface="Times New Roman"/>
              </a:rPr>
              <a:t>model</a:t>
            </a:r>
            <a:r>
              <a:rPr dirty="0" baseline="-11904" sz="1050" spc="502">
                <a:latin typeface="Times New Roman"/>
                <a:cs typeface="Times New Roman"/>
              </a:rPr>
              <a:t> </a:t>
            </a:r>
            <a:r>
              <a:rPr dirty="0" sz="1000" spc="270">
                <a:latin typeface="Calibri"/>
                <a:cs typeface="Calibri"/>
              </a:rPr>
              <a:t>=</a:t>
            </a:r>
            <a:r>
              <a:rPr dirty="0" sz="1000" spc="229">
                <a:latin typeface="Calibri"/>
                <a:cs typeface="Calibri"/>
              </a:rPr>
              <a:t> </a:t>
            </a:r>
            <a:r>
              <a:rPr dirty="0" sz="1000">
                <a:latin typeface="Calibri"/>
                <a:cs typeface="Calibri"/>
              </a:rPr>
              <a:t>512</a:t>
            </a:r>
            <a:r>
              <a:rPr dirty="0" sz="1000">
                <a:latin typeface="Times New Roman"/>
                <a:cs typeface="Times New Roman"/>
              </a:rPr>
              <a:t>,</a:t>
            </a:r>
            <a:r>
              <a:rPr dirty="0" sz="1000" spc="125">
                <a:latin typeface="Times New Roman"/>
                <a:cs typeface="Times New Roman"/>
              </a:rPr>
              <a:t> </a:t>
            </a:r>
            <a:r>
              <a:rPr dirty="0" sz="1000">
                <a:latin typeface="Times New Roman"/>
                <a:cs typeface="Times New Roman"/>
              </a:rPr>
              <a:t>and</a:t>
            </a:r>
            <a:r>
              <a:rPr dirty="0" sz="1000" spc="95">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spc="-10">
                <a:latin typeface="Times New Roman"/>
                <a:cs typeface="Times New Roman"/>
              </a:rPr>
              <a:t>inner-</a:t>
            </a:r>
            <a:r>
              <a:rPr dirty="0" sz="1000">
                <a:latin typeface="Times New Roman"/>
                <a:cs typeface="Times New Roman"/>
              </a:rPr>
              <a:t>layer</a:t>
            </a:r>
            <a:r>
              <a:rPr dirty="0" sz="1000" spc="105">
                <a:latin typeface="Times New Roman"/>
                <a:cs typeface="Times New Roman"/>
              </a:rPr>
              <a:t> </a:t>
            </a:r>
            <a:r>
              <a:rPr dirty="0" sz="1000">
                <a:latin typeface="Times New Roman"/>
                <a:cs typeface="Times New Roman"/>
              </a:rPr>
              <a:t>has</a:t>
            </a:r>
            <a:r>
              <a:rPr dirty="0" sz="1000" spc="95">
                <a:latin typeface="Times New Roman"/>
                <a:cs typeface="Times New Roman"/>
              </a:rPr>
              <a:t> </a:t>
            </a:r>
            <a:r>
              <a:rPr dirty="0" sz="1000" spc="-10">
                <a:latin typeface="Times New Roman"/>
                <a:cs typeface="Times New Roman"/>
              </a:rPr>
              <a:t>dimensionality </a:t>
            </a:r>
            <a:r>
              <a:rPr dirty="0" sz="1000" spc="140" i="1">
                <a:latin typeface="Calibri"/>
                <a:cs typeface="Calibri"/>
              </a:rPr>
              <a:t>d</a:t>
            </a:r>
            <a:r>
              <a:rPr dirty="0" baseline="-11904" sz="1050" spc="209" i="1">
                <a:latin typeface="Calibri"/>
                <a:cs typeface="Calibri"/>
              </a:rPr>
              <a:t>ff</a:t>
            </a:r>
            <a:r>
              <a:rPr dirty="0" baseline="-11904" sz="1050" spc="390" i="1">
                <a:latin typeface="Calibri"/>
                <a:cs typeface="Calibri"/>
              </a:rPr>
              <a:t> </a:t>
            </a:r>
            <a:r>
              <a:rPr dirty="0" sz="1000" spc="270">
                <a:latin typeface="Calibri"/>
                <a:cs typeface="Calibri"/>
              </a:rPr>
              <a:t>=</a:t>
            </a:r>
            <a:r>
              <a:rPr dirty="0" sz="1000" spc="50">
                <a:latin typeface="Calibri"/>
                <a:cs typeface="Calibri"/>
              </a:rPr>
              <a:t> </a:t>
            </a:r>
            <a:r>
              <a:rPr dirty="0" sz="1000" spc="-10">
                <a:latin typeface="Calibri"/>
                <a:cs typeface="Calibri"/>
              </a:rPr>
              <a:t>2048</a:t>
            </a:r>
            <a:r>
              <a:rPr dirty="0" sz="1000" spc="-10">
                <a:latin typeface="Times New Roman"/>
                <a:cs typeface="Times New Roman"/>
              </a:rPr>
              <a:t>.</a:t>
            </a:r>
            <a:endParaRPr sz="1000">
              <a:latin typeface="Times New Roman"/>
              <a:cs typeface="Times New Roman"/>
            </a:endParaRPr>
          </a:p>
          <a:p>
            <a:pPr>
              <a:lnSpc>
                <a:spcPct val="100000"/>
              </a:lnSpc>
              <a:spcBef>
                <a:spcPts val="80"/>
              </a:spcBef>
            </a:pPr>
            <a:endParaRPr sz="1000">
              <a:latin typeface="Times New Roman"/>
              <a:cs typeface="Times New Roman"/>
            </a:endParaRPr>
          </a:p>
          <a:p>
            <a:pPr lvl="1" marL="474980" indent="-284480">
              <a:lnSpc>
                <a:spcPct val="100000"/>
              </a:lnSpc>
              <a:buAutoNum type="arabicPeriod" startAt="4"/>
              <a:tabLst>
                <a:tab pos="474980" algn="l"/>
              </a:tabLst>
            </a:pPr>
            <a:r>
              <a:rPr dirty="0" sz="1000" b="1">
                <a:latin typeface="Times New Roman"/>
                <a:cs typeface="Times New Roman"/>
              </a:rPr>
              <a:t>Embeddings</a:t>
            </a:r>
            <a:r>
              <a:rPr dirty="0" sz="1000" spc="-5" b="1">
                <a:latin typeface="Times New Roman"/>
                <a:cs typeface="Times New Roman"/>
              </a:rPr>
              <a:t> </a:t>
            </a:r>
            <a:r>
              <a:rPr dirty="0" sz="1000" b="1">
                <a:latin typeface="Times New Roman"/>
                <a:cs typeface="Times New Roman"/>
              </a:rPr>
              <a:t>and</a:t>
            </a:r>
            <a:r>
              <a:rPr dirty="0" sz="1000" spc="-5" b="1">
                <a:latin typeface="Times New Roman"/>
                <a:cs typeface="Times New Roman"/>
              </a:rPr>
              <a:t> </a:t>
            </a:r>
            <a:r>
              <a:rPr dirty="0" sz="1000" spc="-10" b="1">
                <a:latin typeface="Times New Roman"/>
                <a:cs typeface="Times New Roman"/>
              </a:rPr>
              <a:t>Softmax</a:t>
            </a:r>
            <a:endParaRPr sz="1000">
              <a:latin typeface="Times New Roman"/>
              <a:cs typeface="Times New Roman"/>
            </a:endParaRPr>
          </a:p>
          <a:p>
            <a:pPr algn="just" marL="190500" marR="161925">
              <a:lnSpc>
                <a:spcPts val="1090"/>
              </a:lnSpc>
              <a:spcBef>
                <a:spcPts val="925"/>
              </a:spcBef>
            </a:pPr>
            <a:r>
              <a:rPr dirty="0" sz="1000">
                <a:latin typeface="Times New Roman"/>
                <a:cs typeface="Times New Roman"/>
              </a:rPr>
              <a:t>Similarly</a:t>
            </a:r>
            <a:r>
              <a:rPr dirty="0" sz="1000" spc="2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Times New Roman"/>
                <a:cs typeface="Times New Roman"/>
              </a:rPr>
              <a:t>other</a:t>
            </a:r>
            <a:r>
              <a:rPr dirty="0" sz="1000" spc="25">
                <a:latin typeface="Times New Roman"/>
                <a:cs typeface="Times New Roman"/>
              </a:rPr>
              <a:t> </a:t>
            </a:r>
            <a:r>
              <a:rPr dirty="0" sz="1000">
                <a:latin typeface="Times New Roman"/>
                <a:cs typeface="Times New Roman"/>
              </a:rPr>
              <a:t>sequence</a:t>
            </a:r>
            <a:r>
              <a:rPr dirty="0" sz="1000" spc="30">
                <a:latin typeface="Times New Roman"/>
                <a:cs typeface="Times New Roman"/>
              </a:rPr>
              <a:t> </a:t>
            </a:r>
            <a:r>
              <a:rPr dirty="0" sz="1000">
                <a:latin typeface="Times New Roman"/>
                <a:cs typeface="Times New Roman"/>
              </a:rPr>
              <a:t>transduction</a:t>
            </a:r>
            <a:r>
              <a:rPr dirty="0" sz="1000" spc="25">
                <a:latin typeface="Times New Roman"/>
                <a:cs typeface="Times New Roman"/>
              </a:rPr>
              <a:t> </a:t>
            </a:r>
            <a:r>
              <a:rPr dirty="0" sz="1000">
                <a:latin typeface="Times New Roman"/>
                <a:cs typeface="Times New Roman"/>
              </a:rPr>
              <a:t>models,</a:t>
            </a:r>
            <a:r>
              <a:rPr dirty="0" sz="1000" spc="30">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use</a:t>
            </a:r>
            <a:r>
              <a:rPr dirty="0" sz="1000" spc="30">
                <a:latin typeface="Times New Roman"/>
                <a:cs typeface="Times New Roman"/>
              </a:rPr>
              <a:t> </a:t>
            </a:r>
            <a:r>
              <a:rPr dirty="0" sz="1000">
                <a:latin typeface="Times New Roman"/>
                <a:cs typeface="Times New Roman"/>
              </a:rPr>
              <a:t>learned</a:t>
            </a:r>
            <a:r>
              <a:rPr dirty="0" sz="1000" spc="25">
                <a:latin typeface="Times New Roman"/>
                <a:cs typeface="Times New Roman"/>
              </a:rPr>
              <a:t> </a:t>
            </a:r>
            <a:r>
              <a:rPr dirty="0" sz="1000">
                <a:latin typeface="Times New Roman"/>
                <a:cs typeface="Times New Roman"/>
              </a:rPr>
              <a:t>embeddings</a:t>
            </a:r>
            <a:r>
              <a:rPr dirty="0" sz="1000" spc="30">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convert</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input tokens</a:t>
            </a:r>
            <a:r>
              <a:rPr dirty="0" sz="1000" spc="-55">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spc="-10">
                <a:latin typeface="Times New Roman"/>
                <a:cs typeface="Times New Roman"/>
              </a:rPr>
              <a:t>output</a:t>
            </a:r>
            <a:r>
              <a:rPr dirty="0" sz="1000" spc="-30">
                <a:latin typeface="Times New Roman"/>
                <a:cs typeface="Times New Roman"/>
              </a:rPr>
              <a:t> </a:t>
            </a:r>
            <a:r>
              <a:rPr dirty="0" sz="1000" spc="-10">
                <a:latin typeface="Times New Roman"/>
                <a:cs typeface="Times New Roman"/>
              </a:rPr>
              <a:t>tokens</a:t>
            </a:r>
            <a:r>
              <a:rPr dirty="0" sz="1000" spc="-30">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spc="-10">
                <a:latin typeface="Times New Roman"/>
                <a:cs typeface="Times New Roman"/>
              </a:rPr>
              <a:t>vectors</a:t>
            </a:r>
            <a:r>
              <a:rPr dirty="0" sz="1000" spc="-30">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spc="-10">
                <a:latin typeface="Times New Roman"/>
                <a:cs typeface="Times New Roman"/>
              </a:rPr>
              <a:t>dimension</a:t>
            </a:r>
            <a:r>
              <a:rPr dirty="0" sz="1000" spc="-30">
                <a:latin typeface="Times New Roman"/>
                <a:cs typeface="Times New Roman"/>
              </a:rPr>
              <a:t> </a:t>
            </a:r>
            <a:r>
              <a:rPr dirty="0" sz="1000" i="1">
                <a:latin typeface="Calibri"/>
                <a:cs typeface="Calibri"/>
              </a:rPr>
              <a:t>d</a:t>
            </a:r>
            <a:r>
              <a:rPr dirty="0" baseline="-11904" sz="1050">
                <a:latin typeface="Times New Roman"/>
                <a:cs typeface="Times New Roman"/>
              </a:rPr>
              <a:t>model</a:t>
            </a:r>
            <a:r>
              <a:rPr dirty="0" sz="1000">
                <a:latin typeface="Times New Roman"/>
                <a:cs typeface="Times New Roman"/>
              </a:rPr>
              <a:t>.</a:t>
            </a:r>
            <a:r>
              <a:rPr dirty="0" sz="1000" spc="30">
                <a:latin typeface="Times New Roman"/>
                <a:cs typeface="Times New Roman"/>
              </a:rPr>
              <a:t> </a:t>
            </a:r>
            <a:r>
              <a:rPr dirty="0" sz="1000" spc="-85">
                <a:latin typeface="Times New Roman"/>
                <a:cs typeface="Times New Roman"/>
              </a:rPr>
              <a:t>We</a:t>
            </a:r>
            <a:r>
              <a:rPr dirty="0" sz="1000" spc="20">
                <a:latin typeface="Times New Roman"/>
                <a:cs typeface="Times New Roman"/>
              </a:rPr>
              <a:t> </a:t>
            </a:r>
            <a:r>
              <a:rPr dirty="0" sz="1000">
                <a:latin typeface="Times New Roman"/>
                <a:cs typeface="Times New Roman"/>
              </a:rPr>
              <a:t>also</a:t>
            </a:r>
            <a:r>
              <a:rPr dirty="0" sz="1000" spc="-25">
                <a:latin typeface="Times New Roman"/>
                <a:cs typeface="Times New Roman"/>
              </a:rPr>
              <a:t> </a:t>
            </a:r>
            <a:r>
              <a:rPr dirty="0" sz="1000">
                <a:latin typeface="Times New Roman"/>
                <a:cs typeface="Times New Roman"/>
              </a:rPr>
              <a:t>use</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usual</a:t>
            </a:r>
            <a:r>
              <a:rPr dirty="0" sz="1000" spc="-30">
                <a:latin typeface="Times New Roman"/>
                <a:cs typeface="Times New Roman"/>
              </a:rPr>
              <a:t> </a:t>
            </a:r>
            <a:r>
              <a:rPr dirty="0" sz="1000" spc="-20">
                <a:latin typeface="Times New Roman"/>
                <a:cs typeface="Times New Roman"/>
              </a:rPr>
              <a:t>learned</a:t>
            </a:r>
            <a:r>
              <a:rPr dirty="0" sz="1000" spc="-30">
                <a:latin typeface="Times New Roman"/>
                <a:cs typeface="Times New Roman"/>
              </a:rPr>
              <a:t> </a:t>
            </a:r>
            <a:r>
              <a:rPr dirty="0" sz="1000" spc="-10">
                <a:latin typeface="Times New Roman"/>
                <a:cs typeface="Times New Roman"/>
              </a:rPr>
              <a:t>linear</a:t>
            </a:r>
            <a:r>
              <a:rPr dirty="0" sz="1000" spc="-25">
                <a:latin typeface="Times New Roman"/>
                <a:cs typeface="Times New Roman"/>
              </a:rPr>
              <a:t> </a:t>
            </a:r>
            <a:r>
              <a:rPr dirty="0" sz="1000" spc="-10">
                <a:latin typeface="Times New Roman"/>
                <a:cs typeface="Times New Roman"/>
              </a:rPr>
              <a:t>transfor- </a:t>
            </a:r>
            <a:r>
              <a:rPr dirty="0" sz="1000">
                <a:latin typeface="Times New Roman"/>
                <a:cs typeface="Times New Roman"/>
              </a:rPr>
              <a:t>mation</a:t>
            </a:r>
            <a:r>
              <a:rPr dirty="0" sz="1000" spc="-15">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softmax</a:t>
            </a:r>
            <a:r>
              <a:rPr dirty="0" sz="1000" spc="-15">
                <a:latin typeface="Times New Roman"/>
                <a:cs typeface="Times New Roman"/>
              </a:rPr>
              <a:t> </a:t>
            </a:r>
            <a:r>
              <a:rPr dirty="0" sz="1000">
                <a:latin typeface="Times New Roman"/>
                <a:cs typeface="Times New Roman"/>
              </a:rPr>
              <a:t>function</a:t>
            </a:r>
            <a:r>
              <a:rPr dirty="0" sz="1000" spc="-15">
                <a:latin typeface="Times New Roman"/>
                <a:cs typeface="Times New Roman"/>
              </a:rPr>
              <a:t> </a:t>
            </a:r>
            <a:r>
              <a:rPr dirty="0" sz="1000">
                <a:latin typeface="Times New Roman"/>
                <a:cs typeface="Times New Roman"/>
              </a:rPr>
              <a:t>to</a:t>
            </a:r>
            <a:r>
              <a:rPr dirty="0" sz="1000" spc="-10">
                <a:latin typeface="Times New Roman"/>
                <a:cs typeface="Times New Roman"/>
              </a:rPr>
              <a:t> convert</a:t>
            </a:r>
            <a:r>
              <a:rPr dirty="0" sz="1000" spc="-15">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decoder</a:t>
            </a:r>
            <a:r>
              <a:rPr dirty="0" sz="1000" spc="-15">
                <a:latin typeface="Times New Roman"/>
                <a:cs typeface="Times New Roman"/>
              </a:rPr>
              <a:t> </a:t>
            </a:r>
            <a:r>
              <a:rPr dirty="0" sz="1000">
                <a:latin typeface="Times New Roman"/>
                <a:cs typeface="Times New Roman"/>
              </a:rPr>
              <a:t>output</a:t>
            </a:r>
            <a:r>
              <a:rPr dirty="0" sz="1000" spc="-1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predicted</a:t>
            </a:r>
            <a:r>
              <a:rPr dirty="0" sz="1000" spc="-10">
                <a:latin typeface="Times New Roman"/>
                <a:cs typeface="Times New Roman"/>
              </a:rPr>
              <a:t> next-</a:t>
            </a:r>
            <a:r>
              <a:rPr dirty="0" sz="1000">
                <a:latin typeface="Times New Roman"/>
                <a:cs typeface="Times New Roman"/>
              </a:rPr>
              <a:t>token</a:t>
            </a:r>
            <a:r>
              <a:rPr dirty="0" sz="1000" spc="-15">
                <a:latin typeface="Times New Roman"/>
                <a:cs typeface="Times New Roman"/>
              </a:rPr>
              <a:t> </a:t>
            </a:r>
            <a:r>
              <a:rPr dirty="0" sz="1000">
                <a:latin typeface="Times New Roman"/>
                <a:cs typeface="Times New Roman"/>
              </a:rPr>
              <a:t>probabilities.</a:t>
            </a:r>
            <a:r>
              <a:rPr dirty="0" sz="1000" spc="45">
                <a:latin typeface="Times New Roman"/>
                <a:cs typeface="Times New Roman"/>
              </a:rPr>
              <a:t> </a:t>
            </a:r>
            <a:r>
              <a:rPr dirty="0" sz="1000" spc="-25">
                <a:latin typeface="Times New Roman"/>
                <a:cs typeface="Times New Roman"/>
              </a:rPr>
              <a:t>In </a:t>
            </a:r>
            <a:r>
              <a:rPr dirty="0" sz="1000">
                <a:latin typeface="Times New Roman"/>
                <a:cs typeface="Times New Roman"/>
              </a:rPr>
              <a:t>our</a:t>
            </a:r>
            <a:r>
              <a:rPr dirty="0" sz="1000" spc="-50">
                <a:latin typeface="Times New Roman"/>
                <a:cs typeface="Times New Roman"/>
              </a:rPr>
              <a:t> </a:t>
            </a:r>
            <a:r>
              <a:rPr dirty="0" sz="1000">
                <a:latin typeface="Times New Roman"/>
                <a:cs typeface="Times New Roman"/>
              </a:rPr>
              <a:t>model,</a:t>
            </a:r>
            <a:r>
              <a:rPr dirty="0" sz="1000" spc="-35">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share</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same</a:t>
            </a:r>
            <a:r>
              <a:rPr dirty="0" sz="1000" spc="-35">
                <a:latin typeface="Times New Roman"/>
                <a:cs typeface="Times New Roman"/>
              </a:rPr>
              <a:t> </a:t>
            </a:r>
            <a:r>
              <a:rPr dirty="0" sz="1000">
                <a:latin typeface="Times New Roman"/>
                <a:cs typeface="Times New Roman"/>
              </a:rPr>
              <a:t>weight</a:t>
            </a:r>
            <a:r>
              <a:rPr dirty="0" sz="1000" spc="-35">
                <a:latin typeface="Times New Roman"/>
                <a:cs typeface="Times New Roman"/>
              </a:rPr>
              <a:t> </a:t>
            </a:r>
            <a:r>
              <a:rPr dirty="0" sz="1000">
                <a:latin typeface="Times New Roman"/>
                <a:cs typeface="Times New Roman"/>
              </a:rPr>
              <a:t>matrix</a:t>
            </a:r>
            <a:r>
              <a:rPr dirty="0" sz="1000" spc="-35">
                <a:latin typeface="Times New Roman"/>
                <a:cs typeface="Times New Roman"/>
              </a:rPr>
              <a:t> </a:t>
            </a:r>
            <a:r>
              <a:rPr dirty="0" sz="1000" spc="-10">
                <a:latin typeface="Times New Roman"/>
                <a:cs typeface="Times New Roman"/>
              </a:rPr>
              <a:t>between</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two</a:t>
            </a:r>
            <a:r>
              <a:rPr dirty="0" sz="1000" spc="-35">
                <a:latin typeface="Times New Roman"/>
                <a:cs typeface="Times New Roman"/>
              </a:rPr>
              <a:t> </a:t>
            </a:r>
            <a:r>
              <a:rPr dirty="0" sz="1000" spc="-10">
                <a:latin typeface="Times New Roman"/>
                <a:cs typeface="Times New Roman"/>
              </a:rPr>
              <a:t>embedding</a:t>
            </a:r>
            <a:r>
              <a:rPr dirty="0" sz="1000" spc="-30">
                <a:latin typeface="Times New Roman"/>
                <a:cs typeface="Times New Roman"/>
              </a:rPr>
              <a:t> </a:t>
            </a:r>
            <a:r>
              <a:rPr dirty="0" sz="1000">
                <a:latin typeface="Times New Roman"/>
                <a:cs typeface="Times New Roman"/>
              </a:rPr>
              <a:t>layers</a:t>
            </a:r>
            <a:r>
              <a:rPr dirty="0" sz="1000" spc="-35">
                <a:latin typeface="Times New Roman"/>
                <a:cs typeface="Times New Roman"/>
              </a:rPr>
              <a:t> </a:t>
            </a:r>
            <a:r>
              <a:rPr dirty="0" sz="1000">
                <a:latin typeface="Times New Roman"/>
                <a:cs typeface="Times New Roman"/>
              </a:rPr>
              <a:t>and</a:t>
            </a:r>
            <a:r>
              <a:rPr dirty="0" sz="1000" spc="-35">
                <a:latin typeface="Times New Roman"/>
                <a:cs typeface="Times New Roman"/>
              </a:rPr>
              <a:t> </a:t>
            </a:r>
            <a:r>
              <a:rPr dirty="0" sz="1000">
                <a:latin typeface="Times New Roman"/>
                <a:cs typeface="Times New Roman"/>
              </a:rPr>
              <a:t>the</a:t>
            </a:r>
            <a:r>
              <a:rPr dirty="0" sz="1000" spc="-35">
                <a:latin typeface="Times New Roman"/>
                <a:cs typeface="Times New Roman"/>
              </a:rPr>
              <a:t> pre-</a:t>
            </a:r>
            <a:r>
              <a:rPr dirty="0" baseline="-16666" sz="1500" spc="-1147">
                <a:latin typeface="Lucida Sans Unicode"/>
                <a:cs typeface="Lucida Sans Unicode"/>
              </a:rPr>
              <a:t>√</a:t>
            </a:r>
            <a:r>
              <a:rPr dirty="0" sz="1000" spc="-5">
                <a:latin typeface="Times New Roman"/>
                <a:cs typeface="Times New Roman"/>
              </a:rPr>
              <a:t>s</a:t>
            </a:r>
            <a:r>
              <a:rPr dirty="0" sz="1000" spc="-114">
                <a:latin typeface="Times New Roman"/>
                <a:cs typeface="Times New Roman"/>
              </a:rPr>
              <a:t>o</a:t>
            </a:r>
            <a:r>
              <a:rPr dirty="0" u="sng" sz="1000" spc="-155">
                <a:uFill>
                  <a:solidFill>
                    <a:srgbClr val="000000"/>
                  </a:solidFill>
                </a:uFill>
                <a:latin typeface="Times New Roman"/>
                <a:cs typeface="Times New Roman"/>
              </a:rPr>
              <a:t> </a:t>
            </a:r>
            <a:r>
              <a:rPr dirty="0" u="sng" sz="1000" spc="-10">
                <a:uFill>
                  <a:solidFill>
                    <a:srgbClr val="000000"/>
                  </a:solidFill>
                </a:uFill>
                <a:latin typeface="Times New Roman"/>
                <a:cs typeface="Times New Roman"/>
              </a:rPr>
              <a:t>ftmax</a:t>
            </a:r>
            <a:endParaRPr sz="1000">
              <a:latin typeface="Times New Roman"/>
              <a:cs typeface="Times New Roman"/>
            </a:endParaRPr>
          </a:p>
        </p:txBody>
      </p:sp>
      <p:sp>
        <p:nvSpPr>
          <p:cNvPr id="20" name="object 20" descr=""/>
          <p:cNvSpPr txBox="1"/>
          <p:nvPr/>
        </p:nvSpPr>
        <p:spPr>
          <a:xfrm>
            <a:off x="6060249" y="8182436"/>
            <a:ext cx="401320" cy="177800"/>
          </a:xfrm>
          <a:prstGeom prst="rect">
            <a:avLst/>
          </a:prstGeom>
        </p:spPr>
        <p:txBody>
          <a:bodyPr wrap="square" lIns="0" tIns="12065" rIns="0" bIns="0" rtlCol="0" vert="horz">
            <a:spAutoFit/>
          </a:bodyPr>
          <a:lstStyle/>
          <a:p>
            <a:pPr marL="38100">
              <a:lnSpc>
                <a:spcPct val="100000"/>
              </a:lnSpc>
              <a:spcBef>
                <a:spcPts val="95"/>
              </a:spcBef>
            </a:pPr>
            <a:r>
              <a:rPr dirty="0" baseline="8333" sz="1500" spc="-15" i="1">
                <a:latin typeface="Calibri"/>
                <a:cs typeface="Calibri"/>
              </a:rPr>
              <a:t>d</a:t>
            </a:r>
            <a:r>
              <a:rPr dirty="0" sz="700" spc="-10">
                <a:latin typeface="Times New Roman"/>
                <a:cs typeface="Times New Roman"/>
              </a:rPr>
              <a:t>model</a:t>
            </a:r>
            <a:r>
              <a:rPr dirty="0" baseline="8333" sz="1500" spc="-15">
                <a:latin typeface="Times New Roman"/>
                <a:cs typeface="Times New Roman"/>
              </a:rPr>
              <a:t>.</a:t>
            </a:r>
            <a:endParaRPr baseline="8333" sz="1500">
              <a:latin typeface="Times New Roman"/>
              <a:cs typeface="Times New Roman"/>
            </a:endParaRPr>
          </a:p>
        </p:txBody>
      </p:sp>
      <p:sp>
        <p:nvSpPr>
          <p:cNvPr id="21" name="object 21" descr=""/>
          <p:cNvSpPr txBox="1"/>
          <p:nvPr/>
        </p:nvSpPr>
        <p:spPr>
          <a:xfrm>
            <a:off x="1358900" y="8474003"/>
            <a:ext cx="5055235" cy="708025"/>
          </a:xfrm>
          <a:prstGeom prst="rect">
            <a:avLst/>
          </a:prstGeom>
        </p:spPr>
        <p:txBody>
          <a:bodyPr wrap="square" lIns="0" tIns="12065" rIns="0" bIns="0" rtlCol="0" vert="horz">
            <a:spAutoFit/>
          </a:bodyPr>
          <a:lstStyle/>
          <a:p>
            <a:pPr marL="12700">
              <a:lnSpc>
                <a:spcPct val="100000"/>
              </a:lnSpc>
              <a:spcBef>
                <a:spcPts val="95"/>
              </a:spcBef>
            </a:pPr>
            <a:r>
              <a:rPr dirty="0" sz="1000" b="1">
                <a:latin typeface="Times New Roman"/>
                <a:cs typeface="Times New Roman"/>
              </a:rPr>
              <a:t>3.5</a:t>
            </a:r>
            <a:r>
              <a:rPr dirty="0" sz="1000" spc="254" b="1">
                <a:latin typeface="Times New Roman"/>
                <a:cs typeface="Times New Roman"/>
              </a:rPr>
              <a:t>  </a:t>
            </a:r>
            <a:r>
              <a:rPr dirty="0" sz="1000" spc="-10" b="1">
                <a:latin typeface="Times New Roman"/>
                <a:cs typeface="Times New Roman"/>
              </a:rPr>
              <a:t>Positional</a:t>
            </a:r>
            <a:r>
              <a:rPr dirty="0" sz="1000" spc="5" b="1">
                <a:latin typeface="Times New Roman"/>
                <a:cs typeface="Times New Roman"/>
              </a:rPr>
              <a:t> </a:t>
            </a:r>
            <a:r>
              <a:rPr dirty="0" sz="1000" spc="-10" b="1">
                <a:latin typeface="Times New Roman"/>
                <a:cs typeface="Times New Roman"/>
              </a:rPr>
              <a:t>Encoding</a:t>
            </a:r>
            <a:endParaRPr sz="1000">
              <a:latin typeface="Times New Roman"/>
              <a:cs typeface="Times New Roman"/>
            </a:endParaRPr>
          </a:p>
          <a:p>
            <a:pPr algn="just" marL="12700" marR="5080">
              <a:lnSpc>
                <a:spcPts val="1090"/>
              </a:lnSpc>
              <a:spcBef>
                <a:spcPts val="925"/>
              </a:spcBef>
            </a:pPr>
            <a:r>
              <a:rPr dirty="0" sz="1000" spc="-10">
                <a:latin typeface="Times New Roman"/>
                <a:cs typeface="Times New Roman"/>
              </a:rPr>
              <a:t>Since</a:t>
            </a:r>
            <a:r>
              <a:rPr dirty="0" sz="1000" spc="-35">
                <a:latin typeface="Times New Roman"/>
                <a:cs typeface="Times New Roman"/>
              </a:rPr>
              <a:t> </a:t>
            </a:r>
            <a:r>
              <a:rPr dirty="0" sz="1000">
                <a:latin typeface="Times New Roman"/>
                <a:cs typeface="Times New Roman"/>
              </a:rPr>
              <a:t>our</a:t>
            </a:r>
            <a:r>
              <a:rPr dirty="0" sz="1000" spc="-30">
                <a:latin typeface="Times New Roman"/>
                <a:cs typeface="Times New Roman"/>
              </a:rPr>
              <a:t> </a:t>
            </a:r>
            <a:r>
              <a:rPr dirty="0" sz="1000" spc="-10">
                <a:latin typeface="Times New Roman"/>
                <a:cs typeface="Times New Roman"/>
              </a:rPr>
              <a:t>model</a:t>
            </a:r>
            <a:r>
              <a:rPr dirty="0" sz="1000" spc="-35">
                <a:latin typeface="Times New Roman"/>
                <a:cs typeface="Times New Roman"/>
              </a:rPr>
              <a:t> </a:t>
            </a:r>
            <a:r>
              <a:rPr dirty="0" sz="1000" spc="-10">
                <a:latin typeface="Times New Roman"/>
                <a:cs typeface="Times New Roman"/>
              </a:rPr>
              <a:t>contains</a:t>
            </a:r>
            <a:r>
              <a:rPr dirty="0" sz="1000" spc="-30">
                <a:latin typeface="Times New Roman"/>
                <a:cs typeface="Times New Roman"/>
              </a:rPr>
              <a:t> </a:t>
            </a:r>
            <a:r>
              <a:rPr dirty="0" sz="1000">
                <a:latin typeface="Times New Roman"/>
                <a:cs typeface="Times New Roman"/>
              </a:rPr>
              <a:t>no</a:t>
            </a:r>
            <a:r>
              <a:rPr dirty="0" sz="1000" spc="-35">
                <a:latin typeface="Times New Roman"/>
                <a:cs typeface="Times New Roman"/>
              </a:rPr>
              <a:t> </a:t>
            </a:r>
            <a:r>
              <a:rPr dirty="0" sz="1000" spc="-20">
                <a:latin typeface="Times New Roman"/>
                <a:cs typeface="Times New Roman"/>
              </a:rPr>
              <a:t>recurrence</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no</a:t>
            </a:r>
            <a:r>
              <a:rPr dirty="0" sz="1000" spc="-35">
                <a:latin typeface="Times New Roman"/>
                <a:cs typeface="Times New Roman"/>
              </a:rPr>
              <a:t> </a:t>
            </a:r>
            <a:r>
              <a:rPr dirty="0" sz="1000" spc="-20">
                <a:latin typeface="Times New Roman"/>
                <a:cs typeface="Times New Roman"/>
              </a:rPr>
              <a:t>convolution,</a:t>
            </a:r>
            <a:r>
              <a:rPr dirty="0" sz="1000" spc="-30">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spc="-10">
                <a:latin typeface="Times New Roman"/>
                <a:cs typeface="Times New Roman"/>
              </a:rPr>
              <a:t>order</a:t>
            </a:r>
            <a:r>
              <a:rPr dirty="0" sz="1000" spc="-30">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spc="-10">
                <a:latin typeface="Times New Roman"/>
                <a:cs typeface="Times New Roman"/>
              </a:rPr>
              <a:t>model</a:t>
            </a:r>
            <a:r>
              <a:rPr dirty="0" sz="1000" spc="-30">
                <a:latin typeface="Times New Roman"/>
                <a:cs typeface="Times New Roman"/>
              </a:rPr>
              <a:t> </a:t>
            </a:r>
            <a:r>
              <a:rPr dirty="0" sz="1000">
                <a:latin typeface="Times New Roman"/>
                <a:cs typeface="Times New Roman"/>
              </a:rPr>
              <a:t>to</a:t>
            </a:r>
            <a:r>
              <a:rPr dirty="0" sz="1000" spc="-35">
                <a:latin typeface="Times New Roman"/>
                <a:cs typeface="Times New Roman"/>
              </a:rPr>
              <a:t> </a:t>
            </a:r>
            <a:r>
              <a:rPr dirty="0" sz="1000" spc="-20">
                <a:latin typeface="Times New Roman"/>
                <a:cs typeface="Times New Roman"/>
              </a:rPr>
              <a:t>make</a:t>
            </a:r>
            <a:r>
              <a:rPr dirty="0" sz="1000" spc="-30">
                <a:latin typeface="Times New Roman"/>
                <a:cs typeface="Times New Roman"/>
              </a:rPr>
              <a:t> </a:t>
            </a:r>
            <a:r>
              <a:rPr dirty="0" sz="1000">
                <a:latin typeface="Times New Roman"/>
                <a:cs typeface="Times New Roman"/>
              </a:rPr>
              <a:t>use</a:t>
            </a:r>
            <a:r>
              <a:rPr dirty="0" sz="1000" spc="-30">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spc="-25">
                <a:latin typeface="Times New Roman"/>
                <a:cs typeface="Times New Roman"/>
              </a:rPr>
              <a:t>the </a:t>
            </a:r>
            <a:r>
              <a:rPr dirty="0" sz="1000" spc="-10">
                <a:latin typeface="Times New Roman"/>
                <a:cs typeface="Times New Roman"/>
              </a:rPr>
              <a:t>order</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10">
                <a:latin typeface="Times New Roman"/>
                <a:cs typeface="Times New Roman"/>
              </a:rPr>
              <a:t>sequence,</a:t>
            </a:r>
            <a:r>
              <a:rPr dirty="0" sz="1000" spc="-15">
                <a:latin typeface="Times New Roman"/>
                <a:cs typeface="Times New Roman"/>
              </a:rPr>
              <a:t> </a:t>
            </a:r>
            <a:r>
              <a:rPr dirty="0" sz="1000">
                <a:latin typeface="Times New Roman"/>
                <a:cs typeface="Times New Roman"/>
              </a:rPr>
              <a:t>we</a:t>
            </a:r>
            <a:r>
              <a:rPr dirty="0" sz="1000" spc="-25">
                <a:latin typeface="Times New Roman"/>
                <a:cs typeface="Times New Roman"/>
              </a:rPr>
              <a:t> </a:t>
            </a:r>
            <a:r>
              <a:rPr dirty="0" sz="1000">
                <a:latin typeface="Times New Roman"/>
                <a:cs typeface="Times New Roman"/>
              </a:rPr>
              <a:t>must</a:t>
            </a:r>
            <a:r>
              <a:rPr dirty="0" sz="1000" spc="-15">
                <a:latin typeface="Times New Roman"/>
                <a:cs typeface="Times New Roman"/>
              </a:rPr>
              <a:t> </a:t>
            </a:r>
            <a:r>
              <a:rPr dirty="0" sz="1000">
                <a:latin typeface="Times New Roman"/>
                <a:cs typeface="Times New Roman"/>
              </a:rPr>
              <a:t>inject</a:t>
            </a:r>
            <a:r>
              <a:rPr dirty="0" sz="1000" spc="-20">
                <a:latin typeface="Times New Roman"/>
                <a:cs typeface="Times New Roman"/>
              </a:rPr>
              <a:t> </a:t>
            </a:r>
            <a:r>
              <a:rPr dirty="0" sz="1000">
                <a:latin typeface="Times New Roman"/>
                <a:cs typeface="Times New Roman"/>
              </a:rPr>
              <a:t>some</a:t>
            </a:r>
            <a:r>
              <a:rPr dirty="0" sz="1000" spc="-20">
                <a:latin typeface="Times New Roman"/>
                <a:cs typeface="Times New Roman"/>
              </a:rPr>
              <a:t> </a:t>
            </a:r>
            <a:r>
              <a:rPr dirty="0" sz="1000" spc="-10">
                <a:latin typeface="Times New Roman"/>
                <a:cs typeface="Times New Roman"/>
              </a:rPr>
              <a:t>information</a:t>
            </a:r>
            <a:r>
              <a:rPr dirty="0" sz="1000" spc="-20">
                <a:latin typeface="Times New Roman"/>
                <a:cs typeface="Times New Roman"/>
              </a:rPr>
              <a:t> </a:t>
            </a:r>
            <a:r>
              <a:rPr dirty="0" sz="1000">
                <a:latin typeface="Times New Roman"/>
                <a:cs typeface="Times New Roman"/>
              </a:rPr>
              <a:t>about</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relative</a:t>
            </a:r>
            <a:r>
              <a:rPr dirty="0" sz="1000" spc="-15">
                <a:latin typeface="Times New Roman"/>
                <a:cs typeface="Times New Roman"/>
              </a:rPr>
              <a:t> </a:t>
            </a:r>
            <a:r>
              <a:rPr dirty="0" sz="1000">
                <a:latin typeface="Times New Roman"/>
                <a:cs typeface="Times New Roman"/>
              </a:rPr>
              <a:t>or</a:t>
            </a:r>
            <a:r>
              <a:rPr dirty="0" sz="1000" spc="-25">
                <a:latin typeface="Times New Roman"/>
                <a:cs typeface="Times New Roman"/>
              </a:rPr>
              <a:t> </a:t>
            </a:r>
            <a:r>
              <a:rPr dirty="0" sz="1000" spc="-10">
                <a:latin typeface="Times New Roman"/>
                <a:cs typeface="Times New Roman"/>
              </a:rPr>
              <a:t>absolute</a:t>
            </a:r>
            <a:r>
              <a:rPr dirty="0" sz="1000" spc="-15">
                <a:latin typeface="Times New Roman"/>
                <a:cs typeface="Times New Roman"/>
              </a:rPr>
              <a:t> </a:t>
            </a:r>
            <a:r>
              <a:rPr dirty="0" sz="1000" spc="-10">
                <a:latin typeface="Times New Roman"/>
                <a:cs typeface="Times New Roman"/>
              </a:rPr>
              <a:t>position</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25">
                <a:latin typeface="Times New Roman"/>
                <a:cs typeface="Times New Roman"/>
              </a:rPr>
              <a:t>the </a:t>
            </a:r>
            <a:r>
              <a:rPr dirty="0" sz="1000">
                <a:latin typeface="Times New Roman"/>
                <a:cs typeface="Times New Roman"/>
              </a:rPr>
              <a:t>tokens</a:t>
            </a:r>
            <a:r>
              <a:rPr dirty="0" sz="1000" spc="1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sequence.</a:t>
            </a:r>
            <a:r>
              <a:rPr dirty="0" sz="1000" spc="85">
                <a:latin typeface="Times New Roman"/>
                <a:cs typeface="Times New Roman"/>
              </a:rPr>
              <a:t> </a:t>
            </a:r>
            <a:r>
              <a:rPr dirty="0" sz="1000" spc="-10">
                <a:latin typeface="Times New Roman"/>
                <a:cs typeface="Times New Roman"/>
              </a:rPr>
              <a:t>To</a:t>
            </a:r>
            <a:r>
              <a:rPr dirty="0" sz="1000" spc="20">
                <a:latin typeface="Times New Roman"/>
                <a:cs typeface="Times New Roman"/>
              </a:rPr>
              <a:t> </a:t>
            </a:r>
            <a:r>
              <a:rPr dirty="0" sz="1000">
                <a:latin typeface="Times New Roman"/>
                <a:cs typeface="Times New Roman"/>
              </a:rPr>
              <a:t>this</a:t>
            </a:r>
            <a:r>
              <a:rPr dirty="0" sz="1000" spc="15">
                <a:latin typeface="Times New Roman"/>
                <a:cs typeface="Times New Roman"/>
              </a:rPr>
              <a:t> </a:t>
            </a:r>
            <a:r>
              <a:rPr dirty="0" sz="1000">
                <a:latin typeface="Times New Roman"/>
                <a:cs typeface="Times New Roman"/>
              </a:rPr>
              <a:t>end,</a:t>
            </a:r>
            <a:r>
              <a:rPr dirty="0" sz="1000" spc="20">
                <a:latin typeface="Times New Roman"/>
                <a:cs typeface="Times New Roman"/>
              </a:rPr>
              <a:t> </a:t>
            </a:r>
            <a:r>
              <a:rPr dirty="0" sz="1000">
                <a:latin typeface="Times New Roman"/>
                <a:cs typeface="Times New Roman"/>
              </a:rPr>
              <a:t>we</a:t>
            </a:r>
            <a:r>
              <a:rPr dirty="0" sz="1000" spc="15">
                <a:latin typeface="Times New Roman"/>
                <a:cs typeface="Times New Roman"/>
              </a:rPr>
              <a:t> </a:t>
            </a:r>
            <a:r>
              <a:rPr dirty="0" sz="1000">
                <a:latin typeface="Times New Roman"/>
                <a:cs typeface="Times New Roman"/>
              </a:rPr>
              <a:t>add</a:t>
            </a:r>
            <a:r>
              <a:rPr dirty="0" sz="1000" spc="20">
                <a:latin typeface="Times New Roman"/>
                <a:cs typeface="Times New Roman"/>
              </a:rPr>
              <a:t> </a:t>
            </a:r>
            <a:r>
              <a:rPr dirty="0" sz="1000">
                <a:latin typeface="Times New Roman"/>
                <a:cs typeface="Times New Roman"/>
              </a:rPr>
              <a:t>"positional</a:t>
            </a:r>
            <a:r>
              <a:rPr dirty="0" sz="1000" spc="15">
                <a:latin typeface="Times New Roman"/>
                <a:cs typeface="Times New Roman"/>
              </a:rPr>
              <a:t> </a:t>
            </a:r>
            <a:r>
              <a:rPr dirty="0" sz="1000">
                <a:latin typeface="Times New Roman"/>
                <a:cs typeface="Times New Roman"/>
              </a:rPr>
              <a:t>encodings"</a:t>
            </a:r>
            <a:r>
              <a:rPr dirty="0" sz="1000" spc="2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input</a:t>
            </a:r>
            <a:r>
              <a:rPr dirty="0" sz="1000" spc="20">
                <a:latin typeface="Times New Roman"/>
                <a:cs typeface="Times New Roman"/>
              </a:rPr>
              <a:t> </a:t>
            </a:r>
            <a:r>
              <a:rPr dirty="0" sz="1000">
                <a:latin typeface="Times New Roman"/>
                <a:cs typeface="Times New Roman"/>
              </a:rPr>
              <a:t>embeddings</a:t>
            </a:r>
            <a:r>
              <a:rPr dirty="0" sz="1000" spc="15">
                <a:latin typeface="Times New Roman"/>
                <a:cs typeface="Times New Roman"/>
              </a:rPr>
              <a:t> </a:t>
            </a:r>
            <a:r>
              <a:rPr dirty="0" sz="1000">
                <a:latin typeface="Times New Roman"/>
                <a:cs typeface="Times New Roman"/>
              </a:rPr>
              <a:t>at</a:t>
            </a:r>
            <a:r>
              <a:rPr dirty="0" sz="1000" spc="20">
                <a:latin typeface="Times New Roman"/>
                <a:cs typeface="Times New Roman"/>
              </a:rPr>
              <a:t> </a:t>
            </a:r>
            <a:r>
              <a:rPr dirty="0" sz="1000" spc="-25">
                <a:latin typeface="Times New Roman"/>
                <a:cs typeface="Times New Roman"/>
              </a:rPr>
              <a:t>the</a:t>
            </a:r>
            <a:endParaRPr sz="10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354975" y="860963"/>
            <a:ext cx="5059045" cy="454659"/>
          </a:xfrm>
          <a:prstGeom prst="rect">
            <a:avLst/>
          </a:prstGeom>
        </p:spPr>
        <p:txBody>
          <a:bodyPr wrap="square" lIns="0" tIns="28575" rIns="0" bIns="0" rtlCol="0" vert="horz">
            <a:spAutoFit/>
          </a:bodyPr>
          <a:lstStyle/>
          <a:p>
            <a:pPr algn="just" marL="16510" marR="5080" indent="-4445">
              <a:lnSpc>
                <a:spcPts val="1090"/>
              </a:lnSpc>
              <a:spcBef>
                <a:spcPts val="225"/>
              </a:spcBef>
            </a:pPr>
            <a:r>
              <a:rPr dirty="0" sz="1000" spc="-35">
                <a:latin typeface="Times New Roman"/>
                <a:cs typeface="Times New Roman"/>
              </a:rPr>
              <a:t>Table</a:t>
            </a:r>
            <a:r>
              <a:rPr dirty="0" sz="1000" spc="-25">
                <a:latin typeface="Times New Roman"/>
                <a:cs typeface="Times New Roman"/>
              </a:rPr>
              <a:t> </a:t>
            </a:r>
            <a:r>
              <a:rPr dirty="0" sz="1000">
                <a:latin typeface="Times New Roman"/>
                <a:cs typeface="Times New Roman"/>
              </a:rPr>
              <a:t>1:</a:t>
            </a:r>
            <a:r>
              <a:rPr dirty="0" sz="1000" spc="370">
                <a:latin typeface="Times New Roman"/>
                <a:cs typeface="Times New Roman"/>
              </a:rPr>
              <a:t> </a:t>
            </a:r>
            <a:r>
              <a:rPr dirty="0" sz="1000" spc="-20">
                <a:latin typeface="Times New Roman"/>
                <a:cs typeface="Times New Roman"/>
              </a:rPr>
              <a:t>Maximum</a:t>
            </a:r>
            <a:r>
              <a:rPr dirty="0" sz="1000" spc="-25">
                <a:latin typeface="Times New Roman"/>
                <a:cs typeface="Times New Roman"/>
              </a:rPr>
              <a:t> </a:t>
            </a:r>
            <a:r>
              <a:rPr dirty="0" sz="1000" spc="-10">
                <a:latin typeface="Times New Roman"/>
                <a:cs typeface="Times New Roman"/>
              </a:rPr>
              <a:t>path</a:t>
            </a:r>
            <a:r>
              <a:rPr dirty="0" sz="1000" spc="-20">
                <a:latin typeface="Times New Roman"/>
                <a:cs typeface="Times New Roman"/>
              </a:rPr>
              <a:t> </a:t>
            </a:r>
            <a:r>
              <a:rPr dirty="0" sz="1000" spc="-10">
                <a:latin typeface="Times New Roman"/>
                <a:cs typeface="Times New Roman"/>
              </a:rPr>
              <a:t>lengths,</a:t>
            </a:r>
            <a:r>
              <a:rPr dirty="0" sz="1000" spc="-20">
                <a:latin typeface="Times New Roman"/>
                <a:cs typeface="Times New Roman"/>
              </a:rPr>
              <a:t> </a:t>
            </a:r>
            <a:r>
              <a:rPr dirty="0" sz="1000" spc="-30">
                <a:latin typeface="Times New Roman"/>
                <a:cs typeface="Times New Roman"/>
              </a:rPr>
              <a:t>per-</a:t>
            </a:r>
            <a:r>
              <a:rPr dirty="0" sz="1000" spc="-20">
                <a:latin typeface="Times New Roman"/>
                <a:cs typeface="Times New Roman"/>
              </a:rPr>
              <a:t>layer complexity</a:t>
            </a:r>
            <a:r>
              <a:rPr dirty="0" sz="1000" spc="-25">
                <a:latin typeface="Times New Roman"/>
                <a:cs typeface="Times New Roman"/>
              </a:rPr>
              <a:t> </a:t>
            </a:r>
            <a:r>
              <a:rPr dirty="0" sz="1000" spc="-10">
                <a:latin typeface="Times New Roman"/>
                <a:cs typeface="Times New Roman"/>
              </a:rPr>
              <a:t>and</a:t>
            </a:r>
            <a:r>
              <a:rPr dirty="0" sz="1000" spc="-20">
                <a:latin typeface="Times New Roman"/>
                <a:cs typeface="Times New Roman"/>
              </a:rPr>
              <a:t> </a:t>
            </a:r>
            <a:r>
              <a:rPr dirty="0" sz="1000" spc="-10">
                <a:latin typeface="Times New Roman"/>
                <a:cs typeface="Times New Roman"/>
              </a:rPr>
              <a:t>minimum</a:t>
            </a:r>
            <a:r>
              <a:rPr dirty="0" sz="1000" spc="-25">
                <a:latin typeface="Times New Roman"/>
                <a:cs typeface="Times New Roman"/>
              </a:rPr>
              <a:t> </a:t>
            </a:r>
            <a:r>
              <a:rPr dirty="0" sz="1000" spc="-20">
                <a:latin typeface="Times New Roman"/>
                <a:cs typeface="Times New Roman"/>
              </a:rPr>
              <a:t>number </a:t>
            </a:r>
            <a:r>
              <a:rPr dirty="0" sz="1000">
                <a:latin typeface="Times New Roman"/>
                <a:cs typeface="Times New Roman"/>
              </a:rPr>
              <a:t>of</a:t>
            </a:r>
            <a:r>
              <a:rPr dirty="0" sz="1000" spc="-25">
                <a:latin typeface="Times New Roman"/>
                <a:cs typeface="Times New Roman"/>
              </a:rPr>
              <a:t> </a:t>
            </a:r>
            <a:r>
              <a:rPr dirty="0" sz="1000" spc="-20">
                <a:latin typeface="Times New Roman"/>
                <a:cs typeface="Times New Roman"/>
              </a:rPr>
              <a:t>sequential </a:t>
            </a:r>
            <a:r>
              <a:rPr dirty="0" sz="1000" spc="-10">
                <a:latin typeface="Times New Roman"/>
                <a:cs typeface="Times New Roman"/>
              </a:rPr>
              <a:t>operations </a:t>
            </a:r>
            <a:r>
              <a:rPr dirty="0" sz="1000">
                <a:latin typeface="Times New Roman"/>
                <a:cs typeface="Times New Roman"/>
              </a:rPr>
              <a:t>for</a:t>
            </a:r>
            <a:r>
              <a:rPr dirty="0" sz="1000" spc="-15">
                <a:latin typeface="Times New Roman"/>
                <a:cs typeface="Times New Roman"/>
              </a:rPr>
              <a:t> </a:t>
            </a:r>
            <a:r>
              <a:rPr dirty="0" sz="1000" spc="-10">
                <a:latin typeface="Times New Roman"/>
                <a:cs typeface="Times New Roman"/>
              </a:rPr>
              <a:t>different </a:t>
            </a:r>
            <a:r>
              <a:rPr dirty="0" sz="1000">
                <a:latin typeface="Times New Roman"/>
                <a:cs typeface="Times New Roman"/>
              </a:rPr>
              <a:t>layer</a:t>
            </a:r>
            <a:r>
              <a:rPr dirty="0" sz="1000" spc="-15">
                <a:latin typeface="Times New Roman"/>
                <a:cs typeface="Times New Roman"/>
              </a:rPr>
              <a:t> </a:t>
            </a:r>
            <a:r>
              <a:rPr dirty="0" sz="1000">
                <a:latin typeface="Times New Roman"/>
                <a:cs typeface="Times New Roman"/>
              </a:rPr>
              <a:t>types.</a:t>
            </a:r>
            <a:r>
              <a:rPr dirty="0" sz="1000" spc="50">
                <a:latin typeface="Times New Roman"/>
                <a:cs typeface="Times New Roman"/>
              </a:rPr>
              <a:t> </a:t>
            </a:r>
            <a:r>
              <a:rPr dirty="0" sz="1000" spc="80" i="1">
                <a:latin typeface="Calibri"/>
                <a:cs typeface="Calibri"/>
              </a:rPr>
              <a:t>n</a:t>
            </a:r>
            <a:r>
              <a:rPr dirty="0" sz="1000" spc="10" i="1">
                <a:latin typeface="Calibri"/>
                <a:cs typeface="Calibri"/>
              </a:rPr>
              <a:t> </a:t>
            </a:r>
            <a:r>
              <a:rPr dirty="0" sz="1000">
                <a:latin typeface="Times New Roman"/>
                <a:cs typeface="Times New Roman"/>
              </a:rPr>
              <a:t>is</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sequence</a:t>
            </a:r>
            <a:r>
              <a:rPr dirty="0" sz="1000" spc="-10">
                <a:latin typeface="Times New Roman"/>
                <a:cs typeface="Times New Roman"/>
              </a:rPr>
              <a:t> </a:t>
            </a:r>
            <a:r>
              <a:rPr dirty="0" sz="1000">
                <a:latin typeface="Times New Roman"/>
                <a:cs typeface="Times New Roman"/>
              </a:rPr>
              <a:t>length,</a:t>
            </a:r>
            <a:r>
              <a:rPr dirty="0" sz="1000" spc="-15">
                <a:latin typeface="Times New Roman"/>
                <a:cs typeface="Times New Roman"/>
              </a:rPr>
              <a:t> </a:t>
            </a:r>
            <a:r>
              <a:rPr dirty="0" sz="1000" i="1">
                <a:latin typeface="Calibri"/>
                <a:cs typeface="Calibri"/>
              </a:rPr>
              <a:t>d</a:t>
            </a:r>
            <a:r>
              <a:rPr dirty="0" sz="1000" spc="15" i="1">
                <a:latin typeface="Calibri"/>
                <a:cs typeface="Calibri"/>
              </a:rPr>
              <a:t> </a:t>
            </a:r>
            <a:r>
              <a:rPr dirty="0" sz="1000">
                <a:latin typeface="Times New Roman"/>
                <a:cs typeface="Times New Roman"/>
              </a:rPr>
              <a:t>is</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representation</a:t>
            </a:r>
            <a:r>
              <a:rPr dirty="0" sz="1000" spc="-10">
                <a:latin typeface="Times New Roman"/>
                <a:cs typeface="Times New Roman"/>
              </a:rPr>
              <a:t> </a:t>
            </a:r>
            <a:r>
              <a:rPr dirty="0" sz="1000">
                <a:latin typeface="Times New Roman"/>
                <a:cs typeface="Times New Roman"/>
              </a:rPr>
              <a:t>dimension,</a:t>
            </a:r>
            <a:r>
              <a:rPr dirty="0" sz="1000" spc="-15">
                <a:latin typeface="Times New Roman"/>
                <a:cs typeface="Times New Roman"/>
              </a:rPr>
              <a:t> </a:t>
            </a:r>
            <a:r>
              <a:rPr dirty="0" sz="1000" spc="65" i="1">
                <a:latin typeface="Calibri"/>
                <a:cs typeface="Calibri"/>
              </a:rPr>
              <a:t>k</a:t>
            </a:r>
            <a:r>
              <a:rPr dirty="0" sz="1000" spc="50" i="1">
                <a:latin typeface="Calibri"/>
                <a:cs typeface="Calibri"/>
              </a:rPr>
              <a:t> </a:t>
            </a:r>
            <a:r>
              <a:rPr dirty="0" sz="1000">
                <a:latin typeface="Times New Roman"/>
                <a:cs typeface="Times New Roman"/>
              </a:rPr>
              <a:t>is</a:t>
            </a:r>
            <a:r>
              <a:rPr dirty="0" sz="1000" spc="-15">
                <a:latin typeface="Times New Roman"/>
                <a:cs typeface="Times New Roman"/>
              </a:rPr>
              <a:t> </a:t>
            </a:r>
            <a:r>
              <a:rPr dirty="0" sz="1000">
                <a:latin typeface="Times New Roman"/>
                <a:cs typeface="Times New Roman"/>
              </a:rPr>
              <a:t>the</a:t>
            </a:r>
            <a:r>
              <a:rPr dirty="0" sz="1000" spc="-10">
                <a:latin typeface="Times New Roman"/>
                <a:cs typeface="Times New Roman"/>
              </a:rPr>
              <a:t> kernel </a:t>
            </a:r>
            <a:r>
              <a:rPr dirty="0" sz="1000">
                <a:latin typeface="Times New Roman"/>
                <a:cs typeface="Times New Roman"/>
              </a:rPr>
              <a:t>size</a:t>
            </a:r>
            <a:r>
              <a:rPr dirty="0" sz="1000" spc="-2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10">
                <a:latin typeface="Times New Roman"/>
                <a:cs typeface="Times New Roman"/>
              </a:rPr>
              <a:t>convolutions</a:t>
            </a:r>
            <a:r>
              <a:rPr dirty="0" sz="1000" spc="-1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spc="110" i="1">
                <a:latin typeface="Calibri"/>
                <a:cs typeface="Calibri"/>
              </a:rPr>
              <a:t>r</a:t>
            </a:r>
            <a:r>
              <a:rPr dirty="0" sz="1000" spc="40" i="1">
                <a:latin typeface="Calibri"/>
                <a:cs typeface="Calibri"/>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size</a:t>
            </a:r>
            <a:r>
              <a:rPr dirty="0" sz="1000" spc="-2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neighborhood</a:t>
            </a:r>
            <a:r>
              <a:rPr dirty="0" sz="1000" spc="-20">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restricted</a:t>
            </a:r>
            <a:r>
              <a:rPr dirty="0" sz="1000" spc="-15">
                <a:latin typeface="Times New Roman"/>
                <a:cs typeface="Times New Roman"/>
              </a:rPr>
              <a:t> </a:t>
            </a:r>
            <a:r>
              <a:rPr dirty="0" sz="1000" spc="-10">
                <a:latin typeface="Times New Roman"/>
                <a:cs typeface="Times New Roman"/>
              </a:rPr>
              <a:t>self-attention.</a:t>
            </a:r>
            <a:endParaRPr sz="1000">
              <a:latin typeface="Times New Roman"/>
              <a:cs typeface="Times New Roman"/>
            </a:endParaRPr>
          </a:p>
        </p:txBody>
      </p:sp>
      <p:sp>
        <p:nvSpPr>
          <p:cNvPr id="3" name="object 3" descr=""/>
          <p:cNvSpPr/>
          <p:nvPr/>
        </p:nvSpPr>
        <p:spPr>
          <a:xfrm>
            <a:off x="1505838" y="1438211"/>
            <a:ext cx="4761230" cy="0"/>
          </a:xfrm>
          <a:custGeom>
            <a:avLst/>
            <a:gdLst/>
            <a:ahLst/>
            <a:cxnLst/>
            <a:rect l="l" t="t" r="r" b="b"/>
            <a:pathLst>
              <a:path w="4761230" h="0">
                <a:moveTo>
                  <a:pt x="0" y="0"/>
                </a:moveTo>
                <a:lnTo>
                  <a:pt x="4760734" y="0"/>
                </a:lnTo>
              </a:path>
            </a:pathLst>
          </a:custGeom>
          <a:ln w="10121">
            <a:solidFill>
              <a:srgbClr val="000000"/>
            </a:solidFill>
          </a:ln>
        </p:spPr>
        <p:txBody>
          <a:bodyPr wrap="square" lIns="0" tIns="0" rIns="0" bIns="0" rtlCol="0"/>
          <a:lstStyle/>
          <a:p/>
        </p:txBody>
      </p:sp>
      <p:sp>
        <p:nvSpPr>
          <p:cNvPr id="4" name="object 4" descr=""/>
          <p:cNvSpPr txBox="1"/>
          <p:nvPr/>
        </p:nvSpPr>
        <p:spPr>
          <a:xfrm>
            <a:off x="1569046" y="1436426"/>
            <a:ext cx="2603500" cy="177800"/>
          </a:xfrm>
          <a:prstGeom prst="rect">
            <a:avLst/>
          </a:prstGeom>
        </p:spPr>
        <p:txBody>
          <a:bodyPr wrap="square" lIns="0" tIns="12065" rIns="0" bIns="0" rtlCol="0" vert="horz">
            <a:spAutoFit/>
          </a:bodyPr>
          <a:lstStyle/>
          <a:p>
            <a:pPr marL="12700">
              <a:lnSpc>
                <a:spcPct val="100000"/>
              </a:lnSpc>
              <a:spcBef>
                <a:spcPts val="95"/>
              </a:spcBef>
              <a:tabLst>
                <a:tab pos="1475105" algn="l"/>
              </a:tabLst>
            </a:pPr>
            <a:r>
              <a:rPr dirty="0" sz="1000">
                <a:latin typeface="Times New Roman"/>
                <a:cs typeface="Times New Roman"/>
              </a:rPr>
              <a:t>Layer</a:t>
            </a:r>
            <a:r>
              <a:rPr dirty="0" sz="1000" spc="-55">
                <a:latin typeface="Times New Roman"/>
                <a:cs typeface="Times New Roman"/>
              </a:rPr>
              <a:t> </a:t>
            </a:r>
            <a:r>
              <a:rPr dirty="0" sz="1000" spc="-20">
                <a:latin typeface="Times New Roman"/>
                <a:cs typeface="Times New Roman"/>
              </a:rPr>
              <a:t>Type</a:t>
            </a:r>
            <a:r>
              <a:rPr dirty="0" sz="1000">
                <a:latin typeface="Times New Roman"/>
                <a:cs typeface="Times New Roman"/>
              </a:rPr>
              <a:t>	Complexity</a:t>
            </a:r>
            <a:r>
              <a:rPr dirty="0" sz="1000" spc="-45">
                <a:latin typeface="Times New Roman"/>
                <a:cs typeface="Times New Roman"/>
              </a:rPr>
              <a:t> </a:t>
            </a:r>
            <a:r>
              <a:rPr dirty="0" sz="1000">
                <a:latin typeface="Times New Roman"/>
                <a:cs typeface="Times New Roman"/>
              </a:rPr>
              <a:t>per</a:t>
            </a:r>
            <a:r>
              <a:rPr dirty="0" sz="1000" spc="-40">
                <a:latin typeface="Times New Roman"/>
                <a:cs typeface="Times New Roman"/>
              </a:rPr>
              <a:t> </a:t>
            </a:r>
            <a:r>
              <a:rPr dirty="0" sz="1000" spc="-10">
                <a:latin typeface="Times New Roman"/>
                <a:cs typeface="Times New Roman"/>
              </a:rPr>
              <a:t>Layer</a:t>
            </a:r>
            <a:endParaRPr sz="1000">
              <a:latin typeface="Times New Roman"/>
              <a:cs typeface="Times New Roman"/>
            </a:endParaRPr>
          </a:p>
        </p:txBody>
      </p:sp>
      <p:sp>
        <p:nvSpPr>
          <p:cNvPr id="5" name="object 5" descr=""/>
          <p:cNvSpPr txBox="1"/>
          <p:nvPr/>
        </p:nvSpPr>
        <p:spPr>
          <a:xfrm>
            <a:off x="4298937" y="1436426"/>
            <a:ext cx="1905000" cy="316230"/>
          </a:xfrm>
          <a:prstGeom prst="rect">
            <a:avLst/>
          </a:prstGeom>
        </p:spPr>
        <p:txBody>
          <a:bodyPr wrap="square" lIns="0" tIns="28575" rIns="0" bIns="0" rtlCol="0" vert="horz">
            <a:spAutoFit/>
          </a:bodyPr>
          <a:lstStyle/>
          <a:p>
            <a:pPr marL="12700" marR="5080" indent="10160">
              <a:lnSpc>
                <a:spcPts val="1090"/>
              </a:lnSpc>
              <a:spcBef>
                <a:spcPts val="225"/>
              </a:spcBef>
              <a:tabLst>
                <a:tab pos="719455" algn="l"/>
              </a:tabLst>
            </a:pPr>
            <a:r>
              <a:rPr dirty="0" sz="1000" spc="-10">
                <a:latin typeface="Times New Roman"/>
                <a:cs typeface="Times New Roman"/>
              </a:rPr>
              <a:t>Sequential</a:t>
            </a:r>
            <a:r>
              <a:rPr dirty="0" sz="1000">
                <a:latin typeface="Times New Roman"/>
                <a:cs typeface="Times New Roman"/>
              </a:rPr>
              <a:t>	Maximum</a:t>
            </a:r>
            <a:r>
              <a:rPr dirty="0" sz="1000" spc="-40">
                <a:latin typeface="Times New Roman"/>
                <a:cs typeface="Times New Roman"/>
              </a:rPr>
              <a:t> </a:t>
            </a:r>
            <a:r>
              <a:rPr dirty="0" sz="1000">
                <a:latin typeface="Times New Roman"/>
                <a:cs typeface="Times New Roman"/>
              </a:rPr>
              <a:t>Path</a:t>
            </a:r>
            <a:r>
              <a:rPr dirty="0" sz="1000" spc="-40">
                <a:latin typeface="Times New Roman"/>
                <a:cs typeface="Times New Roman"/>
              </a:rPr>
              <a:t> </a:t>
            </a:r>
            <a:r>
              <a:rPr dirty="0" sz="1000" spc="-10">
                <a:latin typeface="Times New Roman"/>
                <a:cs typeface="Times New Roman"/>
              </a:rPr>
              <a:t>Length Operations</a:t>
            </a:r>
            <a:endParaRPr sz="1000">
              <a:latin typeface="Times New Roman"/>
              <a:cs typeface="Times New Roman"/>
            </a:endParaRPr>
          </a:p>
        </p:txBody>
      </p:sp>
      <p:sp>
        <p:nvSpPr>
          <p:cNvPr id="6" name="object 6" descr=""/>
          <p:cNvSpPr/>
          <p:nvPr/>
        </p:nvSpPr>
        <p:spPr>
          <a:xfrm>
            <a:off x="1505838" y="1758289"/>
            <a:ext cx="4761230" cy="0"/>
          </a:xfrm>
          <a:custGeom>
            <a:avLst/>
            <a:gdLst/>
            <a:ahLst/>
            <a:cxnLst/>
            <a:rect l="l" t="t" r="r" b="b"/>
            <a:pathLst>
              <a:path w="4761230" h="0">
                <a:moveTo>
                  <a:pt x="0" y="0"/>
                </a:moveTo>
                <a:lnTo>
                  <a:pt x="4760734" y="0"/>
                </a:lnTo>
              </a:path>
            </a:pathLst>
          </a:custGeom>
          <a:ln w="5054">
            <a:solidFill>
              <a:srgbClr val="000000"/>
            </a:solidFill>
          </a:ln>
        </p:spPr>
        <p:txBody>
          <a:bodyPr wrap="square" lIns="0" tIns="0" rIns="0" bIns="0" rtlCol="0"/>
          <a:lstStyle/>
          <a:p/>
        </p:txBody>
      </p:sp>
      <p:sp>
        <p:nvSpPr>
          <p:cNvPr id="7" name="object 7" descr=""/>
          <p:cNvSpPr txBox="1"/>
          <p:nvPr/>
        </p:nvSpPr>
        <p:spPr>
          <a:xfrm>
            <a:off x="3319729" y="1735472"/>
            <a:ext cx="564515" cy="177800"/>
          </a:xfrm>
          <a:prstGeom prst="rect">
            <a:avLst/>
          </a:prstGeom>
        </p:spPr>
        <p:txBody>
          <a:bodyPr wrap="square" lIns="0" tIns="12065" rIns="0" bIns="0" rtlCol="0" vert="horz">
            <a:spAutoFit/>
          </a:bodyPr>
          <a:lstStyle/>
          <a:p>
            <a:pPr marL="38100">
              <a:lnSpc>
                <a:spcPct val="100000"/>
              </a:lnSpc>
              <a:spcBef>
                <a:spcPts val="95"/>
              </a:spcBef>
            </a:pPr>
            <a:r>
              <a:rPr dirty="0" sz="1000" spc="75" i="1">
                <a:latin typeface="Calibri"/>
                <a:cs typeface="Calibri"/>
              </a:rPr>
              <a:t>O</a:t>
            </a:r>
            <a:r>
              <a:rPr dirty="0" sz="1000" spc="75">
                <a:latin typeface="Calibri"/>
                <a:cs typeface="Calibri"/>
              </a:rPr>
              <a:t>(</a:t>
            </a:r>
            <a:r>
              <a:rPr dirty="0" sz="1000" spc="75" i="1">
                <a:latin typeface="Calibri"/>
                <a:cs typeface="Calibri"/>
              </a:rPr>
              <a:t>n</a:t>
            </a:r>
            <a:r>
              <a:rPr dirty="0" baseline="27777" sz="1050" spc="112">
                <a:latin typeface="Tahoma"/>
                <a:cs typeface="Tahoma"/>
              </a:rPr>
              <a:t>2</a:t>
            </a:r>
            <a:r>
              <a:rPr dirty="0" baseline="27777" sz="1050" spc="75">
                <a:latin typeface="Tahoma"/>
                <a:cs typeface="Tahoma"/>
              </a:rPr>
              <a:t> </a:t>
            </a:r>
            <a:r>
              <a:rPr dirty="0" sz="1000" spc="-365">
                <a:latin typeface="Lucida Sans Unicode"/>
                <a:cs typeface="Lucida Sans Unicode"/>
              </a:rPr>
              <a:t>·</a:t>
            </a:r>
            <a:r>
              <a:rPr dirty="0" sz="1000" spc="-95">
                <a:latin typeface="Lucida Sans Unicode"/>
                <a:cs typeface="Lucida Sans Unicode"/>
              </a:rPr>
              <a:t> </a:t>
            </a:r>
            <a:r>
              <a:rPr dirty="0" sz="1000" spc="-25" i="1">
                <a:latin typeface="Calibri"/>
                <a:cs typeface="Calibri"/>
              </a:rPr>
              <a:t>d</a:t>
            </a:r>
            <a:r>
              <a:rPr dirty="0" sz="1000" spc="-25">
                <a:latin typeface="Calibri"/>
                <a:cs typeface="Calibri"/>
              </a:rPr>
              <a:t>)</a:t>
            </a:r>
            <a:endParaRPr sz="1000">
              <a:latin typeface="Calibri"/>
              <a:cs typeface="Calibri"/>
            </a:endParaRPr>
          </a:p>
        </p:txBody>
      </p:sp>
      <p:sp>
        <p:nvSpPr>
          <p:cNvPr id="8" name="object 8" descr=""/>
          <p:cNvSpPr txBox="1"/>
          <p:nvPr/>
        </p:nvSpPr>
        <p:spPr>
          <a:xfrm>
            <a:off x="3345129" y="1872071"/>
            <a:ext cx="513715" cy="185420"/>
          </a:xfrm>
          <a:prstGeom prst="rect">
            <a:avLst/>
          </a:prstGeom>
        </p:spPr>
        <p:txBody>
          <a:bodyPr wrap="square" lIns="0" tIns="12065" rIns="0" bIns="0" rtlCol="0" vert="horz">
            <a:spAutoFit/>
          </a:bodyPr>
          <a:lstStyle/>
          <a:p>
            <a:pPr algn="r" marR="60325">
              <a:lnSpc>
                <a:spcPts val="450"/>
              </a:lnSpc>
              <a:spcBef>
                <a:spcPts val="95"/>
              </a:spcBef>
            </a:pPr>
            <a:r>
              <a:rPr dirty="0" sz="700" spc="-50">
                <a:latin typeface="Tahoma"/>
                <a:cs typeface="Tahoma"/>
              </a:rPr>
              <a:t>2</a:t>
            </a:r>
            <a:endParaRPr sz="700">
              <a:latin typeface="Tahoma"/>
              <a:cs typeface="Tahoma"/>
            </a:endParaRPr>
          </a:p>
          <a:p>
            <a:pPr marL="12700">
              <a:lnSpc>
                <a:spcPts val="810"/>
              </a:lnSpc>
            </a:pPr>
            <a:r>
              <a:rPr dirty="0" sz="1000" spc="95" i="1">
                <a:latin typeface="Calibri"/>
                <a:cs typeface="Calibri"/>
              </a:rPr>
              <a:t>O</a:t>
            </a:r>
            <a:r>
              <a:rPr dirty="0" sz="1000" spc="95">
                <a:latin typeface="Calibri"/>
                <a:cs typeface="Calibri"/>
              </a:rPr>
              <a:t>(</a:t>
            </a:r>
            <a:r>
              <a:rPr dirty="0" sz="1000" spc="95" i="1">
                <a:latin typeface="Calibri"/>
                <a:cs typeface="Calibri"/>
              </a:rPr>
              <a:t>n</a:t>
            </a:r>
            <a:r>
              <a:rPr dirty="0" sz="1000" spc="-5" i="1">
                <a:latin typeface="Calibri"/>
                <a:cs typeface="Calibri"/>
              </a:rPr>
              <a:t> </a:t>
            </a:r>
            <a:r>
              <a:rPr dirty="0" sz="1000" spc="-365">
                <a:latin typeface="Lucida Sans Unicode"/>
                <a:cs typeface="Lucida Sans Unicode"/>
              </a:rPr>
              <a:t>·</a:t>
            </a:r>
            <a:r>
              <a:rPr dirty="0" sz="1000" spc="-90">
                <a:latin typeface="Lucida Sans Unicode"/>
                <a:cs typeface="Lucida Sans Unicode"/>
              </a:rPr>
              <a:t> </a:t>
            </a:r>
            <a:r>
              <a:rPr dirty="0" sz="1000" i="1">
                <a:latin typeface="Calibri"/>
                <a:cs typeface="Calibri"/>
              </a:rPr>
              <a:t>d</a:t>
            </a:r>
            <a:r>
              <a:rPr dirty="0" sz="1000" spc="229" i="1">
                <a:latin typeface="Calibri"/>
                <a:cs typeface="Calibri"/>
              </a:rPr>
              <a:t> </a:t>
            </a:r>
            <a:r>
              <a:rPr dirty="0" sz="1000" spc="30">
                <a:latin typeface="Calibri"/>
                <a:cs typeface="Calibri"/>
              </a:rPr>
              <a:t>)</a:t>
            </a:r>
            <a:endParaRPr sz="1000">
              <a:latin typeface="Calibri"/>
              <a:cs typeface="Calibri"/>
            </a:endParaRPr>
          </a:p>
        </p:txBody>
      </p:sp>
      <p:sp>
        <p:nvSpPr>
          <p:cNvPr id="9" name="object 9" descr=""/>
          <p:cNvSpPr txBox="1"/>
          <p:nvPr/>
        </p:nvSpPr>
        <p:spPr>
          <a:xfrm>
            <a:off x="3264522" y="2016622"/>
            <a:ext cx="675005" cy="185420"/>
          </a:xfrm>
          <a:prstGeom prst="rect">
            <a:avLst/>
          </a:prstGeom>
        </p:spPr>
        <p:txBody>
          <a:bodyPr wrap="square" lIns="0" tIns="12065" rIns="0" bIns="0" rtlCol="0" vert="horz">
            <a:spAutoFit/>
          </a:bodyPr>
          <a:lstStyle/>
          <a:p>
            <a:pPr algn="r" marR="60325">
              <a:lnSpc>
                <a:spcPts val="450"/>
              </a:lnSpc>
              <a:spcBef>
                <a:spcPts val="95"/>
              </a:spcBef>
            </a:pPr>
            <a:r>
              <a:rPr dirty="0" sz="700" spc="-50">
                <a:latin typeface="Tahoma"/>
                <a:cs typeface="Tahoma"/>
              </a:rPr>
              <a:t>2</a:t>
            </a:r>
            <a:endParaRPr sz="700">
              <a:latin typeface="Tahoma"/>
              <a:cs typeface="Tahoma"/>
            </a:endParaRPr>
          </a:p>
          <a:p>
            <a:pPr marL="12700">
              <a:lnSpc>
                <a:spcPts val="810"/>
              </a:lnSpc>
            </a:pPr>
            <a:r>
              <a:rPr dirty="0" sz="1000" spc="90" i="1">
                <a:latin typeface="Calibri"/>
                <a:cs typeface="Calibri"/>
              </a:rPr>
              <a:t>O</a:t>
            </a:r>
            <a:r>
              <a:rPr dirty="0" sz="1000" spc="90">
                <a:latin typeface="Calibri"/>
                <a:cs typeface="Calibri"/>
              </a:rPr>
              <a:t>(</a:t>
            </a:r>
            <a:r>
              <a:rPr dirty="0" sz="1000" spc="90" i="1">
                <a:latin typeface="Calibri"/>
                <a:cs typeface="Calibri"/>
              </a:rPr>
              <a:t>k</a:t>
            </a:r>
            <a:r>
              <a:rPr dirty="0" sz="1000" spc="25" i="1">
                <a:latin typeface="Calibri"/>
                <a:cs typeface="Calibri"/>
              </a:rPr>
              <a:t> </a:t>
            </a:r>
            <a:r>
              <a:rPr dirty="0" sz="1000" spc="-365">
                <a:latin typeface="Lucida Sans Unicode"/>
                <a:cs typeface="Lucida Sans Unicode"/>
              </a:rPr>
              <a:t>·</a:t>
            </a:r>
            <a:r>
              <a:rPr dirty="0" sz="1000" spc="-90">
                <a:latin typeface="Lucida Sans Unicode"/>
                <a:cs typeface="Lucida Sans Unicode"/>
              </a:rPr>
              <a:t> </a:t>
            </a:r>
            <a:r>
              <a:rPr dirty="0" sz="1000" spc="80" i="1">
                <a:latin typeface="Calibri"/>
                <a:cs typeface="Calibri"/>
              </a:rPr>
              <a:t>n</a:t>
            </a:r>
            <a:r>
              <a:rPr dirty="0" sz="1000" i="1">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i="1">
                <a:latin typeface="Calibri"/>
                <a:cs typeface="Calibri"/>
              </a:rPr>
              <a:t>d</a:t>
            </a:r>
            <a:r>
              <a:rPr dirty="0" sz="1000" spc="229" i="1">
                <a:latin typeface="Calibri"/>
                <a:cs typeface="Calibri"/>
              </a:rPr>
              <a:t> </a:t>
            </a:r>
            <a:r>
              <a:rPr dirty="0" sz="1000" spc="30">
                <a:latin typeface="Calibri"/>
                <a:cs typeface="Calibri"/>
              </a:rPr>
              <a:t>)</a:t>
            </a:r>
            <a:endParaRPr sz="1000">
              <a:latin typeface="Calibri"/>
              <a:cs typeface="Calibri"/>
            </a:endParaRPr>
          </a:p>
        </p:txBody>
      </p:sp>
      <p:sp>
        <p:nvSpPr>
          <p:cNvPr id="10" name="object 10" descr=""/>
          <p:cNvSpPr txBox="1"/>
          <p:nvPr/>
        </p:nvSpPr>
        <p:spPr>
          <a:xfrm>
            <a:off x="1569046" y="1735472"/>
            <a:ext cx="1336675" cy="605155"/>
          </a:xfrm>
          <a:prstGeom prst="rect">
            <a:avLst/>
          </a:prstGeom>
        </p:spPr>
        <p:txBody>
          <a:bodyPr wrap="square" lIns="0" tIns="23495" rIns="0" bIns="0" rtlCol="0" vert="horz">
            <a:spAutoFit/>
          </a:bodyPr>
          <a:lstStyle/>
          <a:p>
            <a:pPr marL="12700" marR="591185">
              <a:lnSpc>
                <a:spcPts val="1140"/>
              </a:lnSpc>
              <a:spcBef>
                <a:spcPts val="185"/>
              </a:spcBef>
            </a:pPr>
            <a:r>
              <a:rPr dirty="0" sz="1000" spc="-10">
                <a:latin typeface="Times New Roman"/>
                <a:cs typeface="Times New Roman"/>
              </a:rPr>
              <a:t>Self-Attention Recurrent Convolutional</a:t>
            </a:r>
            <a:endParaRPr sz="1000">
              <a:latin typeface="Times New Roman"/>
              <a:cs typeface="Times New Roman"/>
            </a:endParaRPr>
          </a:p>
          <a:p>
            <a:pPr marL="12700">
              <a:lnSpc>
                <a:spcPts val="1060"/>
              </a:lnSpc>
            </a:pPr>
            <a:r>
              <a:rPr dirty="0" sz="1000" spc="-10">
                <a:latin typeface="Times New Roman"/>
                <a:cs typeface="Times New Roman"/>
              </a:rPr>
              <a:t>Self-</a:t>
            </a:r>
            <a:r>
              <a:rPr dirty="0" sz="1000">
                <a:latin typeface="Times New Roman"/>
                <a:cs typeface="Times New Roman"/>
              </a:rPr>
              <a:t>Attention</a:t>
            </a:r>
            <a:r>
              <a:rPr dirty="0" sz="1000" spc="-15">
                <a:latin typeface="Times New Roman"/>
                <a:cs typeface="Times New Roman"/>
              </a:rPr>
              <a:t> </a:t>
            </a:r>
            <a:r>
              <a:rPr dirty="0" sz="1000" spc="-10">
                <a:latin typeface="Times New Roman"/>
                <a:cs typeface="Times New Roman"/>
              </a:rPr>
              <a:t>(restricted)</a:t>
            </a:r>
            <a:endParaRPr sz="1000">
              <a:latin typeface="Times New Roman"/>
              <a:cs typeface="Times New Roman"/>
            </a:endParaRPr>
          </a:p>
        </p:txBody>
      </p:sp>
      <p:sp>
        <p:nvSpPr>
          <p:cNvPr id="11" name="object 11" descr=""/>
          <p:cNvSpPr txBox="1"/>
          <p:nvPr/>
        </p:nvSpPr>
        <p:spPr>
          <a:xfrm>
            <a:off x="3297529" y="2163119"/>
            <a:ext cx="608965" cy="177800"/>
          </a:xfrm>
          <a:prstGeom prst="rect">
            <a:avLst/>
          </a:prstGeom>
        </p:spPr>
        <p:txBody>
          <a:bodyPr wrap="square" lIns="0" tIns="12065" rIns="0" bIns="0" rtlCol="0" vert="horz">
            <a:spAutoFit/>
          </a:bodyPr>
          <a:lstStyle/>
          <a:p>
            <a:pPr marL="12700">
              <a:lnSpc>
                <a:spcPct val="100000"/>
              </a:lnSpc>
              <a:spcBef>
                <a:spcPts val="95"/>
              </a:spcBef>
            </a:pPr>
            <a:r>
              <a:rPr dirty="0" sz="1000" spc="105" i="1">
                <a:latin typeface="Calibri"/>
                <a:cs typeface="Calibri"/>
              </a:rPr>
              <a:t>O</a:t>
            </a:r>
            <a:r>
              <a:rPr dirty="0" sz="1000" spc="105">
                <a:latin typeface="Calibri"/>
                <a:cs typeface="Calibri"/>
              </a:rPr>
              <a:t>(</a:t>
            </a:r>
            <a:r>
              <a:rPr dirty="0" sz="1000" spc="105" i="1">
                <a:latin typeface="Calibri"/>
                <a:cs typeface="Calibri"/>
              </a:rPr>
              <a:t>r</a:t>
            </a:r>
            <a:r>
              <a:rPr dirty="0" sz="1000" spc="20" i="1">
                <a:latin typeface="Calibri"/>
                <a:cs typeface="Calibri"/>
              </a:rPr>
              <a:t> </a:t>
            </a:r>
            <a:r>
              <a:rPr dirty="0" sz="1000" spc="-365">
                <a:latin typeface="Lucida Sans Unicode"/>
                <a:cs typeface="Lucida Sans Unicode"/>
              </a:rPr>
              <a:t>·</a:t>
            </a:r>
            <a:r>
              <a:rPr dirty="0" sz="1000" spc="-90">
                <a:latin typeface="Lucida Sans Unicode"/>
                <a:cs typeface="Lucida Sans Unicode"/>
              </a:rPr>
              <a:t> </a:t>
            </a:r>
            <a:r>
              <a:rPr dirty="0" sz="1000" spc="80" i="1">
                <a:latin typeface="Calibri"/>
                <a:cs typeface="Calibri"/>
              </a:rPr>
              <a:t>n</a:t>
            </a:r>
            <a:r>
              <a:rPr dirty="0" sz="1000" i="1">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i="1">
                <a:latin typeface="Calibri"/>
                <a:cs typeface="Calibri"/>
              </a:rPr>
              <a:t>d</a:t>
            </a:r>
            <a:r>
              <a:rPr dirty="0" sz="1000" spc="-25">
                <a:latin typeface="Calibri"/>
                <a:cs typeface="Calibri"/>
              </a:rPr>
              <a:t>)</a:t>
            </a:r>
            <a:endParaRPr sz="1000">
              <a:latin typeface="Calibri"/>
              <a:cs typeface="Calibri"/>
            </a:endParaRPr>
          </a:p>
        </p:txBody>
      </p:sp>
      <p:sp>
        <p:nvSpPr>
          <p:cNvPr id="12" name="object 12" descr=""/>
          <p:cNvSpPr txBox="1"/>
          <p:nvPr/>
        </p:nvSpPr>
        <p:spPr>
          <a:xfrm>
            <a:off x="4439335" y="1735472"/>
            <a:ext cx="299720" cy="605155"/>
          </a:xfrm>
          <a:prstGeom prst="rect">
            <a:avLst/>
          </a:prstGeom>
        </p:spPr>
        <p:txBody>
          <a:bodyPr wrap="square" lIns="0" tIns="12065" rIns="0" bIns="0" rtlCol="0" vert="horz">
            <a:spAutoFit/>
          </a:bodyPr>
          <a:lstStyle/>
          <a:p>
            <a:pPr marL="19050">
              <a:lnSpc>
                <a:spcPts val="1170"/>
              </a:lnSpc>
              <a:spcBef>
                <a:spcPts val="95"/>
              </a:spcBef>
            </a:pPr>
            <a:r>
              <a:rPr dirty="0" sz="1000" spc="50" i="1">
                <a:latin typeface="Calibri"/>
                <a:cs typeface="Calibri"/>
              </a:rPr>
              <a:t>O</a:t>
            </a:r>
            <a:r>
              <a:rPr dirty="0" sz="1000" spc="50">
                <a:latin typeface="Calibri"/>
                <a:cs typeface="Calibri"/>
              </a:rPr>
              <a:t>(1)</a:t>
            </a:r>
            <a:endParaRPr sz="1000">
              <a:latin typeface="Calibri"/>
              <a:cs typeface="Calibri"/>
            </a:endParaRPr>
          </a:p>
          <a:p>
            <a:pPr marL="12700">
              <a:lnSpc>
                <a:spcPts val="1140"/>
              </a:lnSpc>
            </a:pPr>
            <a:r>
              <a:rPr dirty="0" sz="1000" spc="70" i="1">
                <a:latin typeface="Calibri"/>
                <a:cs typeface="Calibri"/>
              </a:rPr>
              <a:t>O</a:t>
            </a:r>
            <a:r>
              <a:rPr dirty="0" sz="1000" spc="70">
                <a:latin typeface="Calibri"/>
                <a:cs typeface="Calibri"/>
              </a:rPr>
              <a:t>(</a:t>
            </a:r>
            <a:r>
              <a:rPr dirty="0" sz="1000" spc="70" i="1">
                <a:latin typeface="Calibri"/>
                <a:cs typeface="Calibri"/>
              </a:rPr>
              <a:t>n</a:t>
            </a:r>
            <a:r>
              <a:rPr dirty="0" sz="1000" spc="70">
                <a:latin typeface="Calibri"/>
                <a:cs typeface="Calibri"/>
              </a:rPr>
              <a:t>)</a:t>
            </a:r>
            <a:endParaRPr sz="1000">
              <a:latin typeface="Calibri"/>
              <a:cs typeface="Calibri"/>
            </a:endParaRPr>
          </a:p>
          <a:p>
            <a:pPr marL="19050">
              <a:lnSpc>
                <a:spcPts val="1115"/>
              </a:lnSpc>
            </a:pPr>
            <a:r>
              <a:rPr dirty="0" sz="1000" spc="50" i="1">
                <a:latin typeface="Calibri"/>
                <a:cs typeface="Calibri"/>
              </a:rPr>
              <a:t>O</a:t>
            </a:r>
            <a:r>
              <a:rPr dirty="0" sz="1000" spc="50">
                <a:latin typeface="Calibri"/>
                <a:cs typeface="Calibri"/>
              </a:rPr>
              <a:t>(1)</a:t>
            </a:r>
            <a:endParaRPr sz="1000">
              <a:latin typeface="Calibri"/>
              <a:cs typeface="Calibri"/>
            </a:endParaRPr>
          </a:p>
          <a:p>
            <a:pPr marL="19050">
              <a:lnSpc>
                <a:spcPts val="1145"/>
              </a:lnSpc>
            </a:pPr>
            <a:r>
              <a:rPr dirty="0" sz="1000" spc="50" i="1">
                <a:latin typeface="Calibri"/>
                <a:cs typeface="Calibri"/>
              </a:rPr>
              <a:t>O</a:t>
            </a:r>
            <a:r>
              <a:rPr dirty="0" sz="1000" spc="50">
                <a:latin typeface="Calibri"/>
                <a:cs typeface="Calibri"/>
              </a:rPr>
              <a:t>(1)</a:t>
            </a:r>
            <a:endParaRPr sz="1000">
              <a:latin typeface="Calibri"/>
              <a:cs typeface="Calibri"/>
            </a:endParaRPr>
          </a:p>
        </p:txBody>
      </p:sp>
      <p:sp>
        <p:nvSpPr>
          <p:cNvPr id="13" name="object 13" descr=""/>
          <p:cNvSpPr txBox="1"/>
          <p:nvPr/>
        </p:nvSpPr>
        <p:spPr>
          <a:xfrm>
            <a:off x="5268074" y="1735472"/>
            <a:ext cx="673735" cy="605155"/>
          </a:xfrm>
          <a:prstGeom prst="rect">
            <a:avLst/>
          </a:prstGeom>
        </p:spPr>
        <p:txBody>
          <a:bodyPr wrap="square" lIns="0" tIns="12065" rIns="0" bIns="0" rtlCol="0" vert="horz">
            <a:spAutoFit/>
          </a:bodyPr>
          <a:lstStyle/>
          <a:p>
            <a:pPr algn="ctr">
              <a:lnSpc>
                <a:spcPts val="1170"/>
              </a:lnSpc>
              <a:spcBef>
                <a:spcPts val="95"/>
              </a:spcBef>
            </a:pPr>
            <a:r>
              <a:rPr dirty="0" sz="1000" spc="50" i="1">
                <a:latin typeface="Calibri"/>
                <a:cs typeface="Calibri"/>
              </a:rPr>
              <a:t>O</a:t>
            </a:r>
            <a:r>
              <a:rPr dirty="0" sz="1000" spc="50">
                <a:latin typeface="Calibri"/>
                <a:cs typeface="Calibri"/>
              </a:rPr>
              <a:t>(1)</a:t>
            </a:r>
            <a:endParaRPr sz="1000">
              <a:latin typeface="Calibri"/>
              <a:cs typeface="Calibri"/>
            </a:endParaRPr>
          </a:p>
          <a:p>
            <a:pPr algn="ctr">
              <a:lnSpc>
                <a:spcPts val="1140"/>
              </a:lnSpc>
            </a:pPr>
            <a:r>
              <a:rPr dirty="0" sz="1000" spc="70" i="1">
                <a:latin typeface="Calibri"/>
                <a:cs typeface="Calibri"/>
              </a:rPr>
              <a:t>O</a:t>
            </a:r>
            <a:r>
              <a:rPr dirty="0" sz="1000" spc="70">
                <a:latin typeface="Calibri"/>
                <a:cs typeface="Calibri"/>
              </a:rPr>
              <a:t>(</a:t>
            </a:r>
            <a:r>
              <a:rPr dirty="0" sz="1000" spc="70" i="1">
                <a:latin typeface="Calibri"/>
                <a:cs typeface="Calibri"/>
              </a:rPr>
              <a:t>n</a:t>
            </a:r>
            <a:r>
              <a:rPr dirty="0" sz="1000" spc="70">
                <a:latin typeface="Calibri"/>
                <a:cs typeface="Calibri"/>
              </a:rPr>
              <a:t>)</a:t>
            </a:r>
            <a:endParaRPr sz="1000">
              <a:latin typeface="Calibri"/>
              <a:cs typeface="Calibri"/>
            </a:endParaRPr>
          </a:p>
          <a:p>
            <a:pPr algn="ctr" marL="38100" marR="30480">
              <a:lnSpc>
                <a:spcPts val="1090"/>
              </a:lnSpc>
              <a:spcBef>
                <a:spcPts val="95"/>
              </a:spcBef>
            </a:pPr>
            <a:r>
              <a:rPr dirty="0" sz="1000" spc="60" i="1">
                <a:latin typeface="Calibri"/>
                <a:cs typeface="Calibri"/>
              </a:rPr>
              <a:t>O</a:t>
            </a:r>
            <a:r>
              <a:rPr dirty="0" sz="1000" spc="60">
                <a:latin typeface="Calibri"/>
                <a:cs typeface="Calibri"/>
              </a:rPr>
              <a:t>(</a:t>
            </a:r>
            <a:r>
              <a:rPr dirty="0" sz="1000" spc="60" i="1">
                <a:latin typeface="Calibri"/>
                <a:cs typeface="Calibri"/>
              </a:rPr>
              <a:t>log</a:t>
            </a:r>
            <a:r>
              <a:rPr dirty="0" baseline="-11904" sz="1050" spc="89" i="1">
                <a:latin typeface="Calibri"/>
                <a:cs typeface="Calibri"/>
              </a:rPr>
              <a:t>k</a:t>
            </a:r>
            <a:r>
              <a:rPr dirty="0" sz="1000" spc="60">
                <a:latin typeface="Calibri"/>
                <a:cs typeface="Calibri"/>
              </a:rPr>
              <a:t>(</a:t>
            </a:r>
            <a:r>
              <a:rPr dirty="0" sz="1000" spc="60" i="1">
                <a:latin typeface="Calibri"/>
                <a:cs typeface="Calibri"/>
              </a:rPr>
              <a:t>n</a:t>
            </a:r>
            <a:r>
              <a:rPr dirty="0" sz="1000" spc="60">
                <a:latin typeface="Calibri"/>
                <a:cs typeface="Calibri"/>
              </a:rPr>
              <a:t>)) </a:t>
            </a:r>
            <a:r>
              <a:rPr dirty="0" sz="1000" spc="90" i="1">
                <a:latin typeface="Calibri"/>
                <a:cs typeface="Calibri"/>
              </a:rPr>
              <a:t>O</a:t>
            </a:r>
            <a:r>
              <a:rPr dirty="0" sz="1000" spc="90">
                <a:latin typeface="Calibri"/>
                <a:cs typeface="Calibri"/>
              </a:rPr>
              <a:t>(</a:t>
            </a:r>
            <a:r>
              <a:rPr dirty="0" sz="1000" spc="90" i="1">
                <a:latin typeface="Calibri"/>
                <a:cs typeface="Calibri"/>
              </a:rPr>
              <a:t>n/r</a:t>
            </a:r>
            <a:r>
              <a:rPr dirty="0" sz="1000" spc="90">
                <a:latin typeface="Calibri"/>
                <a:cs typeface="Calibri"/>
              </a:rPr>
              <a:t>)</a:t>
            </a:r>
            <a:endParaRPr sz="1000">
              <a:latin typeface="Calibri"/>
              <a:cs typeface="Calibri"/>
            </a:endParaRPr>
          </a:p>
        </p:txBody>
      </p:sp>
      <p:sp>
        <p:nvSpPr>
          <p:cNvPr id="14" name="object 14" descr=""/>
          <p:cNvSpPr/>
          <p:nvPr/>
        </p:nvSpPr>
        <p:spPr>
          <a:xfrm>
            <a:off x="1505838" y="2370759"/>
            <a:ext cx="4761230" cy="0"/>
          </a:xfrm>
          <a:custGeom>
            <a:avLst/>
            <a:gdLst/>
            <a:ahLst/>
            <a:cxnLst/>
            <a:rect l="l" t="t" r="r" b="b"/>
            <a:pathLst>
              <a:path w="4761230" h="0">
                <a:moveTo>
                  <a:pt x="0" y="0"/>
                </a:moveTo>
                <a:lnTo>
                  <a:pt x="4760734" y="0"/>
                </a:lnTo>
              </a:path>
            </a:pathLst>
          </a:custGeom>
          <a:ln w="10121">
            <a:solidFill>
              <a:srgbClr val="000000"/>
            </a:solidFill>
          </a:ln>
        </p:spPr>
        <p:txBody>
          <a:bodyPr wrap="square" lIns="0" tIns="0" rIns="0" bIns="0" rtlCol="0"/>
          <a:lstStyle/>
          <a:p/>
        </p:txBody>
      </p:sp>
      <p:sp>
        <p:nvSpPr>
          <p:cNvPr id="15" name="object 15" descr=""/>
          <p:cNvSpPr txBox="1"/>
          <p:nvPr/>
        </p:nvSpPr>
        <p:spPr>
          <a:xfrm>
            <a:off x="1244600" y="2696545"/>
            <a:ext cx="5299075" cy="6347460"/>
          </a:xfrm>
          <a:prstGeom prst="rect">
            <a:avLst/>
          </a:prstGeom>
        </p:spPr>
        <p:txBody>
          <a:bodyPr wrap="square" lIns="0" tIns="28575" rIns="0" bIns="0" rtlCol="0" vert="horz">
            <a:spAutoFit/>
          </a:bodyPr>
          <a:lstStyle/>
          <a:p>
            <a:pPr algn="just" marL="127000" marR="120014">
              <a:lnSpc>
                <a:spcPts val="1090"/>
              </a:lnSpc>
              <a:spcBef>
                <a:spcPts val="225"/>
              </a:spcBef>
            </a:pPr>
            <a:r>
              <a:rPr dirty="0" sz="1000" spc="-10">
                <a:latin typeface="Times New Roman"/>
                <a:cs typeface="Times New Roman"/>
              </a:rPr>
              <a:t>bottoms</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20">
                <a:latin typeface="Times New Roman"/>
                <a:cs typeface="Times New Roman"/>
              </a:rPr>
              <a:t>encoder</a:t>
            </a:r>
            <a:r>
              <a:rPr dirty="0" sz="1000" spc="-35">
                <a:latin typeface="Times New Roman"/>
                <a:cs typeface="Times New Roman"/>
              </a:rPr>
              <a:t> </a:t>
            </a:r>
            <a:r>
              <a:rPr dirty="0" sz="1000">
                <a:latin typeface="Times New Roman"/>
                <a:cs typeface="Times New Roman"/>
              </a:rPr>
              <a:t>and</a:t>
            </a:r>
            <a:r>
              <a:rPr dirty="0" sz="1000" spc="-35">
                <a:latin typeface="Times New Roman"/>
                <a:cs typeface="Times New Roman"/>
              </a:rPr>
              <a:t> </a:t>
            </a:r>
            <a:r>
              <a:rPr dirty="0" sz="1000" spc="-20">
                <a:latin typeface="Times New Roman"/>
                <a:cs typeface="Times New Roman"/>
              </a:rPr>
              <a:t>decoder</a:t>
            </a:r>
            <a:r>
              <a:rPr dirty="0" sz="1000" spc="-30">
                <a:latin typeface="Times New Roman"/>
                <a:cs typeface="Times New Roman"/>
              </a:rPr>
              <a:t> </a:t>
            </a:r>
            <a:r>
              <a:rPr dirty="0" sz="1000">
                <a:latin typeface="Times New Roman"/>
                <a:cs typeface="Times New Roman"/>
              </a:rPr>
              <a:t>stacks.</a:t>
            </a:r>
            <a:r>
              <a:rPr dirty="0" sz="1000" spc="2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spc="-10">
                <a:latin typeface="Times New Roman"/>
                <a:cs typeface="Times New Roman"/>
              </a:rPr>
              <a:t>positional</a:t>
            </a:r>
            <a:r>
              <a:rPr dirty="0" sz="1000" spc="-30">
                <a:latin typeface="Times New Roman"/>
                <a:cs typeface="Times New Roman"/>
              </a:rPr>
              <a:t> </a:t>
            </a:r>
            <a:r>
              <a:rPr dirty="0" sz="1000" spc="-10">
                <a:latin typeface="Times New Roman"/>
                <a:cs typeface="Times New Roman"/>
              </a:rPr>
              <a:t>encodings</a:t>
            </a:r>
            <a:r>
              <a:rPr dirty="0" sz="1000" spc="-35">
                <a:latin typeface="Times New Roman"/>
                <a:cs typeface="Times New Roman"/>
              </a:rPr>
              <a:t> </a:t>
            </a:r>
            <a:r>
              <a:rPr dirty="0" sz="1000" spc="-20">
                <a:latin typeface="Times New Roman"/>
                <a:cs typeface="Times New Roman"/>
              </a:rPr>
              <a:t>have</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same</a:t>
            </a:r>
            <a:r>
              <a:rPr dirty="0" sz="1000" spc="-35">
                <a:latin typeface="Times New Roman"/>
                <a:cs typeface="Times New Roman"/>
              </a:rPr>
              <a:t> </a:t>
            </a:r>
            <a:r>
              <a:rPr dirty="0" sz="1000" spc="-10">
                <a:latin typeface="Times New Roman"/>
                <a:cs typeface="Times New Roman"/>
              </a:rPr>
              <a:t>dimension</a:t>
            </a:r>
            <a:r>
              <a:rPr dirty="0" sz="1000" spc="-30">
                <a:latin typeface="Times New Roman"/>
                <a:cs typeface="Times New Roman"/>
              </a:rPr>
              <a:t> </a:t>
            </a:r>
            <a:r>
              <a:rPr dirty="0" sz="1000" spc="-10" i="1">
                <a:latin typeface="Calibri"/>
                <a:cs typeface="Calibri"/>
              </a:rPr>
              <a:t>d</a:t>
            </a:r>
            <a:r>
              <a:rPr dirty="0" baseline="-11904" sz="1050" spc="-15">
                <a:latin typeface="Times New Roman"/>
                <a:cs typeface="Times New Roman"/>
              </a:rPr>
              <a:t>model</a:t>
            </a:r>
            <a:r>
              <a:rPr dirty="0" baseline="-11904" sz="1050" spc="750">
                <a:latin typeface="Times New Roman"/>
                <a:cs typeface="Times New Roman"/>
              </a:rPr>
              <a:t> </a:t>
            </a:r>
            <a:r>
              <a:rPr dirty="0" sz="1000">
                <a:latin typeface="Times New Roman"/>
                <a:cs typeface="Times New Roman"/>
              </a:rPr>
              <a:t>as</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spc="-10">
                <a:latin typeface="Times New Roman"/>
                <a:cs typeface="Times New Roman"/>
              </a:rPr>
              <a:t>embeddings,</a:t>
            </a:r>
            <a:r>
              <a:rPr dirty="0" sz="1000" spc="-30">
                <a:latin typeface="Times New Roman"/>
                <a:cs typeface="Times New Roman"/>
              </a:rPr>
              <a:t> </a:t>
            </a:r>
            <a:r>
              <a:rPr dirty="0" sz="1000">
                <a:latin typeface="Times New Roman"/>
                <a:cs typeface="Times New Roman"/>
              </a:rPr>
              <a:t>so</a:t>
            </a:r>
            <a:r>
              <a:rPr dirty="0" sz="1000" spc="-35">
                <a:latin typeface="Times New Roman"/>
                <a:cs typeface="Times New Roman"/>
              </a:rPr>
              <a:t> </a:t>
            </a:r>
            <a:r>
              <a:rPr dirty="0" sz="1000">
                <a:latin typeface="Times New Roman"/>
                <a:cs typeface="Times New Roman"/>
              </a:rPr>
              <a:t>that</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two</a:t>
            </a:r>
            <a:r>
              <a:rPr dirty="0" sz="1000" spc="-30">
                <a:latin typeface="Times New Roman"/>
                <a:cs typeface="Times New Roman"/>
              </a:rPr>
              <a:t> </a:t>
            </a:r>
            <a:r>
              <a:rPr dirty="0" sz="1000">
                <a:latin typeface="Times New Roman"/>
                <a:cs typeface="Times New Roman"/>
              </a:rPr>
              <a:t>can</a:t>
            </a:r>
            <a:r>
              <a:rPr dirty="0" sz="1000" spc="-30">
                <a:latin typeface="Times New Roman"/>
                <a:cs typeface="Times New Roman"/>
              </a:rPr>
              <a:t> </a:t>
            </a:r>
            <a:r>
              <a:rPr dirty="0" sz="1000">
                <a:latin typeface="Times New Roman"/>
                <a:cs typeface="Times New Roman"/>
              </a:rPr>
              <a:t>be</a:t>
            </a:r>
            <a:r>
              <a:rPr dirty="0" sz="1000" spc="-30">
                <a:latin typeface="Times New Roman"/>
                <a:cs typeface="Times New Roman"/>
              </a:rPr>
              <a:t> </a:t>
            </a:r>
            <a:r>
              <a:rPr dirty="0" sz="1000">
                <a:latin typeface="Times New Roman"/>
                <a:cs typeface="Times New Roman"/>
              </a:rPr>
              <a:t>summed.</a:t>
            </a:r>
            <a:r>
              <a:rPr dirty="0" sz="1000" spc="20">
                <a:latin typeface="Times New Roman"/>
                <a:cs typeface="Times New Roman"/>
              </a:rPr>
              <a:t> </a:t>
            </a:r>
            <a:r>
              <a:rPr dirty="0" sz="1000">
                <a:latin typeface="Times New Roman"/>
                <a:cs typeface="Times New Roman"/>
              </a:rPr>
              <a:t>There</a:t>
            </a:r>
            <a:r>
              <a:rPr dirty="0" sz="1000" spc="-30">
                <a:latin typeface="Times New Roman"/>
                <a:cs typeface="Times New Roman"/>
              </a:rPr>
              <a:t> </a:t>
            </a:r>
            <a:r>
              <a:rPr dirty="0" sz="1000">
                <a:latin typeface="Times New Roman"/>
                <a:cs typeface="Times New Roman"/>
              </a:rPr>
              <a:t>are</a:t>
            </a:r>
            <a:r>
              <a:rPr dirty="0" sz="1000" spc="-30">
                <a:latin typeface="Times New Roman"/>
                <a:cs typeface="Times New Roman"/>
              </a:rPr>
              <a:t> </a:t>
            </a:r>
            <a:r>
              <a:rPr dirty="0" sz="1000" spc="-10">
                <a:latin typeface="Times New Roman"/>
                <a:cs typeface="Times New Roman"/>
              </a:rPr>
              <a:t>many</a:t>
            </a:r>
            <a:r>
              <a:rPr dirty="0" sz="1000" spc="-35">
                <a:latin typeface="Times New Roman"/>
                <a:cs typeface="Times New Roman"/>
              </a:rPr>
              <a:t> </a:t>
            </a:r>
            <a:r>
              <a:rPr dirty="0" sz="1000">
                <a:latin typeface="Times New Roman"/>
                <a:cs typeface="Times New Roman"/>
              </a:rPr>
              <a:t>choices</a:t>
            </a:r>
            <a:r>
              <a:rPr dirty="0" sz="1000" spc="-30">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positional</a:t>
            </a:r>
            <a:r>
              <a:rPr dirty="0" sz="1000" spc="-30">
                <a:latin typeface="Times New Roman"/>
                <a:cs typeface="Times New Roman"/>
              </a:rPr>
              <a:t> </a:t>
            </a:r>
            <a:r>
              <a:rPr dirty="0" sz="1000" spc="-10">
                <a:latin typeface="Times New Roman"/>
                <a:cs typeface="Times New Roman"/>
              </a:rPr>
              <a:t>encodings, learned </a:t>
            </a:r>
            <a:r>
              <a:rPr dirty="0" sz="1000">
                <a:latin typeface="Times New Roman"/>
                <a:cs typeface="Times New Roman"/>
              </a:rPr>
              <a:t>and</a:t>
            </a:r>
            <a:r>
              <a:rPr dirty="0" sz="1000" spc="-5">
                <a:latin typeface="Times New Roman"/>
                <a:cs typeface="Times New Roman"/>
              </a:rPr>
              <a:t> </a:t>
            </a:r>
            <a:r>
              <a:rPr dirty="0" sz="1000" spc="-20">
                <a:latin typeface="Times New Roman"/>
                <a:cs typeface="Times New Roman"/>
              </a:rPr>
              <a:t>fixed</a:t>
            </a:r>
            <a:r>
              <a:rPr dirty="0" sz="1000" spc="-5">
                <a:latin typeface="Times New Roman"/>
                <a:cs typeface="Times New Roman"/>
              </a:rPr>
              <a:t> </a:t>
            </a:r>
            <a:r>
              <a:rPr dirty="0" sz="1000" spc="-20">
                <a:latin typeface="Times New Roman"/>
                <a:cs typeface="Times New Roman"/>
              </a:rPr>
              <a:t>[8].</a:t>
            </a:r>
            <a:endParaRPr sz="1000">
              <a:latin typeface="Times New Roman"/>
              <a:cs typeface="Times New Roman"/>
            </a:endParaRPr>
          </a:p>
          <a:p>
            <a:pPr algn="just" marL="127000">
              <a:lnSpc>
                <a:spcPct val="100000"/>
              </a:lnSpc>
              <a:spcBef>
                <a:spcPts val="420"/>
              </a:spcBef>
            </a:pP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this</a:t>
            </a:r>
            <a:r>
              <a:rPr dirty="0" sz="1000" spc="-20">
                <a:latin typeface="Times New Roman"/>
                <a:cs typeface="Times New Roman"/>
              </a:rPr>
              <a:t> </a:t>
            </a:r>
            <a:r>
              <a:rPr dirty="0" sz="1000">
                <a:latin typeface="Times New Roman"/>
                <a:cs typeface="Times New Roman"/>
              </a:rPr>
              <a:t>work,</a:t>
            </a:r>
            <a:r>
              <a:rPr dirty="0" sz="1000" spc="-20">
                <a:latin typeface="Times New Roman"/>
                <a:cs typeface="Times New Roman"/>
              </a:rPr>
              <a:t> </a:t>
            </a:r>
            <a:r>
              <a:rPr dirty="0" sz="1000">
                <a:latin typeface="Times New Roman"/>
                <a:cs typeface="Times New Roman"/>
              </a:rPr>
              <a:t>we</a:t>
            </a:r>
            <a:r>
              <a:rPr dirty="0" sz="1000" spc="-20">
                <a:latin typeface="Times New Roman"/>
                <a:cs typeface="Times New Roman"/>
              </a:rPr>
              <a:t> </a:t>
            </a:r>
            <a:r>
              <a:rPr dirty="0" sz="1000">
                <a:latin typeface="Times New Roman"/>
                <a:cs typeface="Times New Roman"/>
              </a:rPr>
              <a:t>use</a:t>
            </a:r>
            <a:r>
              <a:rPr dirty="0" sz="1000" spc="-20">
                <a:latin typeface="Times New Roman"/>
                <a:cs typeface="Times New Roman"/>
              </a:rPr>
              <a:t> </a:t>
            </a:r>
            <a:r>
              <a:rPr dirty="0" sz="1000">
                <a:latin typeface="Times New Roman"/>
                <a:cs typeface="Times New Roman"/>
              </a:rPr>
              <a:t>sine</a:t>
            </a:r>
            <a:r>
              <a:rPr dirty="0" sz="1000" spc="-20">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cosine</a:t>
            </a:r>
            <a:r>
              <a:rPr dirty="0" sz="1000" spc="-20">
                <a:latin typeface="Times New Roman"/>
                <a:cs typeface="Times New Roman"/>
              </a:rPr>
              <a:t> </a:t>
            </a:r>
            <a:r>
              <a:rPr dirty="0" sz="1000">
                <a:latin typeface="Times New Roman"/>
                <a:cs typeface="Times New Roman"/>
              </a:rPr>
              <a:t>functions</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different</a:t>
            </a:r>
            <a:r>
              <a:rPr dirty="0" sz="1000" spc="-20">
                <a:latin typeface="Times New Roman"/>
                <a:cs typeface="Times New Roman"/>
              </a:rPr>
              <a:t> </a:t>
            </a:r>
            <a:r>
              <a:rPr dirty="0" sz="1000" spc="-10">
                <a:latin typeface="Times New Roman"/>
                <a:cs typeface="Times New Roman"/>
              </a:rPr>
              <a:t>frequencies:</a:t>
            </a:r>
            <a:endParaRPr sz="1000">
              <a:latin typeface="Times New Roman"/>
              <a:cs typeface="Times New Roman"/>
            </a:endParaRPr>
          </a:p>
          <a:p>
            <a:pPr>
              <a:lnSpc>
                <a:spcPct val="100000"/>
              </a:lnSpc>
              <a:spcBef>
                <a:spcPts val="725"/>
              </a:spcBef>
            </a:pPr>
            <a:endParaRPr sz="1000">
              <a:latin typeface="Times New Roman"/>
              <a:cs typeface="Times New Roman"/>
            </a:endParaRPr>
          </a:p>
          <a:p>
            <a:pPr marL="1621155" marR="1630045" indent="124460">
              <a:lnSpc>
                <a:spcPct val="140600"/>
              </a:lnSpc>
            </a:pPr>
            <a:r>
              <a:rPr dirty="0" sz="1000" spc="95" i="1">
                <a:latin typeface="Calibri"/>
                <a:cs typeface="Calibri"/>
              </a:rPr>
              <a:t>PE</a:t>
            </a:r>
            <a:r>
              <a:rPr dirty="0" baseline="-15873" sz="1050" spc="142">
                <a:latin typeface="Tahoma"/>
                <a:cs typeface="Tahoma"/>
              </a:rPr>
              <a:t>(</a:t>
            </a:r>
            <a:r>
              <a:rPr dirty="0" baseline="-15873" sz="1050" spc="142" i="1">
                <a:latin typeface="Calibri"/>
                <a:cs typeface="Calibri"/>
              </a:rPr>
              <a:t>pos,</a:t>
            </a:r>
            <a:r>
              <a:rPr dirty="0" baseline="-15873" sz="1050" spc="142">
                <a:latin typeface="Tahoma"/>
                <a:cs typeface="Tahoma"/>
              </a:rPr>
              <a:t>2</a:t>
            </a:r>
            <a:r>
              <a:rPr dirty="0" baseline="-15873" sz="1050" spc="142" i="1">
                <a:latin typeface="Calibri"/>
                <a:cs typeface="Calibri"/>
              </a:rPr>
              <a:t>i</a:t>
            </a:r>
            <a:r>
              <a:rPr dirty="0" baseline="-15873" sz="1050" spc="142">
                <a:latin typeface="Tahoma"/>
                <a:cs typeface="Tahoma"/>
              </a:rPr>
              <a:t>)</a:t>
            </a:r>
            <a:r>
              <a:rPr dirty="0" baseline="-15873" sz="1050" spc="195">
                <a:latin typeface="Tahoma"/>
                <a:cs typeface="Tahoma"/>
              </a:rPr>
              <a:t> </a:t>
            </a:r>
            <a:r>
              <a:rPr dirty="0" sz="1000" spc="270">
                <a:latin typeface="Calibri"/>
                <a:cs typeface="Calibri"/>
              </a:rPr>
              <a:t>=</a:t>
            </a:r>
            <a:r>
              <a:rPr dirty="0" sz="1000" spc="75">
                <a:latin typeface="Calibri"/>
                <a:cs typeface="Calibri"/>
              </a:rPr>
              <a:t> </a:t>
            </a:r>
            <a:r>
              <a:rPr dirty="0" sz="1000" spc="30" i="1">
                <a:latin typeface="Calibri"/>
                <a:cs typeface="Calibri"/>
              </a:rPr>
              <a:t>sin</a:t>
            </a:r>
            <a:r>
              <a:rPr dirty="0" sz="1000" spc="30">
                <a:latin typeface="Calibri"/>
                <a:cs typeface="Calibri"/>
              </a:rPr>
              <a:t>(</a:t>
            </a:r>
            <a:r>
              <a:rPr dirty="0" sz="1000" spc="30" i="1">
                <a:latin typeface="Calibri"/>
                <a:cs typeface="Calibri"/>
              </a:rPr>
              <a:t>pos/</a:t>
            </a:r>
            <a:r>
              <a:rPr dirty="0" sz="1000" spc="30">
                <a:latin typeface="Calibri"/>
                <a:cs typeface="Calibri"/>
              </a:rPr>
              <a:t>10000</a:t>
            </a:r>
            <a:r>
              <a:rPr dirty="0" baseline="31746" sz="1050" spc="44">
                <a:latin typeface="Tahoma"/>
                <a:cs typeface="Tahoma"/>
              </a:rPr>
              <a:t>2</a:t>
            </a:r>
            <a:r>
              <a:rPr dirty="0" baseline="31746" sz="1050" spc="44" i="1">
                <a:latin typeface="Calibri"/>
                <a:cs typeface="Calibri"/>
              </a:rPr>
              <a:t>i/d</a:t>
            </a:r>
            <a:r>
              <a:rPr dirty="0" baseline="33333" sz="750" spc="44">
                <a:latin typeface="Times New Roman"/>
                <a:cs typeface="Times New Roman"/>
              </a:rPr>
              <a:t>model</a:t>
            </a:r>
            <a:r>
              <a:rPr dirty="0" baseline="33333" sz="750" spc="-30">
                <a:latin typeface="Times New Roman"/>
                <a:cs typeface="Times New Roman"/>
              </a:rPr>
              <a:t> </a:t>
            </a:r>
            <a:r>
              <a:rPr dirty="0" sz="1000" spc="30">
                <a:latin typeface="Calibri"/>
                <a:cs typeface="Calibri"/>
              </a:rPr>
              <a:t>) </a:t>
            </a:r>
            <a:r>
              <a:rPr dirty="0" sz="1000" spc="85" i="1">
                <a:latin typeface="Calibri"/>
                <a:cs typeface="Calibri"/>
              </a:rPr>
              <a:t>PE</a:t>
            </a:r>
            <a:r>
              <a:rPr dirty="0" baseline="-15873" sz="1050" spc="127">
                <a:latin typeface="Tahoma"/>
                <a:cs typeface="Tahoma"/>
              </a:rPr>
              <a:t>(</a:t>
            </a:r>
            <a:r>
              <a:rPr dirty="0" baseline="-15873" sz="1050" spc="127" i="1">
                <a:latin typeface="Calibri"/>
                <a:cs typeface="Calibri"/>
              </a:rPr>
              <a:t>pos,</a:t>
            </a:r>
            <a:r>
              <a:rPr dirty="0" baseline="-15873" sz="1050" spc="127">
                <a:latin typeface="Tahoma"/>
                <a:cs typeface="Tahoma"/>
              </a:rPr>
              <a:t>2</a:t>
            </a:r>
            <a:r>
              <a:rPr dirty="0" baseline="-15873" sz="1050" spc="127" i="1">
                <a:latin typeface="Calibri"/>
                <a:cs typeface="Calibri"/>
              </a:rPr>
              <a:t>i</a:t>
            </a:r>
            <a:r>
              <a:rPr dirty="0" baseline="-15873" sz="1050" spc="127">
                <a:latin typeface="Tahoma"/>
                <a:cs typeface="Tahoma"/>
              </a:rPr>
              <a:t>+1)</a:t>
            </a:r>
            <a:r>
              <a:rPr dirty="0" baseline="-15873" sz="1050" spc="225">
                <a:latin typeface="Tahoma"/>
                <a:cs typeface="Tahoma"/>
              </a:rPr>
              <a:t> </a:t>
            </a:r>
            <a:r>
              <a:rPr dirty="0" sz="1000" spc="270">
                <a:latin typeface="Calibri"/>
                <a:cs typeface="Calibri"/>
              </a:rPr>
              <a:t>=</a:t>
            </a:r>
            <a:r>
              <a:rPr dirty="0" sz="1000" spc="90">
                <a:latin typeface="Calibri"/>
                <a:cs typeface="Calibri"/>
              </a:rPr>
              <a:t> </a:t>
            </a:r>
            <a:r>
              <a:rPr dirty="0" sz="1000" spc="20" i="1">
                <a:latin typeface="Calibri"/>
                <a:cs typeface="Calibri"/>
              </a:rPr>
              <a:t>cos</a:t>
            </a:r>
            <a:r>
              <a:rPr dirty="0" sz="1000" spc="20">
                <a:latin typeface="Calibri"/>
                <a:cs typeface="Calibri"/>
              </a:rPr>
              <a:t>(</a:t>
            </a:r>
            <a:r>
              <a:rPr dirty="0" sz="1000" spc="20" i="1">
                <a:latin typeface="Calibri"/>
                <a:cs typeface="Calibri"/>
              </a:rPr>
              <a:t>pos/</a:t>
            </a:r>
            <a:r>
              <a:rPr dirty="0" sz="1000" spc="20">
                <a:latin typeface="Calibri"/>
                <a:cs typeface="Calibri"/>
              </a:rPr>
              <a:t>10000</a:t>
            </a:r>
            <a:r>
              <a:rPr dirty="0" baseline="31746" sz="1050" spc="30">
                <a:latin typeface="Tahoma"/>
                <a:cs typeface="Tahoma"/>
              </a:rPr>
              <a:t>2</a:t>
            </a:r>
            <a:r>
              <a:rPr dirty="0" baseline="31746" sz="1050" spc="30" i="1">
                <a:latin typeface="Calibri"/>
                <a:cs typeface="Calibri"/>
              </a:rPr>
              <a:t>i/d</a:t>
            </a:r>
            <a:r>
              <a:rPr dirty="0" baseline="33333" sz="750" spc="30">
                <a:latin typeface="Times New Roman"/>
                <a:cs typeface="Times New Roman"/>
              </a:rPr>
              <a:t>model</a:t>
            </a:r>
            <a:r>
              <a:rPr dirty="0" baseline="33333" sz="750" spc="-30">
                <a:latin typeface="Times New Roman"/>
                <a:cs typeface="Times New Roman"/>
              </a:rPr>
              <a:t> </a:t>
            </a:r>
            <a:r>
              <a:rPr dirty="0" sz="1000" spc="30">
                <a:latin typeface="Calibri"/>
                <a:cs typeface="Calibri"/>
              </a:rPr>
              <a:t>)</a:t>
            </a:r>
            <a:endParaRPr sz="1000">
              <a:latin typeface="Calibri"/>
              <a:cs typeface="Calibri"/>
            </a:endParaRPr>
          </a:p>
          <a:p>
            <a:pPr>
              <a:lnSpc>
                <a:spcPct val="100000"/>
              </a:lnSpc>
              <a:spcBef>
                <a:spcPts val="180"/>
              </a:spcBef>
            </a:pPr>
            <a:endParaRPr sz="1000">
              <a:latin typeface="Calibri"/>
              <a:cs typeface="Calibri"/>
            </a:endParaRPr>
          </a:p>
          <a:p>
            <a:pPr algn="just" marL="127000" marR="130810" indent="-5080">
              <a:lnSpc>
                <a:spcPts val="1090"/>
              </a:lnSpc>
            </a:pPr>
            <a:r>
              <a:rPr dirty="0" sz="1000" spc="-10">
                <a:latin typeface="Times New Roman"/>
                <a:cs typeface="Times New Roman"/>
              </a:rPr>
              <a:t>where</a:t>
            </a:r>
            <a:r>
              <a:rPr dirty="0" sz="1000" spc="-5">
                <a:latin typeface="Times New Roman"/>
                <a:cs typeface="Times New Roman"/>
              </a:rPr>
              <a:t> </a:t>
            </a:r>
            <a:r>
              <a:rPr dirty="0" sz="1000" spc="5" i="1">
                <a:latin typeface="Calibri"/>
                <a:cs typeface="Calibri"/>
              </a:rPr>
              <a:t>pos</a:t>
            </a:r>
            <a:r>
              <a:rPr dirty="0" sz="1000" spc="20" i="1">
                <a:latin typeface="Calibri"/>
                <a:cs typeface="Calibri"/>
              </a:rPr>
              <a:t> </a:t>
            </a:r>
            <a:r>
              <a:rPr dirty="0" sz="1000">
                <a:latin typeface="Times New Roman"/>
                <a:cs typeface="Times New Roman"/>
              </a:rPr>
              <a:t>is</a:t>
            </a:r>
            <a:r>
              <a:rPr dirty="0" sz="1000" spc="-5">
                <a:latin typeface="Times New Roman"/>
                <a:cs typeface="Times New Roman"/>
              </a:rPr>
              <a:t> the position and </a:t>
            </a:r>
            <a:r>
              <a:rPr dirty="0" sz="1000" spc="114" i="1">
                <a:latin typeface="Calibri"/>
                <a:cs typeface="Calibri"/>
              </a:rPr>
              <a:t>i</a:t>
            </a:r>
            <a:r>
              <a:rPr dirty="0" sz="1000" spc="20" i="1">
                <a:latin typeface="Calibri"/>
                <a:cs typeface="Calibri"/>
              </a:rPr>
              <a:t> </a:t>
            </a:r>
            <a:r>
              <a:rPr dirty="0" sz="1000">
                <a:latin typeface="Times New Roman"/>
                <a:cs typeface="Times New Roman"/>
              </a:rPr>
              <a:t>is</a:t>
            </a:r>
            <a:r>
              <a:rPr dirty="0" sz="1000" spc="-5">
                <a:latin typeface="Times New Roman"/>
                <a:cs typeface="Times New Roman"/>
              </a:rPr>
              <a:t> the dimension.</a:t>
            </a:r>
            <a:r>
              <a:rPr dirty="0" sz="1000" spc="55">
                <a:latin typeface="Times New Roman"/>
                <a:cs typeface="Times New Roman"/>
              </a:rPr>
              <a:t> </a:t>
            </a:r>
            <a:r>
              <a:rPr dirty="0" sz="1000" spc="-5">
                <a:latin typeface="Times New Roman"/>
                <a:cs typeface="Times New Roman"/>
              </a:rPr>
              <a:t>That </a:t>
            </a:r>
            <a:r>
              <a:rPr dirty="0" sz="1000">
                <a:latin typeface="Times New Roman"/>
                <a:cs typeface="Times New Roman"/>
              </a:rPr>
              <a:t>is,</a:t>
            </a:r>
            <a:r>
              <a:rPr dirty="0" sz="1000" spc="-5">
                <a:latin typeface="Times New Roman"/>
                <a:cs typeface="Times New Roman"/>
              </a:rPr>
              <a:t> </a:t>
            </a:r>
            <a:r>
              <a:rPr dirty="0" sz="1000" spc="-10">
                <a:latin typeface="Times New Roman"/>
                <a:cs typeface="Times New Roman"/>
              </a:rPr>
              <a:t>each</a:t>
            </a:r>
            <a:r>
              <a:rPr dirty="0" sz="1000" spc="-5">
                <a:latin typeface="Times New Roman"/>
                <a:cs typeface="Times New Roman"/>
              </a:rPr>
              <a:t> dimension </a:t>
            </a:r>
            <a:r>
              <a:rPr dirty="0" sz="1000" spc="-10">
                <a:latin typeface="Times New Roman"/>
                <a:cs typeface="Times New Roman"/>
              </a:rPr>
              <a:t>of</a:t>
            </a:r>
            <a:r>
              <a:rPr dirty="0" sz="1000" spc="-5">
                <a:latin typeface="Times New Roman"/>
                <a:cs typeface="Times New Roman"/>
              </a:rPr>
              <a:t> the positional encoding </a:t>
            </a:r>
            <a:r>
              <a:rPr dirty="0" sz="1000" spc="-15">
                <a:latin typeface="Times New Roman"/>
                <a:cs typeface="Times New Roman"/>
              </a:rPr>
              <a:t>corresponds</a:t>
            </a:r>
            <a:r>
              <a:rPr dirty="0" sz="1000" spc="-10">
                <a:latin typeface="Times New Roman"/>
                <a:cs typeface="Times New Roman"/>
              </a:rPr>
              <a:t> to </a:t>
            </a:r>
            <a:r>
              <a:rPr dirty="0" sz="1000" spc="-20">
                <a:latin typeface="Times New Roman"/>
                <a:cs typeface="Times New Roman"/>
              </a:rPr>
              <a:t>a</a:t>
            </a:r>
            <a:r>
              <a:rPr dirty="0" sz="1000" spc="-10">
                <a:latin typeface="Times New Roman"/>
                <a:cs typeface="Times New Roman"/>
              </a:rPr>
              <a:t> </a:t>
            </a:r>
            <a:r>
              <a:rPr dirty="0" sz="1000" spc="-15">
                <a:latin typeface="Times New Roman"/>
                <a:cs typeface="Times New Roman"/>
              </a:rPr>
              <a:t>sinusoid.</a:t>
            </a:r>
            <a:r>
              <a:rPr dirty="0" sz="1000" spc="55">
                <a:latin typeface="Times New Roman"/>
                <a:cs typeface="Times New Roman"/>
              </a:rPr>
              <a:t> </a:t>
            </a:r>
            <a:r>
              <a:rPr dirty="0" sz="1000" spc="-20">
                <a:latin typeface="Times New Roman"/>
                <a:cs typeface="Times New Roman"/>
              </a:rPr>
              <a:t>The</a:t>
            </a:r>
            <a:r>
              <a:rPr dirty="0" sz="1000" spc="-10">
                <a:latin typeface="Times New Roman"/>
                <a:cs typeface="Times New Roman"/>
              </a:rPr>
              <a:t> </a:t>
            </a:r>
            <a:r>
              <a:rPr dirty="0" sz="1000" spc="-20">
                <a:latin typeface="Times New Roman"/>
                <a:cs typeface="Times New Roman"/>
              </a:rPr>
              <a:t>wavelengths</a:t>
            </a:r>
            <a:r>
              <a:rPr dirty="0" sz="1000" spc="-10">
                <a:latin typeface="Times New Roman"/>
                <a:cs typeface="Times New Roman"/>
              </a:rPr>
              <a:t> </a:t>
            </a:r>
            <a:r>
              <a:rPr dirty="0" sz="1000" spc="-15">
                <a:latin typeface="Times New Roman"/>
                <a:cs typeface="Times New Roman"/>
              </a:rPr>
              <a:t>form</a:t>
            </a:r>
            <a:r>
              <a:rPr dirty="0" sz="1000" spc="-10">
                <a:latin typeface="Times New Roman"/>
                <a:cs typeface="Times New Roman"/>
              </a:rPr>
              <a:t> </a:t>
            </a:r>
            <a:r>
              <a:rPr dirty="0" sz="1000" spc="-20">
                <a:latin typeface="Times New Roman"/>
                <a:cs typeface="Times New Roman"/>
              </a:rPr>
              <a:t>a</a:t>
            </a:r>
            <a:r>
              <a:rPr dirty="0" sz="1000" spc="-10">
                <a:latin typeface="Times New Roman"/>
                <a:cs typeface="Times New Roman"/>
              </a:rPr>
              <a:t> </a:t>
            </a:r>
            <a:r>
              <a:rPr dirty="0" sz="1000" spc="-15">
                <a:latin typeface="Times New Roman"/>
                <a:cs typeface="Times New Roman"/>
              </a:rPr>
              <a:t>geometric</a:t>
            </a:r>
            <a:r>
              <a:rPr dirty="0" sz="1000" spc="-10">
                <a:latin typeface="Times New Roman"/>
                <a:cs typeface="Times New Roman"/>
              </a:rPr>
              <a:t> </a:t>
            </a:r>
            <a:r>
              <a:rPr dirty="0" sz="1000" spc="-15">
                <a:latin typeface="Times New Roman"/>
                <a:cs typeface="Times New Roman"/>
              </a:rPr>
              <a:t>progression</a:t>
            </a:r>
            <a:r>
              <a:rPr dirty="0" sz="1000" spc="-10">
                <a:latin typeface="Times New Roman"/>
                <a:cs typeface="Times New Roman"/>
              </a:rPr>
              <a:t> </a:t>
            </a:r>
            <a:r>
              <a:rPr dirty="0" sz="1000" spc="-20">
                <a:latin typeface="Times New Roman"/>
                <a:cs typeface="Times New Roman"/>
              </a:rPr>
              <a:t>from</a:t>
            </a:r>
            <a:r>
              <a:rPr dirty="0" sz="1000" spc="-10">
                <a:latin typeface="Times New Roman"/>
                <a:cs typeface="Times New Roman"/>
              </a:rPr>
              <a:t> </a:t>
            </a:r>
            <a:r>
              <a:rPr dirty="0" sz="1000">
                <a:latin typeface="Calibri"/>
                <a:cs typeface="Calibri"/>
              </a:rPr>
              <a:t>2</a:t>
            </a:r>
            <a:r>
              <a:rPr dirty="0" sz="1000" i="1">
                <a:latin typeface="Calibri"/>
                <a:cs typeface="Calibri"/>
              </a:rPr>
              <a:t>π</a:t>
            </a:r>
            <a:r>
              <a:rPr dirty="0" sz="1000" spc="50" i="1">
                <a:latin typeface="Calibri"/>
                <a:cs typeface="Calibri"/>
              </a:rPr>
              <a:t> </a:t>
            </a:r>
            <a:r>
              <a:rPr dirty="0" sz="1000" spc="-10">
                <a:latin typeface="Times New Roman"/>
                <a:cs typeface="Times New Roman"/>
              </a:rPr>
              <a:t>to </a:t>
            </a:r>
            <a:r>
              <a:rPr dirty="0" sz="1000" spc="-20">
                <a:latin typeface="Calibri"/>
                <a:cs typeface="Calibri"/>
              </a:rPr>
              <a:t>10000</a:t>
            </a:r>
            <a:r>
              <a:rPr dirty="0" sz="1000" spc="-35">
                <a:latin typeface="Calibri"/>
                <a:cs typeface="Calibri"/>
              </a:rPr>
              <a:t> </a:t>
            </a:r>
            <a:r>
              <a:rPr dirty="0" sz="1000" spc="-365">
                <a:latin typeface="Lucida Sans Unicode"/>
                <a:cs typeface="Lucida Sans Unicode"/>
              </a:rPr>
              <a:t>·</a:t>
            </a:r>
            <a:r>
              <a:rPr dirty="0" sz="1000" spc="-125">
                <a:latin typeface="Lucida Sans Unicode"/>
                <a:cs typeface="Lucida Sans Unicode"/>
              </a:rPr>
              <a:t> </a:t>
            </a:r>
            <a:r>
              <a:rPr dirty="0" sz="1000" spc="5">
                <a:latin typeface="Calibri"/>
                <a:cs typeface="Calibri"/>
              </a:rPr>
              <a:t>2</a:t>
            </a:r>
            <a:r>
              <a:rPr dirty="0" sz="1000" spc="5" i="1">
                <a:latin typeface="Calibri"/>
                <a:cs typeface="Calibri"/>
              </a:rPr>
              <a:t>π</a:t>
            </a:r>
            <a:r>
              <a:rPr dirty="0" sz="1000" spc="5">
                <a:latin typeface="Times New Roman"/>
                <a:cs typeface="Times New Roman"/>
              </a:rPr>
              <a:t>.</a:t>
            </a:r>
            <a:r>
              <a:rPr dirty="0" sz="1000" spc="55">
                <a:latin typeface="Times New Roman"/>
                <a:cs typeface="Times New Roman"/>
              </a:rPr>
              <a:t> </a:t>
            </a:r>
            <a:r>
              <a:rPr dirty="0" sz="1000" spc="-70">
                <a:latin typeface="Times New Roman"/>
                <a:cs typeface="Times New Roman"/>
              </a:rPr>
              <a:t>We</a:t>
            </a:r>
            <a:r>
              <a:rPr dirty="0" sz="1000" spc="-10">
                <a:latin typeface="Times New Roman"/>
                <a:cs typeface="Times New Roman"/>
              </a:rPr>
              <a:t> </a:t>
            </a:r>
            <a:r>
              <a:rPr dirty="0" sz="1000">
                <a:latin typeface="Times New Roman"/>
                <a:cs typeface="Times New Roman"/>
              </a:rPr>
              <a:t>chose</a:t>
            </a:r>
            <a:r>
              <a:rPr dirty="0" sz="1000" spc="5">
                <a:latin typeface="Times New Roman"/>
                <a:cs typeface="Times New Roman"/>
              </a:rPr>
              <a:t> this </a:t>
            </a:r>
            <a:r>
              <a:rPr dirty="0" sz="1000">
                <a:latin typeface="Times New Roman"/>
                <a:cs typeface="Times New Roman"/>
              </a:rPr>
              <a:t>function</a:t>
            </a:r>
            <a:r>
              <a:rPr dirty="0" sz="1000" spc="5">
                <a:latin typeface="Times New Roman"/>
                <a:cs typeface="Times New Roman"/>
              </a:rPr>
              <a:t> </a:t>
            </a:r>
            <a:r>
              <a:rPr dirty="0" sz="1000">
                <a:latin typeface="Times New Roman"/>
                <a:cs typeface="Times New Roman"/>
              </a:rPr>
              <a:t>because</a:t>
            </a:r>
            <a:r>
              <a:rPr dirty="0" sz="1000" spc="5">
                <a:latin typeface="Times New Roman"/>
                <a:cs typeface="Times New Roman"/>
              </a:rPr>
              <a:t> </a:t>
            </a:r>
            <a:r>
              <a:rPr dirty="0" sz="1000">
                <a:latin typeface="Times New Roman"/>
                <a:cs typeface="Times New Roman"/>
              </a:rPr>
              <a:t>we</a:t>
            </a:r>
            <a:r>
              <a:rPr dirty="0" sz="1000" spc="5">
                <a:latin typeface="Times New Roman"/>
                <a:cs typeface="Times New Roman"/>
              </a:rPr>
              <a:t> </a:t>
            </a:r>
            <a:r>
              <a:rPr dirty="0" sz="1000">
                <a:latin typeface="Times New Roman"/>
                <a:cs typeface="Times New Roman"/>
              </a:rPr>
              <a:t>hypothesized</a:t>
            </a:r>
            <a:r>
              <a:rPr dirty="0" sz="1000" spc="5">
                <a:latin typeface="Times New Roman"/>
                <a:cs typeface="Times New Roman"/>
              </a:rPr>
              <a:t> it </a:t>
            </a:r>
            <a:r>
              <a:rPr dirty="0" sz="1000">
                <a:latin typeface="Times New Roman"/>
                <a:cs typeface="Times New Roman"/>
              </a:rPr>
              <a:t>would</a:t>
            </a:r>
            <a:r>
              <a:rPr dirty="0" sz="1000" spc="5">
                <a:latin typeface="Times New Roman"/>
                <a:cs typeface="Times New Roman"/>
              </a:rPr>
              <a:t> </a:t>
            </a:r>
            <a:r>
              <a:rPr dirty="0" sz="1000" spc="-5">
                <a:latin typeface="Times New Roman"/>
                <a:cs typeface="Times New Roman"/>
              </a:rPr>
              <a:t>allow</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model to </a:t>
            </a:r>
            <a:r>
              <a:rPr dirty="0" sz="1000">
                <a:latin typeface="Times New Roman"/>
                <a:cs typeface="Times New Roman"/>
              </a:rPr>
              <a:t>easily</a:t>
            </a:r>
            <a:r>
              <a:rPr dirty="0" sz="1000" spc="5">
                <a:latin typeface="Times New Roman"/>
                <a:cs typeface="Times New Roman"/>
              </a:rPr>
              <a:t> </a:t>
            </a:r>
            <a:r>
              <a:rPr dirty="0" sz="1000">
                <a:latin typeface="Times New Roman"/>
                <a:cs typeface="Times New Roman"/>
              </a:rPr>
              <a:t>learn</a:t>
            </a:r>
            <a:r>
              <a:rPr dirty="0" sz="1000" spc="5">
                <a:latin typeface="Times New Roman"/>
                <a:cs typeface="Times New Roman"/>
              </a:rPr>
              <a:t> to </a:t>
            </a:r>
            <a:r>
              <a:rPr dirty="0" sz="1000">
                <a:latin typeface="Times New Roman"/>
                <a:cs typeface="Times New Roman"/>
              </a:rPr>
              <a:t>attend</a:t>
            </a:r>
            <a:r>
              <a:rPr dirty="0" sz="1000" spc="5">
                <a:latin typeface="Times New Roman"/>
                <a:cs typeface="Times New Roman"/>
              </a:rPr>
              <a:t> by</a:t>
            </a:r>
            <a:r>
              <a:rPr dirty="0" sz="1000">
                <a:latin typeface="Times New Roman"/>
                <a:cs typeface="Times New Roman"/>
              </a:rPr>
              <a:t> </a:t>
            </a:r>
            <a:r>
              <a:rPr dirty="0" sz="1000" spc="-5">
                <a:latin typeface="Times New Roman"/>
                <a:cs typeface="Times New Roman"/>
              </a:rPr>
              <a:t>relative</a:t>
            </a:r>
            <a:r>
              <a:rPr dirty="0" sz="1000" spc="5">
                <a:latin typeface="Times New Roman"/>
                <a:cs typeface="Times New Roman"/>
              </a:rPr>
              <a:t> </a:t>
            </a:r>
            <a:r>
              <a:rPr dirty="0" sz="1000">
                <a:latin typeface="Times New Roman"/>
                <a:cs typeface="Times New Roman"/>
              </a:rPr>
              <a:t>positions,</a:t>
            </a:r>
            <a:r>
              <a:rPr dirty="0" sz="1000" spc="10">
                <a:latin typeface="Times New Roman"/>
                <a:cs typeface="Times New Roman"/>
              </a:rPr>
              <a:t> </a:t>
            </a:r>
            <a:r>
              <a:rPr dirty="0" sz="1000">
                <a:latin typeface="Times New Roman"/>
                <a:cs typeface="Times New Roman"/>
              </a:rPr>
              <a:t>since</a:t>
            </a:r>
            <a:r>
              <a:rPr dirty="0" sz="1000" spc="5">
                <a:latin typeface="Times New Roman"/>
                <a:cs typeface="Times New Roman"/>
              </a:rPr>
              <a:t> </a:t>
            </a:r>
            <a:r>
              <a:rPr dirty="0" sz="1000">
                <a:latin typeface="Times New Roman"/>
                <a:cs typeface="Times New Roman"/>
              </a:rPr>
              <a:t>for</a:t>
            </a:r>
            <a:r>
              <a:rPr dirty="0" sz="1000" spc="5">
                <a:latin typeface="Times New Roman"/>
                <a:cs typeface="Times New Roman"/>
              </a:rPr>
              <a:t> </a:t>
            </a:r>
            <a:r>
              <a:rPr dirty="0" sz="1000" spc="-5">
                <a:latin typeface="Times New Roman"/>
                <a:cs typeface="Times New Roman"/>
              </a:rPr>
              <a:t>any</a:t>
            </a:r>
            <a:r>
              <a:rPr dirty="0" sz="1000" spc="5">
                <a:latin typeface="Times New Roman"/>
                <a:cs typeface="Times New Roman"/>
              </a:rPr>
              <a:t> </a:t>
            </a:r>
            <a:r>
              <a:rPr dirty="0" sz="1000" spc="-15">
                <a:latin typeface="Times New Roman"/>
                <a:cs typeface="Times New Roman"/>
              </a:rPr>
              <a:t>fixed</a:t>
            </a:r>
            <a:r>
              <a:rPr dirty="0" sz="1000" spc="5">
                <a:latin typeface="Times New Roman"/>
                <a:cs typeface="Times New Roman"/>
              </a:rPr>
              <a:t> </a:t>
            </a:r>
            <a:r>
              <a:rPr dirty="0" sz="1000" spc="-5">
                <a:latin typeface="Times New Roman"/>
                <a:cs typeface="Times New Roman"/>
              </a:rPr>
              <a:t>offset</a:t>
            </a:r>
            <a:r>
              <a:rPr dirty="0" sz="1000" spc="5">
                <a:latin typeface="Times New Roman"/>
                <a:cs typeface="Times New Roman"/>
              </a:rPr>
              <a:t> </a:t>
            </a:r>
            <a:r>
              <a:rPr dirty="0" sz="1000" spc="50" i="1">
                <a:latin typeface="Calibri"/>
                <a:cs typeface="Calibri"/>
              </a:rPr>
              <a:t>k</a:t>
            </a:r>
            <a:r>
              <a:rPr dirty="0" sz="1000" spc="50">
                <a:latin typeface="Times New Roman"/>
                <a:cs typeface="Times New Roman"/>
              </a:rPr>
              <a:t>,</a:t>
            </a:r>
            <a:r>
              <a:rPr dirty="0" sz="1000" spc="10">
                <a:latin typeface="Times New Roman"/>
                <a:cs typeface="Times New Roman"/>
              </a:rPr>
              <a:t> </a:t>
            </a:r>
            <a:r>
              <a:rPr dirty="0" sz="1000" spc="125" i="1">
                <a:latin typeface="Calibri"/>
                <a:cs typeface="Calibri"/>
              </a:rPr>
              <a:t>PE</a:t>
            </a:r>
            <a:r>
              <a:rPr dirty="0" baseline="-11904" sz="1050" spc="187" i="1">
                <a:latin typeface="Calibri"/>
                <a:cs typeface="Calibri"/>
              </a:rPr>
              <a:t>pos</a:t>
            </a:r>
            <a:r>
              <a:rPr dirty="0" baseline="-11904" sz="1050" spc="187">
                <a:latin typeface="Tahoma"/>
                <a:cs typeface="Tahoma"/>
              </a:rPr>
              <a:t>+</a:t>
            </a:r>
            <a:r>
              <a:rPr dirty="0" baseline="-11904" sz="1050" spc="187" i="1">
                <a:latin typeface="Calibri"/>
                <a:cs typeface="Calibri"/>
              </a:rPr>
              <a:t>k</a:t>
            </a:r>
            <a:r>
              <a:rPr dirty="0" baseline="-11904" sz="1050" spc="247" i="1">
                <a:latin typeface="Calibri"/>
                <a:cs typeface="Calibri"/>
              </a:rPr>
              <a:t> </a:t>
            </a:r>
            <a:r>
              <a:rPr dirty="0" sz="1000">
                <a:latin typeface="Times New Roman"/>
                <a:cs typeface="Times New Roman"/>
              </a:rPr>
              <a:t>can</a:t>
            </a:r>
            <a:r>
              <a:rPr dirty="0" sz="1000" spc="5">
                <a:latin typeface="Times New Roman"/>
                <a:cs typeface="Times New Roman"/>
              </a:rPr>
              <a:t> </a:t>
            </a:r>
            <a:r>
              <a:rPr dirty="0" sz="1000">
                <a:latin typeface="Times New Roman"/>
                <a:cs typeface="Times New Roman"/>
              </a:rPr>
              <a:t>be</a:t>
            </a:r>
            <a:r>
              <a:rPr dirty="0" sz="1000" spc="5">
                <a:latin typeface="Times New Roman"/>
                <a:cs typeface="Times New Roman"/>
              </a:rPr>
              <a:t> </a:t>
            </a:r>
            <a:r>
              <a:rPr dirty="0" sz="1000">
                <a:latin typeface="Times New Roman"/>
                <a:cs typeface="Times New Roman"/>
              </a:rPr>
              <a:t>represented</a:t>
            </a:r>
            <a:r>
              <a:rPr dirty="0" sz="1000" spc="5">
                <a:latin typeface="Times New Roman"/>
                <a:cs typeface="Times New Roman"/>
              </a:rPr>
              <a:t> </a:t>
            </a:r>
            <a:r>
              <a:rPr dirty="0" sz="1000">
                <a:latin typeface="Times New Roman"/>
                <a:cs typeface="Times New Roman"/>
              </a:rPr>
              <a:t>as</a:t>
            </a:r>
            <a:r>
              <a:rPr dirty="0" sz="1000" spc="5">
                <a:latin typeface="Times New Roman"/>
                <a:cs typeface="Times New Roman"/>
              </a:rPr>
              <a:t> </a:t>
            </a:r>
            <a:r>
              <a:rPr dirty="0" sz="1000">
                <a:latin typeface="Times New Roman"/>
                <a:cs typeface="Times New Roman"/>
              </a:rPr>
              <a:t>a</a:t>
            </a:r>
            <a:r>
              <a:rPr dirty="0" sz="1000" spc="5">
                <a:latin typeface="Times New Roman"/>
                <a:cs typeface="Times New Roman"/>
              </a:rPr>
              <a:t> </a:t>
            </a:r>
            <a:r>
              <a:rPr dirty="0" sz="1000">
                <a:latin typeface="Times New Roman"/>
                <a:cs typeface="Times New Roman"/>
              </a:rPr>
              <a:t>linear</a:t>
            </a:r>
            <a:r>
              <a:rPr dirty="0" sz="1000" spc="5">
                <a:latin typeface="Times New Roman"/>
                <a:cs typeface="Times New Roman"/>
              </a:rPr>
              <a:t> </a:t>
            </a:r>
            <a:r>
              <a:rPr dirty="0" sz="1000">
                <a:latin typeface="Times New Roman"/>
                <a:cs typeface="Times New Roman"/>
              </a:rPr>
              <a:t>function</a:t>
            </a:r>
            <a:r>
              <a:rPr dirty="0" sz="1000" spc="5">
                <a:latin typeface="Times New Roman"/>
                <a:cs typeface="Times New Roman"/>
              </a:rPr>
              <a:t> </a:t>
            </a:r>
            <a:r>
              <a:rPr dirty="0" sz="1000">
                <a:latin typeface="Times New Roman"/>
                <a:cs typeface="Times New Roman"/>
              </a:rPr>
              <a:t>of </a:t>
            </a:r>
            <a:r>
              <a:rPr dirty="0" sz="1000" spc="114" i="1">
                <a:latin typeface="Calibri"/>
                <a:cs typeface="Calibri"/>
              </a:rPr>
              <a:t>PE</a:t>
            </a:r>
            <a:r>
              <a:rPr dirty="0" baseline="-11904" sz="1050" spc="172" i="1">
                <a:latin typeface="Calibri"/>
                <a:cs typeface="Calibri"/>
              </a:rPr>
              <a:t>pos</a:t>
            </a:r>
            <a:r>
              <a:rPr dirty="0" sz="1000" spc="114">
                <a:latin typeface="Times New Roman"/>
                <a:cs typeface="Times New Roman"/>
              </a:rPr>
              <a:t>.</a:t>
            </a:r>
            <a:endParaRPr sz="1000">
              <a:latin typeface="Times New Roman"/>
              <a:cs typeface="Times New Roman"/>
            </a:endParaRPr>
          </a:p>
          <a:p>
            <a:pPr algn="just" marL="123825" marR="134620" indent="-3175">
              <a:lnSpc>
                <a:spcPts val="1090"/>
              </a:lnSpc>
              <a:spcBef>
                <a:spcPts val="550"/>
              </a:spcBef>
            </a:pPr>
            <a:r>
              <a:rPr dirty="0" sz="1000" spc="-50">
                <a:latin typeface="Times New Roman"/>
                <a:cs typeface="Times New Roman"/>
              </a:rPr>
              <a:t>We</a:t>
            </a:r>
            <a:r>
              <a:rPr dirty="0" sz="1000" spc="-25">
                <a:latin typeface="Times New Roman"/>
                <a:cs typeface="Times New Roman"/>
              </a:rPr>
              <a:t> </a:t>
            </a:r>
            <a:r>
              <a:rPr dirty="0" sz="1000">
                <a:latin typeface="Times New Roman"/>
                <a:cs typeface="Times New Roman"/>
              </a:rPr>
              <a:t>also</a:t>
            </a:r>
            <a:r>
              <a:rPr dirty="0" sz="1000" spc="-25">
                <a:latin typeface="Times New Roman"/>
                <a:cs typeface="Times New Roman"/>
              </a:rPr>
              <a:t> </a:t>
            </a:r>
            <a:r>
              <a:rPr dirty="0" sz="1000" spc="-10">
                <a:latin typeface="Times New Roman"/>
                <a:cs typeface="Times New Roman"/>
              </a:rPr>
              <a:t>experimented</a:t>
            </a:r>
            <a:r>
              <a:rPr dirty="0" sz="1000" spc="-25">
                <a:latin typeface="Times New Roman"/>
                <a:cs typeface="Times New Roman"/>
              </a:rPr>
              <a:t> </a:t>
            </a:r>
            <a:r>
              <a:rPr dirty="0" sz="1000">
                <a:latin typeface="Times New Roman"/>
                <a:cs typeface="Times New Roman"/>
              </a:rPr>
              <a:t>with</a:t>
            </a:r>
            <a:r>
              <a:rPr dirty="0" sz="1000" spc="-15">
                <a:latin typeface="Times New Roman"/>
                <a:cs typeface="Times New Roman"/>
              </a:rPr>
              <a:t> </a:t>
            </a:r>
            <a:r>
              <a:rPr dirty="0" sz="1000">
                <a:latin typeface="Times New Roman"/>
                <a:cs typeface="Times New Roman"/>
              </a:rPr>
              <a:t>using</a:t>
            </a:r>
            <a:r>
              <a:rPr dirty="0" sz="1000" spc="-25">
                <a:latin typeface="Times New Roman"/>
                <a:cs typeface="Times New Roman"/>
              </a:rPr>
              <a:t> </a:t>
            </a:r>
            <a:r>
              <a:rPr dirty="0" sz="1000">
                <a:latin typeface="Times New Roman"/>
                <a:cs typeface="Times New Roman"/>
              </a:rPr>
              <a:t>learned</a:t>
            </a:r>
            <a:r>
              <a:rPr dirty="0" sz="1000" spc="-20">
                <a:latin typeface="Times New Roman"/>
                <a:cs typeface="Times New Roman"/>
              </a:rPr>
              <a:t> </a:t>
            </a:r>
            <a:r>
              <a:rPr dirty="0" sz="1000">
                <a:latin typeface="Times New Roman"/>
                <a:cs typeface="Times New Roman"/>
              </a:rPr>
              <a:t>positional</a:t>
            </a:r>
            <a:r>
              <a:rPr dirty="0" sz="1000" spc="-20">
                <a:latin typeface="Times New Roman"/>
                <a:cs typeface="Times New Roman"/>
              </a:rPr>
              <a:t> </a:t>
            </a:r>
            <a:r>
              <a:rPr dirty="0" sz="1000">
                <a:latin typeface="Times New Roman"/>
                <a:cs typeface="Times New Roman"/>
              </a:rPr>
              <a:t>embeddings</a:t>
            </a:r>
            <a:r>
              <a:rPr dirty="0" sz="1000" spc="-20">
                <a:latin typeface="Times New Roman"/>
                <a:cs typeface="Times New Roman"/>
              </a:rPr>
              <a:t> </a:t>
            </a:r>
            <a:r>
              <a:rPr dirty="0" sz="1000">
                <a:latin typeface="Times New Roman"/>
                <a:cs typeface="Times New Roman"/>
              </a:rPr>
              <a:t>[8]</a:t>
            </a:r>
            <a:r>
              <a:rPr dirty="0" sz="1000" spc="-20">
                <a:latin typeface="Times New Roman"/>
                <a:cs typeface="Times New Roman"/>
              </a:rPr>
              <a:t> </a:t>
            </a:r>
            <a:r>
              <a:rPr dirty="0" sz="1000">
                <a:latin typeface="Times New Roman"/>
                <a:cs typeface="Times New Roman"/>
              </a:rPr>
              <a:t>instead,</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found</a:t>
            </a:r>
            <a:r>
              <a:rPr dirty="0" sz="1000" spc="-20">
                <a:latin typeface="Times New Roman"/>
                <a:cs typeface="Times New Roman"/>
              </a:rPr>
              <a:t> </a:t>
            </a:r>
            <a:r>
              <a:rPr dirty="0" sz="1000">
                <a:latin typeface="Times New Roman"/>
                <a:cs typeface="Times New Roman"/>
              </a:rPr>
              <a:t>that</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25">
                <a:latin typeface="Times New Roman"/>
                <a:cs typeface="Times New Roman"/>
              </a:rPr>
              <a:t>two </a:t>
            </a:r>
            <a:r>
              <a:rPr dirty="0" sz="1000">
                <a:latin typeface="Times New Roman"/>
                <a:cs typeface="Times New Roman"/>
              </a:rPr>
              <a:t>versions</a:t>
            </a:r>
            <a:r>
              <a:rPr dirty="0" sz="1000" spc="30">
                <a:latin typeface="Times New Roman"/>
                <a:cs typeface="Times New Roman"/>
              </a:rPr>
              <a:t> </a:t>
            </a:r>
            <a:r>
              <a:rPr dirty="0" sz="1000">
                <a:latin typeface="Times New Roman"/>
                <a:cs typeface="Times New Roman"/>
              </a:rPr>
              <a:t>produced</a:t>
            </a:r>
            <a:r>
              <a:rPr dirty="0" sz="1000" spc="35">
                <a:latin typeface="Times New Roman"/>
                <a:cs typeface="Times New Roman"/>
              </a:rPr>
              <a:t> </a:t>
            </a:r>
            <a:r>
              <a:rPr dirty="0" sz="1000">
                <a:latin typeface="Times New Roman"/>
                <a:cs typeface="Times New Roman"/>
              </a:rPr>
              <a:t>nearly</a:t>
            </a:r>
            <a:r>
              <a:rPr dirty="0" sz="1000" spc="30">
                <a:latin typeface="Times New Roman"/>
                <a:cs typeface="Times New Roman"/>
              </a:rPr>
              <a:t> </a:t>
            </a:r>
            <a:r>
              <a:rPr dirty="0" sz="1000">
                <a:latin typeface="Times New Roman"/>
                <a:cs typeface="Times New Roman"/>
              </a:rPr>
              <a:t>identical</a:t>
            </a:r>
            <a:r>
              <a:rPr dirty="0" sz="1000" spc="35">
                <a:latin typeface="Times New Roman"/>
                <a:cs typeface="Times New Roman"/>
              </a:rPr>
              <a:t> </a:t>
            </a:r>
            <a:r>
              <a:rPr dirty="0" sz="1000">
                <a:latin typeface="Times New Roman"/>
                <a:cs typeface="Times New Roman"/>
              </a:rPr>
              <a:t>results</a:t>
            </a:r>
            <a:r>
              <a:rPr dirty="0" sz="1000" spc="30">
                <a:latin typeface="Times New Roman"/>
                <a:cs typeface="Times New Roman"/>
              </a:rPr>
              <a:t> </a:t>
            </a:r>
            <a:r>
              <a:rPr dirty="0" sz="1000">
                <a:latin typeface="Times New Roman"/>
                <a:cs typeface="Times New Roman"/>
              </a:rPr>
              <a:t>(see</a:t>
            </a:r>
            <a:r>
              <a:rPr dirty="0" sz="1000" spc="35">
                <a:latin typeface="Times New Roman"/>
                <a:cs typeface="Times New Roman"/>
              </a:rPr>
              <a:t> </a:t>
            </a:r>
            <a:r>
              <a:rPr dirty="0" sz="1000">
                <a:latin typeface="Times New Roman"/>
                <a:cs typeface="Times New Roman"/>
              </a:rPr>
              <a:t>Table</a:t>
            </a:r>
            <a:r>
              <a:rPr dirty="0" sz="1000" spc="30">
                <a:latin typeface="Times New Roman"/>
                <a:cs typeface="Times New Roman"/>
              </a:rPr>
              <a:t> </a:t>
            </a:r>
            <a:r>
              <a:rPr dirty="0" sz="1000">
                <a:latin typeface="Times New Roman"/>
                <a:cs typeface="Times New Roman"/>
              </a:rPr>
              <a:t>3</a:t>
            </a:r>
            <a:r>
              <a:rPr dirty="0" sz="1000" spc="35">
                <a:latin typeface="Times New Roman"/>
                <a:cs typeface="Times New Roman"/>
              </a:rPr>
              <a:t> </a:t>
            </a:r>
            <a:r>
              <a:rPr dirty="0" sz="1000">
                <a:latin typeface="Times New Roman"/>
                <a:cs typeface="Times New Roman"/>
              </a:rPr>
              <a:t>row</a:t>
            </a:r>
            <a:r>
              <a:rPr dirty="0" sz="1000" spc="30">
                <a:latin typeface="Times New Roman"/>
                <a:cs typeface="Times New Roman"/>
              </a:rPr>
              <a:t> </a:t>
            </a:r>
            <a:r>
              <a:rPr dirty="0" sz="1000">
                <a:latin typeface="Times New Roman"/>
                <a:cs typeface="Times New Roman"/>
              </a:rPr>
              <a:t>(E)).</a:t>
            </a:r>
            <a:r>
              <a:rPr dirty="0" sz="1000" spc="35">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chose</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sinusoidal</a:t>
            </a:r>
            <a:r>
              <a:rPr dirty="0" sz="1000" spc="35">
                <a:latin typeface="Times New Roman"/>
                <a:cs typeface="Times New Roman"/>
              </a:rPr>
              <a:t> </a:t>
            </a:r>
            <a:r>
              <a:rPr dirty="0" sz="1000" spc="-10">
                <a:latin typeface="Times New Roman"/>
                <a:cs typeface="Times New Roman"/>
              </a:rPr>
              <a:t>version because</a:t>
            </a:r>
            <a:r>
              <a:rPr dirty="0" sz="1000" spc="-20">
                <a:latin typeface="Times New Roman"/>
                <a:cs typeface="Times New Roman"/>
              </a:rPr>
              <a:t> </a:t>
            </a:r>
            <a:r>
              <a:rPr dirty="0" sz="1000">
                <a:latin typeface="Times New Roman"/>
                <a:cs typeface="Times New Roman"/>
              </a:rPr>
              <a:t>it</a:t>
            </a:r>
            <a:r>
              <a:rPr dirty="0" sz="1000" spc="-20">
                <a:latin typeface="Times New Roman"/>
                <a:cs typeface="Times New Roman"/>
              </a:rPr>
              <a:t> </a:t>
            </a:r>
            <a:r>
              <a:rPr dirty="0" sz="1000">
                <a:latin typeface="Times New Roman"/>
                <a:cs typeface="Times New Roman"/>
              </a:rPr>
              <a:t>may</a:t>
            </a:r>
            <a:r>
              <a:rPr dirty="0" sz="1000" spc="-20">
                <a:latin typeface="Times New Roman"/>
                <a:cs typeface="Times New Roman"/>
              </a:rPr>
              <a:t> </a:t>
            </a:r>
            <a:r>
              <a:rPr dirty="0" sz="1000">
                <a:latin typeface="Times New Roman"/>
                <a:cs typeface="Times New Roman"/>
              </a:rPr>
              <a:t>allow</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model</a:t>
            </a:r>
            <a:r>
              <a:rPr dirty="0" sz="1000" spc="-20">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spc="-10">
                <a:latin typeface="Times New Roman"/>
                <a:cs typeface="Times New Roman"/>
              </a:rPr>
              <a:t>extrapolate</a:t>
            </a:r>
            <a:r>
              <a:rPr dirty="0" sz="1000" spc="-20">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spc="-10">
                <a:latin typeface="Times New Roman"/>
                <a:cs typeface="Times New Roman"/>
              </a:rPr>
              <a:t>sequence</a:t>
            </a:r>
            <a:r>
              <a:rPr dirty="0" sz="1000" spc="-15">
                <a:latin typeface="Times New Roman"/>
                <a:cs typeface="Times New Roman"/>
              </a:rPr>
              <a:t> </a:t>
            </a:r>
            <a:r>
              <a:rPr dirty="0" sz="1000">
                <a:latin typeface="Times New Roman"/>
                <a:cs typeface="Times New Roman"/>
              </a:rPr>
              <a:t>lengths</a:t>
            </a:r>
            <a:r>
              <a:rPr dirty="0" sz="1000" spc="-20">
                <a:latin typeface="Times New Roman"/>
                <a:cs typeface="Times New Roman"/>
              </a:rPr>
              <a:t> </a:t>
            </a:r>
            <a:r>
              <a:rPr dirty="0" sz="1000">
                <a:latin typeface="Times New Roman"/>
                <a:cs typeface="Times New Roman"/>
              </a:rPr>
              <a:t>longer</a:t>
            </a:r>
            <a:r>
              <a:rPr dirty="0" sz="1000" spc="-20">
                <a:latin typeface="Times New Roman"/>
                <a:cs typeface="Times New Roman"/>
              </a:rPr>
              <a:t> </a:t>
            </a:r>
            <a:r>
              <a:rPr dirty="0" sz="1000">
                <a:latin typeface="Times New Roman"/>
                <a:cs typeface="Times New Roman"/>
              </a:rPr>
              <a:t>than</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ones</a:t>
            </a:r>
            <a:r>
              <a:rPr dirty="0" sz="1000" spc="-20">
                <a:latin typeface="Times New Roman"/>
                <a:cs typeface="Times New Roman"/>
              </a:rPr>
              <a:t> </a:t>
            </a:r>
            <a:r>
              <a:rPr dirty="0" sz="1000" spc="-10">
                <a:latin typeface="Times New Roman"/>
                <a:cs typeface="Times New Roman"/>
              </a:rPr>
              <a:t>encountered </a:t>
            </a:r>
            <a:r>
              <a:rPr dirty="0" sz="1000">
                <a:latin typeface="Times New Roman"/>
                <a:cs typeface="Times New Roman"/>
              </a:rPr>
              <a:t>during</a:t>
            </a:r>
            <a:r>
              <a:rPr dirty="0" sz="1000" spc="-35">
                <a:latin typeface="Times New Roman"/>
                <a:cs typeface="Times New Roman"/>
              </a:rPr>
              <a:t> </a:t>
            </a:r>
            <a:r>
              <a:rPr dirty="0" sz="1000" spc="-10">
                <a:latin typeface="Times New Roman"/>
                <a:cs typeface="Times New Roman"/>
              </a:rPr>
              <a:t>training.</a:t>
            </a:r>
            <a:endParaRPr sz="1000">
              <a:latin typeface="Times New Roman"/>
              <a:cs typeface="Times New Roman"/>
            </a:endParaRPr>
          </a:p>
          <a:p>
            <a:pPr>
              <a:lnSpc>
                <a:spcPct val="100000"/>
              </a:lnSpc>
              <a:spcBef>
                <a:spcPts val="425"/>
              </a:spcBef>
            </a:pPr>
            <a:endParaRPr sz="1000">
              <a:latin typeface="Times New Roman"/>
              <a:cs typeface="Times New Roman"/>
            </a:endParaRPr>
          </a:p>
          <a:p>
            <a:pPr algn="just" marL="127000">
              <a:lnSpc>
                <a:spcPct val="100000"/>
              </a:lnSpc>
            </a:pPr>
            <a:r>
              <a:rPr dirty="0" sz="1200" b="1">
                <a:latin typeface="Times New Roman"/>
                <a:cs typeface="Times New Roman"/>
              </a:rPr>
              <a:t>4</a:t>
            </a:r>
            <a:r>
              <a:rPr dirty="0" sz="1200" spc="285" b="1">
                <a:latin typeface="Times New Roman"/>
                <a:cs typeface="Times New Roman"/>
              </a:rPr>
              <a:t>  </a:t>
            </a:r>
            <a:r>
              <a:rPr dirty="0" sz="1200" b="1">
                <a:latin typeface="Times New Roman"/>
                <a:cs typeface="Times New Roman"/>
              </a:rPr>
              <a:t>Why</a:t>
            </a:r>
            <a:r>
              <a:rPr dirty="0" sz="1200" spc="-5" b="1">
                <a:latin typeface="Times New Roman"/>
                <a:cs typeface="Times New Roman"/>
              </a:rPr>
              <a:t> </a:t>
            </a:r>
            <a:r>
              <a:rPr dirty="0" sz="1200" spc="-10" b="1">
                <a:latin typeface="Times New Roman"/>
                <a:cs typeface="Times New Roman"/>
              </a:rPr>
              <a:t>Self-Attention</a:t>
            </a:r>
            <a:endParaRPr sz="1200">
              <a:latin typeface="Times New Roman"/>
              <a:cs typeface="Times New Roman"/>
            </a:endParaRPr>
          </a:p>
          <a:p>
            <a:pPr algn="just" marL="111760" marR="113664" indent="14604">
              <a:lnSpc>
                <a:spcPts val="1090"/>
              </a:lnSpc>
              <a:spcBef>
                <a:spcPts val="1290"/>
              </a:spcBef>
            </a:pPr>
            <a:r>
              <a:rPr dirty="0" sz="1000">
                <a:latin typeface="Times New Roman"/>
                <a:cs typeface="Times New Roman"/>
              </a:rPr>
              <a:t>In</a:t>
            </a:r>
            <a:r>
              <a:rPr dirty="0" sz="1000" spc="95">
                <a:latin typeface="Times New Roman"/>
                <a:cs typeface="Times New Roman"/>
              </a:rPr>
              <a:t> </a:t>
            </a:r>
            <a:r>
              <a:rPr dirty="0" sz="1000">
                <a:latin typeface="Times New Roman"/>
                <a:cs typeface="Times New Roman"/>
              </a:rPr>
              <a:t>this</a:t>
            </a:r>
            <a:r>
              <a:rPr dirty="0" sz="1000" spc="100">
                <a:latin typeface="Times New Roman"/>
                <a:cs typeface="Times New Roman"/>
              </a:rPr>
              <a:t> </a:t>
            </a:r>
            <a:r>
              <a:rPr dirty="0" sz="1000">
                <a:latin typeface="Times New Roman"/>
                <a:cs typeface="Times New Roman"/>
              </a:rPr>
              <a:t>section</a:t>
            </a:r>
            <a:r>
              <a:rPr dirty="0" sz="1000" spc="95">
                <a:latin typeface="Times New Roman"/>
                <a:cs typeface="Times New Roman"/>
              </a:rPr>
              <a:t> </a:t>
            </a:r>
            <a:r>
              <a:rPr dirty="0" sz="1000">
                <a:latin typeface="Times New Roman"/>
                <a:cs typeface="Times New Roman"/>
              </a:rPr>
              <a:t>we</a:t>
            </a:r>
            <a:r>
              <a:rPr dirty="0" sz="1000" spc="100">
                <a:latin typeface="Times New Roman"/>
                <a:cs typeface="Times New Roman"/>
              </a:rPr>
              <a:t> </a:t>
            </a:r>
            <a:r>
              <a:rPr dirty="0" sz="1000">
                <a:latin typeface="Times New Roman"/>
                <a:cs typeface="Times New Roman"/>
              </a:rPr>
              <a:t>compare</a:t>
            </a:r>
            <a:r>
              <a:rPr dirty="0" sz="1000" spc="100">
                <a:latin typeface="Times New Roman"/>
                <a:cs typeface="Times New Roman"/>
              </a:rPr>
              <a:t> </a:t>
            </a:r>
            <a:r>
              <a:rPr dirty="0" sz="1000">
                <a:latin typeface="Times New Roman"/>
                <a:cs typeface="Times New Roman"/>
              </a:rPr>
              <a:t>various</a:t>
            </a:r>
            <a:r>
              <a:rPr dirty="0" sz="1000" spc="95">
                <a:latin typeface="Times New Roman"/>
                <a:cs typeface="Times New Roman"/>
              </a:rPr>
              <a:t> </a:t>
            </a:r>
            <a:r>
              <a:rPr dirty="0" sz="1000">
                <a:latin typeface="Times New Roman"/>
                <a:cs typeface="Times New Roman"/>
              </a:rPr>
              <a:t>aspects</a:t>
            </a:r>
            <a:r>
              <a:rPr dirty="0" sz="1000" spc="100">
                <a:latin typeface="Times New Roman"/>
                <a:cs typeface="Times New Roman"/>
              </a:rPr>
              <a:t> </a:t>
            </a:r>
            <a:r>
              <a:rPr dirty="0" sz="1000">
                <a:latin typeface="Times New Roman"/>
                <a:cs typeface="Times New Roman"/>
              </a:rPr>
              <a:t>of</a:t>
            </a:r>
            <a:r>
              <a:rPr dirty="0" sz="1000" spc="100">
                <a:latin typeface="Times New Roman"/>
                <a:cs typeface="Times New Roman"/>
              </a:rPr>
              <a:t> </a:t>
            </a:r>
            <a:r>
              <a:rPr dirty="0" sz="1000">
                <a:latin typeface="Times New Roman"/>
                <a:cs typeface="Times New Roman"/>
              </a:rPr>
              <a:t>self-attention</a:t>
            </a:r>
            <a:r>
              <a:rPr dirty="0" sz="1000" spc="95">
                <a:latin typeface="Times New Roman"/>
                <a:cs typeface="Times New Roman"/>
              </a:rPr>
              <a:t> </a:t>
            </a:r>
            <a:r>
              <a:rPr dirty="0" sz="1000">
                <a:latin typeface="Times New Roman"/>
                <a:cs typeface="Times New Roman"/>
              </a:rPr>
              <a:t>layers</a:t>
            </a:r>
            <a:r>
              <a:rPr dirty="0" sz="1000" spc="100">
                <a:latin typeface="Times New Roman"/>
                <a:cs typeface="Times New Roman"/>
              </a:rPr>
              <a:t> </a:t>
            </a:r>
            <a:r>
              <a:rPr dirty="0" sz="1000">
                <a:latin typeface="Times New Roman"/>
                <a:cs typeface="Times New Roman"/>
              </a:rPr>
              <a:t>to</a:t>
            </a:r>
            <a:r>
              <a:rPr dirty="0" sz="1000" spc="10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recurrent</a:t>
            </a:r>
            <a:r>
              <a:rPr dirty="0" sz="1000" spc="100">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spc="-10">
                <a:latin typeface="Times New Roman"/>
                <a:cs typeface="Times New Roman"/>
              </a:rPr>
              <a:t>convolu- </a:t>
            </a:r>
            <a:r>
              <a:rPr dirty="0" sz="1000">
                <a:latin typeface="Times New Roman"/>
                <a:cs typeface="Times New Roman"/>
              </a:rPr>
              <a:t>tional</a:t>
            </a:r>
            <a:r>
              <a:rPr dirty="0" sz="1000" spc="10">
                <a:latin typeface="Times New Roman"/>
                <a:cs typeface="Times New Roman"/>
              </a:rPr>
              <a:t> </a:t>
            </a:r>
            <a:r>
              <a:rPr dirty="0" sz="1000">
                <a:latin typeface="Times New Roman"/>
                <a:cs typeface="Times New Roman"/>
              </a:rPr>
              <a:t>layers</a:t>
            </a:r>
            <a:r>
              <a:rPr dirty="0" sz="1000" spc="15">
                <a:latin typeface="Times New Roman"/>
                <a:cs typeface="Times New Roman"/>
              </a:rPr>
              <a:t> </a:t>
            </a:r>
            <a:r>
              <a:rPr dirty="0" sz="1000">
                <a:latin typeface="Times New Roman"/>
                <a:cs typeface="Times New Roman"/>
              </a:rPr>
              <a:t>commonly</a:t>
            </a:r>
            <a:r>
              <a:rPr dirty="0" sz="1000" spc="15">
                <a:latin typeface="Times New Roman"/>
                <a:cs typeface="Times New Roman"/>
              </a:rPr>
              <a:t> </a:t>
            </a:r>
            <a:r>
              <a:rPr dirty="0" sz="1000">
                <a:latin typeface="Times New Roman"/>
                <a:cs typeface="Times New Roman"/>
              </a:rPr>
              <a:t>used</a:t>
            </a:r>
            <a:r>
              <a:rPr dirty="0" sz="1000" spc="10">
                <a:latin typeface="Times New Roman"/>
                <a:cs typeface="Times New Roman"/>
              </a:rPr>
              <a:t> </a:t>
            </a: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mapping</a:t>
            </a:r>
            <a:r>
              <a:rPr dirty="0" sz="1000" spc="15">
                <a:latin typeface="Times New Roman"/>
                <a:cs typeface="Times New Roman"/>
              </a:rPr>
              <a:t> </a:t>
            </a:r>
            <a:r>
              <a:rPr dirty="0" sz="1000">
                <a:latin typeface="Times New Roman"/>
                <a:cs typeface="Times New Roman"/>
              </a:rPr>
              <a:t>one</a:t>
            </a:r>
            <a:r>
              <a:rPr dirty="0" sz="1000" spc="15">
                <a:latin typeface="Times New Roman"/>
                <a:cs typeface="Times New Roman"/>
              </a:rPr>
              <a:t> </a:t>
            </a:r>
            <a:r>
              <a:rPr dirty="0" sz="1000" spc="-10">
                <a:latin typeface="Times New Roman"/>
                <a:cs typeface="Times New Roman"/>
              </a:rPr>
              <a:t>variable-</a:t>
            </a:r>
            <a:r>
              <a:rPr dirty="0" sz="1000">
                <a:latin typeface="Times New Roman"/>
                <a:cs typeface="Times New Roman"/>
              </a:rPr>
              <a:t>length</a:t>
            </a:r>
            <a:r>
              <a:rPr dirty="0" sz="1000" spc="15">
                <a:latin typeface="Times New Roman"/>
                <a:cs typeface="Times New Roman"/>
              </a:rPr>
              <a:t> </a:t>
            </a:r>
            <a:r>
              <a:rPr dirty="0" sz="1000">
                <a:latin typeface="Times New Roman"/>
                <a:cs typeface="Times New Roman"/>
              </a:rPr>
              <a:t>sequence</a:t>
            </a:r>
            <a:r>
              <a:rPr dirty="0" sz="1000" spc="15">
                <a:latin typeface="Times New Roman"/>
                <a:cs typeface="Times New Roman"/>
              </a:rPr>
              <a:t> </a:t>
            </a:r>
            <a:r>
              <a:rPr dirty="0" sz="1000">
                <a:latin typeface="Times New Roman"/>
                <a:cs typeface="Times New Roman"/>
              </a:rPr>
              <a:t>of</a:t>
            </a:r>
            <a:r>
              <a:rPr dirty="0" sz="1000" spc="10">
                <a:latin typeface="Times New Roman"/>
                <a:cs typeface="Times New Roman"/>
              </a:rPr>
              <a:t> </a:t>
            </a:r>
            <a:r>
              <a:rPr dirty="0" sz="1000">
                <a:latin typeface="Times New Roman"/>
                <a:cs typeface="Times New Roman"/>
              </a:rPr>
              <a:t>symbol</a:t>
            </a:r>
            <a:r>
              <a:rPr dirty="0" sz="1000" spc="15">
                <a:latin typeface="Times New Roman"/>
                <a:cs typeface="Times New Roman"/>
              </a:rPr>
              <a:t> </a:t>
            </a:r>
            <a:r>
              <a:rPr dirty="0" sz="1000" spc="-10">
                <a:latin typeface="Times New Roman"/>
                <a:cs typeface="Times New Roman"/>
              </a:rPr>
              <a:t>representations </a:t>
            </a:r>
            <a:r>
              <a:rPr dirty="0" sz="1000" spc="70">
                <a:latin typeface="Calibri"/>
                <a:cs typeface="Calibri"/>
              </a:rPr>
              <a:t>(</a:t>
            </a:r>
            <a:r>
              <a:rPr dirty="0" sz="1000" spc="70" i="1">
                <a:latin typeface="Calibri"/>
                <a:cs typeface="Calibri"/>
              </a:rPr>
              <a:t>x</a:t>
            </a:r>
            <a:r>
              <a:rPr dirty="0" baseline="-11904" sz="1050" spc="104">
                <a:latin typeface="Tahoma"/>
                <a:cs typeface="Tahoma"/>
              </a:rPr>
              <a:t>1</a:t>
            </a:r>
            <a:r>
              <a:rPr dirty="0" sz="1000" spc="70" i="1">
                <a:latin typeface="Calibri"/>
                <a:cs typeface="Calibri"/>
              </a:rPr>
              <a:t>,</a:t>
            </a:r>
            <a:r>
              <a:rPr dirty="0" sz="1000" spc="-55" i="1">
                <a:latin typeface="Calibri"/>
                <a:cs typeface="Calibri"/>
              </a:rPr>
              <a:t> </a:t>
            </a:r>
            <a:r>
              <a:rPr dirty="0" sz="1000" i="1">
                <a:latin typeface="Calibri"/>
                <a:cs typeface="Calibri"/>
              </a:rPr>
              <a:t>...,</a:t>
            </a:r>
            <a:r>
              <a:rPr dirty="0" sz="1000" spc="-50" i="1">
                <a:latin typeface="Calibri"/>
                <a:cs typeface="Calibri"/>
              </a:rPr>
              <a:t> </a:t>
            </a:r>
            <a:r>
              <a:rPr dirty="0" sz="1000" spc="125" i="1">
                <a:latin typeface="Calibri"/>
                <a:cs typeface="Calibri"/>
              </a:rPr>
              <a:t>x</a:t>
            </a:r>
            <a:r>
              <a:rPr dirty="0" baseline="-11904" sz="1050" spc="187" i="1">
                <a:latin typeface="Calibri"/>
                <a:cs typeface="Calibri"/>
              </a:rPr>
              <a:t>n</a:t>
            </a:r>
            <a:r>
              <a:rPr dirty="0" sz="1000" spc="125">
                <a:latin typeface="Calibri"/>
                <a:cs typeface="Calibri"/>
              </a:rPr>
              <a:t>)</a:t>
            </a:r>
            <a:r>
              <a:rPr dirty="0" sz="1000" spc="130">
                <a:latin typeface="Calibri"/>
                <a:cs typeface="Calibri"/>
              </a:rPr>
              <a:t> </a:t>
            </a:r>
            <a:r>
              <a:rPr dirty="0" sz="1000">
                <a:latin typeface="Times New Roman"/>
                <a:cs typeface="Times New Roman"/>
              </a:rPr>
              <a:t>to</a:t>
            </a:r>
            <a:r>
              <a:rPr dirty="0" sz="1000" spc="105">
                <a:latin typeface="Times New Roman"/>
                <a:cs typeface="Times New Roman"/>
              </a:rPr>
              <a:t> </a:t>
            </a:r>
            <a:r>
              <a:rPr dirty="0" sz="1000">
                <a:latin typeface="Times New Roman"/>
                <a:cs typeface="Times New Roman"/>
              </a:rPr>
              <a:t>another</a:t>
            </a:r>
            <a:r>
              <a:rPr dirty="0" sz="1000" spc="105">
                <a:latin typeface="Times New Roman"/>
                <a:cs typeface="Times New Roman"/>
              </a:rPr>
              <a:t> </a:t>
            </a:r>
            <a:r>
              <a:rPr dirty="0" sz="1000">
                <a:latin typeface="Times New Roman"/>
                <a:cs typeface="Times New Roman"/>
              </a:rPr>
              <a:t>sequence</a:t>
            </a:r>
            <a:r>
              <a:rPr dirty="0" sz="1000" spc="105">
                <a:latin typeface="Times New Roman"/>
                <a:cs typeface="Times New Roman"/>
              </a:rPr>
              <a:t> </a:t>
            </a:r>
            <a:r>
              <a:rPr dirty="0" sz="1000">
                <a:latin typeface="Times New Roman"/>
                <a:cs typeface="Times New Roman"/>
              </a:rPr>
              <a:t>of</a:t>
            </a:r>
            <a:r>
              <a:rPr dirty="0" sz="1000" spc="105">
                <a:latin typeface="Times New Roman"/>
                <a:cs typeface="Times New Roman"/>
              </a:rPr>
              <a:t> </a:t>
            </a:r>
            <a:r>
              <a:rPr dirty="0" sz="1000">
                <a:latin typeface="Times New Roman"/>
                <a:cs typeface="Times New Roman"/>
              </a:rPr>
              <a:t>equal</a:t>
            </a:r>
            <a:r>
              <a:rPr dirty="0" sz="1000" spc="105">
                <a:latin typeface="Times New Roman"/>
                <a:cs typeface="Times New Roman"/>
              </a:rPr>
              <a:t> </a:t>
            </a:r>
            <a:r>
              <a:rPr dirty="0" sz="1000">
                <a:latin typeface="Times New Roman"/>
                <a:cs typeface="Times New Roman"/>
              </a:rPr>
              <a:t>length</a:t>
            </a:r>
            <a:r>
              <a:rPr dirty="0" sz="1000" spc="105">
                <a:latin typeface="Times New Roman"/>
                <a:cs typeface="Times New Roman"/>
              </a:rPr>
              <a:t> </a:t>
            </a:r>
            <a:r>
              <a:rPr dirty="0" sz="1000" spc="55">
                <a:latin typeface="Calibri"/>
                <a:cs typeface="Calibri"/>
              </a:rPr>
              <a:t>(</a:t>
            </a:r>
            <a:r>
              <a:rPr dirty="0" sz="1000" spc="55" i="1">
                <a:latin typeface="Calibri"/>
                <a:cs typeface="Calibri"/>
              </a:rPr>
              <a:t>z</a:t>
            </a:r>
            <a:r>
              <a:rPr dirty="0" baseline="-11904" sz="1050" spc="82">
                <a:latin typeface="Tahoma"/>
                <a:cs typeface="Tahoma"/>
              </a:rPr>
              <a:t>1</a:t>
            </a:r>
            <a:r>
              <a:rPr dirty="0" sz="1000" spc="55" i="1">
                <a:latin typeface="Calibri"/>
                <a:cs typeface="Calibri"/>
              </a:rPr>
              <a:t>,</a:t>
            </a:r>
            <a:r>
              <a:rPr dirty="0" sz="1000" spc="-50" i="1">
                <a:latin typeface="Calibri"/>
                <a:cs typeface="Calibri"/>
              </a:rPr>
              <a:t> </a:t>
            </a:r>
            <a:r>
              <a:rPr dirty="0" sz="1000" i="1">
                <a:latin typeface="Calibri"/>
                <a:cs typeface="Calibri"/>
              </a:rPr>
              <a:t>...,</a:t>
            </a:r>
            <a:r>
              <a:rPr dirty="0" sz="1000" spc="-50" i="1">
                <a:latin typeface="Calibri"/>
                <a:cs typeface="Calibri"/>
              </a:rPr>
              <a:t> </a:t>
            </a:r>
            <a:r>
              <a:rPr dirty="0" sz="1000" spc="75" i="1">
                <a:latin typeface="Calibri"/>
                <a:cs typeface="Calibri"/>
              </a:rPr>
              <a:t>z</a:t>
            </a:r>
            <a:r>
              <a:rPr dirty="0" baseline="-11904" sz="1050" spc="112" i="1">
                <a:latin typeface="Calibri"/>
                <a:cs typeface="Calibri"/>
              </a:rPr>
              <a:t>n</a:t>
            </a:r>
            <a:r>
              <a:rPr dirty="0" sz="1000" spc="75">
                <a:latin typeface="Calibri"/>
                <a:cs typeface="Calibri"/>
              </a:rPr>
              <a:t>)</a:t>
            </a:r>
            <a:r>
              <a:rPr dirty="0" sz="1000" spc="75">
                <a:latin typeface="Times New Roman"/>
                <a:cs typeface="Times New Roman"/>
              </a:rPr>
              <a:t>,</a:t>
            </a:r>
            <a:r>
              <a:rPr dirty="0" sz="1000" spc="125">
                <a:latin typeface="Times New Roman"/>
                <a:cs typeface="Times New Roman"/>
              </a:rPr>
              <a:t> </a:t>
            </a:r>
            <a:r>
              <a:rPr dirty="0" sz="1000">
                <a:latin typeface="Times New Roman"/>
                <a:cs typeface="Times New Roman"/>
              </a:rPr>
              <a:t>with</a:t>
            </a:r>
            <a:r>
              <a:rPr dirty="0" sz="1000" spc="105">
                <a:latin typeface="Times New Roman"/>
                <a:cs typeface="Times New Roman"/>
              </a:rPr>
              <a:t> </a:t>
            </a:r>
            <a:r>
              <a:rPr dirty="0" sz="1000" spc="105" i="1">
                <a:latin typeface="Calibri"/>
                <a:cs typeface="Calibri"/>
              </a:rPr>
              <a:t>x</a:t>
            </a:r>
            <a:r>
              <a:rPr dirty="0" baseline="-11904" sz="1050" spc="157" i="1">
                <a:latin typeface="Calibri"/>
                <a:cs typeface="Calibri"/>
              </a:rPr>
              <a:t>i</a:t>
            </a:r>
            <a:r>
              <a:rPr dirty="0" sz="1000" spc="105" i="1">
                <a:latin typeface="Calibri"/>
                <a:cs typeface="Calibri"/>
              </a:rPr>
              <a:t>,</a:t>
            </a:r>
            <a:r>
              <a:rPr dirty="0" sz="1000" spc="-50" i="1">
                <a:latin typeface="Calibri"/>
                <a:cs typeface="Calibri"/>
              </a:rPr>
              <a:t> </a:t>
            </a:r>
            <a:r>
              <a:rPr dirty="0" sz="1000" spc="85" i="1">
                <a:latin typeface="Calibri"/>
                <a:cs typeface="Calibri"/>
              </a:rPr>
              <a:t>z</a:t>
            </a:r>
            <a:r>
              <a:rPr dirty="0" baseline="-11904" sz="1050" spc="127" i="1">
                <a:latin typeface="Calibri"/>
                <a:cs typeface="Calibri"/>
              </a:rPr>
              <a:t>i</a:t>
            </a:r>
            <a:r>
              <a:rPr dirty="0" baseline="-11904" sz="1050" spc="555" i="1">
                <a:latin typeface="Calibri"/>
                <a:cs typeface="Calibri"/>
              </a:rPr>
              <a:t> </a:t>
            </a:r>
            <a:r>
              <a:rPr dirty="0" sz="1000">
                <a:latin typeface="Lucida Sans Unicode"/>
                <a:cs typeface="Lucida Sans Unicode"/>
              </a:rPr>
              <a:t>∈</a:t>
            </a:r>
            <a:r>
              <a:rPr dirty="0" sz="1000" spc="150">
                <a:latin typeface="Lucida Sans Unicode"/>
                <a:cs typeface="Lucida Sans Unicode"/>
              </a:rPr>
              <a:t> </a:t>
            </a:r>
            <a:r>
              <a:rPr dirty="0" sz="1000">
                <a:latin typeface="Arial MT"/>
                <a:cs typeface="Arial MT"/>
              </a:rPr>
              <a:t>R</a:t>
            </a:r>
            <a:r>
              <a:rPr dirty="0" baseline="27777" sz="1050" i="1">
                <a:latin typeface="Calibri"/>
                <a:cs typeface="Calibri"/>
              </a:rPr>
              <a:t>d</a:t>
            </a:r>
            <a:r>
              <a:rPr dirty="0" sz="1000">
                <a:latin typeface="Times New Roman"/>
                <a:cs typeface="Times New Roman"/>
              </a:rPr>
              <a:t>,</a:t>
            </a:r>
            <a:r>
              <a:rPr dirty="0" sz="1000" spc="125">
                <a:latin typeface="Times New Roman"/>
                <a:cs typeface="Times New Roman"/>
              </a:rPr>
              <a:t> </a:t>
            </a:r>
            <a:r>
              <a:rPr dirty="0" sz="1000">
                <a:latin typeface="Times New Roman"/>
                <a:cs typeface="Times New Roman"/>
              </a:rPr>
              <a:t>such</a:t>
            </a:r>
            <a:r>
              <a:rPr dirty="0" sz="1000" spc="105">
                <a:latin typeface="Times New Roman"/>
                <a:cs typeface="Times New Roman"/>
              </a:rPr>
              <a:t> </a:t>
            </a:r>
            <a:r>
              <a:rPr dirty="0" sz="1000">
                <a:latin typeface="Times New Roman"/>
                <a:cs typeface="Times New Roman"/>
              </a:rPr>
              <a:t>as</a:t>
            </a:r>
            <a:r>
              <a:rPr dirty="0" sz="1000" spc="105">
                <a:latin typeface="Times New Roman"/>
                <a:cs typeface="Times New Roman"/>
              </a:rPr>
              <a:t> </a:t>
            </a:r>
            <a:r>
              <a:rPr dirty="0" sz="1000">
                <a:latin typeface="Times New Roman"/>
                <a:cs typeface="Times New Roman"/>
              </a:rPr>
              <a:t>a</a:t>
            </a:r>
            <a:r>
              <a:rPr dirty="0" sz="1000" spc="105">
                <a:latin typeface="Times New Roman"/>
                <a:cs typeface="Times New Roman"/>
              </a:rPr>
              <a:t> </a:t>
            </a:r>
            <a:r>
              <a:rPr dirty="0" sz="1000" spc="-10">
                <a:latin typeface="Times New Roman"/>
                <a:cs typeface="Times New Roman"/>
              </a:rPr>
              <a:t>hidden </a:t>
            </a:r>
            <a:r>
              <a:rPr dirty="0" sz="1000">
                <a:latin typeface="Times New Roman"/>
                <a:cs typeface="Times New Roman"/>
              </a:rPr>
              <a:t>layer</a:t>
            </a:r>
            <a:r>
              <a:rPr dirty="0" sz="1000" spc="-40">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a:latin typeface="Times New Roman"/>
                <a:cs typeface="Times New Roman"/>
              </a:rPr>
              <a:t>typical</a:t>
            </a:r>
            <a:r>
              <a:rPr dirty="0" sz="1000" spc="-20">
                <a:latin typeface="Times New Roman"/>
                <a:cs typeface="Times New Roman"/>
              </a:rPr>
              <a:t> </a:t>
            </a:r>
            <a:r>
              <a:rPr dirty="0" sz="1000" spc="-10">
                <a:latin typeface="Times New Roman"/>
                <a:cs typeface="Times New Roman"/>
              </a:rPr>
              <a:t>sequence</a:t>
            </a:r>
            <a:r>
              <a:rPr dirty="0" sz="1000" spc="-30">
                <a:latin typeface="Times New Roman"/>
                <a:cs typeface="Times New Roman"/>
              </a:rPr>
              <a:t> </a:t>
            </a:r>
            <a:r>
              <a:rPr dirty="0" sz="1000">
                <a:latin typeface="Times New Roman"/>
                <a:cs typeface="Times New Roman"/>
              </a:rPr>
              <a:t>transduction</a:t>
            </a:r>
            <a:r>
              <a:rPr dirty="0" sz="1000" spc="-25">
                <a:latin typeface="Times New Roman"/>
                <a:cs typeface="Times New Roman"/>
              </a:rPr>
              <a:t> </a:t>
            </a:r>
            <a:r>
              <a:rPr dirty="0" sz="1000" spc="-10">
                <a:latin typeface="Times New Roman"/>
                <a:cs typeface="Times New Roman"/>
              </a:rPr>
              <a:t>encoder</a:t>
            </a:r>
            <a:r>
              <a:rPr dirty="0" sz="1000" spc="-20">
                <a:latin typeface="Times New Roman"/>
                <a:cs typeface="Times New Roman"/>
              </a:rPr>
              <a:t> </a:t>
            </a:r>
            <a:r>
              <a:rPr dirty="0" sz="1000">
                <a:latin typeface="Times New Roman"/>
                <a:cs typeface="Times New Roman"/>
              </a:rPr>
              <a:t>or</a:t>
            </a:r>
            <a:r>
              <a:rPr dirty="0" sz="1000" spc="-25">
                <a:latin typeface="Times New Roman"/>
                <a:cs typeface="Times New Roman"/>
              </a:rPr>
              <a:t> </a:t>
            </a:r>
            <a:r>
              <a:rPr dirty="0" sz="1000">
                <a:latin typeface="Times New Roman"/>
                <a:cs typeface="Times New Roman"/>
              </a:rPr>
              <a:t>decoder.</a:t>
            </a:r>
            <a:r>
              <a:rPr dirty="0" sz="1000" spc="35">
                <a:latin typeface="Times New Roman"/>
                <a:cs typeface="Times New Roman"/>
              </a:rPr>
              <a:t> </a:t>
            </a:r>
            <a:r>
              <a:rPr dirty="0" sz="1000" spc="-10">
                <a:latin typeface="Times New Roman"/>
                <a:cs typeface="Times New Roman"/>
              </a:rPr>
              <a:t>Motivating</a:t>
            </a:r>
            <a:r>
              <a:rPr dirty="0" sz="1000" spc="-25">
                <a:latin typeface="Times New Roman"/>
                <a:cs typeface="Times New Roman"/>
              </a:rPr>
              <a:t> </a:t>
            </a:r>
            <a:r>
              <a:rPr dirty="0" sz="1000">
                <a:latin typeface="Times New Roman"/>
                <a:cs typeface="Times New Roman"/>
              </a:rPr>
              <a:t>our</a:t>
            </a:r>
            <a:r>
              <a:rPr dirty="0" sz="1000" spc="-25">
                <a:latin typeface="Times New Roman"/>
                <a:cs typeface="Times New Roman"/>
              </a:rPr>
              <a:t> </a:t>
            </a:r>
            <a:r>
              <a:rPr dirty="0" sz="1000">
                <a:latin typeface="Times New Roman"/>
                <a:cs typeface="Times New Roman"/>
              </a:rPr>
              <a:t>use</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self-</a:t>
            </a:r>
            <a:r>
              <a:rPr dirty="0" sz="1000">
                <a:latin typeface="Times New Roman"/>
                <a:cs typeface="Times New Roman"/>
              </a:rPr>
              <a:t>attention</a:t>
            </a:r>
            <a:r>
              <a:rPr dirty="0" sz="1000" spc="-25">
                <a:latin typeface="Times New Roman"/>
                <a:cs typeface="Times New Roman"/>
              </a:rPr>
              <a:t> we </a:t>
            </a:r>
            <a:r>
              <a:rPr dirty="0" sz="1000">
                <a:latin typeface="Times New Roman"/>
                <a:cs typeface="Times New Roman"/>
              </a:rPr>
              <a:t>consider</a:t>
            </a:r>
            <a:r>
              <a:rPr dirty="0" sz="1000" spc="-45">
                <a:latin typeface="Times New Roman"/>
                <a:cs typeface="Times New Roman"/>
              </a:rPr>
              <a:t> </a:t>
            </a:r>
            <a:r>
              <a:rPr dirty="0" sz="1000">
                <a:latin typeface="Times New Roman"/>
                <a:cs typeface="Times New Roman"/>
              </a:rPr>
              <a:t>three</a:t>
            </a:r>
            <a:r>
              <a:rPr dirty="0" sz="1000" spc="-40">
                <a:latin typeface="Times New Roman"/>
                <a:cs typeface="Times New Roman"/>
              </a:rPr>
              <a:t> </a:t>
            </a:r>
            <a:r>
              <a:rPr dirty="0" sz="1000" spc="-10">
                <a:latin typeface="Times New Roman"/>
                <a:cs typeface="Times New Roman"/>
              </a:rPr>
              <a:t>desiderata.</a:t>
            </a:r>
            <a:endParaRPr sz="1000">
              <a:latin typeface="Times New Roman"/>
              <a:cs typeface="Times New Roman"/>
            </a:endParaRPr>
          </a:p>
          <a:p>
            <a:pPr algn="just" marL="127000" marR="134620">
              <a:lnSpc>
                <a:spcPts val="1090"/>
              </a:lnSpc>
              <a:spcBef>
                <a:spcPts val="555"/>
              </a:spcBef>
            </a:pPr>
            <a:r>
              <a:rPr dirty="0" sz="1000">
                <a:latin typeface="Times New Roman"/>
                <a:cs typeface="Times New Roman"/>
              </a:rPr>
              <a:t>One</a:t>
            </a:r>
            <a:r>
              <a:rPr dirty="0" sz="1000" spc="-35">
                <a:latin typeface="Times New Roman"/>
                <a:cs typeface="Times New Roman"/>
              </a:rPr>
              <a:t> </a:t>
            </a:r>
            <a:r>
              <a:rPr dirty="0" sz="1000">
                <a:latin typeface="Times New Roman"/>
                <a:cs typeface="Times New Roman"/>
              </a:rPr>
              <a:t>is</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total</a:t>
            </a:r>
            <a:r>
              <a:rPr dirty="0" sz="1000" spc="-30">
                <a:latin typeface="Times New Roman"/>
                <a:cs typeface="Times New Roman"/>
              </a:rPr>
              <a:t> </a:t>
            </a:r>
            <a:r>
              <a:rPr dirty="0" sz="1000">
                <a:latin typeface="Times New Roman"/>
                <a:cs typeface="Times New Roman"/>
              </a:rPr>
              <a:t>computational</a:t>
            </a:r>
            <a:r>
              <a:rPr dirty="0" sz="1000" spc="-35">
                <a:latin typeface="Times New Roman"/>
                <a:cs typeface="Times New Roman"/>
              </a:rPr>
              <a:t> </a:t>
            </a:r>
            <a:r>
              <a:rPr dirty="0" sz="1000">
                <a:latin typeface="Times New Roman"/>
                <a:cs typeface="Times New Roman"/>
              </a:rPr>
              <a:t>complexity</a:t>
            </a:r>
            <a:r>
              <a:rPr dirty="0" sz="1000" spc="-30">
                <a:latin typeface="Times New Roman"/>
                <a:cs typeface="Times New Roman"/>
              </a:rPr>
              <a:t> </a:t>
            </a:r>
            <a:r>
              <a:rPr dirty="0" sz="1000">
                <a:latin typeface="Times New Roman"/>
                <a:cs typeface="Times New Roman"/>
              </a:rPr>
              <a:t>per</a:t>
            </a:r>
            <a:r>
              <a:rPr dirty="0" sz="1000" spc="-30">
                <a:latin typeface="Times New Roman"/>
                <a:cs typeface="Times New Roman"/>
              </a:rPr>
              <a:t> </a:t>
            </a:r>
            <a:r>
              <a:rPr dirty="0" sz="1000">
                <a:latin typeface="Times New Roman"/>
                <a:cs typeface="Times New Roman"/>
              </a:rPr>
              <a:t>layer.</a:t>
            </a:r>
            <a:r>
              <a:rPr dirty="0" sz="1000" spc="25">
                <a:latin typeface="Times New Roman"/>
                <a:cs typeface="Times New Roman"/>
              </a:rPr>
              <a:t> </a:t>
            </a:r>
            <a:r>
              <a:rPr dirty="0" sz="1000">
                <a:latin typeface="Times New Roman"/>
                <a:cs typeface="Times New Roman"/>
              </a:rPr>
              <a:t>Another</a:t>
            </a:r>
            <a:r>
              <a:rPr dirty="0" sz="1000" spc="-30">
                <a:latin typeface="Times New Roman"/>
                <a:cs typeface="Times New Roman"/>
              </a:rPr>
              <a:t> </a:t>
            </a:r>
            <a:r>
              <a:rPr dirty="0" sz="1000">
                <a:latin typeface="Times New Roman"/>
                <a:cs typeface="Times New Roman"/>
              </a:rPr>
              <a:t>is</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amount</a:t>
            </a:r>
            <a:r>
              <a:rPr dirty="0" sz="1000" spc="-30">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computation</a:t>
            </a:r>
            <a:r>
              <a:rPr dirty="0" sz="1000" spc="-30">
                <a:latin typeface="Times New Roman"/>
                <a:cs typeface="Times New Roman"/>
              </a:rPr>
              <a:t> </a:t>
            </a:r>
            <a:r>
              <a:rPr dirty="0" sz="1000">
                <a:latin typeface="Times New Roman"/>
                <a:cs typeface="Times New Roman"/>
              </a:rPr>
              <a:t>that</a:t>
            </a:r>
            <a:r>
              <a:rPr dirty="0" sz="1000" spc="-35">
                <a:latin typeface="Times New Roman"/>
                <a:cs typeface="Times New Roman"/>
              </a:rPr>
              <a:t> </a:t>
            </a:r>
            <a:r>
              <a:rPr dirty="0" sz="1000" spc="-25">
                <a:latin typeface="Times New Roman"/>
                <a:cs typeface="Times New Roman"/>
              </a:rPr>
              <a:t>can </a:t>
            </a:r>
            <a:r>
              <a:rPr dirty="0" sz="1000">
                <a:latin typeface="Times New Roman"/>
                <a:cs typeface="Times New Roman"/>
              </a:rPr>
              <a:t>be</a:t>
            </a:r>
            <a:r>
              <a:rPr dirty="0" sz="1000" spc="-30">
                <a:latin typeface="Times New Roman"/>
                <a:cs typeface="Times New Roman"/>
              </a:rPr>
              <a:t> </a:t>
            </a:r>
            <a:r>
              <a:rPr dirty="0" sz="1000">
                <a:latin typeface="Times New Roman"/>
                <a:cs typeface="Times New Roman"/>
              </a:rPr>
              <a:t>parallelized,</a:t>
            </a:r>
            <a:r>
              <a:rPr dirty="0" sz="1000" spc="-30">
                <a:latin typeface="Times New Roman"/>
                <a:cs typeface="Times New Roman"/>
              </a:rPr>
              <a:t> </a:t>
            </a:r>
            <a:r>
              <a:rPr dirty="0" sz="1000">
                <a:latin typeface="Times New Roman"/>
                <a:cs typeface="Times New Roman"/>
              </a:rPr>
              <a:t>as</a:t>
            </a:r>
            <a:r>
              <a:rPr dirty="0" sz="1000" spc="-30">
                <a:latin typeface="Times New Roman"/>
                <a:cs typeface="Times New Roman"/>
              </a:rPr>
              <a:t> </a:t>
            </a:r>
            <a:r>
              <a:rPr dirty="0" sz="1000">
                <a:latin typeface="Times New Roman"/>
                <a:cs typeface="Times New Roman"/>
              </a:rPr>
              <a:t>measured</a:t>
            </a:r>
            <a:r>
              <a:rPr dirty="0" sz="1000" spc="-25">
                <a:latin typeface="Times New Roman"/>
                <a:cs typeface="Times New Roman"/>
              </a:rPr>
              <a:t> </a:t>
            </a:r>
            <a:r>
              <a:rPr dirty="0" sz="1000">
                <a:latin typeface="Times New Roman"/>
                <a:cs typeface="Times New Roman"/>
              </a:rPr>
              <a:t>by</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minimum</a:t>
            </a:r>
            <a:r>
              <a:rPr dirty="0" sz="1000" spc="-25">
                <a:latin typeface="Times New Roman"/>
                <a:cs typeface="Times New Roman"/>
              </a:rPr>
              <a:t> </a:t>
            </a:r>
            <a:r>
              <a:rPr dirty="0" sz="1000">
                <a:latin typeface="Times New Roman"/>
                <a:cs typeface="Times New Roman"/>
              </a:rPr>
              <a:t>number</a:t>
            </a:r>
            <a:r>
              <a:rPr dirty="0" sz="1000" spc="-30">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sequential</a:t>
            </a:r>
            <a:r>
              <a:rPr dirty="0" sz="1000" spc="-30">
                <a:latin typeface="Times New Roman"/>
                <a:cs typeface="Times New Roman"/>
              </a:rPr>
              <a:t> </a:t>
            </a:r>
            <a:r>
              <a:rPr dirty="0" sz="1000">
                <a:latin typeface="Times New Roman"/>
                <a:cs typeface="Times New Roman"/>
              </a:rPr>
              <a:t>operations</a:t>
            </a:r>
            <a:r>
              <a:rPr dirty="0" sz="1000" spc="-25">
                <a:latin typeface="Times New Roman"/>
                <a:cs typeface="Times New Roman"/>
              </a:rPr>
              <a:t> </a:t>
            </a:r>
            <a:r>
              <a:rPr dirty="0" sz="1000" spc="-10">
                <a:latin typeface="Times New Roman"/>
                <a:cs typeface="Times New Roman"/>
              </a:rPr>
              <a:t>required.</a:t>
            </a:r>
            <a:endParaRPr sz="1000">
              <a:latin typeface="Times New Roman"/>
              <a:cs typeface="Times New Roman"/>
            </a:endParaRPr>
          </a:p>
          <a:p>
            <a:pPr algn="just" marL="127000" marR="134620" indent="-4445">
              <a:lnSpc>
                <a:spcPts val="1090"/>
              </a:lnSpc>
              <a:spcBef>
                <a:spcPts val="550"/>
              </a:spcBef>
            </a:pP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third</a:t>
            </a:r>
            <a:r>
              <a:rPr dirty="0" sz="1000" spc="-10">
                <a:latin typeface="Times New Roman"/>
                <a:cs typeface="Times New Roman"/>
              </a:rPr>
              <a:t> </a:t>
            </a:r>
            <a:r>
              <a:rPr dirty="0" sz="1000">
                <a:latin typeface="Times New Roman"/>
                <a:cs typeface="Times New Roman"/>
              </a:rPr>
              <a:t>is</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path</a:t>
            </a:r>
            <a:r>
              <a:rPr dirty="0" sz="1000" spc="-5">
                <a:latin typeface="Times New Roman"/>
                <a:cs typeface="Times New Roman"/>
              </a:rPr>
              <a:t> </a:t>
            </a:r>
            <a:r>
              <a:rPr dirty="0" sz="1000">
                <a:latin typeface="Times New Roman"/>
                <a:cs typeface="Times New Roman"/>
              </a:rPr>
              <a:t>length</a:t>
            </a:r>
            <a:r>
              <a:rPr dirty="0" sz="1000" spc="-5">
                <a:latin typeface="Times New Roman"/>
                <a:cs typeface="Times New Roman"/>
              </a:rPr>
              <a:t> </a:t>
            </a:r>
            <a:r>
              <a:rPr dirty="0" sz="1000">
                <a:latin typeface="Times New Roman"/>
                <a:cs typeface="Times New Roman"/>
              </a:rPr>
              <a:t>between</a:t>
            </a:r>
            <a:r>
              <a:rPr dirty="0" sz="1000" spc="-5">
                <a:latin typeface="Times New Roman"/>
                <a:cs typeface="Times New Roman"/>
              </a:rPr>
              <a:t> </a:t>
            </a:r>
            <a:r>
              <a:rPr dirty="0" sz="1000">
                <a:latin typeface="Times New Roman"/>
                <a:cs typeface="Times New Roman"/>
              </a:rPr>
              <a:t>long-range</a:t>
            </a:r>
            <a:r>
              <a:rPr dirty="0" sz="1000" spc="-5">
                <a:latin typeface="Times New Roman"/>
                <a:cs typeface="Times New Roman"/>
              </a:rPr>
              <a:t> </a:t>
            </a:r>
            <a:r>
              <a:rPr dirty="0" sz="1000">
                <a:latin typeface="Times New Roman"/>
                <a:cs typeface="Times New Roman"/>
              </a:rPr>
              <a:t>dependencies</a:t>
            </a:r>
            <a:r>
              <a:rPr dirty="0" sz="1000" spc="-5">
                <a:latin typeface="Times New Roman"/>
                <a:cs typeface="Times New Roman"/>
              </a:rPr>
              <a:t> </a:t>
            </a:r>
            <a:r>
              <a:rPr dirty="0" sz="1000">
                <a:latin typeface="Times New Roman"/>
                <a:cs typeface="Times New Roman"/>
              </a:rPr>
              <a:t>in</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network.</a:t>
            </a:r>
            <a:r>
              <a:rPr dirty="0" sz="1000" spc="60">
                <a:latin typeface="Times New Roman"/>
                <a:cs typeface="Times New Roman"/>
              </a:rPr>
              <a:t> </a:t>
            </a:r>
            <a:r>
              <a:rPr dirty="0" sz="1000">
                <a:latin typeface="Times New Roman"/>
                <a:cs typeface="Times New Roman"/>
              </a:rPr>
              <a:t>Learning</a:t>
            </a:r>
            <a:r>
              <a:rPr dirty="0" sz="1000" spc="-5">
                <a:latin typeface="Times New Roman"/>
                <a:cs typeface="Times New Roman"/>
              </a:rPr>
              <a:t> </a:t>
            </a:r>
            <a:r>
              <a:rPr dirty="0" sz="1000">
                <a:latin typeface="Times New Roman"/>
                <a:cs typeface="Times New Roman"/>
              </a:rPr>
              <a:t>long-</a:t>
            </a:r>
            <a:r>
              <a:rPr dirty="0" sz="1000" spc="-10">
                <a:latin typeface="Times New Roman"/>
                <a:cs typeface="Times New Roman"/>
              </a:rPr>
              <a:t>range </a:t>
            </a:r>
            <a:r>
              <a:rPr dirty="0" sz="1000">
                <a:latin typeface="Times New Roman"/>
                <a:cs typeface="Times New Roman"/>
              </a:rPr>
              <a:t>dependencies</a:t>
            </a:r>
            <a:r>
              <a:rPr dirty="0" sz="1000" spc="-15">
                <a:latin typeface="Times New Roman"/>
                <a:cs typeface="Times New Roman"/>
              </a:rPr>
              <a:t> </a:t>
            </a:r>
            <a:r>
              <a:rPr dirty="0" sz="1000">
                <a:latin typeface="Times New Roman"/>
                <a:cs typeface="Times New Roman"/>
              </a:rPr>
              <a:t>is</a:t>
            </a:r>
            <a:r>
              <a:rPr dirty="0" sz="1000" spc="-10">
                <a:latin typeface="Times New Roman"/>
                <a:cs typeface="Times New Roman"/>
              </a:rPr>
              <a:t> </a:t>
            </a:r>
            <a:r>
              <a:rPr dirty="0" sz="1000">
                <a:latin typeface="Times New Roman"/>
                <a:cs typeface="Times New Roman"/>
              </a:rPr>
              <a:t>a</a:t>
            </a:r>
            <a:r>
              <a:rPr dirty="0" sz="1000" spc="-10">
                <a:latin typeface="Times New Roman"/>
                <a:cs typeface="Times New Roman"/>
              </a:rPr>
              <a:t> </a:t>
            </a:r>
            <a:r>
              <a:rPr dirty="0" sz="1000">
                <a:latin typeface="Times New Roman"/>
                <a:cs typeface="Times New Roman"/>
              </a:rPr>
              <a:t>key</a:t>
            </a:r>
            <a:r>
              <a:rPr dirty="0" sz="1000" spc="-15">
                <a:latin typeface="Times New Roman"/>
                <a:cs typeface="Times New Roman"/>
              </a:rPr>
              <a:t> </a:t>
            </a:r>
            <a:r>
              <a:rPr dirty="0" sz="1000">
                <a:latin typeface="Times New Roman"/>
                <a:cs typeface="Times New Roman"/>
              </a:rPr>
              <a:t>challenge</a:t>
            </a:r>
            <a:r>
              <a:rPr dirty="0" sz="1000" spc="-10">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many</a:t>
            </a:r>
            <a:r>
              <a:rPr dirty="0" sz="1000" spc="-15">
                <a:latin typeface="Times New Roman"/>
                <a:cs typeface="Times New Roman"/>
              </a:rPr>
              <a:t> </a:t>
            </a:r>
            <a:r>
              <a:rPr dirty="0" sz="1000">
                <a:latin typeface="Times New Roman"/>
                <a:cs typeface="Times New Roman"/>
              </a:rPr>
              <a:t>sequence</a:t>
            </a:r>
            <a:r>
              <a:rPr dirty="0" sz="1000" spc="-10">
                <a:latin typeface="Times New Roman"/>
                <a:cs typeface="Times New Roman"/>
              </a:rPr>
              <a:t> </a:t>
            </a:r>
            <a:r>
              <a:rPr dirty="0" sz="1000">
                <a:latin typeface="Times New Roman"/>
                <a:cs typeface="Times New Roman"/>
              </a:rPr>
              <a:t>transduction</a:t>
            </a:r>
            <a:r>
              <a:rPr dirty="0" sz="1000" spc="-15">
                <a:latin typeface="Times New Roman"/>
                <a:cs typeface="Times New Roman"/>
              </a:rPr>
              <a:t> </a:t>
            </a:r>
            <a:r>
              <a:rPr dirty="0" sz="1000">
                <a:latin typeface="Times New Roman"/>
                <a:cs typeface="Times New Roman"/>
              </a:rPr>
              <a:t>tasks.</a:t>
            </a:r>
            <a:r>
              <a:rPr dirty="0" sz="1000" spc="50">
                <a:latin typeface="Times New Roman"/>
                <a:cs typeface="Times New Roman"/>
              </a:rPr>
              <a:t> </a:t>
            </a:r>
            <a:r>
              <a:rPr dirty="0" sz="1000">
                <a:latin typeface="Times New Roman"/>
                <a:cs typeface="Times New Roman"/>
              </a:rPr>
              <a:t>One</a:t>
            </a:r>
            <a:r>
              <a:rPr dirty="0" sz="1000" spc="-15">
                <a:latin typeface="Times New Roman"/>
                <a:cs typeface="Times New Roman"/>
              </a:rPr>
              <a:t> </a:t>
            </a:r>
            <a:r>
              <a:rPr dirty="0" sz="1000">
                <a:latin typeface="Times New Roman"/>
                <a:cs typeface="Times New Roman"/>
              </a:rPr>
              <a:t>key</a:t>
            </a:r>
            <a:r>
              <a:rPr dirty="0" sz="1000" spc="-15">
                <a:latin typeface="Times New Roman"/>
                <a:cs typeface="Times New Roman"/>
              </a:rPr>
              <a:t> </a:t>
            </a:r>
            <a:r>
              <a:rPr dirty="0" sz="1000">
                <a:latin typeface="Times New Roman"/>
                <a:cs typeface="Times New Roman"/>
              </a:rPr>
              <a:t>factor</a:t>
            </a:r>
            <a:r>
              <a:rPr dirty="0" sz="1000" spc="-10">
                <a:latin typeface="Times New Roman"/>
                <a:cs typeface="Times New Roman"/>
              </a:rPr>
              <a:t> </a:t>
            </a:r>
            <a:r>
              <a:rPr dirty="0" sz="1000">
                <a:latin typeface="Times New Roman"/>
                <a:cs typeface="Times New Roman"/>
              </a:rPr>
              <a:t>affecting</a:t>
            </a:r>
            <a:r>
              <a:rPr dirty="0" sz="1000" spc="-15">
                <a:latin typeface="Times New Roman"/>
                <a:cs typeface="Times New Roman"/>
              </a:rPr>
              <a:t> </a:t>
            </a:r>
            <a:r>
              <a:rPr dirty="0" sz="1000" spc="-25">
                <a:latin typeface="Times New Roman"/>
                <a:cs typeface="Times New Roman"/>
              </a:rPr>
              <a:t>the </a:t>
            </a:r>
            <a:r>
              <a:rPr dirty="0" sz="1000">
                <a:latin typeface="Times New Roman"/>
                <a:cs typeface="Times New Roman"/>
              </a:rPr>
              <a:t>ability</a:t>
            </a:r>
            <a:r>
              <a:rPr dirty="0" sz="1000" spc="1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learn</a:t>
            </a:r>
            <a:r>
              <a:rPr dirty="0" sz="1000" spc="10">
                <a:latin typeface="Times New Roman"/>
                <a:cs typeface="Times New Roman"/>
              </a:rPr>
              <a:t> </a:t>
            </a:r>
            <a:r>
              <a:rPr dirty="0" sz="1000">
                <a:latin typeface="Times New Roman"/>
                <a:cs typeface="Times New Roman"/>
              </a:rPr>
              <a:t>such</a:t>
            </a:r>
            <a:r>
              <a:rPr dirty="0" sz="1000" spc="15">
                <a:latin typeface="Times New Roman"/>
                <a:cs typeface="Times New Roman"/>
              </a:rPr>
              <a:t> </a:t>
            </a:r>
            <a:r>
              <a:rPr dirty="0" sz="1000">
                <a:latin typeface="Times New Roman"/>
                <a:cs typeface="Times New Roman"/>
              </a:rPr>
              <a:t>dependencies</a:t>
            </a:r>
            <a:r>
              <a:rPr dirty="0" sz="1000" spc="15">
                <a:latin typeface="Times New Roman"/>
                <a:cs typeface="Times New Roman"/>
              </a:rPr>
              <a:t> </a:t>
            </a:r>
            <a:r>
              <a:rPr dirty="0" sz="1000">
                <a:latin typeface="Times New Roman"/>
                <a:cs typeface="Times New Roman"/>
              </a:rPr>
              <a:t>is</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length</a:t>
            </a:r>
            <a:r>
              <a:rPr dirty="0" sz="1000" spc="1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paths</a:t>
            </a:r>
            <a:r>
              <a:rPr dirty="0" sz="1000" spc="10">
                <a:latin typeface="Times New Roman"/>
                <a:cs typeface="Times New Roman"/>
              </a:rPr>
              <a:t> </a:t>
            </a:r>
            <a:r>
              <a:rPr dirty="0" sz="1000">
                <a:latin typeface="Times New Roman"/>
                <a:cs typeface="Times New Roman"/>
              </a:rPr>
              <a:t>forward</a:t>
            </a:r>
            <a:r>
              <a:rPr dirty="0" sz="1000" spc="15">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backward</a:t>
            </a:r>
            <a:r>
              <a:rPr dirty="0" sz="1000" spc="10">
                <a:latin typeface="Times New Roman"/>
                <a:cs typeface="Times New Roman"/>
              </a:rPr>
              <a:t> </a:t>
            </a:r>
            <a:r>
              <a:rPr dirty="0" sz="1000">
                <a:latin typeface="Times New Roman"/>
                <a:cs typeface="Times New Roman"/>
              </a:rPr>
              <a:t>signals</a:t>
            </a:r>
            <a:r>
              <a:rPr dirty="0" sz="1000" spc="15">
                <a:latin typeface="Times New Roman"/>
                <a:cs typeface="Times New Roman"/>
              </a:rPr>
              <a:t> </a:t>
            </a:r>
            <a:r>
              <a:rPr dirty="0" sz="1000">
                <a:latin typeface="Times New Roman"/>
                <a:cs typeface="Times New Roman"/>
              </a:rPr>
              <a:t>have</a:t>
            </a:r>
            <a:r>
              <a:rPr dirty="0" sz="1000" spc="10">
                <a:latin typeface="Times New Roman"/>
                <a:cs typeface="Times New Roman"/>
              </a:rPr>
              <a:t> </a:t>
            </a:r>
            <a:r>
              <a:rPr dirty="0" sz="1000" spc="-25">
                <a:latin typeface="Times New Roman"/>
                <a:cs typeface="Times New Roman"/>
              </a:rPr>
              <a:t>to </a:t>
            </a:r>
            <a:r>
              <a:rPr dirty="0" sz="1000">
                <a:latin typeface="Times New Roman"/>
                <a:cs typeface="Times New Roman"/>
              </a:rPr>
              <a:t>traverse</a:t>
            </a:r>
            <a:r>
              <a:rPr dirty="0" sz="1000" spc="-5">
                <a:latin typeface="Times New Roman"/>
                <a:cs typeface="Times New Roman"/>
              </a:rPr>
              <a:t> </a:t>
            </a:r>
            <a:r>
              <a:rPr dirty="0" sz="1000">
                <a:latin typeface="Times New Roman"/>
                <a:cs typeface="Times New Roman"/>
              </a:rPr>
              <a:t>in the network.</a:t>
            </a:r>
            <a:r>
              <a:rPr dirty="0" sz="1000" spc="60">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shorter these paths between</a:t>
            </a:r>
            <a:r>
              <a:rPr dirty="0" sz="1000" spc="-5">
                <a:latin typeface="Times New Roman"/>
                <a:cs typeface="Times New Roman"/>
              </a:rPr>
              <a:t> </a:t>
            </a:r>
            <a:r>
              <a:rPr dirty="0" sz="1000">
                <a:latin typeface="Times New Roman"/>
                <a:cs typeface="Times New Roman"/>
              </a:rPr>
              <a:t>any combination of positions</a:t>
            </a:r>
            <a:r>
              <a:rPr dirty="0" sz="1000" spc="-5">
                <a:latin typeface="Times New Roman"/>
                <a:cs typeface="Times New Roman"/>
              </a:rPr>
              <a:t> </a:t>
            </a:r>
            <a:r>
              <a:rPr dirty="0" sz="1000">
                <a:latin typeface="Times New Roman"/>
                <a:cs typeface="Times New Roman"/>
              </a:rPr>
              <a:t>in the </a:t>
            </a:r>
            <a:r>
              <a:rPr dirty="0" sz="1000" spc="-10">
                <a:latin typeface="Times New Roman"/>
                <a:cs typeface="Times New Roman"/>
              </a:rPr>
              <a:t>input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output</a:t>
            </a:r>
            <a:r>
              <a:rPr dirty="0" sz="1000" spc="-25">
                <a:latin typeface="Times New Roman"/>
                <a:cs typeface="Times New Roman"/>
              </a:rPr>
              <a:t> </a:t>
            </a:r>
            <a:r>
              <a:rPr dirty="0" sz="1000" spc="-10">
                <a:latin typeface="Times New Roman"/>
                <a:cs typeface="Times New Roman"/>
              </a:rPr>
              <a:t>sequences,</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easier</a:t>
            </a:r>
            <a:r>
              <a:rPr dirty="0" sz="1000" spc="-25">
                <a:latin typeface="Times New Roman"/>
                <a:cs typeface="Times New Roman"/>
              </a:rPr>
              <a:t> </a:t>
            </a:r>
            <a:r>
              <a:rPr dirty="0" sz="1000">
                <a:latin typeface="Times New Roman"/>
                <a:cs typeface="Times New Roman"/>
              </a:rPr>
              <a:t>it</a:t>
            </a:r>
            <a:r>
              <a:rPr dirty="0" sz="1000" spc="-30">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learn</a:t>
            </a:r>
            <a:r>
              <a:rPr dirty="0" sz="1000" spc="-30">
                <a:latin typeface="Times New Roman"/>
                <a:cs typeface="Times New Roman"/>
              </a:rPr>
              <a:t> </a:t>
            </a:r>
            <a:r>
              <a:rPr dirty="0" sz="1000" spc="-10">
                <a:latin typeface="Times New Roman"/>
                <a:cs typeface="Times New Roman"/>
              </a:rPr>
              <a:t>long-</a:t>
            </a:r>
            <a:r>
              <a:rPr dirty="0" sz="1000">
                <a:latin typeface="Times New Roman"/>
                <a:cs typeface="Times New Roman"/>
              </a:rPr>
              <a:t>range</a:t>
            </a:r>
            <a:r>
              <a:rPr dirty="0" sz="1000" spc="-25">
                <a:latin typeface="Times New Roman"/>
                <a:cs typeface="Times New Roman"/>
              </a:rPr>
              <a:t> </a:t>
            </a:r>
            <a:r>
              <a:rPr dirty="0" sz="1000" spc="-10">
                <a:latin typeface="Times New Roman"/>
                <a:cs typeface="Times New Roman"/>
              </a:rPr>
              <a:t>dependencies</a:t>
            </a:r>
            <a:r>
              <a:rPr dirty="0" sz="1000" spc="-25">
                <a:latin typeface="Times New Roman"/>
                <a:cs typeface="Times New Roman"/>
              </a:rPr>
              <a:t> </a:t>
            </a:r>
            <a:r>
              <a:rPr dirty="0" sz="1000">
                <a:latin typeface="Times New Roman"/>
                <a:cs typeface="Times New Roman"/>
              </a:rPr>
              <a:t>[11].</a:t>
            </a:r>
            <a:r>
              <a:rPr dirty="0" sz="1000" spc="25">
                <a:latin typeface="Times New Roman"/>
                <a:cs typeface="Times New Roman"/>
              </a:rPr>
              <a:t> </a:t>
            </a:r>
            <a:r>
              <a:rPr dirty="0" sz="1000" spc="-10">
                <a:latin typeface="Times New Roman"/>
                <a:cs typeface="Times New Roman"/>
              </a:rPr>
              <a:t>Hence</a:t>
            </a:r>
            <a:r>
              <a:rPr dirty="0" sz="1000" spc="-25">
                <a:latin typeface="Times New Roman"/>
                <a:cs typeface="Times New Roman"/>
              </a:rPr>
              <a:t> </a:t>
            </a:r>
            <a:r>
              <a:rPr dirty="0" sz="1000">
                <a:latin typeface="Times New Roman"/>
                <a:cs typeface="Times New Roman"/>
              </a:rPr>
              <a:t>we</a:t>
            </a:r>
            <a:r>
              <a:rPr dirty="0" sz="1000" spc="-25">
                <a:latin typeface="Times New Roman"/>
                <a:cs typeface="Times New Roman"/>
              </a:rPr>
              <a:t> </a:t>
            </a:r>
            <a:r>
              <a:rPr dirty="0" sz="1000">
                <a:latin typeface="Times New Roman"/>
                <a:cs typeface="Times New Roman"/>
              </a:rPr>
              <a:t>also</a:t>
            </a:r>
            <a:r>
              <a:rPr dirty="0" sz="1000" spc="-30">
                <a:latin typeface="Times New Roman"/>
                <a:cs typeface="Times New Roman"/>
              </a:rPr>
              <a:t> </a:t>
            </a:r>
            <a:r>
              <a:rPr dirty="0" sz="1000" spc="-10">
                <a:latin typeface="Times New Roman"/>
                <a:cs typeface="Times New Roman"/>
              </a:rPr>
              <a:t>compare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maximum</a:t>
            </a:r>
            <a:r>
              <a:rPr dirty="0" sz="1000" spc="-25">
                <a:latin typeface="Times New Roman"/>
                <a:cs typeface="Times New Roman"/>
              </a:rPr>
              <a:t> </a:t>
            </a:r>
            <a:r>
              <a:rPr dirty="0" sz="1000">
                <a:latin typeface="Times New Roman"/>
                <a:cs typeface="Times New Roman"/>
              </a:rPr>
              <a:t>path</a:t>
            </a:r>
            <a:r>
              <a:rPr dirty="0" sz="1000" spc="-25">
                <a:latin typeface="Times New Roman"/>
                <a:cs typeface="Times New Roman"/>
              </a:rPr>
              <a:t> </a:t>
            </a:r>
            <a:r>
              <a:rPr dirty="0" sz="1000">
                <a:latin typeface="Times New Roman"/>
                <a:cs typeface="Times New Roman"/>
              </a:rPr>
              <a:t>length</a:t>
            </a:r>
            <a:r>
              <a:rPr dirty="0" sz="1000" spc="-25">
                <a:latin typeface="Times New Roman"/>
                <a:cs typeface="Times New Roman"/>
              </a:rPr>
              <a:t> </a:t>
            </a:r>
            <a:r>
              <a:rPr dirty="0" sz="1000">
                <a:latin typeface="Times New Roman"/>
                <a:cs typeface="Times New Roman"/>
              </a:rPr>
              <a:t>between</a:t>
            </a:r>
            <a:r>
              <a:rPr dirty="0" sz="1000" spc="-30">
                <a:latin typeface="Times New Roman"/>
                <a:cs typeface="Times New Roman"/>
              </a:rPr>
              <a:t> </a:t>
            </a:r>
            <a:r>
              <a:rPr dirty="0" sz="1000">
                <a:latin typeface="Times New Roman"/>
                <a:cs typeface="Times New Roman"/>
              </a:rPr>
              <a:t>any</a:t>
            </a:r>
            <a:r>
              <a:rPr dirty="0" sz="1000" spc="-25">
                <a:latin typeface="Times New Roman"/>
                <a:cs typeface="Times New Roman"/>
              </a:rPr>
              <a:t> </a:t>
            </a:r>
            <a:r>
              <a:rPr dirty="0" sz="1000">
                <a:latin typeface="Times New Roman"/>
                <a:cs typeface="Times New Roman"/>
              </a:rPr>
              <a:t>two</a:t>
            </a:r>
            <a:r>
              <a:rPr dirty="0" sz="1000" spc="-25">
                <a:latin typeface="Times New Roman"/>
                <a:cs typeface="Times New Roman"/>
              </a:rPr>
              <a:t> </a:t>
            </a:r>
            <a:r>
              <a:rPr dirty="0" sz="1000">
                <a:latin typeface="Times New Roman"/>
                <a:cs typeface="Times New Roman"/>
              </a:rPr>
              <a:t>input</a:t>
            </a:r>
            <a:r>
              <a:rPr dirty="0" sz="1000" spc="-2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output</a:t>
            </a:r>
            <a:r>
              <a:rPr dirty="0" sz="1000" spc="-25">
                <a:latin typeface="Times New Roman"/>
                <a:cs typeface="Times New Roman"/>
              </a:rPr>
              <a:t> </a:t>
            </a:r>
            <a:r>
              <a:rPr dirty="0" sz="1000">
                <a:latin typeface="Times New Roman"/>
                <a:cs typeface="Times New Roman"/>
              </a:rPr>
              <a:t>positions</a:t>
            </a:r>
            <a:r>
              <a:rPr dirty="0" sz="1000" spc="-25">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networks</a:t>
            </a:r>
            <a:r>
              <a:rPr dirty="0" sz="1000" spc="-30">
                <a:latin typeface="Times New Roman"/>
                <a:cs typeface="Times New Roman"/>
              </a:rPr>
              <a:t> </a:t>
            </a:r>
            <a:r>
              <a:rPr dirty="0" sz="1000">
                <a:latin typeface="Times New Roman"/>
                <a:cs typeface="Times New Roman"/>
              </a:rPr>
              <a:t>composed</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the </a:t>
            </a:r>
            <a:r>
              <a:rPr dirty="0" sz="1000" spc="-10">
                <a:latin typeface="Times New Roman"/>
                <a:cs typeface="Times New Roman"/>
              </a:rPr>
              <a:t>different</a:t>
            </a:r>
            <a:r>
              <a:rPr dirty="0" sz="1000" spc="-25">
                <a:latin typeface="Times New Roman"/>
                <a:cs typeface="Times New Roman"/>
              </a:rPr>
              <a:t> </a:t>
            </a:r>
            <a:r>
              <a:rPr dirty="0" sz="1000">
                <a:latin typeface="Times New Roman"/>
                <a:cs typeface="Times New Roman"/>
              </a:rPr>
              <a:t>layer</a:t>
            </a:r>
            <a:r>
              <a:rPr dirty="0" sz="1000" spc="-20">
                <a:latin typeface="Times New Roman"/>
                <a:cs typeface="Times New Roman"/>
              </a:rPr>
              <a:t> </a:t>
            </a:r>
            <a:r>
              <a:rPr dirty="0" sz="1000" spc="-10">
                <a:latin typeface="Times New Roman"/>
                <a:cs typeface="Times New Roman"/>
              </a:rPr>
              <a:t>types.</a:t>
            </a:r>
            <a:endParaRPr sz="1000">
              <a:latin typeface="Times New Roman"/>
              <a:cs typeface="Times New Roman"/>
            </a:endParaRPr>
          </a:p>
          <a:p>
            <a:pPr algn="just" marL="127000" marR="130810" indent="-5080">
              <a:lnSpc>
                <a:spcPts val="1090"/>
              </a:lnSpc>
              <a:spcBef>
                <a:spcPts val="555"/>
              </a:spcBef>
            </a:pPr>
            <a:r>
              <a:rPr dirty="0" sz="1000" spc="-20">
                <a:latin typeface="Times New Roman"/>
                <a:cs typeface="Times New Roman"/>
              </a:rPr>
              <a:t>As noted</a:t>
            </a:r>
            <a:r>
              <a:rPr dirty="0" sz="1000" spc="-15">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spc="-35">
                <a:latin typeface="Times New Roman"/>
                <a:cs typeface="Times New Roman"/>
              </a:rPr>
              <a:t>Table</a:t>
            </a:r>
            <a:r>
              <a:rPr dirty="0" sz="1000" spc="-15">
                <a:latin typeface="Times New Roman"/>
                <a:cs typeface="Times New Roman"/>
              </a:rPr>
              <a:t> </a:t>
            </a:r>
            <a:r>
              <a:rPr dirty="0" sz="1000">
                <a:latin typeface="Times New Roman"/>
                <a:cs typeface="Times New Roman"/>
              </a:rPr>
              <a:t>1,</a:t>
            </a:r>
            <a:r>
              <a:rPr dirty="0" sz="1000" spc="-15">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spc="-20">
                <a:latin typeface="Times New Roman"/>
                <a:cs typeface="Times New Roman"/>
              </a:rPr>
              <a:t>self-attention layer</a:t>
            </a:r>
            <a:r>
              <a:rPr dirty="0" sz="1000" spc="-15">
                <a:latin typeface="Times New Roman"/>
                <a:cs typeface="Times New Roman"/>
              </a:rPr>
              <a:t> </a:t>
            </a:r>
            <a:r>
              <a:rPr dirty="0" sz="1000" spc="-20">
                <a:latin typeface="Times New Roman"/>
                <a:cs typeface="Times New Roman"/>
              </a:rPr>
              <a:t>connects</a:t>
            </a:r>
            <a:r>
              <a:rPr dirty="0" sz="1000" spc="-15">
                <a:latin typeface="Times New Roman"/>
                <a:cs typeface="Times New Roman"/>
              </a:rPr>
              <a:t> </a:t>
            </a:r>
            <a:r>
              <a:rPr dirty="0" sz="1000" spc="-10">
                <a:latin typeface="Times New Roman"/>
                <a:cs typeface="Times New Roman"/>
              </a:rPr>
              <a:t>all</a:t>
            </a:r>
            <a:r>
              <a:rPr dirty="0" sz="1000" spc="-20">
                <a:latin typeface="Times New Roman"/>
                <a:cs typeface="Times New Roman"/>
              </a:rPr>
              <a:t> positions</a:t>
            </a:r>
            <a:r>
              <a:rPr dirty="0" sz="1000" spc="-15">
                <a:latin typeface="Times New Roman"/>
                <a:cs typeface="Times New Roman"/>
              </a:rPr>
              <a:t> </a:t>
            </a:r>
            <a:r>
              <a:rPr dirty="0" sz="1000" spc="-20">
                <a:latin typeface="Times New Roman"/>
                <a:cs typeface="Times New Roman"/>
              </a:rPr>
              <a:t>with </a:t>
            </a:r>
            <a:r>
              <a:rPr dirty="0" sz="1000">
                <a:latin typeface="Times New Roman"/>
                <a:cs typeface="Times New Roman"/>
              </a:rPr>
              <a:t>a</a:t>
            </a:r>
            <a:r>
              <a:rPr dirty="0" sz="1000" spc="-15">
                <a:latin typeface="Times New Roman"/>
                <a:cs typeface="Times New Roman"/>
              </a:rPr>
              <a:t> </a:t>
            </a:r>
            <a:r>
              <a:rPr dirty="0" sz="1000" spc="-20">
                <a:latin typeface="Times New Roman"/>
                <a:cs typeface="Times New Roman"/>
              </a:rPr>
              <a:t>constant number</a:t>
            </a:r>
            <a:r>
              <a:rPr dirty="0" sz="1000" spc="-15">
                <a:latin typeface="Times New Roman"/>
                <a:cs typeface="Times New Roman"/>
              </a:rPr>
              <a:t> </a:t>
            </a:r>
            <a:r>
              <a:rPr dirty="0" sz="1000" spc="-10">
                <a:latin typeface="Times New Roman"/>
                <a:cs typeface="Times New Roman"/>
              </a:rPr>
              <a:t>of</a:t>
            </a:r>
            <a:r>
              <a:rPr dirty="0" sz="1000" spc="-20">
                <a:latin typeface="Times New Roman"/>
                <a:cs typeface="Times New Roman"/>
              </a:rPr>
              <a:t> </a:t>
            </a:r>
            <a:r>
              <a:rPr dirty="0" sz="1000" spc="-10">
                <a:latin typeface="Times New Roman"/>
                <a:cs typeface="Times New Roman"/>
              </a:rPr>
              <a:t>sequentially </a:t>
            </a:r>
            <a:r>
              <a:rPr dirty="0" sz="1000">
                <a:latin typeface="Times New Roman"/>
                <a:cs typeface="Times New Roman"/>
              </a:rPr>
              <a:t>executed</a:t>
            </a:r>
            <a:r>
              <a:rPr dirty="0" sz="1000" spc="80">
                <a:latin typeface="Times New Roman"/>
                <a:cs typeface="Times New Roman"/>
              </a:rPr>
              <a:t> </a:t>
            </a:r>
            <a:r>
              <a:rPr dirty="0" sz="1000">
                <a:latin typeface="Times New Roman"/>
                <a:cs typeface="Times New Roman"/>
              </a:rPr>
              <a:t>operations,</a:t>
            </a:r>
            <a:r>
              <a:rPr dirty="0" sz="1000" spc="100">
                <a:latin typeface="Times New Roman"/>
                <a:cs typeface="Times New Roman"/>
              </a:rPr>
              <a:t> </a:t>
            </a:r>
            <a:r>
              <a:rPr dirty="0" sz="1000">
                <a:latin typeface="Times New Roman"/>
                <a:cs typeface="Times New Roman"/>
              </a:rPr>
              <a:t>whereas</a:t>
            </a:r>
            <a:r>
              <a:rPr dirty="0" sz="1000" spc="85">
                <a:latin typeface="Times New Roman"/>
                <a:cs typeface="Times New Roman"/>
              </a:rPr>
              <a:t> </a:t>
            </a:r>
            <a:r>
              <a:rPr dirty="0" sz="1000">
                <a:latin typeface="Times New Roman"/>
                <a:cs typeface="Times New Roman"/>
              </a:rPr>
              <a:t>a</a:t>
            </a:r>
            <a:r>
              <a:rPr dirty="0" sz="1000" spc="90">
                <a:latin typeface="Times New Roman"/>
                <a:cs typeface="Times New Roman"/>
              </a:rPr>
              <a:t> </a:t>
            </a:r>
            <a:r>
              <a:rPr dirty="0" sz="1000">
                <a:latin typeface="Times New Roman"/>
                <a:cs typeface="Times New Roman"/>
              </a:rPr>
              <a:t>recurrent</a:t>
            </a:r>
            <a:r>
              <a:rPr dirty="0" sz="1000" spc="80">
                <a:latin typeface="Times New Roman"/>
                <a:cs typeface="Times New Roman"/>
              </a:rPr>
              <a:t> </a:t>
            </a:r>
            <a:r>
              <a:rPr dirty="0" sz="1000">
                <a:latin typeface="Times New Roman"/>
                <a:cs typeface="Times New Roman"/>
              </a:rPr>
              <a:t>layer</a:t>
            </a:r>
            <a:r>
              <a:rPr dirty="0" sz="1000" spc="85">
                <a:latin typeface="Times New Roman"/>
                <a:cs typeface="Times New Roman"/>
              </a:rPr>
              <a:t> </a:t>
            </a:r>
            <a:r>
              <a:rPr dirty="0" sz="1000">
                <a:latin typeface="Times New Roman"/>
                <a:cs typeface="Times New Roman"/>
              </a:rPr>
              <a:t>requires</a:t>
            </a:r>
            <a:r>
              <a:rPr dirty="0" sz="1000" spc="90">
                <a:latin typeface="Times New Roman"/>
                <a:cs typeface="Times New Roman"/>
              </a:rPr>
              <a:t> </a:t>
            </a:r>
            <a:r>
              <a:rPr dirty="0" sz="1000" spc="90" i="1">
                <a:latin typeface="Calibri"/>
                <a:cs typeface="Calibri"/>
              </a:rPr>
              <a:t>O</a:t>
            </a:r>
            <a:r>
              <a:rPr dirty="0" sz="1000" spc="90">
                <a:latin typeface="Calibri"/>
                <a:cs typeface="Calibri"/>
              </a:rPr>
              <a:t>(</a:t>
            </a:r>
            <a:r>
              <a:rPr dirty="0" sz="1000" spc="90" i="1">
                <a:latin typeface="Calibri"/>
                <a:cs typeface="Calibri"/>
              </a:rPr>
              <a:t>n</a:t>
            </a:r>
            <a:r>
              <a:rPr dirty="0" sz="1000" spc="90">
                <a:latin typeface="Calibri"/>
                <a:cs typeface="Calibri"/>
              </a:rPr>
              <a:t>)</a:t>
            </a:r>
            <a:r>
              <a:rPr dirty="0" sz="1000" spc="105">
                <a:latin typeface="Calibri"/>
                <a:cs typeface="Calibri"/>
              </a:rPr>
              <a:t> </a:t>
            </a:r>
            <a:r>
              <a:rPr dirty="0" sz="1000">
                <a:latin typeface="Times New Roman"/>
                <a:cs typeface="Times New Roman"/>
              </a:rPr>
              <a:t>sequential</a:t>
            </a:r>
            <a:r>
              <a:rPr dirty="0" sz="1000" spc="85">
                <a:latin typeface="Times New Roman"/>
                <a:cs typeface="Times New Roman"/>
              </a:rPr>
              <a:t> </a:t>
            </a:r>
            <a:r>
              <a:rPr dirty="0" sz="1000">
                <a:latin typeface="Times New Roman"/>
                <a:cs typeface="Times New Roman"/>
              </a:rPr>
              <a:t>operations.</a:t>
            </a:r>
            <a:r>
              <a:rPr dirty="0" sz="1000" spc="295">
                <a:latin typeface="Times New Roman"/>
                <a:cs typeface="Times New Roman"/>
              </a:rPr>
              <a:t> </a:t>
            </a:r>
            <a:r>
              <a:rPr dirty="0" sz="1000">
                <a:latin typeface="Times New Roman"/>
                <a:cs typeface="Times New Roman"/>
              </a:rPr>
              <a:t>In</a:t>
            </a:r>
            <a:r>
              <a:rPr dirty="0" sz="1000" spc="90">
                <a:latin typeface="Times New Roman"/>
                <a:cs typeface="Times New Roman"/>
              </a:rPr>
              <a:t> </a:t>
            </a:r>
            <a:r>
              <a:rPr dirty="0" sz="1000">
                <a:latin typeface="Times New Roman"/>
                <a:cs typeface="Times New Roman"/>
              </a:rPr>
              <a:t>terms</a:t>
            </a:r>
            <a:r>
              <a:rPr dirty="0" sz="1000" spc="85">
                <a:latin typeface="Times New Roman"/>
                <a:cs typeface="Times New Roman"/>
              </a:rPr>
              <a:t> </a:t>
            </a:r>
            <a:r>
              <a:rPr dirty="0" sz="1000" spc="-25">
                <a:latin typeface="Times New Roman"/>
                <a:cs typeface="Times New Roman"/>
              </a:rPr>
              <a:t>of </a:t>
            </a:r>
            <a:r>
              <a:rPr dirty="0" sz="1000">
                <a:latin typeface="Times New Roman"/>
                <a:cs typeface="Times New Roman"/>
              </a:rPr>
              <a:t>computational</a:t>
            </a:r>
            <a:r>
              <a:rPr dirty="0" sz="1000" spc="15">
                <a:latin typeface="Times New Roman"/>
                <a:cs typeface="Times New Roman"/>
              </a:rPr>
              <a:t> </a:t>
            </a:r>
            <a:r>
              <a:rPr dirty="0" sz="1000">
                <a:latin typeface="Times New Roman"/>
                <a:cs typeface="Times New Roman"/>
              </a:rPr>
              <a:t>complexity,</a:t>
            </a:r>
            <a:r>
              <a:rPr dirty="0" sz="1000" spc="15">
                <a:latin typeface="Times New Roman"/>
                <a:cs typeface="Times New Roman"/>
              </a:rPr>
              <a:t> </a:t>
            </a:r>
            <a:r>
              <a:rPr dirty="0" sz="1000">
                <a:latin typeface="Times New Roman"/>
                <a:cs typeface="Times New Roman"/>
              </a:rPr>
              <a:t>self-attention</a:t>
            </a:r>
            <a:r>
              <a:rPr dirty="0" sz="1000" spc="15">
                <a:latin typeface="Times New Roman"/>
                <a:cs typeface="Times New Roman"/>
              </a:rPr>
              <a:t> </a:t>
            </a:r>
            <a:r>
              <a:rPr dirty="0" sz="1000">
                <a:latin typeface="Times New Roman"/>
                <a:cs typeface="Times New Roman"/>
              </a:rPr>
              <a:t>layers</a:t>
            </a:r>
            <a:r>
              <a:rPr dirty="0" sz="1000" spc="15">
                <a:latin typeface="Times New Roman"/>
                <a:cs typeface="Times New Roman"/>
              </a:rPr>
              <a:t> </a:t>
            </a:r>
            <a:r>
              <a:rPr dirty="0" sz="1000">
                <a:latin typeface="Times New Roman"/>
                <a:cs typeface="Times New Roman"/>
              </a:rPr>
              <a:t>are</a:t>
            </a:r>
            <a:r>
              <a:rPr dirty="0" sz="1000" spc="15">
                <a:latin typeface="Times New Roman"/>
                <a:cs typeface="Times New Roman"/>
              </a:rPr>
              <a:t> </a:t>
            </a:r>
            <a:r>
              <a:rPr dirty="0" sz="1000">
                <a:latin typeface="Times New Roman"/>
                <a:cs typeface="Times New Roman"/>
              </a:rPr>
              <a:t>faster</a:t>
            </a:r>
            <a:r>
              <a:rPr dirty="0" sz="1000" spc="15">
                <a:latin typeface="Times New Roman"/>
                <a:cs typeface="Times New Roman"/>
              </a:rPr>
              <a:t> </a:t>
            </a:r>
            <a:r>
              <a:rPr dirty="0" sz="1000">
                <a:latin typeface="Times New Roman"/>
                <a:cs typeface="Times New Roman"/>
              </a:rPr>
              <a:t>than</a:t>
            </a:r>
            <a:r>
              <a:rPr dirty="0" sz="1000" spc="15">
                <a:latin typeface="Times New Roman"/>
                <a:cs typeface="Times New Roman"/>
              </a:rPr>
              <a:t> </a:t>
            </a:r>
            <a:r>
              <a:rPr dirty="0" sz="1000">
                <a:latin typeface="Times New Roman"/>
                <a:cs typeface="Times New Roman"/>
              </a:rPr>
              <a:t>recurrent</a:t>
            </a:r>
            <a:r>
              <a:rPr dirty="0" sz="1000" spc="20">
                <a:latin typeface="Times New Roman"/>
                <a:cs typeface="Times New Roman"/>
              </a:rPr>
              <a:t> </a:t>
            </a:r>
            <a:r>
              <a:rPr dirty="0" sz="1000">
                <a:latin typeface="Times New Roman"/>
                <a:cs typeface="Times New Roman"/>
              </a:rPr>
              <a:t>layers</a:t>
            </a:r>
            <a:r>
              <a:rPr dirty="0" sz="1000" spc="15">
                <a:latin typeface="Times New Roman"/>
                <a:cs typeface="Times New Roman"/>
              </a:rPr>
              <a:t> </a:t>
            </a:r>
            <a:r>
              <a:rPr dirty="0" sz="1000">
                <a:latin typeface="Times New Roman"/>
                <a:cs typeface="Times New Roman"/>
              </a:rPr>
              <a:t>when</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sequence </a:t>
            </a:r>
            <a:r>
              <a:rPr dirty="0" sz="1000">
                <a:latin typeface="Times New Roman"/>
                <a:cs typeface="Times New Roman"/>
              </a:rPr>
              <a:t>length</a:t>
            </a:r>
            <a:r>
              <a:rPr dirty="0" sz="1000" spc="114">
                <a:latin typeface="Times New Roman"/>
                <a:cs typeface="Times New Roman"/>
              </a:rPr>
              <a:t> </a:t>
            </a:r>
            <a:r>
              <a:rPr dirty="0" sz="1000" spc="80" i="1">
                <a:latin typeface="Calibri"/>
                <a:cs typeface="Calibri"/>
              </a:rPr>
              <a:t>n</a:t>
            </a:r>
            <a:r>
              <a:rPr dirty="0" sz="1000" spc="135" i="1">
                <a:latin typeface="Calibri"/>
                <a:cs typeface="Calibri"/>
              </a:rPr>
              <a:t> </a:t>
            </a:r>
            <a:r>
              <a:rPr dirty="0" sz="1000">
                <a:latin typeface="Times New Roman"/>
                <a:cs typeface="Times New Roman"/>
              </a:rPr>
              <a:t>is</a:t>
            </a:r>
            <a:r>
              <a:rPr dirty="0" sz="1000" spc="120">
                <a:latin typeface="Times New Roman"/>
                <a:cs typeface="Times New Roman"/>
              </a:rPr>
              <a:t> </a:t>
            </a:r>
            <a:r>
              <a:rPr dirty="0" sz="1000">
                <a:latin typeface="Times New Roman"/>
                <a:cs typeface="Times New Roman"/>
              </a:rPr>
              <a:t>smaller</a:t>
            </a:r>
            <a:r>
              <a:rPr dirty="0" sz="1000" spc="114">
                <a:latin typeface="Times New Roman"/>
                <a:cs typeface="Times New Roman"/>
              </a:rPr>
              <a:t> </a:t>
            </a:r>
            <a:r>
              <a:rPr dirty="0" sz="1000">
                <a:latin typeface="Times New Roman"/>
                <a:cs typeface="Times New Roman"/>
              </a:rPr>
              <a:t>than</a:t>
            </a:r>
            <a:r>
              <a:rPr dirty="0" sz="1000" spc="120">
                <a:latin typeface="Times New Roman"/>
                <a:cs typeface="Times New Roman"/>
              </a:rPr>
              <a:t> </a:t>
            </a:r>
            <a:r>
              <a:rPr dirty="0" sz="1000">
                <a:latin typeface="Times New Roman"/>
                <a:cs typeface="Times New Roman"/>
              </a:rPr>
              <a:t>the</a:t>
            </a:r>
            <a:r>
              <a:rPr dirty="0" sz="1000" spc="114">
                <a:latin typeface="Times New Roman"/>
                <a:cs typeface="Times New Roman"/>
              </a:rPr>
              <a:t> </a:t>
            </a:r>
            <a:r>
              <a:rPr dirty="0" sz="1000">
                <a:latin typeface="Times New Roman"/>
                <a:cs typeface="Times New Roman"/>
              </a:rPr>
              <a:t>representation</a:t>
            </a:r>
            <a:r>
              <a:rPr dirty="0" sz="1000" spc="114">
                <a:latin typeface="Times New Roman"/>
                <a:cs typeface="Times New Roman"/>
              </a:rPr>
              <a:t> </a:t>
            </a:r>
            <a:r>
              <a:rPr dirty="0" sz="1000">
                <a:latin typeface="Times New Roman"/>
                <a:cs typeface="Times New Roman"/>
              </a:rPr>
              <a:t>dimensionality</a:t>
            </a:r>
            <a:r>
              <a:rPr dirty="0" sz="1000" spc="120">
                <a:latin typeface="Times New Roman"/>
                <a:cs typeface="Times New Roman"/>
              </a:rPr>
              <a:t> </a:t>
            </a:r>
            <a:r>
              <a:rPr dirty="0" sz="1000" i="1">
                <a:latin typeface="Calibri"/>
                <a:cs typeface="Calibri"/>
              </a:rPr>
              <a:t>d</a:t>
            </a:r>
            <a:r>
              <a:rPr dirty="0" sz="1000">
                <a:latin typeface="Times New Roman"/>
                <a:cs typeface="Times New Roman"/>
              </a:rPr>
              <a:t>,</a:t>
            </a:r>
            <a:r>
              <a:rPr dirty="0" sz="1000" spc="135">
                <a:latin typeface="Times New Roman"/>
                <a:cs typeface="Times New Roman"/>
              </a:rPr>
              <a:t> </a:t>
            </a:r>
            <a:r>
              <a:rPr dirty="0" sz="1000">
                <a:latin typeface="Times New Roman"/>
                <a:cs typeface="Times New Roman"/>
              </a:rPr>
              <a:t>which</a:t>
            </a:r>
            <a:r>
              <a:rPr dirty="0" sz="1000" spc="120">
                <a:latin typeface="Times New Roman"/>
                <a:cs typeface="Times New Roman"/>
              </a:rPr>
              <a:t> </a:t>
            </a:r>
            <a:r>
              <a:rPr dirty="0" sz="1000">
                <a:latin typeface="Times New Roman"/>
                <a:cs typeface="Times New Roman"/>
              </a:rPr>
              <a:t>is</a:t>
            </a:r>
            <a:r>
              <a:rPr dirty="0" sz="1000" spc="114">
                <a:latin typeface="Times New Roman"/>
                <a:cs typeface="Times New Roman"/>
              </a:rPr>
              <a:t> </a:t>
            </a:r>
            <a:r>
              <a:rPr dirty="0" sz="1000">
                <a:latin typeface="Times New Roman"/>
                <a:cs typeface="Times New Roman"/>
              </a:rPr>
              <a:t>most</a:t>
            </a:r>
            <a:r>
              <a:rPr dirty="0" sz="1000" spc="120">
                <a:latin typeface="Times New Roman"/>
                <a:cs typeface="Times New Roman"/>
              </a:rPr>
              <a:t> </a:t>
            </a:r>
            <a:r>
              <a:rPr dirty="0" sz="1000">
                <a:latin typeface="Times New Roman"/>
                <a:cs typeface="Times New Roman"/>
              </a:rPr>
              <a:t>often</a:t>
            </a:r>
            <a:r>
              <a:rPr dirty="0" sz="1000" spc="114">
                <a:latin typeface="Times New Roman"/>
                <a:cs typeface="Times New Roman"/>
              </a:rPr>
              <a:t> </a:t>
            </a:r>
            <a:r>
              <a:rPr dirty="0" sz="1000">
                <a:latin typeface="Times New Roman"/>
                <a:cs typeface="Times New Roman"/>
              </a:rPr>
              <a:t>the</a:t>
            </a:r>
            <a:r>
              <a:rPr dirty="0" sz="1000" spc="120">
                <a:latin typeface="Times New Roman"/>
                <a:cs typeface="Times New Roman"/>
              </a:rPr>
              <a:t> </a:t>
            </a:r>
            <a:r>
              <a:rPr dirty="0" sz="1000">
                <a:latin typeface="Times New Roman"/>
                <a:cs typeface="Times New Roman"/>
              </a:rPr>
              <a:t>case</a:t>
            </a:r>
            <a:r>
              <a:rPr dirty="0" sz="1000" spc="114">
                <a:latin typeface="Times New Roman"/>
                <a:cs typeface="Times New Roman"/>
              </a:rPr>
              <a:t> </a:t>
            </a:r>
            <a:r>
              <a:rPr dirty="0" sz="1000" spc="-20">
                <a:latin typeface="Times New Roman"/>
                <a:cs typeface="Times New Roman"/>
              </a:rPr>
              <a:t>with </a:t>
            </a:r>
            <a:r>
              <a:rPr dirty="0" sz="1000" spc="-10">
                <a:latin typeface="Times New Roman"/>
                <a:cs typeface="Times New Roman"/>
              </a:rPr>
              <a:t>sentence</a:t>
            </a:r>
            <a:r>
              <a:rPr dirty="0" sz="1000" spc="-5">
                <a:latin typeface="Times New Roman"/>
                <a:cs typeface="Times New Roman"/>
              </a:rPr>
              <a:t> </a:t>
            </a:r>
            <a:r>
              <a:rPr dirty="0" sz="1000" spc="-10">
                <a:latin typeface="Times New Roman"/>
                <a:cs typeface="Times New Roman"/>
              </a:rPr>
              <a:t>representations</a:t>
            </a:r>
            <a:r>
              <a:rPr dirty="0" sz="1000" spc="-5">
                <a:latin typeface="Times New Roman"/>
                <a:cs typeface="Times New Roman"/>
              </a:rPr>
              <a:t> </a:t>
            </a:r>
            <a:r>
              <a:rPr dirty="0" sz="1000">
                <a:latin typeface="Times New Roman"/>
                <a:cs typeface="Times New Roman"/>
              </a:rPr>
              <a:t>used</a:t>
            </a:r>
            <a:r>
              <a:rPr dirty="0" sz="1000" spc="-5">
                <a:latin typeface="Times New Roman"/>
                <a:cs typeface="Times New Roman"/>
              </a:rPr>
              <a:t> </a:t>
            </a:r>
            <a:r>
              <a:rPr dirty="0" sz="1000">
                <a:latin typeface="Times New Roman"/>
                <a:cs typeface="Times New Roman"/>
              </a:rPr>
              <a:t>by</a:t>
            </a:r>
            <a:r>
              <a:rPr dirty="0" sz="1000" spc="-5">
                <a:latin typeface="Times New Roman"/>
                <a:cs typeface="Times New Roman"/>
              </a:rPr>
              <a:t> </a:t>
            </a:r>
            <a:r>
              <a:rPr dirty="0" sz="1000" spc="-10">
                <a:latin typeface="Times New Roman"/>
                <a:cs typeface="Times New Roman"/>
              </a:rPr>
              <a:t>state-of-the-</a:t>
            </a:r>
            <a:r>
              <a:rPr dirty="0" sz="1000">
                <a:latin typeface="Times New Roman"/>
                <a:cs typeface="Times New Roman"/>
              </a:rPr>
              <a:t>art</a:t>
            </a:r>
            <a:r>
              <a:rPr dirty="0" sz="1000" spc="-5">
                <a:latin typeface="Times New Roman"/>
                <a:cs typeface="Times New Roman"/>
              </a:rPr>
              <a:t> </a:t>
            </a:r>
            <a:r>
              <a:rPr dirty="0" sz="1000" spc="-10">
                <a:latin typeface="Times New Roman"/>
                <a:cs typeface="Times New Roman"/>
              </a:rPr>
              <a:t>models</a:t>
            </a:r>
            <a:r>
              <a:rPr dirty="0" sz="1000">
                <a:latin typeface="Times New Roman"/>
                <a:cs typeface="Times New Roman"/>
              </a:rPr>
              <a:t> in</a:t>
            </a:r>
            <a:r>
              <a:rPr dirty="0" sz="1000" spc="-5">
                <a:latin typeface="Times New Roman"/>
                <a:cs typeface="Times New Roman"/>
              </a:rPr>
              <a:t> </a:t>
            </a:r>
            <a:r>
              <a:rPr dirty="0" sz="1000" spc="-10">
                <a:latin typeface="Times New Roman"/>
                <a:cs typeface="Times New Roman"/>
              </a:rPr>
              <a:t>machine</a:t>
            </a:r>
            <a:r>
              <a:rPr dirty="0" sz="1000" spc="-5">
                <a:latin typeface="Times New Roman"/>
                <a:cs typeface="Times New Roman"/>
              </a:rPr>
              <a:t> </a:t>
            </a:r>
            <a:r>
              <a:rPr dirty="0" sz="1000" spc="-10">
                <a:latin typeface="Times New Roman"/>
                <a:cs typeface="Times New Roman"/>
              </a:rPr>
              <a:t>translations,</a:t>
            </a:r>
            <a:r>
              <a:rPr dirty="0" sz="1000" spc="-5">
                <a:latin typeface="Times New Roman"/>
                <a:cs typeface="Times New Roman"/>
              </a:rPr>
              <a:t> </a:t>
            </a:r>
            <a:r>
              <a:rPr dirty="0" sz="1000">
                <a:latin typeface="Times New Roman"/>
                <a:cs typeface="Times New Roman"/>
              </a:rPr>
              <a:t>such</a:t>
            </a:r>
            <a:r>
              <a:rPr dirty="0" sz="1000" spc="-5">
                <a:latin typeface="Times New Roman"/>
                <a:cs typeface="Times New Roman"/>
              </a:rPr>
              <a:t> </a:t>
            </a:r>
            <a:r>
              <a:rPr dirty="0" sz="1000">
                <a:latin typeface="Times New Roman"/>
                <a:cs typeface="Times New Roman"/>
              </a:rPr>
              <a:t>as </a:t>
            </a:r>
            <a:r>
              <a:rPr dirty="0" sz="1000" spc="-20">
                <a:latin typeface="Times New Roman"/>
                <a:cs typeface="Times New Roman"/>
              </a:rPr>
              <a:t>word-</a:t>
            </a:r>
            <a:r>
              <a:rPr dirty="0" sz="1000" spc="-10">
                <a:latin typeface="Times New Roman"/>
                <a:cs typeface="Times New Roman"/>
              </a:rPr>
              <a:t>piece</a:t>
            </a:r>
            <a:endParaRPr sz="1000">
              <a:latin typeface="Times New Roman"/>
              <a:cs typeface="Times New Roman"/>
            </a:endParaRPr>
          </a:p>
          <a:p>
            <a:pPr algn="just" marL="127000">
              <a:lnSpc>
                <a:spcPts val="1075"/>
              </a:lnSpc>
            </a:pPr>
            <a:r>
              <a:rPr dirty="0" sz="1000">
                <a:latin typeface="Times New Roman"/>
                <a:cs typeface="Times New Roman"/>
              </a:rPr>
              <a:t>[31]</a:t>
            </a:r>
            <a:r>
              <a:rPr dirty="0" sz="1000" spc="-30">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spc="-10">
                <a:latin typeface="Times New Roman"/>
                <a:cs typeface="Times New Roman"/>
              </a:rPr>
              <a:t>byte-</a:t>
            </a:r>
            <a:r>
              <a:rPr dirty="0" sz="1000">
                <a:latin typeface="Times New Roman"/>
                <a:cs typeface="Times New Roman"/>
              </a:rPr>
              <a:t>pair</a:t>
            </a:r>
            <a:r>
              <a:rPr dirty="0" sz="1000" spc="-25">
                <a:latin typeface="Times New Roman"/>
                <a:cs typeface="Times New Roman"/>
              </a:rPr>
              <a:t> </a:t>
            </a:r>
            <a:r>
              <a:rPr dirty="0" sz="1000">
                <a:latin typeface="Times New Roman"/>
                <a:cs typeface="Times New Roman"/>
              </a:rPr>
              <a:t>[25]</a:t>
            </a:r>
            <a:r>
              <a:rPr dirty="0" sz="1000" spc="-25">
                <a:latin typeface="Times New Roman"/>
                <a:cs typeface="Times New Roman"/>
              </a:rPr>
              <a:t> </a:t>
            </a:r>
            <a:r>
              <a:rPr dirty="0" sz="1000">
                <a:latin typeface="Times New Roman"/>
                <a:cs typeface="Times New Roman"/>
              </a:rPr>
              <a:t>representations.</a:t>
            </a:r>
            <a:r>
              <a:rPr dirty="0" sz="1000" spc="30">
                <a:latin typeface="Times New Roman"/>
                <a:cs typeface="Times New Roman"/>
              </a:rPr>
              <a:t> </a:t>
            </a:r>
            <a:r>
              <a:rPr dirty="0" sz="1000" spc="-30">
                <a:latin typeface="Times New Roman"/>
                <a:cs typeface="Times New Roman"/>
              </a:rPr>
              <a:t>To</a:t>
            </a:r>
            <a:r>
              <a:rPr dirty="0" sz="1000" spc="-25">
                <a:latin typeface="Times New Roman"/>
                <a:cs typeface="Times New Roman"/>
              </a:rPr>
              <a:t> </a:t>
            </a:r>
            <a:r>
              <a:rPr dirty="0" sz="1000">
                <a:latin typeface="Times New Roman"/>
                <a:cs typeface="Times New Roman"/>
              </a:rPr>
              <a:t>improve</a:t>
            </a:r>
            <a:r>
              <a:rPr dirty="0" sz="1000" spc="-25">
                <a:latin typeface="Times New Roman"/>
                <a:cs typeface="Times New Roman"/>
              </a:rPr>
              <a:t> </a:t>
            </a:r>
            <a:r>
              <a:rPr dirty="0" sz="1000">
                <a:latin typeface="Times New Roman"/>
                <a:cs typeface="Times New Roman"/>
              </a:rPr>
              <a:t>computational</a:t>
            </a:r>
            <a:r>
              <a:rPr dirty="0" sz="1000" spc="-25">
                <a:latin typeface="Times New Roman"/>
                <a:cs typeface="Times New Roman"/>
              </a:rPr>
              <a:t> </a:t>
            </a:r>
            <a:r>
              <a:rPr dirty="0" sz="1000">
                <a:latin typeface="Times New Roman"/>
                <a:cs typeface="Times New Roman"/>
              </a:rPr>
              <a:t>performance</a:t>
            </a:r>
            <a:r>
              <a:rPr dirty="0" sz="1000" spc="-25">
                <a:latin typeface="Times New Roman"/>
                <a:cs typeface="Times New Roman"/>
              </a:rPr>
              <a:t> </a:t>
            </a:r>
            <a:r>
              <a:rPr dirty="0" sz="1000">
                <a:latin typeface="Times New Roman"/>
                <a:cs typeface="Times New Roman"/>
              </a:rPr>
              <a:t>for</a:t>
            </a:r>
            <a:r>
              <a:rPr dirty="0" sz="1000" spc="-25">
                <a:latin typeface="Times New Roman"/>
                <a:cs typeface="Times New Roman"/>
              </a:rPr>
              <a:t> </a:t>
            </a:r>
            <a:r>
              <a:rPr dirty="0" sz="1000">
                <a:latin typeface="Times New Roman"/>
                <a:cs typeface="Times New Roman"/>
              </a:rPr>
              <a:t>tasks</a:t>
            </a:r>
            <a:r>
              <a:rPr dirty="0" sz="1000" spc="-25">
                <a:latin typeface="Times New Roman"/>
                <a:cs typeface="Times New Roman"/>
              </a:rPr>
              <a:t> </a:t>
            </a:r>
            <a:r>
              <a:rPr dirty="0" sz="1000" spc="-10">
                <a:latin typeface="Times New Roman"/>
                <a:cs typeface="Times New Roman"/>
              </a:rPr>
              <a:t>involving</a:t>
            </a:r>
            <a:endParaRPr sz="1000">
              <a:latin typeface="Times New Roman"/>
              <a:cs typeface="Times New Roman"/>
            </a:endParaRPr>
          </a:p>
        </p:txBody>
      </p:sp>
      <p:sp>
        <p:nvSpPr>
          <p:cNvPr id="16" name="object 16" descr=""/>
          <p:cNvSpPr txBox="1"/>
          <p:nvPr/>
        </p:nvSpPr>
        <p:spPr>
          <a:xfrm>
            <a:off x="1355737" y="9014390"/>
            <a:ext cx="5057775" cy="178435"/>
          </a:xfrm>
          <a:prstGeom prst="rect">
            <a:avLst/>
          </a:prstGeom>
        </p:spPr>
        <p:txBody>
          <a:bodyPr wrap="square" lIns="0" tIns="2540" rIns="0" bIns="0" rtlCol="0" vert="horz">
            <a:spAutoFit/>
          </a:bodyPr>
          <a:lstStyle/>
          <a:p>
            <a:pPr marL="12700">
              <a:lnSpc>
                <a:spcPct val="100000"/>
              </a:lnSpc>
              <a:spcBef>
                <a:spcPts val="20"/>
              </a:spcBef>
            </a:pPr>
            <a:r>
              <a:rPr dirty="0" sz="1000" spc="-10">
                <a:latin typeface="Times New Roman"/>
                <a:cs typeface="Times New Roman"/>
              </a:rPr>
              <a:t>very</a:t>
            </a:r>
            <a:r>
              <a:rPr dirty="0" sz="1000" spc="-35">
                <a:latin typeface="Times New Roman"/>
                <a:cs typeface="Times New Roman"/>
              </a:rPr>
              <a:t> </a:t>
            </a:r>
            <a:r>
              <a:rPr dirty="0" sz="1000" spc="-10">
                <a:latin typeface="Times New Roman"/>
                <a:cs typeface="Times New Roman"/>
              </a:rPr>
              <a:t>long</a:t>
            </a:r>
            <a:r>
              <a:rPr dirty="0" sz="1000" spc="-20">
                <a:latin typeface="Times New Roman"/>
                <a:cs typeface="Times New Roman"/>
              </a:rPr>
              <a:t> </a:t>
            </a:r>
            <a:r>
              <a:rPr dirty="0" sz="1000" spc="-10">
                <a:latin typeface="Times New Roman"/>
                <a:cs typeface="Times New Roman"/>
              </a:rPr>
              <a:t>sequences,</a:t>
            </a:r>
            <a:r>
              <a:rPr dirty="0" sz="1000" spc="-25">
                <a:latin typeface="Times New Roman"/>
                <a:cs typeface="Times New Roman"/>
              </a:rPr>
              <a:t> </a:t>
            </a:r>
            <a:r>
              <a:rPr dirty="0" sz="1000" spc="-20">
                <a:latin typeface="Times New Roman"/>
                <a:cs typeface="Times New Roman"/>
              </a:rPr>
              <a:t>self-</a:t>
            </a:r>
            <a:r>
              <a:rPr dirty="0" sz="1000" spc="-10">
                <a:latin typeface="Times New Roman"/>
                <a:cs typeface="Times New Roman"/>
              </a:rPr>
              <a:t>attention</a:t>
            </a:r>
            <a:r>
              <a:rPr dirty="0" sz="1000" spc="-20">
                <a:latin typeface="Times New Roman"/>
                <a:cs typeface="Times New Roman"/>
              </a:rPr>
              <a:t> </a:t>
            </a:r>
            <a:r>
              <a:rPr dirty="0" sz="1000" spc="-10">
                <a:latin typeface="Times New Roman"/>
                <a:cs typeface="Times New Roman"/>
              </a:rPr>
              <a:t>could</a:t>
            </a:r>
            <a:r>
              <a:rPr dirty="0" sz="1000" spc="-25">
                <a:latin typeface="Times New Roman"/>
                <a:cs typeface="Times New Roman"/>
              </a:rPr>
              <a:t> </a:t>
            </a:r>
            <a:r>
              <a:rPr dirty="0" sz="1000">
                <a:latin typeface="Times New Roman"/>
                <a:cs typeface="Times New Roman"/>
              </a:rPr>
              <a:t>be</a:t>
            </a:r>
            <a:r>
              <a:rPr dirty="0" sz="1000" spc="-20">
                <a:latin typeface="Times New Roman"/>
                <a:cs typeface="Times New Roman"/>
              </a:rPr>
              <a:t> </a:t>
            </a:r>
            <a:r>
              <a:rPr dirty="0" sz="1000" spc="-10">
                <a:latin typeface="Times New Roman"/>
                <a:cs typeface="Times New Roman"/>
              </a:rPr>
              <a:t>restricted</a:t>
            </a:r>
            <a:r>
              <a:rPr dirty="0" sz="1000" spc="-2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spc="-10">
                <a:latin typeface="Times New Roman"/>
                <a:cs typeface="Times New Roman"/>
              </a:rPr>
              <a:t>considering</a:t>
            </a:r>
            <a:r>
              <a:rPr dirty="0" sz="1000" spc="-25">
                <a:latin typeface="Times New Roman"/>
                <a:cs typeface="Times New Roman"/>
              </a:rPr>
              <a:t> </a:t>
            </a:r>
            <a:r>
              <a:rPr dirty="0" sz="1000" spc="-10">
                <a:latin typeface="Times New Roman"/>
                <a:cs typeface="Times New Roman"/>
              </a:rPr>
              <a:t>only</a:t>
            </a:r>
            <a:r>
              <a:rPr dirty="0" sz="1000" spc="-20">
                <a:latin typeface="Times New Roman"/>
                <a:cs typeface="Times New Roman"/>
              </a:rPr>
              <a:t> </a:t>
            </a:r>
            <a:r>
              <a:rPr dirty="0" sz="1000">
                <a:latin typeface="Times New Roman"/>
                <a:cs typeface="Times New Roman"/>
              </a:rPr>
              <a:t>a</a:t>
            </a:r>
            <a:r>
              <a:rPr dirty="0" sz="1000" spc="-20">
                <a:latin typeface="Times New Roman"/>
                <a:cs typeface="Times New Roman"/>
              </a:rPr>
              <a:t> neighborhood</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size</a:t>
            </a:r>
            <a:r>
              <a:rPr dirty="0" sz="1000" spc="-25">
                <a:latin typeface="Times New Roman"/>
                <a:cs typeface="Times New Roman"/>
              </a:rPr>
              <a:t> </a:t>
            </a:r>
            <a:r>
              <a:rPr dirty="0" sz="1000" spc="110" i="1">
                <a:latin typeface="Calibri"/>
                <a:cs typeface="Calibri"/>
              </a:rPr>
              <a:t>r</a:t>
            </a:r>
            <a:r>
              <a:rPr dirty="0" sz="1000" spc="30" i="1">
                <a:latin typeface="Calibri"/>
                <a:cs typeface="Calibri"/>
              </a:rPr>
              <a:t> </a:t>
            </a:r>
            <a:r>
              <a:rPr dirty="0" sz="1000" spc="-25">
                <a:latin typeface="Times New Roman"/>
                <a:cs typeface="Times New Roman"/>
              </a:rPr>
              <a:t>in</a:t>
            </a:r>
            <a:endParaRPr sz="1000">
              <a:latin typeface="Times New Roman"/>
              <a:cs typeface="Times New Roman"/>
            </a:endParaRPr>
          </a:p>
        </p:txBody>
      </p:sp>
      <p:sp>
        <p:nvSpPr>
          <p:cNvPr id="17" name="object 17" descr=""/>
          <p:cNvSpPr txBox="1">
            <a:spLocks noGrp="1"/>
          </p:cNvSpPr>
          <p:nvPr>
            <p:ph type="sldNum" idx="7" sz="quarter"/>
          </p:nvPr>
        </p:nvSpPr>
        <p:spPr>
          <a:prstGeom prst="rect"/>
        </p:spPr>
        <p:txBody>
          <a:bodyPr wrap="square" lIns="0" tIns="2540" rIns="0" bIns="0" rtlCol="0" vert="horz">
            <a:spAutoFit/>
          </a:bodyPr>
          <a:lstStyle/>
          <a:p>
            <a:pPr marL="69215">
              <a:lnSpc>
                <a:spcPct val="100000"/>
              </a:lnSpc>
              <a:spcBef>
                <a:spcPts val="20"/>
              </a:spcBef>
            </a:pPr>
            <a:fld id="{81D60167-4931-47E6-BA6A-407CBD079E47}" type="slidenum">
              <a:rPr dirty="0" spc="-50"/>
              <a:t>6</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descr=""/>
          <p:cNvSpPr txBox="1"/>
          <p:nvPr/>
        </p:nvSpPr>
        <p:spPr>
          <a:xfrm>
            <a:off x="1358900" y="9014390"/>
            <a:ext cx="679450" cy="183515"/>
          </a:xfrm>
          <a:prstGeom prst="rect">
            <a:avLst/>
          </a:prstGeom>
        </p:spPr>
        <p:txBody>
          <a:bodyPr wrap="square" lIns="0" tIns="2540" rIns="0" bIns="0" rtlCol="0" vert="horz">
            <a:spAutoFit/>
          </a:bodyPr>
          <a:lstStyle/>
          <a:p>
            <a:pPr marL="12700">
              <a:lnSpc>
                <a:spcPct val="100000"/>
              </a:lnSpc>
              <a:spcBef>
                <a:spcPts val="20"/>
              </a:spcBef>
            </a:pPr>
            <a:r>
              <a:rPr dirty="0" sz="1000" spc="75" i="1">
                <a:latin typeface="Calibri"/>
                <a:cs typeface="Calibri"/>
              </a:rPr>
              <a:t>P</a:t>
            </a:r>
            <a:r>
              <a:rPr dirty="0" baseline="-11904" sz="1050" spc="112" i="1">
                <a:latin typeface="Calibri"/>
                <a:cs typeface="Calibri"/>
              </a:rPr>
              <a:t>drop</a:t>
            </a:r>
            <a:r>
              <a:rPr dirty="0" baseline="-11904" sz="1050" spc="270" i="1">
                <a:latin typeface="Calibri"/>
                <a:cs typeface="Calibri"/>
              </a:rPr>
              <a:t> </a:t>
            </a:r>
            <a:r>
              <a:rPr dirty="0" sz="1000" spc="270">
                <a:latin typeface="Calibri"/>
                <a:cs typeface="Calibri"/>
              </a:rPr>
              <a:t>=</a:t>
            </a:r>
            <a:r>
              <a:rPr dirty="0" sz="1000" spc="60">
                <a:latin typeface="Calibri"/>
                <a:cs typeface="Calibri"/>
              </a:rPr>
              <a:t> </a:t>
            </a:r>
            <a:r>
              <a:rPr dirty="0" sz="1000" spc="-20">
                <a:latin typeface="Calibri"/>
                <a:cs typeface="Calibri"/>
              </a:rPr>
              <a:t>0</a:t>
            </a:r>
            <a:r>
              <a:rPr dirty="0" sz="1000" spc="-20" i="1">
                <a:latin typeface="Calibri"/>
                <a:cs typeface="Calibri"/>
              </a:rPr>
              <a:t>.</a:t>
            </a:r>
            <a:r>
              <a:rPr dirty="0" sz="1000" spc="-20">
                <a:latin typeface="Calibri"/>
                <a:cs typeface="Calibri"/>
              </a:rPr>
              <a:t>1</a:t>
            </a:r>
            <a:r>
              <a:rPr dirty="0" sz="1000" spc="-20">
                <a:latin typeface="Times New Roman"/>
                <a:cs typeface="Times New Roman"/>
              </a:rPr>
              <a:t>.</a:t>
            </a:r>
            <a:endParaRPr sz="1000">
              <a:latin typeface="Times New Roman"/>
              <a:cs typeface="Times New Roman"/>
            </a:endParaRPr>
          </a:p>
        </p:txBody>
      </p:sp>
      <p:sp>
        <p:nvSpPr>
          <p:cNvPr id="10" name="object 10" descr=""/>
          <p:cNvSpPr txBox="1">
            <a:spLocks noGrp="1"/>
          </p:cNvSpPr>
          <p:nvPr>
            <p:ph type="sldNum" idx="7" sz="quarter"/>
          </p:nvPr>
        </p:nvSpPr>
        <p:spPr>
          <a:prstGeom prst="rect"/>
        </p:spPr>
        <p:txBody>
          <a:bodyPr wrap="square" lIns="0" tIns="2540" rIns="0" bIns="0" rtlCol="0" vert="horz">
            <a:spAutoFit/>
          </a:bodyPr>
          <a:lstStyle/>
          <a:p>
            <a:pPr marL="69215">
              <a:lnSpc>
                <a:spcPct val="100000"/>
              </a:lnSpc>
              <a:spcBef>
                <a:spcPts val="20"/>
              </a:spcBef>
            </a:pPr>
            <a:fld id="{81D60167-4931-47E6-BA6A-407CBD079E47}" type="slidenum">
              <a:rPr dirty="0" spc="-50"/>
              <a:t>7</a:t>
            </a:fld>
          </a:p>
        </p:txBody>
      </p:sp>
      <p:sp>
        <p:nvSpPr>
          <p:cNvPr id="2" name="object 2" descr=""/>
          <p:cNvSpPr txBox="1"/>
          <p:nvPr/>
        </p:nvSpPr>
        <p:spPr>
          <a:xfrm>
            <a:off x="1240040" y="901705"/>
            <a:ext cx="5304155" cy="6061075"/>
          </a:xfrm>
          <a:prstGeom prst="rect">
            <a:avLst/>
          </a:prstGeom>
        </p:spPr>
        <p:txBody>
          <a:bodyPr wrap="square" lIns="0" tIns="28575" rIns="0" bIns="0" rtlCol="0" vert="horz">
            <a:spAutoFit/>
          </a:bodyPr>
          <a:lstStyle/>
          <a:p>
            <a:pPr algn="just" marL="131445" marR="134620">
              <a:lnSpc>
                <a:spcPts val="1090"/>
              </a:lnSpc>
              <a:spcBef>
                <a:spcPts val="225"/>
              </a:spcBef>
            </a:pP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input</a:t>
            </a:r>
            <a:r>
              <a:rPr dirty="0" sz="1000" spc="-30">
                <a:latin typeface="Times New Roman"/>
                <a:cs typeface="Times New Roman"/>
              </a:rPr>
              <a:t> </a:t>
            </a:r>
            <a:r>
              <a:rPr dirty="0" sz="1000" spc="-10">
                <a:latin typeface="Times New Roman"/>
                <a:cs typeface="Times New Roman"/>
              </a:rPr>
              <a:t>sequence</a:t>
            </a:r>
            <a:r>
              <a:rPr dirty="0" sz="1000" spc="-25">
                <a:latin typeface="Times New Roman"/>
                <a:cs typeface="Times New Roman"/>
              </a:rPr>
              <a:t> </a:t>
            </a:r>
            <a:r>
              <a:rPr dirty="0" sz="1000" spc="-20">
                <a:latin typeface="Times New Roman"/>
                <a:cs typeface="Times New Roman"/>
              </a:rPr>
              <a:t>centered</a:t>
            </a:r>
            <a:r>
              <a:rPr dirty="0" sz="1000" spc="-30">
                <a:latin typeface="Times New Roman"/>
                <a:cs typeface="Times New Roman"/>
              </a:rPr>
              <a:t> </a:t>
            </a:r>
            <a:r>
              <a:rPr dirty="0" sz="1000" spc="-10">
                <a:latin typeface="Times New Roman"/>
                <a:cs typeface="Times New Roman"/>
              </a:rPr>
              <a:t>around</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20">
                <a:latin typeface="Times New Roman"/>
                <a:cs typeface="Times New Roman"/>
              </a:rPr>
              <a:t>respective</a:t>
            </a:r>
            <a:r>
              <a:rPr dirty="0" sz="1000" spc="-25">
                <a:latin typeface="Times New Roman"/>
                <a:cs typeface="Times New Roman"/>
              </a:rPr>
              <a:t> </a:t>
            </a:r>
            <a:r>
              <a:rPr dirty="0" sz="1000" spc="-10">
                <a:latin typeface="Times New Roman"/>
                <a:cs typeface="Times New Roman"/>
              </a:rPr>
              <a:t>output</a:t>
            </a:r>
            <a:r>
              <a:rPr dirty="0" sz="1000" spc="-30">
                <a:latin typeface="Times New Roman"/>
                <a:cs typeface="Times New Roman"/>
              </a:rPr>
              <a:t> </a:t>
            </a:r>
            <a:r>
              <a:rPr dirty="0" sz="1000">
                <a:latin typeface="Times New Roman"/>
                <a:cs typeface="Times New Roman"/>
              </a:rPr>
              <a:t>position.</a:t>
            </a:r>
            <a:r>
              <a:rPr dirty="0" sz="1000" spc="30">
                <a:latin typeface="Times New Roman"/>
                <a:cs typeface="Times New Roman"/>
              </a:rPr>
              <a:t> </a:t>
            </a:r>
            <a:r>
              <a:rPr dirty="0" sz="1000">
                <a:latin typeface="Times New Roman"/>
                <a:cs typeface="Times New Roman"/>
              </a:rPr>
              <a:t>This</a:t>
            </a:r>
            <a:r>
              <a:rPr dirty="0" sz="1000" spc="-30">
                <a:latin typeface="Times New Roman"/>
                <a:cs typeface="Times New Roman"/>
              </a:rPr>
              <a:t> </a:t>
            </a:r>
            <a:r>
              <a:rPr dirty="0" sz="1000" spc="-10">
                <a:latin typeface="Times New Roman"/>
                <a:cs typeface="Times New Roman"/>
              </a:rPr>
              <a:t>would</a:t>
            </a:r>
            <a:r>
              <a:rPr dirty="0" sz="1000" spc="-25">
                <a:latin typeface="Times New Roman"/>
                <a:cs typeface="Times New Roman"/>
              </a:rPr>
              <a:t> </a:t>
            </a:r>
            <a:r>
              <a:rPr dirty="0" sz="1000" spc="-20">
                <a:latin typeface="Times New Roman"/>
                <a:cs typeface="Times New Roman"/>
              </a:rPr>
              <a:t>increase</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maximum </a:t>
            </a:r>
            <a:r>
              <a:rPr dirty="0" sz="1000">
                <a:latin typeface="Times New Roman"/>
                <a:cs typeface="Times New Roman"/>
              </a:rPr>
              <a:t>path</a:t>
            </a:r>
            <a:r>
              <a:rPr dirty="0" sz="1000" spc="-25">
                <a:latin typeface="Times New Roman"/>
                <a:cs typeface="Times New Roman"/>
              </a:rPr>
              <a:t> </a:t>
            </a:r>
            <a:r>
              <a:rPr dirty="0" sz="1000">
                <a:latin typeface="Times New Roman"/>
                <a:cs typeface="Times New Roman"/>
              </a:rPr>
              <a:t>length</a:t>
            </a:r>
            <a:r>
              <a:rPr dirty="0" sz="1000" spc="-1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spc="85" i="1">
                <a:latin typeface="Calibri"/>
                <a:cs typeface="Calibri"/>
              </a:rPr>
              <a:t>O</a:t>
            </a:r>
            <a:r>
              <a:rPr dirty="0" sz="1000" spc="85">
                <a:latin typeface="Calibri"/>
                <a:cs typeface="Calibri"/>
              </a:rPr>
              <a:t>(</a:t>
            </a:r>
            <a:r>
              <a:rPr dirty="0" sz="1000" spc="85" i="1">
                <a:latin typeface="Calibri"/>
                <a:cs typeface="Calibri"/>
              </a:rPr>
              <a:t>n/r</a:t>
            </a:r>
            <a:r>
              <a:rPr dirty="0" sz="1000" spc="85">
                <a:latin typeface="Calibri"/>
                <a:cs typeface="Calibri"/>
              </a:rPr>
              <a:t>)</a:t>
            </a:r>
            <a:r>
              <a:rPr dirty="0" sz="1000" spc="85">
                <a:latin typeface="Times New Roman"/>
                <a:cs typeface="Times New Roman"/>
              </a:rPr>
              <a:t>.</a:t>
            </a:r>
            <a:r>
              <a:rPr dirty="0" sz="1000" spc="40">
                <a:latin typeface="Times New Roman"/>
                <a:cs typeface="Times New Roman"/>
              </a:rPr>
              <a:t> </a:t>
            </a:r>
            <a:r>
              <a:rPr dirty="0" sz="1000" spc="-55">
                <a:latin typeface="Times New Roman"/>
                <a:cs typeface="Times New Roman"/>
              </a:rPr>
              <a:t>We</a:t>
            </a:r>
            <a:r>
              <a:rPr dirty="0" sz="1000" spc="-5">
                <a:latin typeface="Times New Roman"/>
                <a:cs typeface="Times New Roman"/>
              </a:rPr>
              <a:t> </a:t>
            </a:r>
            <a:r>
              <a:rPr dirty="0" sz="1000">
                <a:latin typeface="Times New Roman"/>
                <a:cs typeface="Times New Roman"/>
              </a:rPr>
              <a:t>plan</a:t>
            </a:r>
            <a:r>
              <a:rPr dirty="0" sz="1000" spc="-15">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spc="-10">
                <a:latin typeface="Times New Roman"/>
                <a:cs typeface="Times New Roman"/>
              </a:rPr>
              <a:t>investigate</a:t>
            </a:r>
            <a:r>
              <a:rPr dirty="0" sz="1000" spc="-15">
                <a:latin typeface="Times New Roman"/>
                <a:cs typeface="Times New Roman"/>
              </a:rPr>
              <a:t> </a:t>
            </a:r>
            <a:r>
              <a:rPr dirty="0" sz="1000">
                <a:latin typeface="Times New Roman"/>
                <a:cs typeface="Times New Roman"/>
              </a:rPr>
              <a:t>this</a:t>
            </a:r>
            <a:r>
              <a:rPr dirty="0" sz="1000" spc="-10">
                <a:latin typeface="Times New Roman"/>
                <a:cs typeface="Times New Roman"/>
              </a:rPr>
              <a:t> </a:t>
            </a:r>
            <a:r>
              <a:rPr dirty="0" sz="1000">
                <a:latin typeface="Times New Roman"/>
                <a:cs typeface="Times New Roman"/>
              </a:rPr>
              <a:t>approach</a:t>
            </a:r>
            <a:r>
              <a:rPr dirty="0" sz="1000" spc="-15">
                <a:latin typeface="Times New Roman"/>
                <a:cs typeface="Times New Roman"/>
              </a:rPr>
              <a:t> </a:t>
            </a:r>
            <a:r>
              <a:rPr dirty="0" sz="1000">
                <a:latin typeface="Times New Roman"/>
                <a:cs typeface="Times New Roman"/>
              </a:rPr>
              <a:t>further</a:t>
            </a:r>
            <a:r>
              <a:rPr dirty="0" sz="1000" spc="-1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a:latin typeface="Times New Roman"/>
                <a:cs typeface="Times New Roman"/>
              </a:rPr>
              <a:t>future</a:t>
            </a:r>
            <a:r>
              <a:rPr dirty="0" sz="1000" spc="-15">
                <a:latin typeface="Times New Roman"/>
                <a:cs typeface="Times New Roman"/>
              </a:rPr>
              <a:t> </a:t>
            </a:r>
            <a:r>
              <a:rPr dirty="0" sz="1000" spc="-10">
                <a:latin typeface="Times New Roman"/>
                <a:cs typeface="Times New Roman"/>
              </a:rPr>
              <a:t>work.</a:t>
            </a:r>
            <a:endParaRPr sz="1000">
              <a:latin typeface="Times New Roman"/>
              <a:cs typeface="Times New Roman"/>
            </a:endParaRPr>
          </a:p>
          <a:p>
            <a:pPr algn="just" marL="131445" marR="118745" indent="-5080">
              <a:lnSpc>
                <a:spcPts val="1090"/>
              </a:lnSpc>
              <a:spcBef>
                <a:spcPts val="545"/>
              </a:spcBef>
            </a:pPr>
            <a:r>
              <a:rPr dirty="0" sz="1000" spc="-10">
                <a:latin typeface="Times New Roman"/>
                <a:cs typeface="Times New Roman"/>
              </a:rPr>
              <a:t>A</a:t>
            </a:r>
            <a:r>
              <a:rPr dirty="0" sz="1000" spc="-5">
                <a:latin typeface="Times New Roman"/>
                <a:cs typeface="Times New Roman"/>
              </a:rPr>
              <a:t> </a:t>
            </a:r>
            <a:r>
              <a:rPr dirty="0" sz="1000">
                <a:latin typeface="Times New Roman"/>
                <a:cs typeface="Times New Roman"/>
              </a:rPr>
              <a:t>single</a:t>
            </a:r>
            <a:r>
              <a:rPr dirty="0" sz="1000" spc="-5">
                <a:latin typeface="Times New Roman"/>
                <a:cs typeface="Times New Roman"/>
              </a:rPr>
              <a:t> </a:t>
            </a:r>
            <a:r>
              <a:rPr dirty="0" sz="1000" spc="-10">
                <a:latin typeface="Times New Roman"/>
                <a:cs typeface="Times New Roman"/>
              </a:rPr>
              <a:t>convolutional</a:t>
            </a:r>
            <a:r>
              <a:rPr dirty="0" sz="1000" spc="-5">
                <a:latin typeface="Times New Roman"/>
                <a:cs typeface="Times New Roman"/>
              </a:rPr>
              <a:t> layer </a:t>
            </a:r>
            <a:r>
              <a:rPr dirty="0" sz="1000">
                <a:latin typeface="Times New Roman"/>
                <a:cs typeface="Times New Roman"/>
              </a:rPr>
              <a:t>with</a:t>
            </a:r>
            <a:r>
              <a:rPr dirty="0" sz="1000" spc="-5">
                <a:latin typeface="Times New Roman"/>
                <a:cs typeface="Times New Roman"/>
              </a:rPr>
              <a:t> kernel </a:t>
            </a:r>
            <a:r>
              <a:rPr dirty="0" sz="1000">
                <a:latin typeface="Times New Roman"/>
                <a:cs typeface="Times New Roman"/>
              </a:rPr>
              <a:t>width</a:t>
            </a:r>
            <a:r>
              <a:rPr dirty="0" sz="1000" spc="-5">
                <a:latin typeface="Times New Roman"/>
                <a:cs typeface="Times New Roman"/>
              </a:rPr>
              <a:t> </a:t>
            </a:r>
            <a:r>
              <a:rPr dirty="0" sz="1000" spc="65" i="1">
                <a:latin typeface="Calibri"/>
                <a:cs typeface="Calibri"/>
              </a:rPr>
              <a:t>k</a:t>
            </a:r>
            <a:r>
              <a:rPr dirty="0" sz="1000" spc="80" i="1">
                <a:latin typeface="Calibri"/>
                <a:cs typeface="Calibri"/>
              </a:rPr>
              <a:t> </a:t>
            </a:r>
            <a:r>
              <a:rPr dirty="0" sz="1000" spc="270" i="1">
                <a:latin typeface="Calibri"/>
                <a:cs typeface="Calibri"/>
              </a:rPr>
              <a:t>&lt;</a:t>
            </a:r>
            <a:r>
              <a:rPr dirty="0" sz="1000" spc="50" i="1">
                <a:latin typeface="Calibri"/>
                <a:cs typeface="Calibri"/>
              </a:rPr>
              <a:t> </a:t>
            </a:r>
            <a:r>
              <a:rPr dirty="0" sz="1000" spc="80" i="1">
                <a:latin typeface="Calibri"/>
                <a:cs typeface="Calibri"/>
              </a:rPr>
              <a:t>n</a:t>
            </a:r>
            <a:r>
              <a:rPr dirty="0" sz="1000" spc="20" i="1">
                <a:latin typeface="Calibri"/>
                <a:cs typeface="Calibri"/>
              </a:rPr>
              <a:t> </a:t>
            </a:r>
            <a:r>
              <a:rPr dirty="0" sz="1000" spc="-5">
                <a:latin typeface="Times New Roman"/>
                <a:cs typeface="Times New Roman"/>
              </a:rPr>
              <a:t>does </a:t>
            </a:r>
            <a:r>
              <a:rPr dirty="0" sz="1000">
                <a:latin typeface="Times New Roman"/>
                <a:cs typeface="Times New Roman"/>
              </a:rPr>
              <a:t>not</a:t>
            </a:r>
            <a:r>
              <a:rPr dirty="0" sz="1000" spc="-5">
                <a:latin typeface="Times New Roman"/>
                <a:cs typeface="Times New Roman"/>
              </a:rPr>
              <a:t> connect </a:t>
            </a:r>
            <a:r>
              <a:rPr dirty="0" sz="1000">
                <a:latin typeface="Times New Roman"/>
                <a:cs typeface="Times New Roman"/>
              </a:rPr>
              <a:t>all</a:t>
            </a:r>
            <a:r>
              <a:rPr dirty="0" sz="1000" spc="-5">
                <a:latin typeface="Times New Roman"/>
                <a:cs typeface="Times New Roman"/>
              </a:rPr>
              <a:t> pairs of </a:t>
            </a:r>
            <a:r>
              <a:rPr dirty="0" sz="1000">
                <a:latin typeface="Times New Roman"/>
                <a:cs typeface="Times New Roman"/>
              </a:rPr>
              <a:t>input</a:t>
            </a:r>
            <a:r>
              <a:rPr dirty="0" sz="1000" spc="-5">
                <a:latin typeface="Times New Roman"/>
                <a:cs typeface="Times New Roman"/>
              </a:rPr>
              <a:t> and </a:t>
            </a:r>
            <a:r>
              <a:rPr dirty="0" sz="1000">
                <a:latin typeface="Times New Roman"/>
                <a:cs typeface="Times New Roman"/>
              </a:rPr>
              <a:t>output </a:t>
            </a:r>
            <a:r>
              <a:rPr dirty="0" sz="1000" spc="-15">
                <a:latin typeface="Times New Roman"/>
                <a:cs typeface="Times New Roman"/>
              </a:rPr>
              <a:t>positions.</a:t>
            </a:r>
            <a:r>
              <a:rPr dirty="0" sz="1000" spc="50">
                <a:latin typeface="Times New Roman"/>
                <a:cs typeface="Times New Roman"/>
              </a:rPr>
              <a:t> </a:t>
            </a:r>
            <a:r>
              <a:rPr dirty="0" sz="1000" spc="-15">
                <a:latin typeface="Times New Roman"/>
                <a:cs typeface="Times New Roman"/>
              </a:rPr>
              <a:t>Doing so requires </a:t>
            </a:r>
            <a:r>
              <a:rPr dirty="0" sz="1000" spc="-20">
                <a:latin typeface="Times New Roman"/>
                <a:cs typeface="Times New Roman"/>
              </a:rPr>
              <a:t>a</a:t>
            </a:r>
            <a:r>
              <a:rPr dirty="0" sz="1000" spc="-15">
                <a:latin typeface="Times New Roman"/>
                <a:cs typeface="Times New Roman"/>
              </a:rPr>
              <a:t> stack of </a:t>
            </a:r>
            <a:r>
              <a:rPr dirty="0" sz="1000" spc="95" i="1">
                <a:latin typeface="Calibri"/>
                <a:cs typeface="Calibri"/>
              </a:rPr>
              <a:t>O</a:t>
            </a:r>
            <a:r>
              <a:rPr dirty="0" sz="1000" spc="95">
                <a:latin typeface="Calibri"/>
                <a:cs typeface="Calibri"/>
              </a:rPr>
              <a:t>(</a:t>
            </a:r>
            <a:r>
              <a:rPr dirty="0" sz="1000" spc="95" i="1">
                <a:latin typeface="Calibri"/>
                <a:cs typeface="Calibri"/>
              </a:rPr>
              <a:t>n/k</a:t>
            </a:r>
            <a:r>
              <a:rPr dirty="0" sz="1000" spc="95">
                <a:latin typeface="Calibri"/>
                <a:cs typeface="Calibri"/>
              </a:rPr>
              <a:t>)</a:t>
            </a:r>
            <a:r>
              <a:rPr dirty="0" sz="1000" spc="10">
                <a:latin typeface="Calibri"/>
                <a:cs typeface="Calibri"/>
              </a:rPr>
              <a:t> </a:t>
            </a:r>
            <a:r>
              <a:rPr dirty="0" sz="1000" spc="-20">
                <a:latin typeface="Times New Roman"/>
                <a:cs typeface="Times New Roman"/>
              </a:rPr>
              <a:t>convolutional</a:t>
            </a:r>
            <a:r>
              <a:rPr dirty="0" sz="1000" spc="-15">
                <a:latin typeface="Times New Roman"/>
                <a:cs typeface="Times New Roman"/>
              </a:rPr>
              <a:t> layers </a:t>
            </a:r>
            <a:r>
              <a:rPr dirty="0" sz="1000" spc="-10">
                <a:latin typeface="Times New Roman"/>
                <a:cs typeface="Times New Roman"/>
              </a:rPr>
              <a:t>in</a:t>
            </a:r>
            <a:r>
              <a:rPr dirty="0" sz="1000" spc="-15">
                <a:latin typeface="Times New Roman"/>
                <a:cs typeface="Times New Roman"/>
              </a:rPr>
              <a:t> the </a:t>
            </a:r>
            <a:r>
              <a:rPr dirty="0" sz="1000" spc="-20">
                <a:latin typeface="Times New Roman"/>
                <a:cs typeface="Times New Roman"/>
              </a:rPr>
              <a:t>case</a:t>
            </a:r>
            <a:r>
              <a:rPr dirty="0" sz="1000" spc="-15">
                <a:latin typeface="Times New Roman"/>
                <a:cs typeface="Times New Roman"/>
              </a:rPr>
              <a:t> of contiguous kernels,</a:t>
            </a:r>
            <a:r>
              <a:rPr dirty="0" sz="1000" spc="-10">
                <a:latin typeface="Times New Roman"/>
                <a:cs typeface="Times New Roman"/>
              </a:rPr>
              <a:t> </a:t>
            </a:r>
            <a:r>
              <a:rPr dirty="0" sz="1000">
                <a:latin typeface="Times New Roman"/>
                <a:cs typeface="Times New Roman"/>
              </a:rPr>
              <a:t>or</a:t>
            </a:r>
            <a:r>
              <a:rPr dirty="0" sz="1000" spc="40">
                <a:latin typeface="Times New Roman"/>
                <a:cs typeface="Times New Roman"/>
              </a:rPr>
              <a:t> </a:t>
            </a:r>
            <a:r>
              <a:rPr dirty="0" sz="1000" spc="70" i="1">
                <a:latin typeface="Calibri"/>
                <a:cs typeface="Calibri"/>
              </a:rPr>
              <a:t>O</a:t>
            </a:r>
            <a:r>
              <a:rPr dirty="0" sz="1000" spc="70">
                <a:latin typeface="Calibri"/>
                <a:cs typeface="Calibri"/>
              </a:rPr>
              <a:t>(</a:t>
            </a:r>
            <a:r>
              <a:rPr dirty="0" sz="1000" spc="70" i="1">
                <a:latin typeface="Calibri"/>
                <a:cs typeface="Calibri"/>
              </a:rPr>
              <a:t>log</a:t>
            </a:r>
            <a:r>
              <a:rPr dirty="0" baseline="-11904" sz="1050" spc="104" i="1">
                <a:latin typeface="Calibri"/>
                <a:cs typeface="Calibri"/>
              </a:rPr>
              <a:t>k</a:t>
            </a:r>
            <a:r>
              <a:rPr dirty="0" sz="1000" spc="70">
                <a:latin typeface="Calibri"/>
                <a:cs typeface="Calibri"/>
              </a:rPr>
              <a:t>(</a:t>
            </a:r>
            <a:r>
              <a:rPr dirty="0" sz="1000" spc="70" i="1">
                <a:latin typeface="Calibri"/>
                <a:cs typeface="Calibri"/>
              </a:rPr>
              <a:t>n</a:t>
            </a:r>
            <a:r>
              <a:rPr dirty="0" sz="1000" spc="70">
                <a:latin typeface="Calibri"/>
                <a:cs typeface="Calibri"/>
              </a:rPr>
              <a:t>))</a:t>
            </a:r>
            <a:r>
              <a:rPr dirty="0" sz="1000" spc="65">
                <a:latin typeface="Calibri"/>
                <a:cs typeface="Calibri"/>
              </a:rPr>
              <a:t> </a:t>
            </a:r>
            <a:r>
              <a:rPr dirty="0" sz="1000" spc="5">
                <a:latin typeface="Times New Roman"/>
                <a:cs typeface="Times New Roman"/>
              </a:rPr>
              <a:t>in</a:t>
            </a:r>
            <a:r>
              <a:rPr dirty="0" sz="1000" spc="40">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case</a:t>
            </a:r>
            <a:r>
              <a:rPr dirty="0" sz="1000" spc="40">
                <a:latin typeface="Times New Roman"/>
                <a:cs typeface="Times New Roman"/>
              </a:rPr>
              <a:t> </a:t>
            </a:r>
            <a:r>
              <a:rPr dirty="0" sz="1000">
                <a:latin typeface="Times New Roman"/>
                <a:cs typeface="Times New Roman"/>
              </a:rPr>
              <a:t>of</a:t>
            </a:r>
            <a:r>
              <a:rPr dirty="0" sz="1000" spc="40">
                <a:latin typeface="Times New Roman"/>
                <a:cs typeface="Times New Roman"/>
              </a:rPr>
              <a:t> </a:t>
            </a:r>
            <a:r>
              <a:rPr dirty="0" sz="1000">
                <a:latin typeface="Times New Roman"/>
                <a:cs typeface="Times New Roman"/>
              </a:rPr>
              <a:t>dilated</a:t>
            </a:r>
            <a:r>
              <a:rPr dirty="0" sz="1000" spc="40">
                <a:latin typeface="Times New Roman"/>
                <a:cs typeface="Times New Roman"/>
              </a:rPr>
              <a:t> </a:t>
            </a:r>
            <a:r>
              <a:rPr dirty="0" sz="1000" spc="-5">
                <a:latin typeface="Times New Roman"/>
                <a:cs typeface="Times New Roman"/>
              </a:rPr>
              <a:t>convolutions</a:t>
            </a:r>
            <a:r>
              <a:rPr dirty="0" sz="1000" spc="40">
                <a:latin typeface="Times New Roman"/>
                <a:cs typeface="Times New Roman"/>
              </a:rPr>
              <a:t> </a:t>
            </a:r>
            <a:r>
              <a:rPr dirty="0" sz="1000" spc="-5">
                <a:latin typeface="Times New Roman"/>
                <a:cs typeface="Times New Roman"/>
              </a:rPr>
              <a:t>[15],</a:t>
            </a:r>
            <a:r>
              <a:rPr dirty="0" sz="1000" spc="50">
                <a:latin typeface="Times New Roman"/>
                <a:cs typeface="Times New Roman"/>
              </a:rPr>
              <a:t> </a:t>
            </a:r>
            <a:r>
              <a:rPr dirty="0" sz="1000">
                <a:latin typeface="Times New Roman"/>
                <a:cs typeface="Times New Roman"/>
              </a:rPr>
              <a:t>increasing</a:t>
            </a:r>
            <a:r>
              <a:rPr dirty="0" sz="1000" spc="40">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length</a:t>
            </a:r>
            <a:r>
              <a:rPr dirty="0" sz="1000" spc="40">
                <a:latin typeface="Times New Roman"/>
                <a:cs typeface="Times New Roman"/>
              </a:rPr>
              <a:t> </a:t>
            </a:r>
            <a:r>
              <a:rPr dirty="0" sz="1000">
                <a:latin typeface="Times New Roman"/>
                <a:cs typeface="Times New Roman"/>
              </a:rPr>
              <a:t>of</a:t>
            </a:r>
            <a:r>
              <a:rPr dirty="0" sz="1000" spc="40">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longest</a:t>
            </a:r>
            <a:r>
              <a:rPr dirty="0" sz="1000" spc="40">
                <a:latin typeface="Times New Roman"/>
                <a:cs typeface="Times New Roman"/>
              </a:rPr>
              <a:t> </a:t>
            </a:r>
            <a:r>
              <a:rPr dirty="0" sz="1000">
                <a:latin typeface="Times New Roman"/>
                <a:cs typeface="Times New Roman"/>
              </a:rPr>
              <a:t>paths between</a:t>
            </a:r>
            <a:r>
              <a:rPr dirty="0" sz="1000" spc="-5">
                <a:latin typeface="Times New Roman"/>
                <a:cs typeface="Times New Roman"/>
              </a:rPr>
              <a:t> </a:t>
            </a:r>
            <a:r>
              <a:rPr dirty="0" sz="1000" spc="-10">
                <a:latin typeface="Times New Roman"/>
                <a:cs typeface="Times New Roman"/>
              </a:rPr>
              <a:t>any</a:t>
            </a:r>
            <a:r>
              <a:rPr dirty="0" sz="1000" spc="-5">
                <a:latin typeface="Times New Roman"/>
                <a:cs typeface="Times New Roman"/>
              </a:rPr>
              <a:t> </a:t>
            </a:r>
            <a:r>
              <a:rPr dirty="0" sz="1000">
                <a:latin typeface="Times New Roman"/>
                <a:cs typeface="Times New Roman"/>
              </a:rPr>
              <a:t>t</a:t>
            </a:r>
            <a:r>
              <a:rPr dirty="0" sz="1000" spc="-15">
                <a:latin typeface="Times New Roman"/>
                <a:cs typeface="Times New Roman"/>
              </a:rPr>
              <a:t>w</a:t>
            </a:r>
            <a:r>
              <a:rPr dirty="0" sz="1000">
                <a:latin typeface="Times New Roman"/>
                <a:cs typeface="Times New Roman"/>
              </a:rPr>
              <a:t>o</a:t>
            </a:r>
            <a:r>
              <a:rPr dirty="0" sz="1000" spc="-5">
                <a:latin typeface="Times New Roman"/>
                <a:cs typeface="Times New Roman"/>
              </a:rPr>
              <a:t> </a:t>
            </a:r>
            <a:r>
              <a:rPr dirty="0" sz="1000">
                <a:latin typeface="Times New Roman"/>
                <a:cs typeface="Times New Roman"/>
              </a:rPr>
              <a:t>positions</a:t>
            </a:r>
            <a:r>
              <a:rPr dirty="0" sz="1000" spc="-5">
                <a:latin typeface="Times New Roman"/>
                <a:cs typeface="Times New Roman"/>
              </a:rPr>
              <a:t> </a:t>
            </a:r>
            <a:r>
              <a:rPr dirty="0" sz="1000">
                <a:latin typeface="Times New Roman"/>
                <a:cs typeface="Times New Roman"/>
              </a:rPr>
              <a:t>in</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net</a:t>
            </a:r>
            <a:r>
              <a:rPr dirty="0" sz="1000" spc="-15">
                <a:latin typeface="Times New Roman"/>
                <a:cs typeface="Times New Roman"/>
              </a:rPr>
              <a:t>w</a:t>
            </a:r>
            <a:r>
              <a:rPr dirty="0" sz="1000">
                <a:latin typeface="Times New Roman"/>
                <a:cs typeface="Times New Roman"/>
              </a:rPr>
              <a:t>ork.</a:t>
            </a:r>
            <a:r>
              <a:rPr dirty="0" sz="1000" spc="55">
                <a:latin typeface="Times New Roman"/>
                <a:cs typeface="Times New Roman"/>
              </a:rPr>
              <a:t> </a:t>
            </a:r>
            <a:r>
              <a:rPr dirty="0" sz="1000">
                <a:latin typeface="Times New Roman"/>
                <a:cs typeface="Times New Roman"/>
              </a:rPr>
              <a:t>Co</a:t>
            </a:r>
            <a:r>
              <a:rPr dirty="0" sz="1000" spc="-40">
                <a:latin typeface="Times New Roman"/>
                <a:cs typeface="Times New Roman"/>
              </a:rPr>
              <a:t>n</a:t>
            </a:r>
            <a:r>
              <a:rPr dirty="0" sz="1000" spc="-25">
                <a:latin typeface="Times New Roman"/>
                <a:cs typeface="Times New Roman"/>
              </a:rPr>
              <a:t>v</a:t>
            </a:r>
            <a:r>
              <a:rPr dirty="0" sz="1000">
                <a:latin typeface="Times New Roman"/>
                <a:cs typeface="Times New Roman"/>
              </a:rPr>
              <a:t>olutional</a:t>
            </a:r>
            <a:r>
              <a:rPr dirty="0" sz="1000" spc="-5">
                <a:latin typeface="Times New Roman"/>
                <a:cs typeface="Times New Roman"/>
              </a:rPr>
              <a:t> </a:t>
            </a:r>
            <a:r>
              <a:rPr dirty="0" sz="1000">
                <a:latin typeface="Times New Roman"/>
                <a:cs typeface="Times New Roman"/>
              </a:rPr>
              <a:t>layers</a:t>
            </a:r>
            <a:r>
              <a:rPr dirty="0" sz="1000" spc="-5">
                <a:latin typeface="Times New Roman"/>
                <a:cs typeface="Times New Roman"/>
              </a:rPr>
              <a:t> are </a:t>
            </a:r>
            <a:r>
              <a:rPr dirty="0" sz="1000">
                <a:latin typeface="Times New Roman"/>
                <a:cs typeface="Times New Roman"/>
              </a:rPr>
              <a:t>generally</a:t>
            </a:r>
            <a:r>
              <a:rPr dirty="0" sz="1000" spc="-5">
                <a:latin typeface="Times New Roman"/>
                <a:cs typeface="Times New Roman"/>
              </a:rPr>
              <a:t> </a:t>
            </a:r>
            <a:r>
              <a:rPr dirty="0" sz="1000">
                <a:latin typeface="Times New Roman"/>
                <a:cs typeface="Times New Roman"/>
              </a:rPr>
              <a:t>more</a:t>
            </a:r>
            <a:r>
              <a:rPr dirty="0" sz="1000" spc="-5">
                <a:latin typeface="Times New Roman"/>
                <a:cs typeface="Times New Roman"/>
              </a:rPr>
              <a:t> </a:t>
            </a:r>
            <a:r>
              <a:rPr dirty="0" sz="1000" spc="-10">
                <a:latin typeface="Times New Roman"/>
                <a:cs typeface="Times New Roman"/>
              </a:rPr>
              <a:t>expensive</a:t>
            </a:r>
            <a:r>
              <a:rPr dirty="0" sz="1000" spc="-5">
                <a:latin typeface="Times New Roman"/>
                <a:cs typeface="Times New Roman"/>
              </a:rPr>
              <a:t> </a:t>
            </a:r>
            <a:r>
              <a:rPr dirty="0" sz="1000">
                <a:latin typeface="Times New Roman"/>
                <a:cs typeface="Times New Roman"/>
              </a:rPr>
              <a:t>than recurrent</a:t>
            </a:r>
            <a:r>
              <a:rPr dirty="0" sz="1000" spc="55">
                <a:latin typeface="Times New Roman"/>
                <a:cs typeface="Times New Roman"/>
              </a:rPr>
              <a:t> </a:t>
            </a:r>
            <a:r>
              <a:rPr dirty="0" sz="1000">
                <a:latin typeface="Times New Roman"/>
                <a:cs typeface="Times New Roman"/>
              </a:rPr>
              <a:t>layers,</a:t>
            </a:r>
            <a:r>
              <a:rPr dirty="0" sz="1000" spc="70">
                <a:latin typeface="Times New Roman"/>
                <a:cs typeface="Times New Roman"/>
              </a:rPr>
              <a:t> </a:t>
            </a:r>
            <a:r>
              <a:rPr dirty="0" sz="1000" spc="5">
                <a:latin typeface="Times New Roman"/>
                <a:cs typeface="Times New Roman"/>
              </a:rPr>
              <a:t>by</a:t>
            </a:r>
            <a:r>
              <a:rPr dirty="0" sz="1000" spc="55">
                <a:latin typeface="Times New Roman"/>
                <a:cs typeface="Times New Roman"/>
              </a:rPr>
              <a:t> </a:t>
            </a:r>
            <a:r>
              <a:rPr dirty="0" sz="1000">
                <a:latin typeface="Times New Roman"/>
                <a:cs typeface="Times New Roman"/>
              </a:rPr>
              <a:t>a</a:t>
            </a:r>
            <a:r>
              <a:rPr dirty="0" sz="1000" spc="55">
                <a:latin typeface="Times New Roman"/>
                <a:cs typeface="Times New Roman"/>
              </a:rPr>
              <a:t> </a:t>
            </a:r>
            <a:r>
              <a:rPr dirty="0" sz="1000" spc="-15">
                <a:latin typeface="Times New Roman"/>
                <a:cs typeface="Times New Roman"/>
              </a:rPr>
              <a:t>f</a:t>
            </a:r>
            <a:r>
              <a:rPr dirty="0" sz="1000">
                <a:latin typeface="Times New Roman"/>
                <a:cs typeface="Times New Roman"/>
              </a:rPr>
              <a:t>actor</a:t>
            </a:r>
            <a:r>
              <a:rPr dirty="0" sz="1000" spc="55">
                <a:latin typeface="Times New Roman"/>
                <a:cs typeface="Times New Roman"/>
              </a:rPr>
              <a:t> </a:t>
            </a:r>
            <a:r>
              <a:rPr dirty="0" sz="1000">
                <a:latin typeface="Times New Roman"/>
                <a:cs typeface="Times New Roman"/>
              </a:rPr>
              <a:t>of</a:t>
            </a:r>
            <a:r>
              <a:rPr dirty="0" sz="1000" spc="55">
                <a:latin typeface="Times New Roman"/>
                <a:cs typeface="Times New Roman"/>
              </a:rPr>
              <a:t> </a:t>
            </a:r>
            <a:r>
              <a:rPr dirty="0" sz="1000" spc="50" i="1">
                <a:latin typeface="Calibri"/>
                <a:cs typeface="Calibri"/>
              </a:rPr>
              <a:t>k</a:t>
            </a:r>
            <a:r>
              <a:rPr dirty="0" sz="1000" spc="50">
                <a:latin typeface="Times New Roman"/>
                <a:cs typeface="Times New Roman"/>
              </a:rPr>
              <a:t>.</a:t>
            </a:r>
            <a:r>
              <a:rPr dirty="0" sz="1000" spc="235">
                <a:latin typeface="Times New Roman"/>
                <a:cs typeface="Times New Roman"/>
              </a:rPr>
              <a:t> </a:t>
            </a:r>
            <a:r>
              <a:rPr dirty="0" sz="1000">
                <a:latin typeface="Times New Roman"/>
                <a:cs typeface="Times New Roman"/>
              </a:rPr>
              <a:t>Separable</a:t>
            </a:r>
            <a:r>
              <a:rPr dirty="0" sz="1000" spc="55">
                <a:latin typeface="Times New Roman"/>
                <a:cs typeface="Times New Roman"/>
              </a:rPr>
              <a:t> </a:t>
            </a:r>
            <a:r>
              <a:rPr dirty="0" sz="1000" spc="-5">
                <a:latin typeface="Times New Roman"/>
                <a:cs typeface="Times New Roman"/>
              </a:rPr>
              <a:t>convolutions</a:t>
            </a:r>
            <a:r>
              <a:rPr dirty="0" sz="1000" spc="55">
                <a:latin typeface="Times New Roman"/>
                <a:cs typeface="Times New Roman"/>
              </a:rPr>
              <a:t> </a:t>
            </a:r>
            <a:r>
              <a:rPr dirty="0" sz="1000" spc="-5">
                <a:latin typeface="Times New Roman"/>
                <a:cs typeface="Times New Roman"/>
              </a:rPr>
              <a:t>[6],</a:t>
            </a:r>
            <a:r>
              <a:rPr dirty="0" sz="1000" spc="70">
                <a:latin typeface="Times New Roman"/>
                <a:cs typeface="Times New Roman"/>
              </a:rPr>
              <a:t> </a:t>
            </a:r>
            <a:r>
              <a:rPr dirty="0" sz="1000" spc="-15">
                <a:latin typeface="Times New Roman"/>
                <a:cs typeface="Times New Roman"/>
              </a:rPr>
              <a:t>however,</a:t>
            </a:r>
            <a:r>
              <a:rPr dirty="0" sz="1000" spc="70">
                <a:latin typeface="Times New Roman"/>
                <a:cs typeface="Times New Roman"/>
              </a:rPr>
              <a:t> </a:t>
            </a:r>
            <a:r>
              <a:rPr dirty="0" sz="1000">
                <a:latin typeface="Times New Roman"/>
                <a:cs typeface="Times New Roman"/>
              </a:rPr>
              <a:t>decrease</a:t>
            </a:r>
            <a:r>
              <a:rPr dirty="0" sz="1000" spc="55">
                <a:latin typeface="Times New Roman"/>
                <a:cs typeface="Times New Roman"/>
              </a:rPr>
              <a:t> </a:t>
            </a:r>
            <a:r>
              <a:rPr dirty="0" sz="1000">
                <a:latin typeface="Times New Roman"/>
                <a:cs typeface="Times New Roman"/>
              </a:rPr>
              <a:t>the</a:t>
            </a:r>
            <a:r>
              <a:rPr dirty="0" sz="1000" spc="55">
                <a:latin typeface="Times New Roman"/>
                <a:cs typeface="Times New Roman"/>
              </a:rPr>
              <a:t> </a:t>
            </a:r>
            <a:r>
              <a:rPr dirty="0" sz="1000">
                <a:latin typeface="Times New Roman"/>
                <a:cs typeface="Times New Roman"/>
              </a:rPr>
              <a:t>complexity</a:t>
            </a:r>
            <a:r>
              <a:rPr dirty="0" sz="1000" spc="5">
                <a:latin typeface="Times New Roman"/>
                <a:cs typeface="Times New Roman"/>
              </a:rPr>
              <a:t> </a:t>
            </a:r>
            <a:r>
              <a:rPr dirty="0" sz="1000" spc="-5">
                <a:latin typeface="Times New Roman"/>
                <a:cs typeface="Times New Roman"/>
              </a:rPr>
              <a:t>considerably,</a:t>
            </a:r>
            <a:r>
              <a:rPr dirty="0" sz="1000" spc="50">
                <a:latin typeface="Times New Roman"/>
                <a:cs typeface="Times New Roman"/>
              </a:rPr>
              <a:t> </a:t>
            </a:r>
            <a:r>
              <a:rPr dirty="0" sz="1000" spc="5">
                <a:latin typeface="Times New Roman"/>
                <a:cs typeface="Times New Roman"/>
              </a:rPr>
              <a:t>to</a:t>
            </a:r>
            <a:r>
              <a:rPr dirty="0" sz="1000" spc="40">
                <a:latin typeface="Times New Roman"/>
                <a:cs typeface="Times New Roman"/>
              </a:rPr>
              <a:t> </a:t>
            </a:r>
            <a:r>
              <a:rPr dirty="0" sz="1000" spc="90" i="1">
                <a:latin typeface="Calibri"/>
                <a:cs typeface="Calibri"/>
              </a:rPr>
              <a:t>O</a:t>
            </a:r>
            <a:r>
              <a:rPr dirty="0" sz="1000" spc="90">
                <a:latin typeface="Calibri"/>
                <a:cs typeface="Calibri"/>
              </a:rPr>
              <a:t>(</a:t>
            </a:r>
            <a:r>
              <a:rPr dirty="0" sz="1000" spc="90" i="1">
                <a:latin typeface="Calibri"/>
                <a:cs typeface="Calibri"/>
              </a:rPr>
              <a:t>k</a:t>
            </a:r>
            <a:r>
              <a:rPr dirty="0" sz="1000" spc="55" i="1">
                <a:latin typeface="Calibri"/>
                <a:cs typeface="Calibri"/>
              </a:rPr>
              <a:t> </a:t>
            </a:r>
            <a:r>
              <a:rPr dirty="0" sz="1000" spc="-365">
                <a:latin typeface="Lucida Sans Unicode"/>
                <a:cs typeface="Lucida Sans Unicode"/>
              </a:rPr>
              <a:t>·</a:t>
            </a:r>
            <a:r>
              <a:rPr dirty="0" sz="1000" spc="-65">
                <a:latin typeface="Lucida Sans Unicode"/>
                <a:cs typeface="Lucida Sans Unicode"/>
              </a:rPr>
              <a:t> </a:t>
            </a:r>
            <a:r>
              <a:rPr dirty="0" sz="1000" spc="80" i="1">
                <a:latin typeface="Calibri"/>
                <a:cs typeface="Calibri"/>
              </a:rPr>
              <a:t>n</a:t>
            </a:r>
            <a:r>
              <a:rPr dirty="0" sz="1000" spc="25" i="1">
                <a:latin typeface="Calibri"/>
                <a:cs typeface="Calibri"/>
              </a:rPr>
              <a:t> </a:t>
            </a:r>
            <a:r>
              <a:rPr dirty="0" sz="1000" spc="-365">
                <a:latin typeface="Lucida Sans Unicode"/>
                <a:cs typeface="Lucida Sans Unicode"/>
              </a:rPr>
              <a:t>·</a:t>
            </a:r>
            <a:r>
              <a:rPr dirty="0" sz="1000" spc="-65">
                <a:latin typeface="Lucida Sans Unicode"/>
                <a:cs typeface="Lucida Sans Unicode"/>
              </a:rPr>
              <a:t> </a:t>
            </a:r>
            <a:r>
              <a:rPr dirty="0" sz="1000" spc="5" i="1">
                <a:latin typeface="Calibri"/>
                <a:cs typeface="Calibri"/>
              </a:rPr>
              <a:t>d</a:t>
            </a:r>
            <a:r>
              <a:rPr dirty="0" sz="1000" spc="25" i="1">
                <a:latin typeface="Calibri"/>
                <a:cs typeface="Calibri"/>
              </a:rPr>
              <a:t> </a:t>
            </a:r>
            <a:r>
              <a:rPr dirty="0" sz="1000" spc="270">
                <a:latin typeface="Calibri"/>
                <a:cs typeface="Calibri"/>
              </a:rPr>
              <a:t>+</a:t>
            </a:r>
            <a:r>
              <a:rPr dirty="0" sz="1000" spc="25">
                <a:latin typeface="Calibri"/>
                <a:cs typeface="Calibri"/>
              </a:rPr>
              <a:t> </a:t>
            </a:r>
            <a:r>
              <a:rPr dirty="0" sz="1000" spc="80" i="1">
                <a:latin typeface="Calibri"/>
                <a:cs typeface="Calibri"/>
              </a:rPr>
              <a:t>n</a:t>
            </a:r>
            <a:r>
              <a:rPr dirty="0" sz="1000" spc="25" i="1">
                <a:latin typeface="Calibri"/>
                <a:cs typeface="Calibri"/>
              </a:rPr>
              <a:t> </a:t>
            </a:r>
            <a:r>
              <a:rPr dirty="0" sz="1000" spc="-365">
                <a:latin typeface="Lucida Sans Unicode"/>
                <a:cs typeface="Lucida Sans Unicode"/>
              </a:rPr>
              <a:t>·</a:t>
            </a:r>
            <a:r>
              <a:rPr dirty="0" sz="1000" spc="-65">
                <a:latin typeface="Lucida Sans Unicode"/>
                <a:cs typeface="Lucida Sans Unicode"/>
              </a:rPr>
              <a:t> </a:t>
            </a:r>
            <a:r>
              <a:rPr dirty="0" sz="1000" spc="35" i="1">
                <a:latin typeface="Calibri"/>
                <a:cs typeface="Calibri"/>
              </a:rPr>
              <a:t>d</a:t>
            </a:r>
            <a:r>
              <a:rPr dirty="0" baseline="27777" sz="1050" spc="52">
                <a:latin typeface="Tahoma"/>
                <a:cs typeface="Tahoma"/>
              </a:rPr>
              <a:t>2</a:t>
            </a:r>
            <a:r>
              <a:rPr dirty="0" sz="1000" spc="35">
                <a:latin typeface="Calibri"/>
                <a:cs typeface="Calibri"/>
              </a:rPr>
              <a:t>)</a:t>
            </a:r>
            <a:r>
              <a:rPr dirty="0" sz="1000" spc="35">
                <a:latin typeface="Times New Roman"/>
                <a:cs typeface="Times New Roman"/>
              </a:rPr>
              <a:t>.</a:t>
            </a:r>
            <a:r>
              <a:rPr dirty="0" sz="1000" spc="185">
                <a:latin typeface="Times New Roman"/>
                <a:cs typeface="Times New Roman"/>
              </a:rPr>
              <a:t> </a:t>
            </a:r>
            <a:r>
              <a:rPr dirty="0" sz="1000" spc="-5">
                <a:latin typeface="Times New Roman"/>
                <a:cs typeface="Times New Roman"/>
              </a:rPr>
              <a:t>Even</a:t>
            </a:r>
            <a:r>
              <a:rPr dirty="0" sz="1000" spc="40">
                <a:latin typeface="Times New Roman"/>
                <a:cs typeface="Times New Roman"/>
              </a:rPr>
              <a:t> </a:t>
            </a:r>
            <a:r>
              <a:rPr dirty="0" sz="1000">
                <a:latin typeface="Times New Roman"/>
                <a:cs typeface="Times New Roman"/>
              </a:rPr>
              <a:t>with</a:t>
            </a:r>
            <a:r>
              <a:rPr dirty="0" sz="1000" spc="40">
                <a:latin typeface="Times New Roman"/>
                <a:cs typeface="Times New Roman"/>
              </a:rPr>
              <a:t> </a:t>
            </a:r>
            <a:r>
              <a:rPr dirty="0" sz="1000" spc="65" i="1">
                <a:latin typeface="Calibri"/>
                <a:cs typeface="Calibri"/>
              </a:rPr>
              <a:t>k</a:t>
            </a:r>
            <a:r>
              <a:rPr dirty="0" sz="1000" spc="160" i="1">
                <a:latin typeface="Calibri"/>
                <a:cs typeface="Calibri"/>
              </a:rPr>
              <a:t> </a:t>
            </a:r>
            <a:r>
              <a:rPr dirty="0" sz="1000" spc="270">
                <a:latin typeface="Calibri"/>
                <a:cs typeface="Calibri"/>
              </a:rPr>
              <a:t>=</a:t>
            </a:r>
            <a:r>
              <a:rPr dirty="0" sz="1000" spc="130">
                <a:latin typeface="Calibri"/>
                <a:cs typeface="Calibri"/>
              </a:rPr>
              <a:t> </a:t>
            </a:r>
            <a:r>
              <a:rPr dirty="0" sz="1000" spc="40" i="1">
                <a:latin typeface="Calibri"/>
                <a:cs typeface="Calibri"/>
              </a:rPr>
              <a:t>n</a:t>
            </a:r>
            <a:r>
              <a:rPr dirty="0" sz="1000" spc="40">
                <a:latin typeface="Times New Roman"/>
                <a:cs typeface="Times New Roman"/>
              </a:rPr>
              <a:t>,</a:t>
            </a:r>
            <a:r>
              <a:rPr dirty="0" sz="1000" spc="50">
                <a:latin typeface="Times New Roman"/>
                <a:cs typeface="Times New Roman"/>
              </a:rPr>
              <a:t> </a:t>
            </a:r>
            <a:r>
              <a:rPr dirty="0" sz="1000" spc="-15">
                <a:latin typeface="Times New Roman"/>
                <a:cs typeface="Times New Roman"/>
              </a:rPr>
              <a:t>however,</a:t>
            </a:r>
            <a:r>
              <a:rPr dirty="0" sz="1000" spc="50">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complexity</a:t>
            </a:r>
            <a:r>
              <a:rPr dirty="0" sz="1000" spc="40">
                <a:latin typeface="Times New Roman"/>
                <a:cs typeface="Times New Roman"/>
              </a:rPr>
              <a:t> </a:t>
            </a:r>
            <a:r>
              <a:rPr dirty="0" sz="1000">
                <a:latin typeface="Times New Roman"/>
                <a:cs typeface="Times New Roman"/>
              </a:rPr>
              <a:t>of</a:t>
            </a:r>
            <a:r>
              <a:rPr dirty="0" sz="1000" spc="40">
                <a:latin typeface="Times New Roman"/>
                <a:cs typeface="Times New Roman"/>
              </a:rPr>
              <a:t> </a:t>
            </a:r>
            <a:r>
              <a:rPr dirty="0" sz="1000">
                <a:latin typeface="Times New Roman"/>
                <a:cs typeface="Times New Roman"/>
              </a:rPr>
              <a:t>a</a:t>
            </a:r>
            <a:r>
              <a:rPr dirty="0" sz="1000" spc="40">
                <a:latin typeface="Times New Roman"/>
                <a:cs typeface="Times New Roman"/>
              </a:rPr>
              <a:t> </a:t>
            </a:r>
            <a:r>
              <a:rPr dirty="0" sz="1000">
                <a:latin typeface="Times New Roman"/>
                <a:cs typeface="Times New Roman"/>
              </a:rPr>
              <a:t>separable </a:t>
            </a:r>
            <a:r>
              <a:rPr dirty="0" sz="1000" spc="-15">
                <a:latin typeface="Times New Roman"/>
                <a:cs typeface="Times New Roman"/>
              </a:rPr>
              <a:t>convolution</a:t>
            </a:r>
            <a:r>
              <a:rPr dirty="0" sz="1000" spc="-5">
                <a:latin typeface="Times New Roman"/>
                <a:cs typeface="Times New Roman"/>
              </a:rPr>
              <a:t> is </a:t>
            </a:r>
            <a:r>
              <a:rPr dirty="0" sz="1000" spc="-10">
                <a:latin typeface="Times New Roman"/>
                <a:cs typeface="Times New Roman"/>
              </a:rPr>
              <a:t>equal</a:t>
            </a:r>
            <a:r>
              <a:rPr dirty="0" sz="1000" spc="-5">
                <a:latin typeface="Times New Roman"/>
                <a:cs typeface="Times New Roman"/>
              </a:rPr>
              <a:t> to </a:t>
            </a:r>
            <a:r>
              <a:rPr dirty="0" sz="1000" spc="-10">
                <a:latin typeface="Times New Roman"/>
                <a:cs typeface="Times New Roman"/>
              </a:rPr>
              <a:t>the</a:t>
            </a:r>
            <a:r>
              <a:rPr dirty="0" sz="1000" spc="-5">
                <a:latin typeface="Times New Roman"/>
                <a:cs typeface="Times New Roman"/>
              </a:rPr>
              <a:t> </a:t>
            </a:r>
            <a:r>
              <a:rPr dirty="0" sz="1000" spc="-10">
                <a:latin typeface="Times New Roman"/>
                <a:cs typeface="Times New Roman"/>
              </a:rPr>
              <a:t>combination</a:t>
            </a:r>
            <a:r>
              <a:rPr dirty="0" sz="1000" spc="-5">
                <a:latin typeface="Times New Roman"/>
                <a:cs typeface="Times New Roman"/>
              </a:rPr>
              <a:t> </a:t>
            </a:r>
            <a:r>
              <a:rPr dirty="0" sz="1000" spc="-10">
                <a:latin typeface="Times New Roman"/>
                <a:cs typeface="Times New Roman"/>
              </a:rPr>
              <a:t>of</a:t>
            </a:r>
            <a:r>
              <a:rPr dirty="0" sz="1000" spc="-5">
                <a:latin typeface="Times New Roman"/>
                <a:cs typeface="Times New Roman"/>
              </a:rPr>
              <a:t> </a:t>
            </a:r>
            <a:r>
              <a:rPr dirty="0" sz="1000" spc="-15">
                <a:latin typeface="Times New Roman"/>
                <a:cs typeface="Times New Roman"/>
              </a:rPr>
              <a:t>a</a:t>
            </a:r>
            <a:r>
              <a:rPr dirty="0" sz="1000" spc="-5">
                <a:latin typeface="Times New Roman"/>
                <a:cs typeface="Times New Roman"/>
              </a:rPr>
              <a:t> </a:t>
            </a:r>
            <a:r>
              <a:rPr dirty="0" sz="1000" spc="-10">
                <a:latin typeface="Times New Roman"/>
                <a:cs typeface="Times New Roman"/>
              </a:rPr>
              <a:t>self-attention</a:t>
            </a:r>
            <a:r>
              <a:rPr dirty="0" sz="1000" spc="-5">
                <a:latin typeface="Times New Roman"/>
                <a:cs typeface="Times New Roman"/>
              </a:rPr>
              <a:t> </a:t>
            </a:r>
            <a:r>
              <a:rPr dirty="0" sz="1000" spc="-10">
                <a:latin typeface="Times New Roman"/>
                <a:cs typeface="Times New Roman"/>
              </a:rPr>
              <a:t>layer</a:t>
            </a:r>
            <a:r>
              <a:rPr dirty="0" sz="1000" spc="-5">
                <a:latin typeface="Times New Roman"/>
                <a:cs typeface="Times New Roman"/>
              </a:rPr>
              <a:t> </a:t>
            </a:r>
            <a:r>
              <a:rPr dirty="0" sz="1000" spc="-10">
                <a:latin typeface="Times New Roman"/>
                <a:cs typeface="Times New Roman"/>
              </a:rPr>
              <a:t>and</a:t>
            </a:r>
            <a:r>
              <a:rPr dirty="0" sz="1000" spc="-5">
                <a:latin typeface="Times New Roman"/>
                <a:cs typeface="Times New Roman"/>
              </a:rPr>
              <a:t> </a:t>
            </a:r>
            <a:r>
              <a:rPr dirty="0" sz="1000" spc="-15">
                <a:latin typeface="Times New Roman"/>
                <a:cs typeface="Times New Roman"/>
              </a:rPr>
              <a:t>a</a:t>
            </a:r>
            <a:r>
              <a:rPr dirty="0" sz="1000" spc="-5">
                <a:latin typeface="Times New Roman"/>
                <a:cs typeface="Times New Roman"/>
              </a:rPr>
              <a:t> </a:t>
            </a:r>
            <a:r>
              <a:rPr dirty="0" sz="1000" spc="-10">
                <a:latin typeface="Times New Roman"/>
                <a:cs typeface="Times New Roman"/>
              </a:rPr>
              <a:t>point-wise</a:t>
            </a:r>
            <a:r>
              <a:rPr dirty="0" sz="1000" spc="-5">
                <a:latin typeface="Times New Roman"/>
                <a:cs typeface="Times New Roman"/>
              </a:rPr>
              <a:t> </a:t>
            </a:r>
            <a:r>
              <a:rPr dirty="0" sz="1000" spc="-10">
                <a:latin typeface="Times New Roman"/>
                <a:cs typeface="Times New Roman"/>
              </a:rPr>
              <a:t>feed-</a:t>
            </a:r>
            <a:r>
              <a:rPr dirty="0" sz="1000" spc="-15">
                <a:latin typeface="Times New Roman"/>
                <a:cs typeface="Times New Roman"/>
              </a:rPr>
              <a:t>forward</a:t>
            </a:r>
            <a:r>
              <a:rPr dirty="0" sz="1000" spc="-5">
                <a:latin typeface="Times New Roman"/>
                <a:cs typeface="Times New Roman"/>
              </a:rPr>
              <a:t> </a:t>
            </a:r>
            <a:r>
              <a:rPr dirty="0" sz="1000" spc="-15">
                <a:latin typeface="Times New Roman"/>
                <a:cs typeface="Times New Roman"/>
              </a:rPr>
              <a:t>layer,</a:t>
            </a:r>
            <a:r>
              <a:rPr dirty="0" sz="1000" spc="-5">
                <a:latin typeface="Times New Roman"/>
                <a:cs typeface="Times New Roman"/>
              </a:rPr>
              <a:t> the approach </a:t>
            </a:r>
            <a:r>
              <a:rPr dirty="0" sz="1000" spc="-15">
                <a:latin typeface="Times New Roman"/>
                <a:cs typeface="Times New Roman"/>
              </a:rPr>
              <a:t>we</a:t>
            </a:r>
            <a:r>
              <a:rPr dirty="0" sz="1000" spc="-5">
                <a:latin typeface="Times New Roman"/>
                <a:cs typeface="Times New Roman"/>
              </a:rPr>
              <a:t> </a:t>
            </a:r>
            <a:r>
              <a:rPr dirty="0" sz="1000" spc="-10">
                <a:latin typeface="Times New Roman"/>
                <a:cs typeface="Times New Roman"/>
              </a:rPr>
              <a:t>take</a:t>
            </a:r>
            <a:r>
              <a:rPr dirty="0" sz="1000" spc="-5">
                <a:latin typeface="Times New Roman"/>
                <a:cs typeface="Times New Roman"/>
              </a:rPr>
              <a:t> </a:t>
            </a:r>
            <a:r>
              <a:rPr dirty="0" sz="1000">
                <a:latin typeface="Times New Roman"/>
                <a:cs typeface="Times New Roman"/>
              </a:rPr>
              <a:t>in</a:t>
            </a:r>
            <a:r>
              <a:rPr dirty="0" sz="1000" spc="-5">
                <a:latin typeface="Times New Roman"/>
                <a:cs typeface="Times New Roman"/>
              </a:rPr>
              <a:t> our model.</a:t>
            </a:r>
            <a:endParaRPr sz="1000">
              <a:latin typeface="Times New Roman"/>
              <a:cs typeface="Times New Roman"/>
            </a:endParaRPr>
          </a:p>
          <a:p>
            <a:pPr algn="just" marL="131445" marR="134620" indent="-5080">
              <a:lnSpc>
                <a:spcPts val="1090"/>
              </a:lnSpc>
              <a:spcBef>
                <a:spcPts val="560"/>
              </a:spcBef>
            </a:pPr>
            <a:r>
              <a:rPr dirty="0" sz="1000" spc="-30">
                <a:latin typeface="Times New Roman"/>
                <a:cs typeface="Times New Roman"/>
              </a:rPr>
              <a:t>As</a:t>
            </a:r>
            <a:r>
              <a:rPr dirty="0" sz="1000" spc="-35">
                <a:latin typeface="Times New Roman"/>
                <a:cs typeface="Times New Roman"/>
              </a:rPr>
              <a:t> </a:t>
            </a:r>
            <a:r>
              <a:rPr dirty="0" sz="1000" spc="-20">
                <a:latin typeface="Times New Roman"/>
                <a:cs typeface="Times New Roman"/>
              </a:rPr>
              <a:t>side</a:t>
            </a:r>
            <a:r>
              <a:rPr dirty="0" sz="1000" spc="-40">
                <a:latin typeface="Times New Roman"/>
                <a:cs typeface="Times New Roman"/>
              </a:rPr>
              <a:t> </a:t>
            </a:r>
            <a:r>
              <a:rPr dirty="0" sz="1000" spc="-25">
                <a:latin typeface="Times New Roman"/>
                <a:cs typeface="Times New Roman"/>
              </a:rPr>
              <a:t>benefit,</a:t>
            </a:r>
            <a:r>
              <a:rPr dirty="0" sz="1000" spc="-10">
                <a:latin typeface="Times New Roman"/>
                <a:cs typeface="Times New Roman"/>
              </a:rPr>
              <a:t> </a:t>
            </a:r>
            <a:r>
              <a:rPr dirty="0" sz="1000" spc="-20">
                <a:latin typeface="Times New Roman"/>
                <a:cs typeface="Times New Roman"/>
              </a:rPr>
              <a:t>self-attention</a:t>
            </a:r>
            <a:r>
              <a:rPr dirty="0" sz="1000" spc="-10">
                <a:latin typeface="Times New Roman"/>
                <a:cs typeface="Times New Roman"/>
              </a:rPr>
              <a:t> </a:t>
            </a:r>
            <a:r>
              <a:rPr dirty="0" sz="1000" spc="-20">
                <a:latin typeface="Times New Roman"/>
                <a:cs typeface="Times New Roman"/>
              </a:rPr>
              <a:t>could</a:t>
            </a:r>
            <a:r>
              <a:rPr dirty="0" sz="1000" spc="-10">
                <a:latin typeface="Times New Roman"/>
                <a:cs typeface="Times New Roman"/>
              </a:rPr>
              <a:t> </a:t>
            </a:r>
            <a:r>
              <a:rPr dirty="0" sz="1000" spc="-20">
                <a:latin typeface="Times New Roman"/>
                <a:cs typeface="Times New Roman"/>
              </a:rPr>
              <a:t>yield</a:t>
            </a:r>
            <a:r>
              <a:rPr dirty="0" sz="1000" spc="-10">
                <a:latin typeface="Times New Roman"/>
                <a:cs typeface="Times New Roman"/>
              </a:rPr>
              <a:t> </a:t>
            </a:r>
            <a:r>
              <a:rPr dirty="0" sz="1000" spc="-20">
                <a:latin typeface="Times New Roman"/>
                <a:cs typeface="Times New Roman"/>
              </a:rPr>
              <a:t>more</a:t>
            </a:r>
            <a:r>
              <a:rPr dirty="0" sz="1000" spc="-5">
                <a:latin typeface="Times New Roman"/>
                <a:cs typeface="Times New Roman"/>
              </a:rPr>
              <a:t> </a:t>
            </a:r>
            <a:r>
              <a:rPr dirty="0" sz="1000" spc="-20">
                <a:latin typeface="Times New Roman"/>
                <a:cs typeface="Times New Roman"/>
              </a:rPr>
              <a:t>interpretable</a:t>
            </a:r>
            <a:r>
              <a:rPr dirty="0" sz="1000" spc="-10">
                <a:latin typeface="Times New Roman"/>
                <a:cs typeface="Times New Roman"/>
              </a:rPr>
              <a:t> </a:t>
            </a:r>
            <a:r>
              <a:rPr dirty="0" sz="1000">
                <a:latin typeface="Times New Roman"/>
                <a:cs typeface="Times New Roman"/>
              </a:rPr>
              <a:t>models.</a:t>
            </a:r>
            <a:r>
              <a:rPr dirty="0" sz="1000" spc="110">
                <a:latin typeface="Times New Roman"/>
                <a:cs typeface="Times New Roman"/>
              </a:rPr>
              <a:t> </a:t>
            </a:r>
            <a:r>
              <a:rPr dirty="0" sz="1000" spc="-125">
                <a:latin typeface="Times New Roman"/>
                <a:cs typeface="Times New Roman"/>
              </a:rPr>
              <a:t>We</a:t>
            </a:r>
            <a:r>
              <a:rPr dirty="0" sz="1000" spc="60">
                <a:latin typeface="Times New Roman"/>
                <a:cs typeface="Times New Roman"/>
              </a:rPr>
              <a:t> </a:t>
            </a:r>
            <a:r>
              <a:rPr dirty="0" sz="1000" spc="-20">
                <a:latin typeface="Times New Roman"/>
                <a:cs typeface="Times New Roman"/>
              </a:rPr>
              <a:t>inspect</a:t>
            </a:r>
            <a:r>
              <a:rPr dirty="0" sz="1000" spc="-10">
                <a:latin typeface="Times New Roman"/>
                <a:cs typeface="Times New Roman"/>
              </a:rPr>
              <a:t> </a:t>
            </a:r>
            <a:r>
              <a:rPr dirty="0" sz="1000" spc="-20">
                <a:latin typeface="Times New Roman"/>
                <a:cs typeface="Times New Roman"/>
              </a:rPr>
              <a:t>attention</a:t>
            </a:r>
            <a:r>
              <a:rPr dirty="0" sz="1000" spc="-5">
                <a:latin typeface="Times New Roman"/>
                <a:cs typeface="Times New Roman"/>
              </a:rPr>
              <a:t> </a:t>
            </a:r>
            <a:r>
              <a:rPr dirty="0" sz="1000" spc="-10">
                <a:latin typeface="Times New Roman"/>
                <a:cs typeface="Times New Roman"/>
              </a:rPr>
              <a:t>distributions </a:t>
            </a:r>
            <a:r>
              <a:rPr dirty="0" sz="1000">
                <a:latin typeface="Times New Roman"/>
                <a:cs typeface="Times New Roman"/>
              </a:rPr>
              <a:t>from</a:t>
            </a:r>
            <a:r>
              <a:rPr dirty="0" sz="1000" spc="-30">
                <a:latin typeface="Times New Roman"/>
                <a:cs typeface="Times New Roman"/>
              </a:rPr>
              <a:t> </a:t>
            </a:r>
            <a:r>
              <a:rPr dirty="0" sz="1000">
                <a:latin typeface="Times New Roman"/>
                <a:cs typeface="Times New Roman"/>
              </a:rPr>
              <a:t>our</a:t>
            </a:r>
            <a:r>
              <a:rPr dirty="0" sz="1000" spc="-30">
                <a:latin typeface="Times New Roman"/>
                <a:cs typeface="Times New Roman"/>
              </a:rPr>
              <a:t> </a:t>
            </a:r>
            <a:r>
              <a:rPr dirty="0" sz="1000" spc="-10">
                <a:latin typeface="Times New Roman"/>
                <a:cs typeface="Times New Roman"/>
              </a:rPr>
              <a:t>models</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present</a:t>
            </a:r>
            <a:r>
              <a:rPr dirty="0" sz="1000" spc="-2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discuss</a:t>
            </a:r>
            <a:r>
              <a:rPr dirty="0" sz="1000" spc="-30">
                <a:latin typeface="Times New Roman"/>
                <a:cs typeface="Times New Roman"/>
              </a:rPr>
              <a:t> </a:t>
            </a:r>
            <a:r>
              <a:rPr dirty="0" sz="1000" spc="-10">
                <a:latin typeface="Times New Roman"/>
                <a:cs typeface="Times New Roman"/>
              </a:rPr>
              <a:t>examples</a:t>
            </a:r>
            <a:r>
              <a:rPr dirty="0" sz="1000" spc="-30">
                <a:latin typeface="Times New Roman"/>
                <a:cs typeface="Times New Roman"/>
              </a:rPr>
              <a:t> </a:t>
            </a: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appendix.</a:t>
            </a:r>
            <a:r>
              <a:rPr dirty="0" sz="1000" spc="25">
                <a:latin typeface="Times New Roman"/>
                <a:cs typeface="Times New Roman"/>
              </a:rPr>
              <a:t> </a:t>
            </a:r>
            <a:r>
              <a:rPr dirty="0" sz="1000">
                <a:latin typeface="Times New Roman"/>
                <a:cs typeface="Times New Roman"/>
              </a:rPr>
              <a:t>Not</a:t>
            </a:r>
            <a:r>
              <a:rPr dirty="0" sz="1000" spc="-30">
                <a:latin typeface="Times New Roman"/>
                <a:cs typeface="Times New Roman"/>
              </a:rPr>
              <a:t> </a:t>
            </a:r>
            <a:r>
              <a:rPr dirty="0" sz="1000">
                <a:latin typeface="Times New Roman"/>
                <a:cs typeface="Times New Roman"/>
              </a:rPr>
              <a:t>only</a:t>
            </a:r>
            <a:r>
              <a:rPr dirty="0" sz="1000" spc="-30">
                <a:latin typeface="Times New Roman"/>
                <a:cs typeface="Times New Roman"/>
              </a:rPr>
              <a:t> </a:t>
            </a:r>
            <a:r>
              <a:rPr dirty="0" sz="1000">
                <a:latin typeface="Times New Roman"/>
                <a:cs typeface="Times New Roman"/>
              </a:rPr>
              <a:t>do</a:t>
            </a:r>
            <a:r>
              <a:rPr dirty="0" sz="1000" spc="-25">
                <a:latin typeface="Times New Roman"/>
                <a:cs typeface="Times New Roman"/>
              </a:rPr>
              <a:t> </a:t>
            </a:r>
            <a:r>
              <a:rPr dirty="0" sz="1000" spc="-10">
                <a:latin typeface="Times New Roman"/>
                <a:cs typeface="Times New Roman"/>
              </a:rPr>
              <a:t>individual</a:t>
            </a:r>
            <a:r>
              <a:rPr dirty="0" sz="1000" spc="-30">
                <a:latin typeface="Times New Roman"/>
                <a:cs typeface="Times New Roman"/>
              </a:rPr>
              <a:t> </a:t>
            </a:r>
            <a:r>
              <a:rPr dirty="0" sz="1000" spc="-10">
                <a:latin typeface="Times New Roman"/>
                <a:cs typeface="Times New Roman"/>
              </a:rPr>
              <a:t>attention heads</a:t>
            </a:r>
            <a:r>
              <a:rPr dirty="0" sz="1000" spc="-25">
                <a:latin typeface="Times New Roman"/>
                <a:cs typeface="Times New Roman"/>
              </a:rPr>
              <a:t> </a:t>
            </a:r>
            <a:r>
              <a:rPr dirty="0" sz="1000" spc="-10">
                <a:latin typeface="Times New Roman"/>
                <a:cs typeface="Times New Roman"/>
              </a:rPr>
              <a:t>clearly</a:t>
            </a:r>
            <a:r>
              <a:rPr dirty="0" sz="1000" spc="-25">
                <a:latin typeface="Times New Roman"/>
                <a:cs typeface="Times New Roman"/>
              </a:rPr>
              <a:t> </a:t>
            </a:r>
            <a:r>
              <a:rPr dirty="0" sz="1000" spc="-10">
                <a:latin typeface="Times New Roman"/>
                <a:cs typeface="Times New Roman"/>
              </a:rPr>
              <a:t>learn</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perform</a:t>
            </a:r>
            <a:r>
              <a:rPr dirty="0" sz="1000" spc="-20">
                <a:latin typeface="Times New Roman"/>
                <a:cs typeface="Times New Roman"/>
              </a:rPr>
              <a:t> different</a:t>
            </a:r>
            <a:r>
              <a:rPr dirty="0" sz="1000" spc="-25">
                <a:latin typeface="Times New Roman"/>
                <a:cs typeface="Times New Roman"/>
              </a:rPr>
              <a:t> </a:t>
            </a:r>
            <a:r>
              <a:rPr dirty="0" sz="1000" spc="-10">
                <a:latin typeface="Times New Roman"/>
                <a:cs typeface="Times New Roman"/>
              </a:rPr>
              <a:t>tasks,</a:t>
            </a:r>
            <a:r>
              <a:rPr dirty="0" sz="1000" spc="-25">
                <a:latin typeface="Times New Roman"/>
                <a:cs typeface="Times New Roman"/>
              </a:rPr>
              <a:t> </a:t>
            </a:r>
            <a:r>
              <a:rPr dirty="0" sz="1000" spc="-10">
                <a:latin typeface="Times New Roman"/>
                <a:cs typeface="Times New Roman"/>
              </a:rPr>
              <a:t>many</a:t>
            </a:r>
            <a:r>
              <a:rPr dirty="0" sz="1000" spc="-25">
                <a:latin typeface="Times New Roman"/>
                <a:cs typeface="Times New Roman"/>
              </a:rPr>
              <a:t> </a:t>
            </a:r>
            <a:r>
              <a:rPr dirty="0" sz="1000" spc="-20">
                <a:latin typeface="Times New Roman"/>
                <a:cs typeface="Times New Roman"/>
              </a:rPr>
              <a:t>appear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exhibit</a:t>
            </a:r>
            <a:r>
              <a:rPr dirty="0" sz="1000" spc="-25">
                <a:latin typeface="Times New Roman"/>
                <a:cs typeface="Times New Roman"/>
              </a:rPr>
              <a:t> </a:t>
            </a:r>
            <a:r>
              <a:rPr dirty="0" sz="1000" spc="-20">
                <a:latin typeface="Times New Roman"/>
                <a:cs typeface="Times New Roman"/>
              </a:rPr>
              <a:t>behavior</a:t>
            </a:r>
            <a:r>
              <a:rPr dirty="0" sz="1000" spc="-25">
                <a:latin typeface="Times New Roman"/>
                <a:cs typeface="Times New Roman"/>
              </a:rPr>
              <a:t> </a:t>
            </a:r>
            <a:r>
              <a:rPr dirty="0" sz="1000" spc="-10">
                <a:latin typeface="Times New Roman"/>
                <a:cs typeface="Times New Roman"/>
              </a:rPr>
              <a:t>related</a:t>
            </a:r>
            <a:r>
              <a:rPr dirty="0" sz="1000" spc="-2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syntactic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semantic</a:t>
            </a:r>
            <a:r>
              <a:rPr dirty="0" sz="1000" spc="-25">
                <a:latin typeface="Times New Roman"/>
                <a:cs typeface="Times New Roman"/>
              </a:rPr>
              <a:t> </a:t>
            </a:r>
            <a:r>
              <a:rPr dirty="0" sz="1000">
                <a:latin typeface="Times New Roman"/>
                <a:cs typeface="Times New Roman"/>
              </a:rPr>
              <a:t>structure</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sentences.</a:t>
            </a:r>
            <a:endParaRPr sz="1000">
              <a:latin typeface="Times New Roman"/>
              <a:cs typeface="Times New Roman"/>
            </a:endParaRPr>
          </a:p>
          <a:p>
            <a:pPr>
              <a:lnSpc>
                <a:spcPct val="100000"/>
              </a:lnSpc>
              <a:spcBef>
                <a:spcPts val="370"/>
              </a:spcBef>
            </a:pPr>
            <a:endParaRPr sz="1000">
              <a:latin typeface="Times New Roman"/>
              <a:cs typeface="Times New Roman"/>
            </a:endParaRPr>
          </a:p>
          <a:p>
            <a:pPr marL="358775" indent="-227329">
              <a:lnSpc>
                <a:spcPct val="100000"/>
              </a:lnSpc>
              <a:buAutoNum type="arabicPlain" startAt="5"/>
              <a:tabLst>
                <a:tab pos="358775" algn="l"/>
              </a:tabLst>
            </a:pPr>
            <a:r>
              <a:rPr dirty="0" sz="1200" spc="-10" b="1">
                <a:latin typeface="Times New Roman"/>
                <a:cs typeface="Times New Roman"/>
              </a:rPr>
              <a:t>Training</a:t>
            </a:r>
            <a:endParaRPr sz="1200">
              <a:latin typeface="Times New Roman"/>
              <a:cs typeface="Times New Roman"/>
            </a:endParaRPr>
          </a:p>
          <a:p>
            <a:pPr algn="just" marL="127000">
              <a:lnSpc>
                <a:spcPct val="100000"/>
              </a:lnSpc>
              <a:spcBef>
                <a:spcPts val="1130"/>
              </a:spcBef>
            </a:pPr>
            <a:r>
              <a:rPr dirty="0" sz="1000">
                <a:latin typeface="Times New Roman"/>
                <a:cs typeface="Times New Roman"/>
              </a:rPr>
              <a:t>This</a:t>
            </a:r>
            <a:r>
              <a:rPr dirty="0" sz="1000" spc="-35">
                <a:latin typeface="Times New Roman"/>
                <a:cs typeface="Times New Roman"/>
              </a:rPr>
              <a:t> </a:t>
            </a:r>
            <a:r>
              <a:rPr dirty="0" sz="1000">
                <a:latin typeface="Times New Roman"/>
                <a:cs typeface="Times New Roman"/>
              </a:rPr>
              <a:t>section</a:t>
            </a:r>
            <a:r>
              <a:rPr dirty="0" sz="1000" spc="-30">
                <a:latin typeface="Times New Roman"/>
                <a:cs typeface="Times New Roman"/>
              </a:rPr>
              <a:t> </a:t>
            </a:r>
            <a:r>
              <a:rPr dirty="0" sz="1000">
                <a:latin typeface="Times New Roman"/>
                <a:cs typeface="Times New Roman"/>
              </a:rPr>
              <a:t>describes</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training</a:t>
            </a:r>
            <a:r>
              <a:rPr dirty="0" sz="1000" spc="-30">
                <a:latin typeface="Times New Roman"/>
                <a:cs typeface="Times New Roman"/>
              </a:rPr>
              <a:t> </a:t>
            </a:r>
            <a:r>
              <a:rPr dirty="0" sz="1000">
                <a:latin typeface="Times New Roman"/>
                <a:cs typeface="Times New Roman"/>
              </a:rPr>
              <a:t>regime</a:t>
            </a:r>
            <a:r>
              <a:rPr dirty="0" sz="1000" spc="-35">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our</a:t>
            </a:r>
            <a:r>
              <a:rPr dirty="0" sz="1000" spc="-30">
                <a:latin typeface="Times New Roman"/>
                <a:cs typeface="Times New Roman"/>
              </a:rPr>
              <a:t> </a:t>
            </a:r>
            <a:r>
              <a:rPr dirty="0" sz="1000" spc="-10">
                <a:latin typeface="Times New Roman"/>
                <a:cs typeface="Times New Roman"/>
              </a:rPr>
              <a:t>models.</a:t>
            </a:r>
            <a:endParaRPr sz="1000">
              <a:latin typeface="Times New Roman"/>
              <a:cs typeface="Times New Roman"/>
            </a:endParaRPr>
          </a:p>
          <a:p>
            <a:pPr>
              <a:lnSpc>
                <a:spcPct val="100000"/>
              </a:lnSpc>
              <a:spcBef>
                <a:spcPts val="195"/>
              </a:spcBef>
            </a:pPr>
            <a:endParaRPr sz="1000">
              <a:latin typeface="Times New Roman"/>
              <a:cs typeface="Times New Roman"/>
            </a:endParaRPr>
          </a:p>
          <a:p>
            <a:pPr lvl="1" marL="415925" indent="-284480">
              <a:lnSpc>
                <a:spcPct val="100000"/>
              </a:lnSpc>
              <a:buAutoNum type="arabicPeriod"/>
              <a:tabLst>
                <a:tab pos="415925" algn="l"/>
              </a:tabLst>
            </a:pPr>
            <a:r>
              <a:rPr dirty="0" sz="1000" spc="-10" b="1">
                <a:latin typeface="Times New Roman"/>
                <a:cs typeface="Times New Roman"/>
              </a:rPr>
              <a:t>Training</a:t>
            </a:r>
            <a:r>
              <a:rPr dirty="0" sz="1000" spc="-15" b="1">
                <a:latin typeface="Times New Roman"/>
                <a:cs typeface="Times New Roman"/>
              </a:rPr>
              <a:t> </a:t>
            </a:r>
            <a:r>
              <a:rPr dirty="0" sz="1000" b="1">
                <a:latin typeface="Times New Roman"/>
                <a:cs typeface="Times New Roman"/>
              </a:rPr>
              <a:t>Data</a:t>
            </a:r>
            <a:r>
              <a:rPr dirty="0" sz="1000" spc="-10" b="1">
                <a:latin typeface="Times New Roman"/>
                <a:cs typeface="Times New Roman"/>
              </a:rPr>
              <a:t> </a:t>
            </a:r>
            <a:r>
              <a:rPr dirty="0" sz="1000" b="1">
                <a:latin typeface="Times New Roman"/>
                <a:cs typeface="Times New Roman"/>
              </a:rPr>
              <a:t>and</a:t>
            </a:r>
            <a:r>
              <a:rPr dirty="0" sz="1000" spc="-10" b="1">
                <a:latin typeface="Times New Roman"/>
                <a:cs typeface="Times New Roman"/>
              </a:rPr>
              <a:t> Batching</a:t>
            </a:r>
            <a:endParaRPr sz="1000">
              <a:latin typeface="Times New Roman"/>
              <a:cs typeface="Times New Roman"/>
            </a:endParaRPr>
          </a:p>
          <a:p>
            <a:pPr algn="just" marL="128270" marR="113664" indent="-3175">
              <a:lnSpc>
                <a:spcPts val="1090"/>
              </a:lnSpc>
              <a:spcBef>
                <a:spcPts val="965"/>
              </a:spcBef>
            </a:pPr>
            <a:r>
              <a:rPr dirty="0" sz="1000">
                <a:latin typeface="Times New Roman"/>
                <a:cs typeface="Times New Roman"/>
              </a:rPr>
              <a:t>We</a:t>
            </a:r>
            <a:r>
              <a:rPr dirty="0" sz="1000" spc="95">
                <a:latin typeface="Times New Roman"/>
                <a:cs typeface="Times New Roman"/>
              </a:rPr>
              <a:t> </a:t>
            </a:r>
            <a:r>
              <a:rPr dirty="0" sz="1000">
                <a:latin typeface="Times New Roman"/>
                <a:cs typeface="Times New Roman"/>
              </a:rPr>
              <a:t>trained</a:t>
            </a:r>
            <a:r>
              <a:rPr dirty="0" sz="1000" spc="95">
                <a:latin typeface="Times New Roman"/>
                <a:cs typeface="Times New Roman"/>
              </a:rPr>
              <a:t> </a:t>
            </a:r>
            <a:r>
              <a:rPr dirty="0" sz="1000">
                <a:latin typeface="Times New Roman"/>
                <a:cs typeface="Times New Roman"/>
              </a:rPr>
              <a:t>on</a:t>
            </a:r>
            <a:r>
              <a:rPr dirty="0" sz="1000" spc="100">
                <a:latin typeface="Times New Roman"/>
                <a:cs typeface="Times New Roman"/>
              </a:rPr>
              <a:t> </a:t>
            </a:r>
            <a:r>
              <a:rPr dirty="0" sz="1000">
                <a:latin typeface="Times New Roman"/>
                <a:cs typeface="Times New Roman"/>
              </a:rPr>
              <a:t>the</a:t>
            </a:r>
            <a:r>
              <a:rPr dirty="0" sz="1000" spc="95">
                <a:latin typeface="Times New Roman"/>
                <a:cs typeface="Times New Roman"/>
              </a:rPr>
              <a:t> </a:t>
            </a:r>
            <a:r>
              <a:rPr dirty="0" sz="1000">
                <a:latin typeface="Times New Roman"/>
                <a:cs typeface="Times New Roman"/>
              </a:rPr>
              <a:t>standard</a:t>
            </a:r>
            <a:r>
              <a:rPr dirty="0" sz="1000" spc="100">
                <a:latin typeface="Times New Roman"/>
                <a:cs typeface="Times New Roman"/>
              </a:rPr>
              <a:t> </a:t>
            </a:r>
            <a:r>
              <a:rPr dirty="0" sz="1000">
                <a:latin typeface="Times New Roman"/>
                <a:cs typeface="Times New Roman"/>
              </a:rPr>
              <a:t>WMT</a:t>
            </a:r>
            <a:r>
              <a:rPr dirty="0" sz="1000" spc="95">
                <a:latin typeface="Times New Roman"/>
                <a:cs typeface="Times New Roman"/>
              </a:rPr>
              <a:t> </a:t>
            </a:r>
            <a:r>
              <a:rPr dirty="0" sz="1000">
                <a:latin typeface="Times New Roman"/>
                <a:cs typeface="Times New Roman"/>
              </a:rPr>
              <a:t>2014</a:t>
            </a:r>
            <a:r>
              <a:rPr dirty="0" sz="1000" spc="100">
                <a:latin typeface="Times New Roman"/>
                <a:cs typeface="Times New Roman"/>
              </a:rPr>
              <a:t> </a:t>
            </a:r>
            <a:r>
              <a:rPr dirty="0" sz="1000">
                <a:latin typeface="Times New Roman"/>
                <a:cs typeface="Times New Roman"/>
              </a:rPr>
              <a:t>English-German</a:t>
            </a:r>
            <a:r>
              <a:rPr dirty="0" sz="1000" spc="95">
                <a:latin typeface="Times New Roman"/>
                <a:cs typeface="Times New Roman"/>
              </a:rPr>
              <a:t> </a:t>
            </a:r>
            <a:r>
              <a:rPr dirty="0" sz="1000">
                <a:latin typeface="Times New Roman"/>
                <a:cs typeface="Times New Roman"/>
              </a:rPr>
              <a:t>dataset</a:t>
            </a:r>
            <a:r>
              <a:rPr dirty="0" sz="1000" spc="100">
                <a:latin typeface="Times New Roman"/>
                <a:cs typeface="Times New Roman"/>
              </a:rPr>
              <a:t> </a:t>
            </a:r>
            <a:r>
              <a:rPr dirty="0" sz="1000">
                <a:latin typeface="Times New Roman"/>
                <a:cs typeface="Times New Roman"/>
              </a:rPr>
              <a:t>consisting</a:t>
            </a:r>
            <a:r>
              <a:rPr dirty="0" sz="1000" spc="95">
                <a:latin typeface="Times New Roman"/>
                <a:cs typeface="Times New Roman"/>
              </a:rPr>
              <a:t> </a:t>
            </a:r>
            <a:r>
              <a:rPr dirty="0" sz="1000">
                <a:latin typeface="Times New Roman"/>
                <a:cs typeface="Times New Roman"/>
              </a:rPr>
              <a:t>of</a:t>
            </a:r>
            <a:r>
              <a:rPr dirty="0" sz="1000" spc="100">
                <a:latin typeface="Times New Roman"/>
                <a:cs typeface="Times New Roman"/>
              </a:rPr>
              <a:t> </a:t>
            </a:r>
            <a:r>
              <a:rPr dirty="0" sz="1000">
                <a:latin typeface="Times New Roman"/>
                <a:cs typeface="Times New Roman"/>
              </a:rPr>
              <a:t>about</a:t>
            </a:r>
            <a:r>
              <a:rPr dirty="0" sz="1000" spc="95">
                <a:latin typeface="Times New Roman"/>
                <a:cs typeface="Times New Roman"/>
              </a:rPr>
              <a:t> </a:t>
            </a:r>
            <a:r>
              <a:rPr dirty="0" sz="1000">
                <a:latin typeface="Times New Roman"/>
                <a:cs typeface="Times New Roman"/>
              </a:rPr>
              <a:t>4.5</a:t>
            </a:r>
            <a:r>
              <a:rPr dirty="0" sz="1000" spc="100">
                <a:latin typeface="Times New Roman"/>
                <a:cs typeface="Times New Roman"/>
              </a:rPr>
              <a:t> </a:t>
            </a:r>
            <a:r>
              <a:rPr dirty="0" sz="1000" spc="-10">
                <a:latin typeface="Times New Roman"/>
                <a:cs typeface="Times New Roman"/>
              </a:rPr>
              <a:t>million </a:t>
            </a:r>
            <a:r>
              <a:rPr dirty="0" sz="1000">
                <a:latin typeface="Times New Roman"/>
                <a:cs typeface="Times New Roman"/>
              </a:rPr>
              <a:t>sentence</a:t>
            </a:r>
            <a:r>
              <a:rPr dirty="0" sz="1000" spc="40">
                <a:latin typeface="Times New Roman"/>
                <a:cs typeface="Times New Roman"/>
              </a:rPr>
              <a:t> </a:t>
            </a:r>
            <a:r>
              <a:rPr dirty="0" sz="1000">
                <a:latin typeface="Times New Roman"/>
                <a:cs typeface="Times New Roman"/>
              </a:rPr>
              <a:t>pairs.</a:t>
            </a:r>
            <a:r>
              <a:rPr dirty="0" sz="1000" spc="155">
                <a:latin typeface="Times New Roman"/>
                <a:cs typeface="Times New Roman"/>
              </a:rPr>
              <a:t> </a:t>
            </a:r>
            <a:r>
              <a:rPr dirty="0" sz="1000">
                <a:latin typeface="Times New Roman"/>
                <a:cs typeface="Times New Roman"/>
              </a:rPr>
              <a:t>Sentences</a:t>
            </a:r>
            <a:r>
              <a:rPr dirty="0" sz="1000" spc="40">
                <a:latin typeface="Times New Roman"/>
                <a:cs typeface="Times New Roman"/>
              </a:rPr>
              <a:t> </a:t>
            </a:r>
            <a:r>
              <a:rPr dirty="0" sz="1000">
                <a:latin typeface="Times New Roman"/>
                <a:cs typeface="Times New Roman"/>
              </a:rPr>
              <a:t>were</a:t>
            </a:r>
            <a:r>
              <a:rPr dirty="0" sz="1000" spc="40">
                <a:latin typeface="Times New Roman"/>
                <a:cs typeface="Times New Roman"/>
              </a:rPr>
              <a:t> </a:t>
            </a:r>
            <a:r>
              <a:rPr dirty="0" sz="1000">
                <a:latin typeface="Times New Roman"/>
                <a:cs typeface="Times New Roman"/>
              </a:rPr>
              <a:t>encoded</a:t>
            </a:r>
            <a:r>
              <a:rPr dirty="0" sz="1000" spc="45">
                <a:latin typeface="Times New Roman"/>
                <a:cs typeface="Times New Roman"/>
              </a:rPr>
              <a:t> </a:t>
            </a:r>
            <a:r>
              <a:rPr dirty="0" sz="1000">
                <a:latin typeface="Times New Roman"/>
                <a:cs typeface="Times New Roman"/>
              </a:rPr>
              <a:t>using</a:t>
            </a:r>
            <a:r>
              <a:rPr dirty="0" sz="1000" spc="40">
                <a:latin typeface="Times New Roman"/>
                <a:cs typeface="Times New Roman"/>
              </a:rPr>
              <a:t> </a:t>
            </a:r>
            <a:r>
              <a:rPr dirty="0" sz="1000">
                <a:latin typeface="Times New Roman"/>
                <a:cs typeface="Times New Roman"/>
              </a:rPr>
              <a:t>byte-pair</a:t>
            </a:r>
            <a:r>
              <a:rPr dirty="0" sz="1000" spc="40">
                <a:latin typeface="Times New Roman"/>
                <a:cs typeface="Times New Roman"/>
              </a:rPr>
              <a:t> </a:t>
            </a:r>
            <a:r>
              <a:rPr dirty="0" sz="1000">
                <a:latin typeface="Times New Roman"/>
                <a:cs typeface="Times New Roman"/>
              </a:rPr>
              <a:t>encoding</a:t>
            </a:r>
            <a:r>
              <a:rPr dirty="0" sz="1000" spc="40">
                <a:latin typeface="Times New Roman"/>
                <a:cs typeface="Times New Roman"/>
              </a:rPr>
              <a:t> </a:t>
            </a:r>
            <a:r>
              <a:rPr dirty="0" sz="1000">
                <a:latin typeface="Times New Roman"/>
                <a:cs typeface="Times New Roman"/>
              </a:rPr>
              <a:t>[3],</a:t>
            </a:r>
            <a:r>
              <a:rPr dirty="0" sz="1000" spc="45">
                <a:latin typeface="Times New Roman"/>
                <a:cs typeface="Times New Roman"/>
              </a:rPr>
              <a:t> </a:t>
            </a:r>
            <a:r>
              <a:rPr dirty="0" sz="1000">
                <a:latin typeface="Times New Roman"/>
                <a:cs typeface="Times New Roman"/>
              </a:rPr>
              <a:t>which</a:t>
            </a:r>
            <a:r>
              <a:rPr dirty="0" sz="1000" spc="40">
                <a:latin typeface="Times New Roman"/>
                <a:cs typeface="Times New Roman"/>
              </a:rPr>
              <a:t> </a:t>
            </a:r>
            <a:r>
              <a:rPr dirty="0" sz="1000">
                <a:latin typeface="Times New Roman"/>
                <a:cs typeface="Times New Roman"/>
              </a:rPr>
              <a:t>has</a:t>
            </a:r>
            <a:r>
              <a:rPr dirty="0" sz="1000" spc="40">
                <a:latin typeface="Times New Roman"/>
                <a:cs typeface="Times New Roman"/>
              </a:rPr>
              <a:t> </a:t>
            </a:r>
            <a:r>
              <a:rPr dirty="0" sz="1000">
                <a:latin typeface="Times New Roman"/>
                <a:cs typeface="Times New Roman"/>
              </a:rPr>
              <a:t>a</a:t>
            </a:r>
            <a:r>
              <a:rPr dirty="0" sz="1000" spc="40">
                <a:latin typeface="Times New Roman"/>
                <a:cs typeface="Times New Roman"/>
              </a:rPr>
              <a:t> </a:t>
            </a:r>
            <a:r>
              <a:rPr dirty="0" sz="1000">
                <a:latin typeface="Times New Roman"/>
                <a:cs typeface="Times New Roman"/>
              </a:rPr>
              <a:t>shared</a:t>
            </a:r>
            <a:r>
              <a:rPr dirty="0" sz="1000" spc="40">
                <a:latin typeface="Times New Roman"/>
                <a:cs typeface="Times New Roman"/>
              </a:rPr>
              <a:t> </a:t>
            </a:r>
            <a:r>
              <a:rPr dirty="0" sz="1000" spc="-10">
                <a:latin typeface="Times New Roman"/>
                <a:cs typeface="Times New Roman"/>
              </a:rPr>
              <a:t>source- target</a:t>
            </a:r>
            <a:r>
              <a:rPr dirty="0" sz="1000" spc="-30">
                <a:latin typeface="Times New Roman"/>
                <a:cs typeface="Times New Roman"/>
              </a:rPr>
              <a:t> </a:t>
            </a:r>
            <a:r>
              <a:rPr dirty="0" sz="1000" spc="-10">
                <a:latin typeface="Times New Roman"/>
                <a:cs typeface="Times New Roman"/>
              </a:rPr>
              <a:t>vocabulary</a:t>
            </a:r>
            <a:r>
              <a:rPr dirty="0" sz="1000" spc="-30">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about</a:t>
            </a:r>
            <a:r>
              <a:rPr dirty="0" sz="1000" spc="-30">
                <a:latin typeface="Times New Roman"/>
                <a:cs typeface="Times New Roman"/>
              </a:rPr>
              <a:t> </a:t>
            </a:r>
            <a:r>
              <a:rPr dirty="0" sz="1000">
                <a:latin typeface="Times New Roman"/>
                <a:cs typeface="Times New Roman"/>
              </a:rPr>
              <a:t>37000</a:t>
            </a:r>
            <a:r>
              <a:rPr dirty="0" sz="1000" spc="-30">
                <a:latin typeface="Times New Roman"/>
                <a:cs typeface="Times New Roman"/>
              </a:rPr>
              <a:t> </a:t>
            </a:r>
            <a:r>
              <a:rPr dirty="0" sz="1000">
                <a:latin typeface="Times New Roman"/>
                <a:cs typeface="Times New Roman"/>
              </a:rPr>
              <a:t>tokens.</a:t>
            </a:r>
            <a:r>
              <a:rPr dirty="0" sz="1000" spc="25">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spc="-10">
                <a:latin typeface="Times New Roman"/>
                <a:cs typeface="Times New Roman"/>
              </a:rPr>
              <a:t>English-French,</a:t>
            </a:r>
            <a:r>
              <a:rPr dirty="0" sz="1000" spc="-30">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used</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significantly</a:t>
            </a:r>
            <a:r>
              <a:rPr dirty="0" sz="1000" spc="-30">
                <a:latin typeface="Times New Roman"/>
                <a:cs typeface="Times New Roman"/>
              </a:rPr>
              <a:t> </a:t>
            </a:r>
            <a:r>
              <a:rPr dirty="0" sz="1000" spc="-10">
                <a:latin typeface="Times New Roman"/>
                <a:cs typeface="Times New Roman"/>
              </a:rPr>
              <a:t>larger</a:t>
            </a:r>
            <a:r>
              <a:rPr dirty="0" sz="1000" spc="-30">
                <a:latin typeface="Times New Roman"/>
                <a:cs typeface="Times New Roman"/>
              </a:rPr>
              <a:t> </a:t>
            </a:r>
            <a:r>
              <a:rPr dirty="0" sz="1000" spc="-25">
                <a:latin typeface="Times New Roman"/>
                <a:cs typeface="Times New Roman"/>
              </a:rPr>
              <a:t>WMT </a:t>
            </a:r>
            <a:r>
              <a:rPr dirty="0" sz="1000">
                <a:latin typeface="Times New Roman"/>
                <a:cs typeface="Times New Roman"/>
              </a:rPr>
              <a:t>2014</a:t>
            </a:r>
            <a:r>
              <a:rPr dirty="0" sz="1000" spc="-15">
                <a:latin typeface="Times New Roman"/>
                <a:cs typeface="Times New Roman"/>
              </a:rPr>
              <a:t> </a:t>
            </a:r>
            <a:r>
              <a:rPr dirty="0" sz="1000" spc="-10">
                <a:latin typeface="Times New Roman"/>
                <a:cs typeface="Times New Roman"/>
              </a:rPr>
              <a:t>English-</a:t>
            </a:r>
            <a:r>
              <a:rPr dirty="0" sz="1000">
                <a:latin typeface="Times New Roman"/>
                <a:cs typeface="Times New Roman"/>
              </a:rPr>
              <a:t>French</a:t>
            </a:r>
            <a:r>
              <a:rPr dirty="0" sz="1000" spc="-5">
                <a:latin typeface="Times New Roman"/>
                <a:cs typeface="Times New Roman"/>
              </a:rPr>
              <a:t> </a:t>
            </a:r>
            <a:r>
              <a:rPr dirty="0" sz="1000">
                <a:latin typeface="Times New Roman"/>
                <a:cs typeface="Times New Roman"/>
              </a:rPr>
              <a:t>dataset</a:t>
            </a:r>
            <a:r>
              <a:rPr dirty="0" sz="1000" spc="-15">
                <a:latin typeface="Times New Roman"/>
                <a:cs typeface="Times New Roman"/>
              </a:rPr>
              <a:t> </a:t>
            </a:r>
            <a:r>
              <a:rPr dirty="0" sz="1000">
                <a:latin typeface="Times New Roman"/>
                <a:cs typeface="Times New Roman"/>
              </a:rPr>
              <a:t>consisting</a:t>
            </a:r>
            <a:r>
              <a:rPr dirty="0" sz="1000" spc="-10">
                <a:latin typeface="Times New Roman"/>
                <a:cs typeface="Times New Roman"/>
              </a:rPr>
              <a:t> </a:t>
            </a:r>
            <a:r>
              <a:rPr dirty="0" sz="1000">
                <a:latin typeface="Times New Roman"/>
                <a:cs typeface="Times New Roman"/>
              </a:rPr>
              <a:t>of</a:t>
            </a:r>
            <a:r>
              <a:rPr dirty="0" sz="1000" spc="-5">
                <a:latin typeface="Times New Roman"/>
                <a:cs typeface="Times New Roman"/>
              </a:rPr>
              <a:t> </a:t>
            </a:r>
            <a:r>
              <a:rPr dirty="0" sz="1000">
                <a:latin typeface="Times New Roman"/>
                <a:cs typeface="Times New Roman"/>
              </a:rPr>
              <a:t>36M</a:t>
            </a:r>
            <a:r>
              <a:rPr dirty="0" sz="1000" spc="-15">
                <a:latin typeface="Times New Roman"/>
                <a:cs typeface="Times New Roman"/>
              </a:rPr>
              <a:t> </a:t>
            </a:r>
            <a:r>
              <a:rPr dirty="0" sz="1000">
                <a:latin typeface="Times New Roman"/>
                <a:cs typeface="Times New Roman"/>
              </a:rPr>
              <a:t>sentences</a:t>
            </a:r>
            <a:r>
              <a:rPr dirty="0" sz="1000" spc="-5">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split</a:t>
            </a:r>
            <a:r>
              <a:rPr dirty="0" sz="1000" spc="-15">
                <a:latin typeface="Times New Roman"/>
                <a:cs typeface="Times New Roman"/>
              </a:rPr>
              <a:t> </a:t>
            </a:r>
            <a:r>
              <a:rPr dirty="0" sz="1000">
                <a:latin typeface="Times New Roman"/>
                <a:cs typeface="Times New Roman"/>
              </a:rPr>
              <a:t>tokens</a:t>
            </a:r>
            <a:r>
              <a:rPr dirty="0" sz="1000" spc="-5">
                <a:latin typeface="Times New Roman"/>
                <a:cs typeface="Times New Roman"/>
              </a:rPr>
              <a:t> </a:t>
            </a:r>
            <a:r>
              <a:rPr dirty="0" sz="1000">
                <a:latin typeface="Times New Roman"/>
                <a:cs typeface="Times New Roman"/>
              </a:rPr>
              <a:t>into</a:t>
            </a:r>
            <a:r>
              <a:rPr dirty="0" sz="1000" spc="-10">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a:latin typeface="Times New Roman"/>
                <a:cs typeface="Times New Roman"/>
              </a:rPr>
              <a:t>32000</a:t>
            </a:r>
            <a:r>
              <a:rPr dirty="0" sz="1000" spc="-5">
                <a:latin typeface="Times New Roman"/>
                <a:cs typeface="Times New Roman"/>
              </a:rPr>
              <a:t> </a:t>
            </a:r>
            <a:r>
              <a:rPr dirty="0" sz="1000" spc="-10">
                <a:latin typeface="Times New Roman"/>
                <a:cs typeface="Times New Roman"/>
              </a:rPr>
              <a:t>word-piece </a:t>
            </a:r>
            <a:r>
              <a:rPr dirty="0" sz="1000" spc="-25">
                <a:latin typeface="Times New Roman"/>
                <a:cs typeface="Times New Roman"/>
              </a:rPr>
              <a:t>vocabulary</a:t>
            </a:r>
            <a:r>
              <a:rPr dirty="0" sz="1000" spc="-20">
                <a:latin typeface="Times New Roman"/>
                <a:cs typeface="Times New Roman"/>
              </a:rPr>
              <a:t> </a:t>
            </a:r>
            <a:r>
              <a:rPr dirty="0" sz="1000">
                <a:latin typeface="Times New Roman"/>
                <a:cs typeface="Times New Roman"/>
              </a:rPr>
              <a:t>[31].</a:t>
            </a:r>
            <a:r>
              <a:rPr dirty="0" sz="1000" spc="65">
                <a:latin typeface="Times New Roman"/>
                <a:cs typeface="Times New Roman"/>
              </a:rPr>
              <a:t> </a:t>
            </a:r>
            <a:r>
              <a:rPr dirty="0" sz="1000" spc="-20">
                <a:latin typeface="Times New Roman"/>
                <a:cs typeface="Times New Roman"/>
              </a:rPr>
              <a:t>Sentence </a:t>
            </a:r>
            <a:r>
              <a:rPr dirty="0" sz="1000" spc="-10">
                <a:latin typeface="Times New Roman"/>
                <a:cs typeface="Times New Roman"/>
              </a:rPr>
              <a:t>pairs</a:t>
            </a:r>
            <a:r>
              <a:rPr dirty="0" sz="1000" spc="-20">
                <a:latin typeface="Times New Roman"/>
                <a:cs typeface="Times New Roman"/>
              </a:rPr>
              <a:t> were batched together </a:t>
            </a:r>
            <a:r>
              <a:rPr dirty="0" sz="1000" spc="-10">
                <a:latin typeface="Times New Roman"/>
                <a:cs typeface="Times New Roman"/>
              </a:rPr>
              <a:t>by</a:t>
            </a:r>
            <a:r>
              <a:rPr dirty="0" sz="1000" spc="-20">
                <a:latin typeface="Times New Roman"/>
                <a:cs typeface="Times New Roman"/>
              </a:rPr>
              <a:t> approximate sequence</a:t>
            </a:r>
            <a:r>
              <a:rPr dirty="0" sz="1000" spc="-15">
                <a:latin typeface="Times New Roman"/>
                <a:cs typeface="Times New Roman"/>
              </a:rPr>
              <a:t> </a:t>
            </a:r>
            <a:r>
              <a:rPr dirty="0" sz="1000">
                <a:latin typeface="Times New Roman"/>
                <a:cs typeface="Times New Roman"/>
              </a:rPr>
              <a:t>length.</a:t>
            </a:r>
            <a:r>
              <a:rPr dirty="0" sz="1000" spc="65">
                <a:latin typeface="Times New Roman"/>
                <a:cs typeface="Times New Roman"/>
              </a:rPr>
              <a:t> </a:t>
            </a:r>
            <a:r>
              <a:rPr dirty="0" sz="1000" spc="-20">
                <a:latin typeface="Times New Roman"/>
                <a:cs typeface="Times New Roman"/>
              </a:rPr>
              <a:t>Each </a:t>
            </a:r>
            <a:r>
              <a:rPr dirty="0" sz="1000" spc="-10">
                <a:latin typeface="Times New Roman"/>
                <a:cs typeface="Times New Roman"/>
              </a:rPr>
              <a:t>training </a:t>
            </a:r>
            <a:r>
              <a:rPr dirty="0" sz="1000">
                <a:latin typeface="Times New Roman"/>
                <a:cs typeface="Times New Roman"/>
              </a:rPr>
              <a:t>batch</a:t>
            </a:r>
            <a:r>
              <a:rPr dirty="0" sz="1000" spc="40">
                <a:latin typeface="Times New Roman"/>
                <a:cs typeface="Times New Roman"/>
              </a:rPr>
              <a:t> </a:t>
            </a:r>
            <a:r>
              <a:rPr dirty="0" sz="1000">
                <a:latin typeface="Times New Roman"/>
                <a:cs typeface="Times New Roman"/>
              </a:rPr>
              <a:t>contained</a:t>
            </a:r>
            <a:r>
              <a:rPr dirty="0" sz="1000" spc="40">
                <a:latin typeface="Times New Roman"/>
                <a:cs typeface="Times New Roman"/>
              </a:rPr>
              <a:t> </a:t>
            </a:r>
            <a:r>
              <a:rPr dirty="0" sz="1000">
                <a:latin typeface="Times New Roman"/>
                <a:cs typeface="Times New Roman"/>
              </a:rPr>
              <a:t>a</a:t>
            </a:r>
            <a:r>
              <a:rPr dirty="0" sz="1000" spc="45">
                <a:latin typeface="Times New Roman"/>
                <a:cs typeface="Times New Roman"/>
              </a:rPr>
              <a:t> </a:t>
            </a:r>
            <a:r>
              <a:rPr dirty="0" sz="1000">
                <a:latin typeface="Times New Roman"/>
                <a:cs typeface="Times New Roman"/>
              </a:rPr>
              <a:t>set</a:t>
            </a:r>
            <a:r>
              <a:rPr dirty="0" sz="1000" spc="40">
                <a:latin typeface="Times New Roman"/>
                <a:cs typeface="Times New Roman"/>
              </a:rPr>
              <a:t> </a:t>
            </a:r>
            <a:r>
              <a:rPr dirty="0" sz="1000">
                <a:latin typeface="Times New Roman"/>
                <a:cs typeface="Times New Roman"/>
              </a:rPr>
              <a:t>of</a:t>
            </a:r>
            <a:r>
              <a:rPr dirty="0" sz="1000" spc="45">
                <a:latin typeface="Times New Roman"/>
                <a:cs typeface="Times New Roman"/>
              </a:rPr>
              <a:t> </a:t>
            </a:r>
            <a:r>
              <a:rPr dirty="0" sz="1000">
                <a:latin typeface="Times New Roman"/>
                <a:cs typeface="Times New Roman"/>
              </a:rPr>
              <a:t>sentence</a:t>
            </a:r>
            <a:r>
              <a:rPr dirty="0" sz="1000" spc="40">
                <a:latin typeface="Times New Roman"/>
                <a:cs typeface="Times New Roman"/>
              </a:rPr>
              <a:t> </a:t>
            </a:r>
            <a:r>
              <a:rPr dirty="0" sz="1000">
                <a:latin typeface="Times New Roman"/>
                <a:cs typeface="Times New Roman"/>
              </a:rPr>
              <a:t>pairs</a:t>
            </a:r>
            <a:r>
              <a:rPr dirty="0" sz="1000" spc="45">
                <a:latin typeface="Times New Roman"/>
                <a:cs typeface="Times New Roman"/>
              </a:rPr>
              <a:t> </a:t>
            </a:r>
            <a:r>
              <a:rPr dirty="0" sz="1000">
                <a:latin typeface="Times New Roman"/>
                <a:cs typeface="Times New Roman"/>
              </a:rPr>
              <a:t>containing</a:t>
            </a:r>
            <a:r>
              <a:rPr dirty="0" sz="1000" spc="40">
                <a:latin typeface="Times New Roman"/>
                <a:cs typeface="Times New Roman"/>
              </a:rPr>
              <a:t> </a:t>
            </a:r>
            <a:r>
              <a:rPr dirty="0" sz="1000">
                <a:latin typeface="Times New Roman"/>
                <a:cs typeface="Times New Roman"/>
              </a:rPr>
              <a:t>approximately</a:t>
            </a:r>
            <a:r>
              <a:rPr dirty="0" sz="1000" spc="40">
                <a:latin typeface="Times New Roman"/>
                <a:cs typeface="Times New Roman"/>
              </a:rPr>
              <a:t> </a:t>
            </a:r>
            <a:r>
              <a:rPr dirty="0" sz="1000">
                <a:latin typeface="Times New Roman"/>
                <a:cs typeface="Times New Roman"/>
              </a:rPr>
              <a:t>25000</a:t>
            </a:r>
            <a:r>
              <a:rPr dirty="0" sz="1000" spc="45">
                <a:latin typeface="Times New Roman"/>
                <a:cs typeface="Times New Roman"/>
              </a:rPr>
              <a:t> </a:t>
            </a:r>
            <a:r>
              <a:rPr dirty="0" sz="1000">
                <a:latin typeface="Times New Roman"/>
                <a:cs typeface="Times New Roman"/>
              </a:rPr>
              <a:t>source</a:t>
            </a:r>
            <a:r>
              <a:rPr dirty="0" sz="1000" spc="40">
                <a:latin typeface="Times New Roman"/>
                <a:cs typeface="Times New Roman"/>
              </a:rPr>
              <a:t> </a:t>
            </a:r>
            <a:r>
              <a:rPr dirty="0" sz="1000">
                <a:latin typeface="Times New Roman"/>
                <a:cs typeface="Times New Roman"/>
              </a:rPr>
              <a:t>tokens</a:t>
            </a:r>
            <a:r>
              <a:rPr dirty="0" sz="1000" spc="45">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spc="-10">
                <a:latin typeface="Times New Roman"/>
                <a:cs typeface="Times New Roman"/>
              </a:rPr>
              <a:t>25000 </a:t>
            </a:r>
            <a:r>
              <a:rPr dirty="0" sz="1000">
                <a:latin typeface="Times New Roman"/>
                <a:cs typeface="Times New Roman"/>
              </a:rPr>
              <a:t>target</a:t>
            </a:r>
            <a:r>
              <a:rPr dirty="0" sz="1000" spc="-60">
                <a:latin typeface="Times New Roman"/>
                <a:cs typeface="Times New Roman"/>
              </a:rPr>
              <a:t> </a:t>
            </a:r>
            <a:r>
              <a:rPr dirty="0" sz="1000" spc="-10">
                <a:latin typeface="Times New Roman"/>
                <a:cs typeface="Times New Roman"/>
              </a:rPr>
              <a:t>tokens.</a:t>
            </a:r>
            <a:endParaRPr sz="1000">
              <a:latin typeface="Times New Roman"/>
              <a:cs typeface="Times New Roman"/>
            </a:endParaRPr>
          </a:p>
          <a:p>
            <a:pPr>
              <a:lnSpc>
                <a:spcPct val="100000"/>
              </a:lnSpc>
              <a:spcBef>
                <a:spcPts val="180"/>
              </a:spcBef>
            </a:pPr>
            <a:endParaRPr sz="1000">
              <a:latin typeface="Times New Roman"/>
              <a:cs typeface="Times New Roman"/>
            </a:endParaRPr>
          </a:p>
          <a:p>
            <a:pPr lvl="1" marL="415925" indent="-284480">
              <a:lnSpc>
                <a:spcPct val="100000"/>
              </a:lnSpc>
              <a:buAutoNum type="arabicPeriod" startAt="2"/>
              <a:tabLst>
                <a:tab pos="415925" algn="l"/>
              </a:tabLst>
            </a:pPr>
            <a:r>
              <a:rPr dirty="0" sz="1000" spc="-10" b="1">
                <a:latin typeface="Times New Roman"/>
                <a:cs typeface="Times New Roman"/>
              </a:rPr>
              <a:t>Hardware </a:t>
            </a:r>
            <a:r>
              <a:rPr dirty="0" sz="1000" b="1">
                <a:latin typeface="Times New Roman"/>
                <a:cs typeface="Times New Roman"/>
              </a:rPr>
              <a:t>and</a:t>
            </a:r>
            <a:r>
              <a:rPr dirty="0" sz="1000" spc="-5" b="1">
                <a:latin typeface="Times New Roman"/>
                <a:cs typeface="Times New Roman"/>
              </a:rPr>
              <a:t> </a:t>
            </a:r>
            <a:r>
              <a:rPr dirty="0" sz="1000" spc="-10" b="1">
                <a:latin typeface="Times New Roman"/>
                <a:cs typeface="Times New Roman"/>
              </a:rPr>
              <a:t>Schedule</a:t>
            </a:r>
            <a:endParaRPr sz="1000">
              <a:latin typeface="Times New Roman"/>
              <a:cs typeface="Times New Roman"/>
            </a:endParaRPr>
          </a:p>
          <a:p>
            <a:pPr algn="just" marL="127000" marR="134620" indent="-1905">
              <a:lnSpc>
                <a:spcPts val="1090"/>
              </a:lnSpc>
              <a:spcBef>
                <a:spcPts val="965"/>
              </a:spcBef>
            </a:pPr>
            <a:r>
              <a:rPr dirty="0" sz="1000">
                <a:latin typeface="Times New Roman"/>
                <a:cs typeface="Times New Roman"/>
              </a:rPr>
              <a:t>We</a:t>
            </a:r>
            <a:r>
              <a:rPr dirty="0" sz="1000" spc="55">
                <a:latin typeface="Times New Roman"/>
                <a:cs typeface="Times New Roman"/>
              </a:rPr>
              <a:t> </a:t>
            </a:r>
            <a:r>
              <a:rPr dirty="0" sz="1000">
                <a:latin typeface="Times New Roman"/>
                <a:cs typeface="Times New Roman"/>
              </a:rPr>
              <a:t>trained</a:t>
            </a:r>
            <a:r>
              <a:rPr dirty="0" sz="1000" spc="60">
                <a:latin typeface="Times New Roman"/>
                <a:cs typeface="Times New Roman"/>
              </a:rPr>
              <a:t> </a:t>
            </a:r>
            <a:r>
              <a:rPr dirty="0" sz="1000">
                <a:latin typeface="Times New Roman"/>
                <a:cs typeface="Times New Roman"/>
              </a:rPr>
              <a:t>our</a:t>
            </a:r>
            <a:r>
              <a:rPr dirty="0" sz="1000" spc="55">
                <a:latin typeface="Times New Roman"/>
                <a:cs typeface="Times New Roman"/>
              </a:rPr>
              <a:t> </a:t>
            </a:r>
            <a:r>
              <a:rPr dirty="0" sz="1000">
                <a:latin typeface="Times New Roman"/>
                <a:cs typeface="Times New Roman"/>
              </a:rPr>
              <a:t>models</a:t>
            </a:r>
            <a:r>
              <a:rPr dirty="0" sz="1000" spc="60">
                <a:latin typeface="Times New Roman"/>
                <a:cs typeface="Times New Roman"/>
              </a:rPr>
              <a:t> </a:t>
            </a:r>
            <a:r>
              <a:rPr dirty="0" sz="1000">
                <a:latin typeface="Times New Roman"/>
                <a:cs typeface="Times New Roman"/>
              </a:rPr>
              <a:t>on</a:t>
            </a:r>
            <a:r>
              <a:rPr dirty="0" sz="1000" spc="55">
                <a:latin typeface="Times New Roman"/>
                <a:cs typeface="Times New Roman"/>
              </a:rPr>
              <a:t> </a:t>
            </a:r>
            <a:r>
              <a:rPr dirty="0" sz="1000">
                <a:latin typeface="Times New Roman"/>
                <a:cs typeface="Times New Roman"/>
              </a:rPr>
              <a:t>one</a:t>
            </a:r>
            <a:r>
              <a:rPr dirty="0" sz="1000" spc="60">
                <a:latin typeface="Times New Roman"/>
                <a:cs typeface="Times New Roman"/>
              </a:rPr>
              <a:t> </a:t>
            </a:r>
            <a:r>
              <a:rPr dirty="0" sz="1000">
                <a:latin typeface="Times New Roman"/>
                <a:cs typeface="Times New Roman"/>
              </a:rPr>
              <a:t>machine</a:t>
            </a:r>
            <a:r>
              <a:rPr dirty="0" sz="1000" spc="60">
                <a:latin typeface="Times New Roman"/>
                <a:cs typeface="Times New Roman"/>
              </a:rPr>
              <a:t> </a:t>
            </a:r>
            <a:r>
              <a:rPr dirty="0" sz="1000">
                <a:latin typeface="Times New Roman"/>
                <a:cs typeface="Times New Roman"/>
              </a:rPr>
              <a:t>with</a:t>
            </a:r>
            <a:r>
              <a:rPr dirty="0" sz="1000" spc="55">
                <a:latin typeface="Times New Roman"/>
                <a:cs typeface="Times New Roman"/>
              </a:rPr>
              <a:t> </a:t>
            </a:r>
            <a:r>
              <a:rPr dirty="0" sz="1000">
                <a:latin typeface="Times New Roman"/>
                <a:cs typeface="Times New Roman"/>
              </a:rPr>
              <a:t>8</a:t>
            </a:r>
            <a:r>
              <a:rPr dirty="0" sz="1000" spc="60">
                <a:latin typeface="Times New Roman"/>
                <a:cs typeface="Times New Roman"/>
              </a:rPr>
              <a:t> </a:t>
            </a:r>
            <a:r>
              <a:rPr dirty="0" sz="1000">
                <a:latin typeface="Times New Roman"/>
                <a:cs typeface="Times New Roman"/>
              </a:rPr>
              <a:t>NVIDIA</a:t>
            </a:r>
            <a:r>
              <a:rPr dirty="0" sz="1000" spc="55">
                <a:latin typeface="Times New Roman"/>
                <a:cs typeface="Times New Roman"/>
              </a:rPr>
              <a:t> </a:t>
            </a:r>
            <a:r>
              <a:rPr dirty="0" sz="1000">
                <a:latin typeface="Times New Roman"/>
                <a:cs typeface="Times New Roman"/>
              </a:rPr>
              <a:t>P100</a:t>
            </a:r>
            <a:r>
              <a:rPr dirty="0" sz="1000" spc="60">
                <a:latin typeface="Times New Roman"/>
                <a:cs typeface="Times New Roman"/>
              </a:rPr>
              <a:t> </a:t>
            </a:r>
            <a:r>
              <a:rPr dirty="0" sz="1000">
                <a:latin typeface="Times New Roman"/>
                <a:cs typeface="Times New Roman"/>
              </a:rPr>
              <a:t>GPUs.</a:t>
            </a:r>
            <a:r>
              <a:rPr dirty="0" sz="1000" spc="215">
                <a:latin typeface="Times New Roman"/>
                <a:cs typeface="Times New Roman"/>
              </a:rPr>
              <a:t> </a:t>
            </a:r>
            <a:r>
              <a:rPr dirty="0" sz="1000">
                <a:latin typeface="Times New Roman"/>
                <a:cs typeface="Times New Roman"/>
              </a:rPr>
              <a:t>For</a:t>
            </a:r>
            <a:r>
              <a:rPr dirty="0" sz="1000" spc="55">
                <a:latin typeface="Times New Roman"/>
                <a:cs typeface="Times New Roman"/>
              </a:rPr>
              <a:t> </a:t>
            </a:r>
            <a:r>
              <a:rPr dirty="0" sz="1000">
                <a:latin typeface="Times New Roman"/>
                <a:cs typeface="Times New Roman"/>
              </a:rPr>
              <a:t>our</a:t>
            </a:r>
            <a:r>
              <a:rPr dirty="0" sz="1000" spc="60">
                <a:latin typeface="Times New Roman"/>
                <a:cs typeface="Times New Roman"/>
              </a:rPr>
              <a:t> </a:t>
            </a:r>
            <a:r>
              <a:rPr dirty="0" sz="1000">
                <a:latin typeface="Times New Roman"/>
                <a:cs typeface="Times New Roman"/>
              </a:rPr>
              <a:t>base</a:t>
            </a:r>
            <a:r>
              <a:rPr dirty="0" sz="1000" spc="60">
                <a:latin typeface="Times New Roman"/>
                <a:cs typeface="Times New Roman"/>
              </a:rPr>
              <a:t> </a:t>
            </a:r>
            <a:r>
              <a:rPr dirty="0" sz="1000">
                <a:latin typeface="Times New Roman"/>
                <a:cs typeface="Times New Roman"/>
              </a:rPr>
              <a:t>models</a:t>
            </a:r>
            <a:r>
              <a:rPr dirty="0" sz="1000" spc="55">
                <a:latin typeface="Times New Roman"/>
                <a:cs typeface="Times New Roman"/>
              </a:rPr>
              <a:t> </a:t>
            </a:r>
            <a:r>
              <a:rPr dirty="0" sz="1000" spc="-10">
                <a:latin typeface="Times New Roman"/>
                <a:cs typeface="Times New Roman"/>
              </a:rPr>
              <a:t>using </a:t>
            </a: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hyperparameters</a:t>
            </a:r>
            <a:r>
              <a:rPr dirty="0" sz="1000" spc="-15">
                <a:latin typeface="Times New Roman"/>
                <a:cs typeface="Times New Roman"/>
              </a:rPr>
              <a:t> </a:t>
            </a:r>
            <a:r>
              <a:rPr dirty="0" sz="1000">
                <a:latin typeface="Times New Roman"/>
                <a:cs typeface="Times New Roman"/>
              </a:rPr>
              <a:t>described</a:t>
            </a:r>
            <a:r>
              <a:rPr dirty="0" sz="1000" spc="-15">
                <a:latin typeface="Times New Roman"/>
                <a:cs typeface="Times New Roman"/>
              </a:rPr>
              <a:t> </a:t>
            </a:r>
            <a:r>
              <a:rPr dirty="0" sz="1000">
                <a:latin typeface="Times New Roman"/>
                <a:cs typeface="Times New Roman"/>
              </a:rPr>
              <a:t>throughout</a:t>
            </a:r>
            <a:r>
              <a:rPr dirty="0" sz="1000" spc="-1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paper,</a:t>
            </a:r>
            <a:r>
              <a:rPr dirty="0" sz="1000" spc="-10">
                <a:latin typeface="Times New Roman"/>
                <a:cs typeface="Times New Roman"/>
              </a:rPr>
              <a:t> </a:t>
            </a:r>
            <a:r>
              <a:rPr dirty="0" sz="1000">
                <a:latin typeface="Times New Roman"/>
                <a:cs typeface="Times New Roman"/>
              </a:rPr>
              <a:t>each</a:t>
            </a:r>
            <a:r>
              <a:rPr dirty="0" sz="1000" spc="-15">
                <a:latin typeface="Times New Roman"/>
                <a:cs typeface="Times New Roman"/>
              </a:rPr>
              <a:t> </a:t>
            </a:r>
            <a:r>
              <a:rPr dirty="0" sz="1000">
                <a:latin typeface="Times New Roman"/>
                <a:cs typeface="Times New Roman"/>
              </a:rPr>
              <a:t>training</a:t>
            </a:r>
            <a:r>
              <a:rPr dirty="0" sz="1000" spc="-10">
                <a:latin typeface="Times New Roman"/>
                <a:cs typeface="Times New Roman"/>
              </a:rPr>
              <a:t> </a:t>
            </a:r>
            <a:r>
              <a:rPr dirty="0" sz="1000">
                <a:latin typeface="Times New Roman"/>
                <a:cs typeface="Times New Roman"/>
              </a:rPr>
              <a:t>step</a:t>
            </a:r>
            <a:r>
              <a:rPr dirty="0" sz="1000" spc="-20">
                <a:latin typeface="Times New Roman"/>
                <a:cs typeface="Times New Roman"/>
              </a:rPr>
              <a:t> </a:t>
            </a:r>
            <a:r>
              <a:rPr dirty="0" sz="1000">
                <a:latin typeface="Times New Roman"/>
                <a:cs typeface="Times New Roman"/>
              </a:rPr>
              <a:t>took</a:t>
            </a:r>
            <a:r>
              <a:rPr dirty="0" sz="1000" spc="-10">
                <a:latin typeface="Times New Roman"/>
                <a:cs typeface="Times New Roman"/>
              </a:rPr>
              <a:t> </a:t>
            </a:r>
            <a:r>
              <a:rPr dirty="0" sz="1000">
                <a:latin typeface="Times New Roman"/>
                <a:cs typeface="Times New Roman"/>
              </a:rPr>
              <a:t>about</a:t>
            </a:r>
            <a:r>
              <a:rPr dirty="0" sz="1000" spc="-15">
                <a:latin typeface="Times New Roman"/>
                <a:cs typeface="Times New Roman"/>
              </a:rPr>
              <a:t> </a:t>
            </a:r>
            <a:r>
              <a:rPr dirty="0" sz="1000">
                <a:latin typeface="Times New Roman"/>
                <a:cs typeface="Times New Roman"/>
              </a:rPr>
              <a:t>0.4</a:t>
            </a:r>
            <a:r>
              <a:rPr dirty="0" sz="1000" spc="-15">
                <a:latin typeface="Times New Roman"/>
                <a:cs typeface="Times New Roman"/>
              </a:rPr>
              <a:t> </a:t>
            </a:r>
            <a:r>
              <a:rPr dirty="0" sz="1000">
                <a:latin typeface="Times New Roman"/>
                <a:cs typeface="Times New Roman"/>
              </a:rPr>
              <a:t>seconds.</a:t>
            </a:r>
            <a:r>
              <a:rPr dirty="0" sz="1000" spc="45">
                <a:latin typeface="Times New Roman"/>
                <a:cs typeface="Times New Roman"/>
              </a:rPr>
              <a:t> </a:t>
            </a:r>
            <a:r>
              <a:rPr dirty="0" sz="1000" spc="-25">
                <a:latin typeface="Times New Roman"/>
                <a:cs typeface="Times New Roman"/>
              </a:rPr>
              <a:t>We </a:t>
            </a:r>
            <a:r>
              <a:rPr dirty="0" sz="1000" spc="-10">
                <a:latin typeface="Times New Roman"/>
                <a:cs typeface="Times New Roman"/>
              </a:rPr>
              <a:t>trained</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base</a:t>
            </a:r>
            <a:r>
              <a:rPr dirty="0" sz="1000" spc="-30">
                <a:latin typeface="Times New Roman"/>
                <a:cs typeface="Times New Roman"/>
              </a:rPr>
              <a:t> </a:t>
            </a:r>
            <a:r>
              <a:rPr dirty="0" sz="1000" spc="-10">
                <a:latin typeface="Times New Roman"/>
                <a:cs typeface="Times New Roman"/>
              </a:rPr>
              <a:t>models</a:t>
            </a:r>
            <a:r>
              <a:rPr dirty="0" sz="1000" spc="-35">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a</a:t>
            </a:r>
            <a:r>
              <a:rPr dirty="0" sz="1000" spc="-30">
                <a:latin typeface="Times New Roman"/>
                <a:cs typeface="Times New Roman"/>
              </a:rPr>
              <a:t> </a:t>
            </a:r>
            <a:r>
              <a:rPr dirty="0" sz="1000">
                <a:latin typeface="Times New Roman"/>
                <a:cs typeface="Times New Roman"/>
              </a:rPr>
              <a:t>total</a:t>
            </a:r>
            <a:r>
              <a:rPr dirty="0" sz="1000" spc="-3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spc="-10">
                <a:latin typeface="Times New Roman"/>
                <a:cs typeface="Times New Roman"/>
              </a:rPr>
              <a:t>100,000</a:t>
            </a:r>
            <a:r>
              <a:rPr dirty="0" sz="1000" spc="-30">
                <a:latin typeface="Times New Roman"/>
                <a:cs typeface="Times New Roman"/>
              </a:rPr>
              <a:t> </a:t>
            </a:r>
            <a:r>
              <a:rPr dirty="0" sz="1000" spc="-10">
                <a:latin typeface="Times New Roman"/>
                <a:cs typeface="Times New Roman"/>
              </a:rPr>
              <a:t>steps</a:t>
            </a:r>
            <a:r>
              <a:rPr dirty="0" sz="1000" spc="-35">
                <a:latin typeface="Times New Roman"/>
                <a:cs typeface="Times New Roman"/>
              </a:rPr>
              <a:t> </a:t>
            </a:r>
            <a:r>
              <a:rPr dirty="0" sz="1000">
                <a:latin typeface="Times New Roman"/>
                <a:cs typeface="Times New Roman"/>
              </a:rPr>
              <a:t>or</a:t>
            </a:r>
            <a:r>
              <a:rPr dirty="0" sz="1000" spc="-30">
                <a:latin typeface="Times New Roman"/>
                <a:cs typeface="Times New Roman"/>
              </a:rPr>
              <a:t> </a:t>
            </a:r>
            <a:r>
              <a:rPr dirty="0" sz="1000">
                <a:latin typeface="Times New Roman"/>
                <a:cs typeface="Times New Roman"/>
              </a:rPr>
              <a:t>12</a:t>
            </a:r>
            <a:r>
              <a:rPr dirty="0" sz="1000" spc="-30">
                <a:latin typeface="Times New Roman"/>
                <a:cs typeface="Times New Roman"/>
              </a:rPr>
              <a:t> </a:t>
            </a:r>
            <a:r>
              <a:rPr dirty="0" sz="1000">
                <a:latin typeface="Times New Roman"/>
                <a:cs typeface="Times New Roman"/>
              </a:rPr>
              <a:t>hours.</a:t>
            </a:r>
            <a:r>
              <a:rPr dirty="0" sz="1000" spc="20">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our</a:t>
            </a:r>
            <a:r>
              <a:rPr dirty="0" sz="1000" spc="-35">
                <a:latin typeface="Times New Roman"/>
                <a:cs typeface="Times New Roman"/>
              </a:rPr>
              <a:t> </a:t>
            </a:r>
            <a:r>
              <a:rPr dirty="0" sz="1000">
                <a:latin typeface="Times New Roman"/>
                <a:cs typeface="Times New Roman"/>
              </a:rPr>
              <a:t>big</a:t>
            </a:r>
            <a:r>
              <a:rPr dirty="0" sz="1000" spc="-30">
                <a:latin typeface="Times New Roman"/>
                <a:cs typeface="Times New Roman"/>
              </a:rPr>
              <a:t> </a:t>
            </a:r>
            <a:r>
              <a:rPr dirty="0" sz="1000" spc="-20">
                <a:latin typeface="Times New Roman"/>
                <a:cs typeface="Times New Roman"/>
              </a:rPr>
              <a:t>models,(described</a:t>
            </a:r>
            <a:r>
              <a:rPr dirty="0" sz="1000" spc="-30">
                <a:latin typeface="Times New Roman"/>
                <a:cs typeface="Times New Roman"/>
              </a:rPr>
              <a:t> </a:t>
            </a:r>
            <a:r>
              <a:rPr dirty="0" sz="1000">
                <a:latin typeface="Times New Roman"/>
                <a:cs typeface="Times New Roman"/>
              </a:rPr>
              <a:t>on</a:t>
            </a:r>
            <a:r>
              <a:rPr dirty="0" sz="1000" spc="-35">
                <a:latin typeface="Times New Roman"/>
                <a:cs typeface="Times New Roman"/>
              </a:rPr>
              <a:t> </a:t>
            </a:r>
            <a:r>
              <a:rPr dirty="0" sz="1000" spc="-25">
                <a:latin typeface="Times New Roman"/>
                <a:cs typeface="Times New Roman"/>
              </a:rPr>
              <a:t>the </a:t>
            </a:r>
            <a:r>
              <a:rPr dirty="0" sz="1000">
                <a:latin typeface="Times New Roman"/>
                <a:cs typeface="Times New Roman"/>
              </a:rPr>
              <a:t>bottom</a:t>
            </a:r>
            <a:r>
              <a:rPr dirty="0" sz="1000" spc="15">
                <a:latin typeface="Times New Roman"/>
                <a:cs typeface="Times New Roman"/>
              </a:rPr>
              <a:t> </a:t>
            </a:r>
            <a:r>
              <a:rPr dirty="0" sz="1000">
                <a:latin typeface="Times New Roman"/>
                <a:cs typeface="Times New Roman"/>
              </a:rPr>
              <a:t>line</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table</a:t>
            </a:r>
            <a:r>
              <a:rPr dirty="0" sz="1000" spc="15">
                <a:latin typeface="Times New Roman"/>
                <a:cs typeface="Times New Roman"/>
              </a:rPr>
              <a:t> </a:t>
            </a:r>
            <a:r>
              <a:rPr dirty="0" sz="1000">
                <a:latin typeface="Times New Roman"/>
                <a:cs typeface="Times New Roman"/>
              </a:rPr>
              <a:t>3),</a:t>
            </a:r>
            <a:r>
              <a:rPr dirty="0" sz="1000" spc="25">
                <a:latin typeface="Times New Roman"/>
                <a:cs typeface="Times New Roman"/>
              </a:rPr>
              <a:t> </a:t>
            </a:r>
            <a:r>
              <a:rPr dirty="0" sz="1000">
                <a:latin typeface="Times New Roman"/>
                <a:cs typeface="Times New Roman"/>
              </a:rPr>
              <a:t>step</a:t>
            </a:r>
            <a:r>
              <a:rPr dirty="0" sz="1000" spc="15">
                <a:latin typeface="Times New Roman"/>
                <a:cs typeface="Times New Roman"/>
              </a:rPr>
              <a:t> </a:t>
            </a:r>
            <a:r>
              <a:rPr dirty="0" sz="1000">
                <a:latin typeface="Times New Roman"/>
                <a:cs typeface="Times New Roman"/>
              </a:rPr>
              <a:t>time</a:t>
            </a:r>
            <a:r>
              <a:rPr dirty="0" sz="1000" spc="15">
                <a:latin typeface="Times New Roman"/>
                <a:cs typeface="Times New Roman"/>
              </a:rPr>
              <a:t> </a:t>
            </a:r>
            <a:r>
              <a:rPr dirty="0" sz="1000">
                <a:latin typeface="Times New Roman"/>
                <a:cs typeface="Times New Roman"/>
              </a:rPr>
              <a:t>was</a:t>
            </a:r>
            <a:r>
              <a:rPr dirty="0" sz="1000" spc="20">
                <a:latin typeface="Times New Roman"/>
                <a:cs typeface="Times New Roman"/>
              </a:rPr>
              <a:t> </a:t>
            </a:r>
            <a:r>
              <a:rPr dirty="0" sz="1000">
                <a:latin typeface="Times New Roman"/>
                <a:cs typeface="Times New Roman"/>
              </a:rPr>
              <a:t>1.0</a:t>
            </a:r>
            <a:r>
              <a:rPr dirty="0" sz="1000" spc="15">
                <a:latin typeface="Times New Roman"/>
                <a:cs typeface="Times New Roman"/>
              </a:rPr>
              <a:t> </a:t>
            </a:r>
            <a:r>
              <a:rPr dirty="0" sz="1000">
                <a:latin typeface="Times New Roman"/>
                <a:cs typeface="Times New Roman"/>
              </a:rPr>
              <a:t>seconds.</a:t>
            </a:r>
            <a:r>
              <a:rPr dirty="0" sz="1000" spc="9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big</a:t>
            </a:r>
            <a:r>
              <a:rPr dirty="0" sz="1000" spc="15">
                <a:latin typeface="Times New Roman"/>
                <a:cs typeface="Times New Roman"/>
              </a:rPr>
              <a:t> </a:t>
            </a:r>
            <a:r>
              <a:rPr dirty="0" sz="1000">
                <a:latin typeface="Times New Roman"/>
                <a:cs typeface="Times New Roman"/>
              </a:rPr>
              <a:t>models</a:t>
            </a:r>
            <a:r>
              <a:rPr dirty="0" sz="1000" spc="20">
                <a:latin typeface="Times New Roman"/>
                <a:cs typeface="Times New Roman"/>
              </a:rPr>
              <a:t> </a:t>
            </a:r>
            <a:r>
              <a:rPr dirty="0" sz="1000">
                <a:latin typeface="Times New Roman"/>
                <a:cs typeface="Times New Roman"/>
              </a:rPr>
              <a:t>were</a:t>
            </a:r>
            <a:r>
              <a:rPr dirty="0" sz="1000" spc="15">
                <a:latin typeface="Times New Roman"/>
                <a:cs typeface="Times New Roman"/>
              </a:rPr>
              <a:t> </a:t>
            </a:r>
            <a:r>
              <a:rPr dirty="0" sz="1000">
                <a:latin typeface="Times New Roman"/>
                <a:cs typeface="Times New Roman"/>
              </a:rPr>
              <a:t>trained</a:t>
            </a:r>
            <a:r>
              <a:rPr dirty="0" sz="1000" spc="15">
                <a:latin typeface="Times New Roman"/>
                <a:cs typeface="Times New Roman"/>
              </a:rPr>
              <a:t> </a:t>
            </a:r>
            <a:r>
              <a:rPr dirty="0" sz="1000">
                <a:latin typeface="Times New Roman"/>
                <a:cs typeface="Times New Roman"/>
              </a:rPr>
              <a:t>for</a:t>
            </a:r>
            <a:r>
              <a:rPr dirty="0" sz="1000" spc="15">
                <a:latin typeface="Times New Roman"/>
                <a:cs typeface="Times New Roman"/>
              </a:rPr>
              <a:t> </a:t>
            </a:r>
            <a:r>
              <a:rPr dirty="0" sz="1000">
                <a:latin typeface="Times New Roman"/>
                <a:cs typeface="Times New Roman"/>
              </a:rPr>
              <a:t>300,000</a:t>
            </a:r>
            <a:r>
              <a:rPr dirty="0" sz="1000" spc="20">
                <a:latin typeface="Times New Roman"/>
                <a:cs typeface="Times New Roman"/>
              </a:rPr>
              <a:t> </a:t>
            </a:r>
            <a:r>
              <a:rPr dirty="0" sz="1000" spc="-10">
                <a:latin typeface="Times New Roman"/>
                <a:cs typeface="Times New Roman"/>
              </a:rPr>
              <a:t>steps </a:t>
            </a:r>
            <a:r>
              <a:rPr dirty="0" sz="1000">
                <a:latin typeface="Times New Roman"/>
                <a:cs typeface="Times New Roman"/>
              </a:rPr>
              <a:t>(3.5</a:t>
            </a:r>
            <a:r>
              <a:rPr dirty="0" sz="1000" spc="-25">
                <a:latin typeface="Times New Roman"/>
                <a:cs typeface="Times New Roman"/>
              </a:rPr>
              <a:t> </a:t>
            </a:r>
            <a:r>
              <a:rPr dirty="0" sz="1000" spc="-10">
                <a:latin typeface="Times New Roman"/>
                <a:cs typeface="Times New Roman"/>
              </a:rPr>
              <a:t>days).</a:t>
            </a:r>
            <a:endParaRPr sz="1000">
              <a:latin typeface="Times New Roman"/>
              <a:cs typeface="Times New Roman"/>
            </a:endParaRPr>
          </a:p>
          <a:p>
            <a:pPr>
              <a:lnSpc>
                <a:spcPct val="100000"/>
              </a:lnSpc>
              <a:spcBef>
                <a:spcPts val="180"/>
              </a:spcBef>
            </a:pPr>
            <a:endParaRPr sz="1000">
              <a:latin typeface="Times New Roman"/>
              <a:cs typeface="Times New Roman"/>
            </a:endParaRPr>
          </a:p>
          <a:p>
            <a:pPr lvl="1" marL="415925" indent="-284480">
              <a:lnSpc>
                <a:spcPct val="100000"/>
              </a:lnSpc>
              <a:buAutoNum type="arabicPeriod" startAt="3"/>
              <a:tabLst>
                <a:tab pos="415925" algn="l"/>
              </a:tabLst>
            </a:pPr>
            <a:r>
              <a:rPr dirty="0" sz="1000" spc="-10" b="1">
                <a:latin typeface="Times New Roman"/>
                <a:cs typeface="Times New Roman"/>
              </a:rPr>
              <a:t>Optimizer</a:t>
            </a:r>
            <a:endParaRPr sz="1000">
              <a:latin typeface="Times New Roman"/>
              <a:cs typeface="Times New Roman"/>
            </a:endParaRPr>
          </a:p>
          <a:p>
            <a:pPr algn="just" marL="131445" marR="134620" indent="-6350">
              <a:lnSpc>
                <a:spcPts val="1090"/>
              </a:lnSpc>
              <a:spcBef>
                <a:spcPts val="965"/>
              </a:spcBef>
            </a:pPr>
            <a:r>
              <a:rPr dirty="0" sz="1000" spc="-30">
                <a:latin typeface="Times New Roman"/>
                <a:cs typeface="Times New Roman"/>
              </a:rPr>
              <a:t>We</a:t>
            </a:r>
            <a:r>
              <a:rPr dirty="0" sz="1000" spc="-10">
                <a:latin typeface="Times New Roman"/>
                <a:cs typeface="Times New Roman"/>
              </a:rPr>
              <a:t> </a:t>
            </a:r>
            <a:r>
              <a:rPr dirty="0" sz="1000">
                <a:latin typeface="Times New Roman"/>
                <a:cs typeface="Times New Roman"/>
              </a:rPr>
              <a:t>used</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Adam</a:t>
            </a:r>
            <a:r>
              <a:rPr dirty="0" sz="1000" spc="-5">
                <a:latin typeface="Times New Roman"/>
                <a:cs typeface="Times New Roman"/>
              </a:rPr>
              <a:t> </a:t>
            </a:r>
            <a:r>
              <a:rPr dirty="0" sz="1000">
                <a:latin typeface="Times New Roman"/>
                <a:cs typeface="Times New Roman"/>
              </a:rPr>
              <a:t>optimizer</a:t>
            </a:r>
            <a:r>
              <a:rPr dirty="0" sz="1000" spc="-5">
                <a:latin typeface="Times New Roman"/>
                <a:cs typeface="Times New Roman"/>
              </a:rPr>
              <a:t> </a:t>
            </a:r>
            <a:r>
              <a:rPr dirty="0" sz="1000">
                <a:latin typeface="Times New Roman"/>
                <a:cs typeface="Times New Roman"/>
              </a:rPr>
              <a:t>[17]</a:t>
            </a:r>
            <a:r>
              <a:rPr dirty="0" sz="1000" spc="-5">
                <a:latin typeface="Times New Roman"/>
                <a:cs typeface="Times New Roman"/>
              </a:rPr>
              <a:t> </a:t>
            </a:r>
            <a:r>
              <a:rPr dirty="0" sz="1000">
                <a:latin typeface="Times New Roman"/>
                <a:cs typeface="Times New Roman"/>
              </a:rPr>
              <a:t>with</a:t>
            </a:r>
            <a:r>
              <a:rPr dirty="0" sz="1000" spc="-5">
                <a:latin typeface="Times New Roman"/>
                <a:cs typeface="Times New Roman"/>
              </a:rPr>
              <a:t> </a:t>
            </a:r>
            <a:r>
              <a:rPr dirty="0" sz="1000" i="1">
                <a:latin typeface="Calibri"/>
                <a:cs typeface="Calibri"/>
              </a:rPr>
              <a:t>β</a:t>
            </a:r>
            <a:r>
              <a:rPr dirty="0" baseline="-11904" sz="1050">
                <a:latin typeface="Tahoma"/>
                <a:cs typeface="Tahoma"/>
              </a:rPr>
              <a:t>1</a:t>
            </a:r>
            <a:r>
              <a:rPr dirty="0" baseline="-11904" sz="1050" spc="150">
                <a:latin typeface="Tahoma"/>
                <a:cs typeface="Tahoma"/>
              </a:rPr>
              <a:t> </a:t>
            </a:r>
            <a:r>
              <a:rPr dirty="0" sz="1000" spc="270">
                <a:latin typeface="Calibri"/>
                <a:cs typeface="Calibri"/>
              </a:rPr>
              <a:t>=</a:t>
            </a:r>
            <a:r>
              <a:rPr dirty="0" sz="1000" spc="50">
                <a:latin typeface="Calibri"/>
                <a:cs typeface="Calibri"/>
              </a:rPr>
              <a:t> </a:t>
            </a:r>
            <a:r>
              <a:rPr dirty="0" sz="1000">
                <a:latin typeface="Calibri"/>
                <a:cs typeface="Calibri"/>
              </a:rPr>
              <a:t>0</a:t>
            </a:r>
            <a:r>
              <a:rPr dirty="0" sz="1000" i="1">
                <a:latin typeface="Calibri"/>
                <a:cs typeface="Calibri"/>
              </a:rPr>
              <a:t>.</a:t>
            </a:r>
            <a:r>
              <a:rPr dirty="0" sz="1000">
                <a:latin typeface="Calibri"/>
                <a:cs typeface="Calibri"/>
              </a:rPr>
              <a:t>9</a:t>
            </a:r>
            <a:r>
              <a:rPr dirty="0" sz="1000">
                <a:latin typeface="Times New Roman"/>
                <a:cs typeface="Times New Roman"/>
              </a:rPr>
              <a:t>,</a:t>
            </a:r>
            <a:r>
              <a:rPr dirty="0" sz="1000" spc="-5">
                <a:latin typeface="Times New Roman"/>
                <a:cs typeface="Times New Roman"/>
              </a:rPr>
              <a:t> </a:t>
            </a:r>
            <a:r>
              <a:rPr dirty="0" sz="1000" i="1">
                <a:latin typeface="Calibri"/>
                <a:cs typeface="Calibri"/>
              </a:rPr>
              <a:t>β</a:t>
            </a:r>
            <a:r>
              <a:rPr dirty="0" baseline="-11904" sz="1050">
                <a:latin typeface="Tahoma"/>
                <a:cs typeface="Tahoma"/>
              </a:rPr>
              <a:t>2</a:t>
            </a:r>
            <a:r>
              <a:rPr dirty="0" baseline="-11904" sz="1050" spc="157">
                <a:latin typeface="Tahoma"/>
                <a:cs typeface="Tahoma"/>
              </a:rPr>
              <a:t> </a:t>
            </a:r>
            <a:r>
              <a:rPr dirty="0" sz="1000" spc="270">
                <a:latin typeface="Calibri"/>
                <a:cs typeface="Calibri"/>
              </a:rPr>
              <a:t>=</a:t>
            </a:r>
            <a:r>
              <a:rPr dirty="0" sz="1000" spc="50">
                <a:latin typeface="Calibri"/>
                <a:cs typeface="Calibri"/>
              </a:rPr>
              <a:t> </a:t>
            </a:r>
            <a:r>
              <a:rPr dirty="0" sz="1000">
                <a:latin typeface="Calibri"/>
                <a:cs typeface="Calibri"/>
              </a:rPr>
              <a:t>0</a:t>
            </a:r>
            <a:r>
              <a:rPr dirty="0" sz="1000" i="1">
                <a:latin typeface="Calibri"/>
                <a:cs typeface="Calibri"/>
              </a:rPr>
              <a:t>.</a:t>
            </a:r>
            <a:r>
              <a:rPr dirty="0" sz="1000">
                <a:latin typeface="Calibri"/>
                <a:cs typeface="Calibri"/>
              </a:rPr>
              <a:t>98</a:t>
            </a:r>
            <a:r>
              <a:rPr dirty="0" sz="1000" spc="20">
                <a:latin typeface="Calibri"/>
                <a:cs typeface="Calibri"/>
              </a:rPr>
              <a:t> </a:t>
            </a:r>
            <a:r>
              <a:rPr dirty="0" sz="1000">
                <a:latin typeface="Times New Roman"/>
                <a:cs typeface="Times New Roman"/>
              </a:rPr>
              <a:t>and</a:t>
            </a:r>
            <a:r>
              <a:rPr dirty="0" sz="1000" spc="-5">
                <a:latin typeface="Times New Roman"/>
                <a:cs typeface="Times New Roman"/>
              </a:rPr>
              <a:t> </a:t>
            </a:r>
            <a:r>
              <a:rPr dirty="0" sz="1000" i="1">
                <a:latin typeface="Calibri"/>
                <a:cs typeface="Calibri"/>
              </a:rPr>
              <a:t>ϵ</a:t>
            </a:r>
            <a:r>
              <a:rPr dirty="0" sz="1000" spc="50" i="1">
                <a:latin typeface="Calibri"/>
                <a:cs typeface="Calibri"/>
              </a:rPr>
              <a:t> </a:t>
            </a:r>
            <a:r>
              <a:rPr dirty="0" sz="1000" spc="270">
                <a:latin typeface="Calibri"/>
                <a:cs typeface="Calibri"/>
              </a:rPr>
              <a:t>=</a:t>
            </a:r>
            <a:r>
              <a:rPr dirty="0" sz="1000" spc="45">
                <a:latin typeface="Calibri"/>
                <a:cs typeface="Calibri"/>
              </a:rPr>
              <a:t> </a:t>
            </a:r>
            <a:r>
              <a:rPr dirty="0" sz="1000" spc="50">
                <a:latin typeface="Calibri"/>
                <a:cs typeface="Calibri"/>
              </a:rPr>
              <a:t>10</a:t>
            </a:r>
            <a:r>
              <a:rPr dirty="0" baseline="27777" sz="1050" spc="75">
                <a:latin typeface="Cambria"/>
                <a:cs typeface="Cambria"/>
              </a:rPr>
              <a:t>−</a:t>
            </a:r>
            <a:r>
              <a:rPr dirty="0" baseline="27777" sz="1050" spc="75">
                <a:latin typeface="Tahoma"/>
                <a:cs typeface="Tahoma"/>
              </a:rPr>
              <a:t>9</a:t>
            </a:r>
            <a:r>
              <a:rPr dirty="0" sz="1000" spc="50">
                <a:latin typeface="Times New Roman"/>
                <a:cs typeface="Times New Roman"/>
              </a:rPr>
              <a:t>.</a:t>
            </a:r>
            <a:r>
              <a:rPr dirty="0" sz="1000" spc="55">
                <a:latin typeface="Times New Roman"/>
                <a:cs typeface="Times New Roman"/>
              </a:rPr>
              <a:t> </a:t>
            </a:r>
            <a:r>
              <a:rPr dirty="0" sz="1000" spc="-30">
                <a:latin typeface="Times New Roman"/>
                <a:cs typeface="Times New Roman"/>
              </a:rPr>
              <a:t>We</a:t>
            </a:r>
            <a:r>
              <a:rPr dirty="0" sz="1000" spc="-5">
                <a:latin typeface="Times New Roman"/>
                <a:cs typeface="Times New Roman"/>
              </a:rPr>
              <a:t> </a:t>
            </a:r>
            <a:r>
              <a:rPr dirty="0" sz="1000">
                <a:latin typeface="Times New Roman"/>
                <a:cs typeface="Times New Roman"/>
              </a:rPr>
              <a:t>varied</a:t>
            </a:r>
            <a:r>
              <a:rPr dirty="0" sz="1000" spc="-5">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spc="-10">
                <a:latin typeface="Times New Roman"/>
                <a:cs typeface="Times New Roman"/>
              </a:rPr>
              <a:t>learning </a:t>
            </a:r>
            <a:r>
              <a:rPr dirty="0" sz="1000">
                <a:latin typeface="Times New Roman"/>
                <a:cs typeface="Times New Roman"/>
              </a:rPr>
              <a:t>rate</a:t>
            </a:r>
            <a:r>
              <a:rPr dirty="0" sz="1000" spc="-30">
                <a:latin typeface="Times New Roman"/>
                <a:cs typeface="Times New Roman"/>
              </a:rPr>
              <a:t> </a:t>
            </a:r>
            <a:r>
              <a:rPr dirty="0" sz="1000">
                <a:latin typeface="Times New Roman"/>
                <a:cs typeface="Times New Roman"/>
              </a:rPr>
              <a:t>over</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course</a:t>
            </a:r>
            <a:r>
              <a:rPr dirty="0" sz="1000" spc="-30">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training,</a:t>
            </a:r>
            <a:r>
              <a:rPr dirty="0" sz="1000" spc="-30">
                <a:latin typeface="Times New Roman"/>
                <a:cs typeface="Times New Roman"/>
              </a:rPr>
              <a:t> </a:t>
            </a:r>
            <a:r>
              <a:rPr dirty="0" sz="1000">
                <a:latin typeface="Times New Roman"/>
                <a:cs typeface="Times New Roman"/>
              </a:rPr>
              <a:t>according</a:t>
            </a:r>
            <a:r>
              <a:rPr dirty="0" sz="1000" spc="-2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formula:</a:t>
            </a:r>
            <a:endParaRPr sz="1000">
              <a:latin typeface="Times New Roman"/>
              <a:cs typeface="Times New Roman"/>
            </a:endParaRPr>
          </a:p>
        </p:txBody>
      </p:sp>
      <p:sp>
        <p:nvSpPr>
          <p:cNvPr id="3" name="object 3" descr=""/>
          <p:cNvSpPr txBox="1"/>
          <p:nvPr/>
        </p:nvSpPr>
        <p:spPr>
          <a:xfrm>
            <a:off x="2562910" y="7132653"/>
            <a:ext cx="235585" cy="132080"/>
          </a:xfrm>
          <a:prstGeom prst="rect">
            <a:avLst/>
          </a:prstGeom>
        </p:spPr>
        <p:txBody>
          <a:bodyPr wrap="square" lIns="0" tIns="12065" rIns="0" bIns="0" rtlCol="0" vert="horz">
            <a:spAutoFit/>
          </a:bodyPr>
          <a:lstStyle/>
          <a:p>
            <a:pPr marL="12700">
              <a:lnSpc>
                <a:spcPct val="100000"/>
              </a:lnSpc>
              <a:spcBef>
                <a:spcPts val="95"/>
              </a:spcBef>
            </a:pPr>
            <a:r>
              <a:rPr dirty="0" sz="700" spc="55">
                <a:latin typeface="Cambria"/>
                <a:cs typeface="Cambria"/>
              </a:rPr>
              <a:t>−</a:t>
            </a:r>
            <a:r>
              <a:rPr dirty="0" sz="700" spc="55">
                <a:latin typeface="Tahoma"/>
                <a:cs typeface="Tahoma"/>
              </a:rPr>
              <a:t>0</a:t>
            </a:r>
            <a:r>
              <a:rPr dirty="0" sz="700" spc="55" i="1">
                <a:latin typeface="Calibri"/>
                <a:cs typeface="Calibri"/>
              </a:rPr>
              <a:t>.</a:t>
            </a:r>
            <a:r>
              <a:rPr dirty="0" sz="700" spc="55">
                <a:latin typeface="Tahoma"/>
                <a:cs typeface="Tahoma"/>
              </a:rPr>
              <a:t>5</a:t>
            </a:r>
            <a:endParaRPr sz="700">
              <a:latin typeface="Tahoma"/>
              <a:cs typeface="Tahoma"/>
            </a:endParaRPr>
          </a:p>
        </p:txBody>
      </p:sp>
      <p:sp>
        <p:nvSpPr>
          <p:cNvPr id="4" name="object 4" descr=""/>
          <p:cNvSpPr txBox="1"/>
          <p:nvPr/>
        </p:nvSpPr>
        <p:spPr>
          <a:xfrm>
            <a:off x="2562910" y="7223483"/>
            <a:ext cx="247015" cy="132080"/>
          </a:xfrm>
          <a:prstGeom prst="rect">
            <a:avLst/>
          </a:prstGeom>
        </p:spPr>
        <p:txBody>
          <a:bodyPr wrap="square" lIns="0" tIns="12065" rIns="0" bIns="0" rtlCol="0" vert="horz">
            <a:spAutoFit/>
          </a:bodyPr>
          <a:lstStyle/>
          <a:p>
            <a:pPr marL="12700">
              <a:lnSpc>
                <a:spcPct val="100000"/>
              </a:lnSpc>
              <a:spcBef>
                <a:spcPts val="95"/>
              </a:spcBef>
            </a:pPr>
            <a:r>
              <a:rPr dirty="0" sz="700" spc="-10">
                <a:latin typeface="Times New Roman"/>
                <a:cs typeface="Times New Roman"/>
              </a:rPr>
              <a:t>model</a:t>
            </a:r>
            <a:endParaRPr sz="700">
              <a:latin typeface="Times New Roman"/>
              <a:cs typeface="Times New Roman"/>
            </a:endParaRPr>
          </a:p>
        </p:txBody>
      </p:sp>
      <p:sp>
        <p:nvSpPr>
          <p:cNvPr id="5" name="object 5" descr=""/>
          <p:cNvSpPr txBox="1"/>
          <p:nvPr/>
        </p:nvSpPr>
        <p:spPr>
          <a:xfrm>
            <a:off x="2056028" y="7148822"/>
            <a:ext cx="1402715" cy="177800"/>
          </a:xfrm>
          <a:prstGeom prst="rect">
            <a:avLst/>
          </a:prstGeom>
        </p:spPr>
        <p:txBody>
          <a:bodyPr wrap="square" lIns="0" tIns="12065" rIns="0" bIns="0" rtlCol="0" vert="horz">
            <a:spAutoFit/>
          </a:bodyPr>
          <a:lstStyle/>
          <a:p>
            <a:pPr marL="12700">
              <a:lnSpc>
                <a:spcPct val="100000"/>
              </a:lnSpc>
              <a:spcBef>
                <a:spcPts val="95"/>
              </a:spcBef>
              <a:tabLst>
                <a:tab pos="775335" algn="l"/>
              </a:tabLst>
            </a:pPr>
            <a:r>
              <a:rPr dirty="0" sz="1000" i="1">
                <a:latin typeface="Calibri"/>
                <a:cs typeface="Calibri"/>
              </a:rPr>
              <a:t>lrate</a:t>
            </a:r>
            <a:r>
              <a:rPr dirty="0" sz="1000" spc="165" i="1">
                <a:latin typeface="Calibri"/>
                <a:cs typeface="Calibri"/>
              </a:rPr>
              <a:t> </a:t>
            </a:r>
            <a:r>
              <a:rPr dirty="0" sz="1000" spc="270">
                <a:latin typeface="Calibri"/>
                <a:cs typeface="Calibri"/>
              </a:rPr>
              <a:t>=</a:t>
            </a:r>
            <a:r>
              <a:rPr dirty="0" sz="1000" spc="170">
                <a:latin typeface="Calibri"/>
                <a:cs typeface="Calibri"/>
              </a:rPr>
              <a:t> </a:t>
            </a:r>
            <a:r>
              <a:rPr dirty="0" sz="1000" spc="-50" i="1">
                <a:latin typeface="Calibri"/>
                <a:cs typeface="Calibri"/>
              </a:rPr>
              <a:t>d</a:t>
            </a:r>
            <a:r>
              <a:rPr dirty="0" sz="1000" i="1">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10">
                <a:latin typeface="Calibri"/>
                <a:cs typeface="Calibri"/>
              </a:rPr>
              <a:t>min(</a:t>
            </a:r>
            <a:r>
              <a:rPr dirty="0" sz="1000" spc="-10" i="1">
                <a:latin typeface="Calibri"/>
                <a:cs typeface="Calibri"/>
              </a:rPr>
              <a:t>step</a:t>
            </a:r>
            <a:r>
              <a:rPr dirty="0" sz="1000" spc="-10">
                <a:latin typeface="Times New Roman"/>
                <a:cs typeface="Times New Roman"/>
              </a:rPr>
              <a:t>_</a:t>
            </a:r>
            <a:endParaRPr sz="1000">
              <a:latin typeface="Times New Roman"/>
              <a:cs typeface="Times New Roman"/>
            </a:endParaRPr>
          </a:p>
        </p:txBody>
      </p:sp>
      <p:sp>
        <p:nvSpPr>
          <p:cNvPr id="6" name="object 6" descr=""/>
          <p:cNvSpPr txBox="1"/>
          <p:nvPr/>
        </p:nvSpPr>
        <p:spPr>
          <a:xfrm>
            <a:off x="3692410" y="7134532"/>
            <a:ext cx="1968500" cy="132080"/>
          </a:xfrm>
          <a:prstGeom prst="rect">
            <a:avLst/>
          </a:prstGeom>
        </p:spPr>
        <p:txBody>
          <a:bodyPr wrap="square" lIns="0" tIns="12065" rIns="0" bIns="0" rtlCol="0" vert="horz">
            <a:spAutoFit/>
          </a:bodyPr>
          <a:lstStyle/>
          <a:p>
            <a:pPr marL="12700">
              <a:lnSpc>
                <a:spcPct val="100000"/>
              </a:lnSpc>
              <a:spcBef>
                <a:spcPts val="95"/>
              </a:spcBef>
              <a:tabLst>
                <a:tab pos="1745614" algn="l"/>
              </a:tabLst>
            </a:pPr>
            <a:r>
              <a:rPr dirty="0" sz="700" spc="55">
                <a:latin typeface="Cambria"/>
                <a:cs typeface="Cambria"/>
              </a:rPr>
              <a:t>−</a:t>
            </a:r>
            <a:r>
              <a:rPr dirty="0" sz="700" spc="55">
                <a:latin typeface="Tahoma"/>
                <a:cs typeface="Tahoma"/>
              </a:rPr>
              <a:t>0</a:t>
            </a:r>
            <a:r>
              <a:rPr dirty="0" sz="700" spc="55" i="1">
                <a:latin typeface="Calibri"/>
                <a:cs typeface="Calibri"/>
              </a:rPr>
              <a:t>.</a:t>
            </a:r>
            <a:r>
              <a:rPr dirty="0" sz="700" spc="55">
                <a:latin typeface="Tahoma"/>
                <a:cs typeface="Tahoma"/>
              </a:rPr>
              <a:t>5</a:t>
            </a:r>
            <a:r>
              <a:rPr dirty="0" sz="700">
                <a:latin typeface="Tahoma"/>
                <a:cs typeface="Tahoma"/>
              </a:rPr>
              <a:t>	</a:t>
            </a:r>
            <a:r>
              <a:rPr dirty="0" sz="700" spc="55">
                <a:latin typeface="Cambria"/>
                <a:cs typeface="Cambria"/>
              </a:rPr>
              <a:t>−</a:t>
            </a:r>
            <a:r>
              <a:rPr dirty="0" sz="700" spc="55">
                <a:latin typeface="Tahoma"/>
                <a:cs typeface="Tahoma"/>
              </a:rPr>
              <a:t>1</a:t>
            </a:r>
            <a:r>
              <a:rPr dirty="0" sz="700" spc="55" i="1">
                <a:latin typeface="Calibri"/>
                <a:cs typeface="Calibri"/>
              </a:rPr>
              <a:t>.</a:t>
            </a:r>
            <a:r>
              <a:rPr dirty="0" sz="700" spc="55">
                <a:latin typeface="Tahoma"/>
                <a:cs typeface="Tahoma"/>
              </a:rPr>
              <a:t>5</a:t>
            </a:r>
            <a:endParaRPr sz="700">
              <a:latin typeface="Tahoma"/>
              <a:cs typeface="Tahoma"/>
            </a:endParaRPr>
          </a:p>
        </p:txBody>
      </p:sp>
      <p:sp>
        <p:nvSpPr>
          <p:cNvPr id="7" name="object 7" descr=""/>
          <p:cNvSpPr txBox="1"/>
          <p:nvPr/>
        </p:nvSpPr>
        <p:spPr>
          <a:xfrm>
            <a:off x="3432949" y="7148822"/>
            <a:ext cx="2980690" cy="177800"/>
          </a:xfrm>
          <a:prstGeom prst="rect">
            <a:avLst/>
          </a:prstGeom>
        </p:spPr>
        <p:txBody>
          <a:bodyPr wrap="square" lIns="0" tIns="12065" rIns="0" bIns="0" rtlCol="0" vert="horz">
            <a:spAutoFit/>
          </a:bodyPr>
          <a:lstStyle/>
          <a:p>
            <a:pPr marL="12700">
              <a:lnSpc>
                <a:spcPct val="100000"/>
              </a:lnSpc>
              <a:spcBef>
                <a:spcPts val="95"/>
              </a:spcBef>
              <a:tabLst>
                <a:tab pos="488315" algn="l"/>
                <a:tab pos="2221230" algn="l"/>
                <a:tab pos="2820035" algn="l"/>
              </a:tabLst>
            </a:pPr>
            <a:r>
              <a:rPr dirty="0" sz="1000" spc="45" i="1">
                <a:latin typeface="Calibri"/>
                <a:cs typeface="Calibri"/>
              </a:rPr>
              <a:t>num</a:t>
            </a:r>
            <a:r>
              <a:rPr dirty="0" sz="1000" i="1">
                <a:latin typeface="Calibri"/>
                <a:cs typeface="Calibri"/>
              </a:rPr>
              <a:t>	,</a:t>
            </a:r>
            <a:r>
              <a:rPr dirty="0" sz="1000" spc="20" i="1">
                <a:latin typeface="Calibri"/>
                <a:cs typeface="Calibri"/>
              </a:rPr>
              <a:t> </a:t>
            </a:r>
            <a:r>
              <a:rPr dirty="0" sz="1000" i="1">
                <a:latin typeface="Calibri"/>
                <a:cs typeface="Calibri"/>
              </a:rPr>
              <a:t>step</a:t>
            </a:r>
            <a:r>
              <a:rPr dirty="0" sz="1000">
                <a:latin typeface="Times New Roman"/>
                <a:cs typeface="Times New Roman"/>
              </a:rPr>
              <a:t>_</a:t>
            </a:r>
            <a:r>
              <a:rPr dirty="0" sz="1000" i="1">
                <a:latin typeface="Calibri"/>
                <a:cs typeface="Calibri"/>
              </a:rPr>
              <a:t>num</a:t>
            </a:r>
            <a:r>
              <a:rPr dirty="0" sz="1000" spc="110" i="1">
                <a:latin typeface="Calibri"/>
                <a:cs typeface="Calibri"/>
              </a:rPr>
              <a:t> </a:t>
            </a:r>
            <a:r>
              <a:rPr dirty="0" sz="1000" spc="-365">
                <a:latin typeface="Lucida Sans Unicode"/>
                <a:cs typeface="Lucida Sans Unicode"/>
              </a:rPr>
              <a:t>·</a:t>
            </a:r>
            <a:r>
              <a:rPr dirty="0" sz="1000" spc="15">
                <a:latin typeface="Lucida Sans Unicode"/>
                <a:cs typeface="Lucida Sans Unicode"/>
              </a:rPr>
              <a:t> </a:t>
            </a:r>
            <a:r>
              <a:rPr dirty="0" sz="1000" spc="-10" i="1">
                <a:latin typeface="Calibri"/>
                <a:cs typeface="Calibri"/>
              </a:rPr>
              <a:t>warmup</a:t>
            </a:r>
            <a:r>
              <a:rPr dirty="0" sz="1000" spc="-10">
                <a:latin typeface="Times New Roman"/>
                <a:cs typeface="Times New Roman"/>
              </a:rPr>
              <a:t>_</a:t>
            </a:r>
            <a:r>
              <a:rPr dirty="0" sz="1000" spc="-10" i="1">
                <a:latin typeface="Calibri"/>
                <a:cs typeface="Calibri"/>
              </a:rPr>
              <a:t>steps</a:t>
            </a:r>
            <a:r>
              <a:rPr dirty="0" sz="1000" i="1">
                <a:latin typeface="Calibri"/>
                <a:cs typeface="Calibri"/>
              </a:rPr>
              <a:t>	</a:t>
            </a:r>
            <a:r>
              <a:rPr dirty="0" sz="1000" spc="30">
                <a:latin typeface="Calibri"/>
                <a:cs typeface="Calibri"/>
              </a:rPr>
              <a:t>)</a:t>
            </a:r>
            <a:r>
              <a:rPr dirty="0" sz="1000">
                <a:latin typeface="Calibri"/>
                <a:cs typeface="Calibri"/>
              </a:rPr>
              <a:t>	</a:t>
            </a:r>
            <a:r>
              <a:rPr dirty="0" sz="1000" spc="-25">
                <a:latin typeface="Times New Roman"/>
                <a:cs typeface="Times New Roman"/>
              </a:rPr>
              <a:t>(3)</a:t>
            </a:r>
            <a:endParaRPr sz="1000">
              <a:latin typeface="Times New Roman"/>
              <a:cs typeface="Times New Roman"/>
            </a:endParaRPr>
          </a:p>
        </p:txBody>
      </p:sp>
      <p:sp>
        <p:nvSpPr>
          <p:cNvPr id="8" name="object 8" descr=""/>
          <p:cNvSpPr txBox="1"/>
          <p:nvPr/>
        </p:nvSpPr>
        <p:spPr>
          <a:xfrm>
            <a:off x="1352956" y="7424222"/>
            <a:ext cx="5076825" cy="1619250"/>
          </a:xfrm>
          <a:prstGeom prst="rect">
            <a:avLst/>
          </a:prstGeom>
        </p:spPr>
        <p:txBody>
          <a:bodyPr wrap="square" lIns="0" tIns="28575" rIns="0" bIns="0" rtlCol="0" vert="horz">
            <a:spAutoFit/>
          </a:bodyPr>
          <a:lstStyle/>
          <a:p>
            <a:pPr algn="just" marL="18415" marR="5080" indent="-4445">
              <a:lnSpc>
                <a:spcPts val="1090"/>
              </a:lnSpc>
              <a:spcBef>
                <a:spcPts val="225"/>
              </a:spcBef>
            </a:pPr>
            <a:r>
              <a:rPr dirty="0" sz="1000">
                <a:latin typeface="Times New Roman"/>
                <a:cs typeface="Times New Roman"/>
              </a:rPr>
              <a:t>This</a:t>
            </a:r>
            <a:r>
              <a:rPr dirty="0" sz="1000" spc="20">
                <a:latin typeface="Times New Roman"/>
                <a:cs typeface="Times New Roman"/>
              </a:rPr>
              <a:t> </a:t>
            </a:r>
            <a:r>
              <a:rPr dirty="0" sz="1000">
                <a:latin typeface="Times New Roman"/>
                <a:cs typeface="Times New Roman"/>
              </a:rPr>
              <a:t>corresponds</a:t>
            </a:r>
            <a:r>
              <a:rPr dirty="0" sz="1000" spc="2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a:latin typeface="Times New Roman"/>
                <a:cs typeface="Times New Roman"/>
              </a:rPr>
              <a:t>increasing</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learning</a:t>
            </a:r>
            <a:r>
              <a:rPr dirty="0" sz="1000" spc="25">
                <a:latin typeface="Times New Roman"/>
                <a:cs typeface="Times New Roman"/>
              </a:rPr>
              <a:t> </a:t>
            </a:r>
            <a:r>
              <a:rPr dirty="0" sz="1000">
                <a:latin typeface="Times New Roman"/>
                <a:cs typeface="Times New Roman"/>
              </a:rPr>
              <a:t>rate</a:t>
            </a:r>
            <a:r>
              <a:rPr dirty="0" sz="1000" spc="25">
                <a:latin typeface="Times New Roman"/>
                <a:cs typeface="Times New Roman"/>
              </a:rPr>
              <a:t> </a:t>
            </a:r>
            <a:r>
              <a:rPr dirty="0" sz="1000">
                <a:latin typeface="Times New Roman"/>
                <a:cs typeface="Times New Roman"/>
              </a:rPr>
              <a:t>linearly</a:t>
            </a:r>
            <a:r>
              <a:rPr dirty="0" sz="1000" spc="20">
                <a:latin typeface="Times New Roman"/>
                <a:cs typeface="Times New Roman"/>
              </a:rPr>
              <a:t> </a:t>
            </a:r>
            <a:r>
              <a:rPr dirty="0" sz="1000">
                <a:latin typeface="Times New Roman"/>
                <a:cs typeface="Times New Roman"/>
              </a:rPr>
              <a:t>for</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first</a:t>
            </a:r>
            <a:r>
              <a:rPr dirty="0" sz="1000" spc="25">
                <a:latin typeface="Times New Roman"/>
                <a:cs typeface="Times New Roman"/>
              </a:rPr>
              <a:t> </a:t>
            </a:r>
            <a:r>
              <a:rPr dirty="0" sz="1000" i="1">
                <a:latin typeface="Calibri"/>
                <a:cs typeface="Calibri"/>
              </a:rPr>
              <a:t>warmup</a:t>
            </a:r>
            <a:r>
              <a:rPr dirty="0" sz="1000">
                <a:latin typeface="Times New Roman"/>
                <a:cs typeface="Times New Roman"/>
              </a:rPr>
              <a:t>_</a:t>
            </a:r>
            <a:r>
              <a:rPr dirty="0" sz="1000" i="1">
                <a:latin typeface="Calibri"/>
                <a:cs typeface="Calibri"/>
              </a:rPr>
              <a:t>steps</a:t>
            </a:r>
            <a:r>
              <a:rPr dirty="0" sz="1000" spc="50" i="1">
                <a:latin typeface="Calibri"/>
                <a:cs typeface="Calibri"/>
              </a:rPr>
              <a:t> </a:t>
            </a:r>
            <a:r>
              <a:rPr dirty="0" sz="1000">
                <a:latin typeface="Times New Roman"/>
                <a:cs typeface="Times New Roman"/>
              </a:rPr>
              <a:t>training</a:t>
            </a:r>
            <a:r>
              <a:rPr dirty="0" sz="1000" spc="20">
                <a:latin typeface="Times New Roman"/>
                <a:cs typeface="Times New Roman"/>
              </a:rPr>
              <a:t> </a:t>
            </a:r>
            <a:r>
              <a:rPr dirty="0" sz="1000" spc="-10">
                <a:latin typeface="Times New Roman"/>
                <a:cs typeface="Times New Roman"/>
              </a:rPr>
              <a:t>steps,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decreasing</a:t>
            </a:r>
            <a:r>
              <a:rPr dirty="0" sz="1000" spc="20">
                <a:latin typeface="Times New Roman"/>
                <a:cs typeface="Times New Roman"/>
              </a:rPr>
              <a:t> </a:t>
            </a:r>
            <a:r>
              <a:rPr dirty="0" sz="1000">
                <a:latin typeface="Times New Roman"/>
                <a:cs typeface="Times New Roman"/>
              </a:rPr>
              <a:t>it</a:t>
            </a:r>
            <a:r>
              <a:rPr dirty="0" sz="1000" spc="25">
                <a:latin typeface="Times New Roman"/>
                <a:cs typeface="Times New Roman"/>
              </a:rPr>
              <a:t> </a:t>
            </a:r>
            <a:r>
              <a:rPr dirty="0" sz="1000">
                <a:latin typeface="Times New Roman"/>
                <a:cs typeface="Times New Roman"/>
              </a:rPr>
              <a:t>thereafter</a:t>
            </a:r>
            <a:r>
              <a:rPr dirty="0" sz="1000" spc="20">
                <a:latin typeface="Times New Roman"/>
                <a:cs typeface="Times New Roman"/>
              </a:rPr>
              <a:t> </a:t>
            </a:r>
            <a:r>
              <a:rPr dirty="0" sz="1000">
                <a:latin typeface="Times New Roman"/>
                <a:cs typeface="Times New Roman"/>
              </a:rPr>
              <a:t>proportionally</a:t>
            </a:r>
            <a:r>
              <a:rPr dirty="0" sz="1000" spc="2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inverse</a:t>
            </a:r>
            <a:r>
              <a:rPr dirty="0" sz="1000" spc="20">
                <a:latin typeface="Times New Roman"/>
                <a:cs typeface="Times New Roman"/>
              </a:rPr>
              <a:t> </a:t>
            </a:r>
            <a:r>
              <a:rPr dirty="0" sz="1000">
                <a:latin typeface="Times New Roman"/>
                <a:cs typeface="Times New Roman"/>
              </a:rPr>
              <a:t>square</a:t>
            </a:r>
            <a:r>
              <a:rPr dirty="0" sz="1000" spc="25">
                <a:latin typeface="Times New Roman"/>
                <a:cs typeface="Times New Roman"/>
              </a:rPr>
              <a:t> </a:t>
            </a:r>
            <a:r>
              <a:rPr dirty="0" sz="1000">
                <a:latin typeface="Times New Roman"/>
                <a:cs typeface="Times New Roman"/>
              </a:rPr>
              <a:t>root</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step</a:t>
            </a:r>
            <a:r>
              <a:rPr dirty="0" sz="1000" spc="20">
                <a:latin typeface="Times New Roman"/>
                <a:cs typeface="Times New Roman"/>
              </a:rPr>
              <a:t> </a:t>
            </a:r>
            <a:r>
              <a:rPr dirty="0" sz="1000">
                <a:latin typeface="Times New Roman"/>
                <a:cs typeface="Times New Roman"/>
              </a:rPr>
              <a:t>number.</a:t>
            </a:r>
            <a:r>
              <a:rPr dirty="0" sz="1000" spc="120">
                <a:latin typeface="Times New Roman"/>
                <a:cs typeface="Times New Roman"/>
              </a:rPr>
              <a:t> </a:t>
            </a:r>
            <a:r>
              <a:rPr dirty="0" sz="1000" spc="-10">
                <a:latin typeface="Times New Roman"/>
                <a:cs typeface="Times New Roman"/>
              </a:rPr>
              <a:t>We</a:t>
            </a:r>
            <a:r>
              <a:rPr dirty="0" sz="1000" spc="25">
                <a:latin typeface="Times New Roman"/>
                <a:cs typeface="Times New Roman"/>
              </a:rPr>
              <a:t> </a:t>
            </a:r>
            <a:r>
              <a:rPr dirty="0" sz="1000" spc="-20">
                <a:latin typeface="Times New Roman"/>
                <a:cs typeface="Times New Roman"/>
              </a:rPr>
              <a:t>used </a:t>
            </a:r>
            <a:r>
              <a:rPr dirty="0" sz="1000" spc="20" i="1">
                <a:latin typeface="Calibri"/>
                <a:cs typeface="Calibri"/>
              </a:rPr>
              <a:t>warmup</a:t>
            </a:r>
            <a:r>
              <a:rPr dirty="0" sz="1000" spc="20">
                <a:latin typeface="Times New Roman"/>
                <a:cs typeface="Times New Roman"/>
              </a:rPr>
              <a:t>_</a:t>
            </a:r>
            <a:r>
              <a:rPr dirty="0" sz="1000" spc="20" i="1">
                <a:latin typeface="Calibri"/>
                <a:cs typeface="Calibri"/>
              </a:rPr>
              <a:t>steps</a:t>
            </a:r>
            <a:r>
              <a:rPr dirty="0" sz="1000" spc="135" i="1">
                <a:latin typeface="Calibri"/>
                <a:cs typeface="Calibri"/>
              </a:rPr>
              <a:t> </a:t>
            </a:r>
            <a:r>
              <a:rPr dirty="0" sz="1000" spc="270">
                <a:latin typeface="Calibri"/>
                <a:cs typeface="Calibri"/>
              </a:rPr>
              <a:t>=</a:t>
            </a:r>
            <a:r>
              <a:rPr dirty="0" sz="1000" spc="150">
                <a:latin typeface="Calibri"/>
                <a:cs typeface="Calibri"/>
              </a:rPr>
              <a:t> </a:t>
            </a:r>
            <a:r>
              <a:rPr dirty="0" sz="1000" spc="-20">
                <a:latin typeface="Calibri"/>
                <a:cs typeface="Calibri"/>
              </a:rPr>
              <a:t>4000</a:t>
            </a:r>
            <a:r>
              <a:rPr dirty="0" sz="1000" spc="-20">
                <a:latin typeface="Times New Roman"/>
                <a:cs typeface="Times New Roman"/>
              </a:rPr>
              <a:t>.</a:t>
            </a:r>
            <a:endParaRPr sz="1000">
              <a:latin typeface="Times New Roman"/>
              <a:cs typeface="Times New Roman"/>
            </a:endParaRPr>
          </a:p>
          <a:p>
            <a:pPr>
              <a:lnSpc>
                <a:spcPct val="100000"/>
              </a:lnSpc>
              <a:spcBef>
                <a:spcPts val="175"/>
              </a:spcBef>
            </a:pPr>
            <a:endParaRPr sz="1000">
              <a:latin typeface="Times New Roman"/>
              <a:cs typeface="Times New Roman"/>
            </a:endParaRPr>
          </a:p>
          <a:p>
            <a:pPr marL="18415">
              <a:lnSpc>
                <a:spcPct val="100000"/>
              </a:lnSpc>
            </a:pPr>
            <a:r>
              <a:rPr dirty="0" sz="1000" b="1">
                <a:latin typeface="Times New Roman"/>
                <a:cs typeface="Times New Roman"/>
              </a:rPr>
              <a:t>5.4</a:t>
            </a:r>
            <a:r>
              <a:rPr dirty="0" sz="1000" spc="240" b="1">
                <a:latin typeface="Times New Roman"/>
                <a:cs typeface="Times New Roman"/>
              </a:rPr>
              <a:t>  </a:t>
            </a:r>
            <a:r>
              <a:rPr dirty="0" sz="1000" spc="-10" b="1">
                <a:latin typeface="Times New Roman"/>
                <a:cs typeface="Times New Roman"/>
              </a:rPr>
              <a:t>Regularization</a:t>
            </a:r>
            <a:endParaRPr sz="1000">
              <a:latin typeface="Times New Roman"/>
              <a:cs typeface="Times New Roman"/>
            </a:endParaRPr>
          </a:p>
          <a:p>
            <a:pPr algn="just" marL="12700">
              <a:lnSpc>
                <a:spcPct val="100000"/>
              </a:lnSpc>
              <a:spcBef>
                <a:spcPts val="840"/>
              </a:spcBef>
            </a:pPr>
            <a:r>
              <a:rPr dirty="0" sz="1000" spc="-55">
                <a:latin typeface="Times New Roman"/>
                <a:cs typeface="Times New Roman"/>
              </a:rPr>
              <a:t>We</a:t>
            </a:r>
            <a:r>
              <a:rPr dirty="0" sz="1000" spc="-10">
                <a:latin typeface="Times New Roman"/>
                <a:cs typeface="Times New Roman"/>
              </a:rPr>
              <a:t> </a:t>
            </a:r>
            <a:r>
              <a:rPr dirty="0" sz="1000">
                <a:latin typeface="Times New Roman"/>
                <a:cs typeface="Times New Roman"/>
              </a:rPr>
              <a:t>employ</a:t>
            </a:r>
            <a:r>
              <a:rPr dirty="0" sz="1000" spc="-25">
                <a:latin typeface="Times New Roman"/>
                <a:cs typeface="Times New Roman"/>
              </a:rPr>
              <a:t> </a:t>
            </a:r>
            <a:r>
              <a:rPr dirty="0" sz="1000">
                <a:latin typeface="Times New Roman"/>
                <a:cs typeface="Times New Roman"/>
              </a:rPr>
              <a:t>three</a:t>
            </a:r>
            <a:r>
              <a:rPr dirty="0" sz="1000" spc="-15">
                <a:latin typeface="Times New Roman"/>
                <a:cs typeface="Times New Roman"/>
              </a:rPr>
              <a:t> </a:t>
            </a:r>
            <a:r>
              <a:rPr dirty="0" sz="1000">
                <a:latin typeface="Times New Roman"/>
                <a:cs typeface="Times New Roman"/>
              </a:rPr>
              <a:t>types</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10">
                <a:latin typeface="Times New Roman"/>
                <a:cs typeface="Times New Roman"/>
              </a:rPr>
              <a:t>regularization</a:t>
            </a:r>
            <a:r>
              <a:rPr dirty="0" sz="1000" spc="-15">
                <a:latin typeface="Times New Roman"/>
                <a:cs typeface="Times New Roman"/>
              </a:rPr>
              <a:t> </a:t>
            </a:r>
            <a:r>
              <a:rPr dirty="0" sz="1000">
                <a:latin typeface="Times New Roman"/>
                <a:cs typeface="Times New Roman"/>
              </a:rPr>
              <a:t>during</a:t>
            </a:r>
            <a:r>
              <a:rPr dirty="0" sz="1000" spc="-15">
                <a:latin typeface="Times New Roman"/>
                <a:cs typeface="Times New Roman"/>
              </a:rPr>
              <a:t> </a:t>
            </a:r>
            <a:r>
              <a:rPr dirty="0" sz="1000" spc="-10">
                <a:latin typeface="Times New Roman"/>
                <a:cs typeface="Times New Roman"/>
              </a:rPr>
              <a:t>training:</a:t>
            </a:r>
            <a:endParaRPr sz="1000">
              <a:latin typeface="Times New Roman"/>
              <a:cs typeface="Times New Roman"/>
            </a:endParaRPr>
          </a:p>
          <a:p>
            <a:pPr>
              <a:lnSpc>
                <a:spcPct val="100000"/>
              </a:lnSpc>
              <a:spcBef>
                <a:spcPts val="185"/>
              </a:spcBef>
            </a:pPr>
            <a:endParaRPr sz="1000">
              <a:latin typeface="Times New Roman"/>
              <a:cs typeface="Times New Roman"/>
            </a:endParaRPr>
          </a:p>
          <a:p>
            <a:pPr algn="just" marL="18415" marR="20320">
              <a:lnSpc>
                <a:spcPts val="1090"/>
              </a:lnSpc>
            </a:pPr>
            <a:r>
              <a:rPr dirty="0" sz="1000" b="1">
                <a:latin typeface="Times New Roman"/>
                <a:cs typeface="Times New Roman"/>
              </a:rPr>
              <a:t>Residual</a:t>
            </a:r>
            <a:r>
              <a:rPr dirty="0" sz="1000" spc="-60" b="1">
                <a:latin typeface="Times New Roman"/>
                <a:cs typeface="Times New Roman"/>
              </a:rPr>
              <a:t> </a:t>
            </a:r>
            <a:r>
              <a:rPr dirty="0" sz="1000" b="1">
                <a:latin typeface="Times New Roman"/>
                <a:cs typeface="Times New Roman"/>
              </a:rPr>
              <a:t>Dropout</a:t>
            </a:r>
            <a:r>
              <a:rPr dirty="0" sz="1000" spc="204" b="1">
                <a:latin typeface="Times New Roman"/>
                <a:cs typeface="Times New Roman"/>
              </a:rPr>
              <a:t>  </a:t>
            </a:r>
            <a:r>
              <a:rPr dirty="0" sz="1000" spc="-65">
                <a:latin typeface="Times New Roman"/>
                <a:cs typeface="Times New Roman"/>
              </a:rPr>
              <a:t>We</a:t>
            </a:r>
            <a:r>
              <a:rPr dirty="0" sz="1000">
                <a:latin typeface="Times New Roman"/>
                <a:cs typeface="Times New Roman"/>
              </a:rPr>
              <a:t> apply</a:t>
            </a:r>
            <a:r>
              <a:rPr dirty="0" sz="1000" spc="-25">
                <a:latin typeface="Times New Roman"/>
                <a:cs typeface="Times New Roman"/>
              </a:rPr>
              <a:t> </a:t>
            </a:r>
            <a:r>
              <a:rPr dirty="0" sz="1000" spc="-10">
                <a:latin typeface="Times New Roman"/>
                <a:cs typeface="Times New Roman"/>
              </a:rPr>
              <a:t>dropout</a:t>
            </a:r>
            <a:r>
              <a:rPr dirty="0" sz="1000" spc="-30">
                <a:latin typeface="Times New Roman"/>
                <a:cs typeface="Times New Roman"/>
              </a:rPr>
              <a:t> </a:t>
            </a:r>
            <a:r>
              <a:rPr dirty="0" sz="1000">
                <a:latin typeface="Times New Roman"/>
                <a:cs typeface="Times New Roman"/>
              </a:rPr>
              <a:t>[27]</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output</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each</a:t>
            </a:r>
            <a:r>
              <a:rPr dirty="0" sz="1000" spc="-30">
                <a:latin typeface="Times New Roman"/>
                <a:cs typeface="Times New Roman"/>
              </a:rPr>
              <a:t> </a:t>
            </a:r>
            <a:r>
              <a:rPr dirty="0" sz="1000" spc="-10">
                <a:latin typeface="Times New Roman"/>
                <a:cs typeface="Times New Roman"/>
              </a:rPr>
              <a:t>sub-layer,</a:t>
            </a:r>
            <a:r>
              <a:rPr dirty="0" sz="1000" spc="-25">
                <a:latin typeface="Times New Roman"/>
                <a:cs typeface="Times New Roman"/>
              </a:rPr>
              <a:t> </a:t>
            </a:r>
            <a:r>
              <a:rPr dirty="0" sz="1000">
                <a:latin typeface="Times New Roman"/>
                <a:cs typeface="Times New Roman"/>
              </a:rPr>
              <a:t>before</a:t>
            </a:r>
            <a:r>
              <a:rPr dirty="0" sz="1000" spc="-25">
                <a:latin typeface="Times New Roman"/>
                <a:cs typeface="Times New Roman"/>
              </a:rPr>
              <a:t> </a:t>
            </a:r>
            <a:r>
              <a:rPr dirty="0" sz="1000">
                <a:latin typeface="Times New Roman"/>
                <a:cs typeface="Times New Roman"/>
              </a:rPr>
              <a:t>it</a:t>
            </a:r>
            <a:r>
              <a:rPr dirty="0" sz="1000" spc="-30">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a:latin typeface="Times New Roman"/>
                <a:cs typeface="Times New Roman"/>
              </a:rPr>
              <a:t>added</a:t>
            </a:r>
            <a:r>
              <a:rPr dirty="0" sz="1000" spc="-2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spc="-25">
                <a:latin typeface="Times New Roman"/>
                <a:cs typeface="Times New Roman"/>
              </a:rPr>
              <a:t>the </a:t>
            </a:r>
            <a:r>
              <a:rPr dirty="0" sz="1000" spc="-20">
                <a:latin typeface="Times New Roman"/>
                <a:cs typeface="Times New Roman"/>
              </a:rPr>
              <a:t>sub-</a:t>
            </a:r>
            <a:r>
              <a:rPr dirty="0" sz="1000" spc="-10">
                <a:latin typeface="Times New Roman"/>
                <a:cs typeface="Times New Roman"/>
              </a:rPr>
              <a:t>layer</a:t>
            </a:r>
            <a:r>
              <a:rPr dirty="0" sz="1000" spc="-35">
                <a:latin typeface="Times New Roman"/>
                <a:cs typeface="Times New Roman"/>
              </a:rPr>
              <a:t> </a:t>
            </a:r>
            <a:r>
              <a:rPr dirty="0" sz="1000" spc="-10">
                <a:latin typeface="Times New Roman"/>
                <a:cs typeface="Times New Roman"/>
              </a:rPr>
              <a:t>input</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normalized.</a:t>
            </a:r>
            <a:r>
              <a:rPr dirty="0" sz="1000" spc="20">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spc="-10">
                <a:latin typeface="Times New Roman"/>
                <a:cs typeface="Times New Roman"/>
              </a:rPr>
              <a:t>addition,</a:t>
            </a:r>
            <a:r>
              <a:rPr dirty="0" sz="1000" spc="-30">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spc="-10">
                <a:latin typeface="Times New Roman"/>
                <a:cs typeface="Times New Roman"/>
              </a:rPr>
              <a:t>apply</a:t>
            </a:r>
            <a:r>
              <a:rPr dirty="0" sz="1000" spc="-30">
                <a:latin typeface="Times New Roman"/>
                <a:cs typeface="Times New Roman"/>
              </a:rPr>
              <a:t> </a:t>
            </a:r>
            <a:r>
              <a:rPr dirty="0" sz="1000" spc="-10">
                <a:latin typeface="Times New Roman"/>
                <a:cs typeface="Times New Roman"/>
              </a:rPr>
              <a:t>dropout</a:t>
            </a:r>
            <a:r>
              <a:rPr dirty="0" sz="1000" spc="-3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spc="-10">
                <a:latin typeface="Times New Roman"/>
                <a:cs typeface="Times New Roman"/>
              </a:rPr>
              <a:t>sums</a:t>
            </a:r>
            <a:r>
              <a:rPr dirty="0" sz="1000" spc="-30">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spc="-10">
                <a:latin typeface="Times New Roman"/>
                <a:cs typeface="Times New Roman"/>
              </a:rPr>
              <a:t>embeddings</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25">
                <a:latin typeface="Times New Roman"/>
                <a:cs typeface="Times New Roman"/>
              </a:rPr>
              <a:t>the </a:t>
            </a:r>
            <a:r>
              <a:rPr dirty="0" sz="1000">
                <a:latin typeface="Times New Roman"/>
                <a:cs typeface="Times New Roman"/>
              </a:rPr>
              <a:t>positional</a:t>
            </a:r>
            <a:r>
              <a:rPr dirty="0" sz="1000" spc="10">
                <a:latin typeface="Times New Roman"/>
                <a:cs typeface="Times New Roman"/>
              </a:rPr>
              <a:t> </a:t>
            </a:r>
            <a:r>
              <a:rPr dirty="0" sz="1000">
                <a:latin typeface="Times New Roman"/>
                <a:cs typeface="Times New Roman"/>
              </a:rPr>
              <a:t>encodings</a:t>
            </a:r>
            <a:r>
              <a:rPr dirty="0" sz="1000" spc="15">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a:latin typeface="Times New Roman"/>
                <a:cs typeface="Times New Roman"/>
              </a:rPr>
              <a:t>both</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encoder</a:t>
            </a:r>
            <a:r>
              <a:rPr dirty="0" sz="1000" spc="15">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decoder</a:t>
            </a:r>
            <a:r>
              <a:rPr dirty="0" sz="1000" spc="15">
                <a:latin typeface="Times New Roman"/>
                <a:cs typeface="Times New Roman"/>
              </a:rPr>
              <a:t> </a:t>
            </a:r>
            <a:r>
              <a:rPr dirty="0" sz="1000">
                <a:latin typeface="Times New Roman"/>
                <a:cs typeface="Times New Roman"/>
              </a:rPr>
              <a:t>stacks.</a:t>
            </a:r>
            <a:r>
              <a:rPr dirty="0" sz="1000" spc="90">
                <a:latin typeface="Times New Roman"/>
                <a:cs typeface="Times New Roman"/>
              </a:rPr>
              <a:t> </a:t>
            </a:r>
            <a:r>
              <a:rPr dirty="0" sz="1000">
                <a:latin typeface="Times New Roman"/>
                <a:cs typeface="Times New Roman"/>
              </a:rPr>
              <a:t>For</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base</a:t>
            </a:r>
            <a:r>
              <a:rPr dirty="0" sz="1000" spc="20">
                <a:latin typeface="Times New Roman"/>
                <a:cs typeface="Times New Roman"/>
              </a:rPr>
              <a:t> </a:t>
            </a:r>
            <a:r>
              <a:rPr dirty="0" sz="1000">
                <a:latin typeface="Times New Roman"/>
                <a:cs typeface="Times New Roman"/>
              </a:rPr>
              <a:t>model,</a:t>
            </a:r>
            <a:r>
              <a:rPr dirty="0" sz="1000" spc="20">
                <a:latin typeface="Times New Roman"/>
                <a:cs typeface="Times New Roman"/>
              </a:rPr>
              <a:t> </a:t>
            </a:r>
            <a:r>
              <a:rPr dirty="0" sz="1000">
                <a:latin typeface="Times New Roman"/>
                <a:cs typeface="Times New Roman"/>
              </a:rPr>
              <a:t>we</a:t>
            </a:r>
            <a:r>
              <a:rPr dirty="0" sz="1000" spc="15">
                <a:latin typeface="Times New Roman"/>
                <a:cs typeface="Times New Roman"/>
              </a:rPr>
              <a:t> </a:t>
            </a:r>
            <a:r>
              <a:rPr dirty="0" sz="1000">
                <a:latin typeface="Times New Roman"/>
                <a:cs typeface="Times New Roman"/>
              </a:rPr>
              <a:t>use</a:t>
            </a:r>
            <a:r>
              <a:rPr dirty="0" sz="1000" spc="15">
                <a:latin typeface="Times New Roman"/>
                <a:cs typeface="Times New Roman"/>
              </a:rPr>
              <a:t> </a:t>
            </a:r>
            <a:r>
              <a:rPr dirty="0" sz="1000">
                <a:latin typeface="Times New Roman"/>
                <a:cs typeface="Times New Roman"/>
              </a:rPr>
              <a:t>a</a:t>
            </a:r>
            <a:r>
              <a:rPr dirty="0" sz="1000" spc="15">
                <a:latin typeface="Times New Roman"/>
                <a:cs typeface="Times New Roman"/>
              </a:rPr>
              <a:t> </a:t>
            </a:r>
            <a:r>
              <a:rPr dirty="0" sz="1000">
                <a:latin typeface="Times New Roman"/>
                <a:cs typeface="Times New Roman"/>
              </a:rPr>
              <a:t>rate</a:t>
            </a:r>
            <a:r>
              <a:rPr dirty="0" sz="1000" spc="15">
                <a:latin typeface="Times New Roman"/>
                <a:cs typeface="Times New Roman"/>
              </a:rPr>
              <a:t> </a:t>
            </a:r>
            <a:r>
              <a:rPr dirty="0" sz="1000" spc="-25">
                <a:latin typeface="Times New Roman"/>
                <a:cs typeface="Times New Roman"/>
              </a:rPr>
              <a:t>of</a:t>
            </a:r>
            <a:endParaRPr sz="10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1659813" y="1200403"/>
            <a:ext cx="4453255" cy="0"/>
          </a:xfrm>
          <a:custGeom>
            <a:avLst/>
            <a:gdLst/>
            <a:ahLst/>
            <a:cxnLst/>
            <a:rect l="l" t="t" r="r" b="b"/>
            <a:pathLst>
              <a:path w="4453255" h="0">
                <a:moveTo>
                  <a:pt x="0" y="0"/>
                </a:moveTo>
                <a:lnTo>
                  <a:pt x="4452785" y="0"/>
                </a:lnTo>
              </a:path>
            </a:pathLst>
          </a:custGeom>
          <a:ln w="10121">
            <a:solidFill>
              <a:srgbClr val="000000"/>
            </a:solidFill>
          </a:ln>
        </p:spPr>
        <p:txBody>
          <a:bodyPr wrap="square" lIns="0" tIns="0" rIns="0" bIns="0" rtlCol="0"/>
          <a:lstStyle/>
          <a:p/>
        </p:txBody>
      </p:sp>
      <p:sp>
        <p:nvSpPr>
          <p:cNvPr id="3" name="object 3" descr=""/>
          <p:cNvSpPr txBox="1"/>
          <p:nvPr/>
        </p:nvSpPr>
        <p:spPr>
          <a:xfrm>
            <a:off x="1354975" y="860963"/>
            <a:ext cx="5059045" cy="514984"/>
          </a:xfrm>
          <a:prstGeom prst="rect">
            <a:avLst/>
          </a:prstGeom>
        </p:spPr>
        <p:txBody>
          <a:bodyPr wrap="square" lIns="0" tIns="28575" rIns="0" bIns="0" rtlCol="0" vert="horz">
            <a:spAutoFit/>
          </a:bodyPr>
          <a:lstStyle/>
          <a:p>
            <a:pPr marL="16510" marR="5080" indent="-4445">
              <a:lnSpc>
                <a:spcPts val="1090"/>
              </a:lnSpc>
              <a:spcBef>
                <a:spcPts val="225"/>
              </a:spcBef>
            </a:pPr>
            <a:r>
              <a:rPr dirty="0" sz="1000" spc="-20">
                <a:latin typeface="Times New Roman"/>
                <a:cs typeface="Times New Roman"/>
              </a:rPr>
              <a:t>Table</a:t>
            </a:r>
            <a:r>
              <a:rPr dirty="0" sz="1000" spc="-10">
                <a:latin typeface="Times New Roman"/>
                <a:cs typeface="Times New Roman"/>
              </a:rPr>
              <a:t> </a:t>
            </a:r>
            <a:r>
              <a:rPr dirty="0" sz="1000">
                <a:latin typeface="Times New Roman"/>
                <a:cs typeface="Times New Roman"/>
              </a:rPr>
              <a:t>2:</a:t>
            </a:r>
            <a:r>
              <a:rPr dirty="0" sz="1000" spc="45">
                <a:latin typeface="Times New Roman"/>
                <a:cs typeface="Times New Roman"/>
              </a:rPr>
              <a:t> </a:t>
            </a:r>
            <a:r>
              <a:rPr dirty="0" sz="1000">
                <a:latin typeface="Times New Roman"/>
                <a:cs typeface="Times New Roman"/>
              </a:rPr>
              <a:t>The</a:t>
            </a:r>
            <a:r>
              <a:rPr dirty="0" sz="1000" spc="-10">
                <a:latin typeface="Times New Roman"/>
                <a:cs typeface="Times New Roman"/>
              </a:rPr>
              <a:t> Transformer</a:t>
            </a:r>
            <a:r>
              <a:rPr dirty="0" sz="1000" spc="-5">
                <a:latin typeface="Times New Roman"/>
                <a:cs typeface="Times New Roman"/>
              </a:rPr>
              <a:t> </a:t>
            </a:r>
            <a:r>
              <a:rPr dirty="0" sz="1000" spc="-10">
                <a:latin typeface="Times New Roman"/>
                <a:cs typeface="Times New Roman"/>
              </a:rPr>
              <a:t>achieves </a:t>
            </a:r>
            <a:r>
              <a:rPr dirty="0" sz="1000">
                <a:latin typeface="Times New Roman"/>
                <a:cs typeface="Times New Roman"/>
              </a:rPr>
              <a:t>better</a:t>
            </a:r>
            <a:r>
              <a:rPr dirty="0" sz="1000" spc="-10">
                <a:latin typeface="Times New Roman"/>
                <a:cs typeface="Times New Roman"/>
              </a:rPr>
              <a:t> </a:t>
            </a:r>
            <a:r>
              <a:rPr dirty="0" sz="1000">
                <a:latin typeface="Times New Roman"/>
                <a:cs typeface="Times New Roman"/>
              </a:rPr>
              <a:t>BLEU</a:t>
            </a:r>
            <a:r>
              <a:rPr dirty="0" sz="1000" spc="-10">
                <a:latin typeface="Times New Roman"/>
                <a:cs typeface="Times New Roman"/>
              </a:rPr>
              <a:t> </a:t>
            </a:r>
            <a:r>
              <a:rPr dirty="0" sz="1000">
                <a:latin typeface="Times New Roman"/>
                <a:cs typeface="Times New Roman"/>
              </a:rPr>
              <a:t>scores</a:t>
            </a:r>
            <a:r>
              <a:rPr dirty="0" sz="1000" spc="-10">
                <a:latin typeface="Times New Roman"/>
                <a:cs typeface="Times New Roman"/>
              </a:rPr>
              <a:t> </a:t>
            </a:r>
            <a:r>
              <a:rPr dirty="0" sz="1000">
                <a:latin typeface="Times New Roman"/>
                <a:cs typeface="Times New Roman"/>
              </a:rPr>
              <a:t>than</a:t>
            </a:r>
            <a:r>
              <a:rPr dirty="0" sz="1000" spc="-10">
                <a:latin typeface="Times New Roman"/>
                <a:cs typeface="Times New Roman"/>
              </a:rPr>
              <a:t> previous state-of-the-</a:t>
            </a:r>
            <a:r>
              <a:rPr dirty="0" sz="1000">
                <a:latin typeface="Times New Roman"/>
                <a:cs typeface="Times New Roman"/>
              </a:rPr>
              <a:t>art</a:t>
            </a:r>
            <a:r>
              <a:rPr dirty="0" sz="1000" spc="-10">
                <a:latin typeface="Times New Roman"/>
                <a:cs typeface="Times New Roman"/>
              </a:rPr>
              <a:t> </a:t>
            </a:r>
            <a:r>
              <a:rPr dirty="0" sz="1000">
                <a:latin typeface="Times New Roman"/>
                <a:cs typeface="Times New Roman"/>
              </a:rPr>
              <a:t>models</a:t>
            </a:r>
            <a:r>
              <a:rPr dirty="0" sz="1000" spc="-10">
                <a:latin typeface="Times New Roman"/>
                <a:cs typeface="Times New Roman"/>
              </a:rPr>
              <a:t> </a:t>
            </a:r>
            <a:r>
              <a:rPr dirty="0" sz="1000">
                <a:latin typeface="Times New Roman"/>
                <a:cs typeface="Times New Roman"/>
              </a:rPr>
              <a:t>on</a:t>
            </a:r>
            <a:r>
              <a:rPr dirty="0" sz="1000" spc="-10">
                <a:latin typeface="Times New Roman"/>
                <a:cs typeface="Times New Roman"/>
              </a:rPr>
              <a:t> </a:t>
            </a:r>
            <a:r>
              <a:rPr dirty="0" sz="1000" spc="-25">
                <a:latin typeface="Times New Roman"/>
                <a:cs typeface="Times New Roman"/>
              </a:rPr>
              <a:t>the </a:t>
            </a:r>
            <a:r>
              <a:rPr dirty="0" sz="1000" spc="-10">
                <a:latin typeface="Times New Roman"/>
                <a:cs typeface="Times New Roman"/>
              </a:rPr>
              <a:t>English-to-</a:t>
            </a:r>
            <a:r>
              <a:rPr dirty="0" sz="1000">
                <a:latin typeface="Times New Roman"/>
                <a:cs typeface="Times New Roman"/>
              </a:rPr>
              <a:t>German</a:t>
            </a:r>
            <a:r>
              <a:rPr dirty="0" sz="1000" spc="-10">
                <a:latin typeface="Times New Roman"/>
                <a:cs typeface="Times New Roman"/>
              </a:rPr>
              <a:t> </a:t>
            </a:r>
            <a:r>
              <a:rPr dirty="0" sz="1000">
                <a:latin typeface="Times New Roman"/>
                <a:cs typeface="Times New Roman"/>
              </a:rPr>
              <a:t>and</a:t>
            </a:r>
            <a:r>
              <a:rPr dirty="0" sz="1000" spc="-10">
                <a:latin typeface="Times New Roman"/>
                <a:cs typeface="Times New Roman"/>
              </a:rPr>
              <a:t> English-to-</a:t>
            </a:r>
            <a:r>
              <a:rPr dirty="0" sz="1000">
                <a:latin typeface="Times New Roman"/>
                <a:cs typeface="Times New Roman"/>
              </a:rPr>
              <a:t>French</a:t>
            </a:r>
            <a:r>
              <a:rPr dirty="0" sz="1000" spc="-5">
                <a:latin typeface="Times New Roman"/>
                <a:cs typeface="Times New Roman"/>
              </a:rPr>
              <a:t> </a:t>
            </a:r>
            <a:r>
              <a:rPr dirty="0" sz="1000" spc="-10">
                <a:latin typeface="Times New Roman"/>
                <a:cs typeface="Times New Roman"/>
              </a:rPr>
              <a:t>newstest2014 </a:t>
            </a:r>
            <a:r>
              <a:rPr dirty="0" sz="1000">
                <a:latin typeface="Times New Roman"/>
                <a:cs typeface="Times New Roman"/>
              </a:rPr>
              <a:t>tests</a:t>
            </a:r>
            <a:r>
              <a:rPr dirty="0" sz="1000" spc="-5">
                <a:latin typeface="Times New Roman"/>
                <a:cs typeface="Times New Roman"/>
              </a:rPr>
              <a:t> </a:t>
            </a:r>
            <a:r>
              <a:rPr dirty="0" sz="1000">
                <a:latin typeface="Times New Roman"/>
                <a:cs typeface="Times New Roman"/>
              </a:rPr>
              <a:t>at</a:t>
            </a:r>
            <a:r>
              <a:rPr dirty="0" sz="1000" spc="-10">
                <a:latin typeface="Times New Roman"/>
                <a:cs typeface="Times New Roman"/>
              </a:rPr>
              <a:t> </a:t>
            </a:r>
            <a:r>
              <a:rPr dirty="0" sz="1000">
                <a:latin typeface="Times New Roman"/>
                <a:cs typeface="Times New Roman"/>
              </a:rPr>
              <a:t>a</a:t>
            </a:r>
            <a:r>
              <a:rPr dirty="0" sz="1000" spc="-5">
                <a:latin typeface="Times New Roman"/>
                <a:cs typeface="Times New Roman"/>
              </a:rPr>
              <a:t> </a:t>
            </a:r>
            <a:r>
              <a:rPr dirty="0" sz="1000">
                <a:latin typeface="Times New Roman"/>
                <a:cs typeface="Times New Roman"/>
              </a:rPr>
              <a:t>fraction</a:t>
            </a:r>
            <a:r>
              <a:rPr dirty="0" sz="1000" spc="-10">
                <a:latin typeface="Times New Roman"/>
                <a:cs typeface="Times New Roman"/>
              </a:rPr>
              <a:t> </a:t>
            </a:r>
            <a:r>
              <a:rPr dirty="0" sz="1000">
                <a:latin typeface="Times New Roman"/>
                <a:cs typeface="Times New Roman"/>
              </a:rPr>
              <a:t>of</a:t>
            </a:r>
            <a:r>
              <a:rPr dirty="0" sz="1000" spc="-10">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training</a:t>
            </a:r>
            <a:r>
              <a:rPr dirty="0" sz="1000" spc="-10">
                <a:latin typeface="Times New Roman"/>
                <a:cs typeface="Times New Roman"/>
              </a:rPr>
              <a:t> cost.</a:t>
            </a:r>
            <a:endParaRPr sz="1000">
              <a:latin typeface="Times New Roman"/>
              <a:cs typeface="Times New Roman"/>
            </a:endParaRPr>
          </a:p>
          <a:p>
            <a:pPr marL="2594610">
              <a:lnSpc>
                <a:spcPct val="100000"/>
              </a:lnSpc>
              <a:spcBef>
                <a:spcPts val="350"/>
              </a:spcBef>
              <a:tabLst>
                <a:tab pos="3512185" algn="l"/>
              </a:tabLst>
            </a:pPr>
            <a:r>
              <a:rPr dirty="0" sz="1000" spc="-20">
                <a:latin typeface="Times New Roman"/>
                <a:cs typeface="Times New Roman"/>
              </a:rPr>
              <a:t>BLEU</a:t>
            </a:r>
            <a:r>
              <a:rPr dirty="0" sz="1000">
                <a:latin typeface="Times New Roman"/>
                <a:cs typeface="Times New Roman"/>
              </a:rPr>
              <a:t>	</a:t>
            </a:r>
            <a:r>
              <a:rPr dirty="0" sz="1000" spc="-10">
                <a:latin typeface="Times New Roman"/>
                <a:cs typeface="Times New Roman"/>
              </a:rPr>
              <a:t>Training </a:t>
            </a:r>
            <a:r>
              <a:rPr dirty="0" sz="1000">
                <a:latin typeface="Times New Roman"/>
                <a:cs typeface="Times New Roman"/>
              </a:rPr>
              <a:t>Cost</a:t>
            </a:r>
            <a:r>
              <a:rPr dirty="0" sz="1000" spc="-10">
                <a:latin typeface="Times New Roman"/>
                <a:cs typeface="Times New Roman"/>
              </a:rPr>
              <a:t> (FLOPs)</a:t>
            </a:r>
            <a:endParaRPr sz="1000">
              <a:latin typeface="Times New Roman"/>
              <a:cs typeface="Times New Roman"/>
            </a:endParaRPr>
          </a:p>
        </p:txBody>
      </p:sp>
      <p:graphicFrame>
        <p:nvGraphicFramePr>
          <p:cNvPr id="4" name="object 4" descr=""/>
          <p:cNvGraphicFramePr>
            <a:graphicFrameLocks noGrp="1"/>
          </p:cNvGraphicFramePr>
          <p:nvPr/>
        </p:nvGraphicFramePr>
        <p:xfrm>
          <a:off x="1659813" y="1403083"/>
          <a:ext cx="4529455" cy="1681480"/>
        </p:xfrm>
        <a:graphic>
          <a:graphicData uri="http://schemas.openxmlformats.org/drawingml/2006/table">
            <a:tbl>
              <a:tblPr firstRow="1" bandRow="1">
                <a:tableStyleId>{2D5ABB26-0587-4C30-8999-92F81FD0307C}</a:tableStyleId>
              </a:tblPr>
              <a:tblGrid>
                <a:gridCol w="1931035"/>
                <a:gridCol w="531494"/>
                <a:gridCol w="517525"/>
                <a:gridCol w="151764"/>
                <a:gridCol w="1321434"/>
              </a:tblGrid>
              <a:tr h="169545">
                <a:tc>
                  <a:txBody>
                    <a:bodyPr/>
                    <a:lstStyle/>
                    <a:p>
                      <a:pPr marL="75565">
                        <a:lnSpc>
                          <a:spcPts val="515"/>
                        </a:lnSpc>
                      </a:pPr>
                      <a:r>
                        <a:rPr dirty="0" sz="1000" spc="-10">
                          <a:latin typeface="Times New Roman"/>
                          <a:cs typeface="Times New Roman"/>
                        </a:rPr>
                        <a:t>Model</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ct val="100000"/>
                        </a:lnSpc>
                        <a:spcBef>
                          <a:spcPts val="55"/>
                        </a:spcBef>
                      </a:pPr>
                      <a:r>
                        <a:rPr dirty="0" sz="1000" spc="-10">
                          <a:latin typeface="Times New Roman"/>
                          <a:cs typeface="Times New Roman"/>
                        </a:rPr>
                        <a:t>EN-</a:t>
                      </a:r>
                      <a:r>
                        <a:rPr dirty="0" sz="1000" spc="-25">
                          <a:latin typeface="Times New Roman"/>
                          <a:cs typeface="Times New Roman"/>
                        </a:rPr>
                        <a:t>DE</a:t>
                      </a:r>
                      <a:endParaRPr sz="1000">
                        <a:latin typeface="Times New Roman"/>
                        <a:cs typeface="Times New Roman"/>
                      </a:endParaRPr>
                    </a:p>
                  </a:txBody>
                  <a:tcPr marL="0" marR="0" marB="0" marT="6985">
                    <a:lnT w="6350">
                      <a:solidFill>
                        <a:srgbClr val="000000"/>
                      </a:solidFill>
                      <a:prstDash val="solid"/>
                    </a:lnT>
                    <a:lnB w="6350">
                      <a:solidFill>
                        <a:srgbClr val="000000"/>
                      </a:solidFill>
                      <a:prstDash val="solid"/>
                    </a:lnB>
                  </a:tcPr>
                </a:tc>
                <a:tc>
                  <a:txBody>
                    <a:bodyPr/>
                    <a:lstStyle/>
                    <a:p>
                      <a:pPr algn="ctr">
                        <a:lnSpc>
                          <a:spcPct val="100000"/>
                        </a:lnSpc>
                        <a:spcBef>
                          <a:spcPts val="55"/>
                        </a:spcBef>
                      </a:pPr>
                      <a:r>
                        <a:rPr dirty="0" sz="1000" spc="-10">
                          <a:latin typeface="Times New Roman"/>
                          <a:cs typeface="Times New Roman"/>
                        </a:rPr>
                        <a:t>EN-</a:t>
                      </a:r>
                      <a:r>
                        <a:rPr dirty="0" sz="1000" spc="-25">
                          <a:latin typeface="Times New Roman"/>
                          <a:cs typeface="Times New Roman"/>
                        </a:rPr>
                        <a:t>FR</a:t>
                      </a:r>
                      <a:endParaRPr sz="1000">
                        <a:latin typeface="Times New Roman"/>
                        <a:cs typeface="Times New Roman"/>
                      </a:endParaRPr>
                    </a:p>
                  </a:txBody>
                  <a:tcPr marL="0" marR="0" marB="0" marT="6985">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B w="6350">
                      <a:solidFill>
                        <a:srgbClr val="000000"/>
                      </a:solidFill>
                      <a:prstDash val="solid"/>
                    </a:lnB>
                  </a:tcPr>
                </a:tc>
                <a:tc>
                  <a:txBody>
                    <a:bodyPr/>
                    <a:lstStyle/>
                    <a:p>
                      <a:pPr algn="ctr" marR="20955">
                        <a:lnSpc>
                          <a:spcPct val="100000"/>
                        </a:lnSpc>
                        <a:spcBef>
                          <a:spcPts val="55"/>
                        </a:spcBef>
                        <a:tabLst>
                          <a:tab pos="667385" algn="l"/>
                        </a:tabLst>
                      </a:pPr>
                      <a:r>
                        <a:rPr dirty="0" sz="1000" spc="-10">
                          <a:latin typeface="Times New Roman"/>
                          <a:cs typeface="Times New Roman"/>
                        </a:rPr>
                        <a:t>EN-</a:t>
                      </a:r>
                      <a:r>
                        <a:rPr dirty="0" sz="1000" spc="-25">
                          <a:latin typeface="Times New Roman"/>
                          <a:cs typeface="Times New Roman"/>
                        </a:rPr>
                        <a:t>DE</a:t>
                      </a:r>
                      <a:r>
                        <a:rPr dirty="0" sz="1000">
                          <a:latin typeface="Times New Roman"/>
                          <a:cs typeface="Times New Roman"/>
                        </a:rPr>
                        <a:t>	</a:t>
                      </a:r>
                      <a:r>
                        <a:rPr dirty="0" sz="1000" spc="-10">
                          <a:latin typeface="Times New Roman"/>
                          <a:cs typeface="Times New Roman"/>
                        </a:rPr>
                        <a:t>EN-</a:t>
                      </a:r>
                      <a:r>
                        <a:rPr dirty="0" sz="1000" spc="-25">
                          <a:latin typeface="Times New Roman"/>
                          <a:cs typeface="Times New Roman"/>
                        </a:rPr>
                        <a:t>FR</a:t>
                      </a:r>
                      <a:endParaRPr sz="1000">
                        <a:latin typeface="Times New Roman"/>
                        <a:cs typeface="Times New Roman"/>
                      </a:endParaRPr>
                    </a:p>
                  </a:txBody>
                  <a:tcPr marL="0" marR="0" marB="0" marT="6985">
                    <a:lnT w="6350">
                      <a:solidFill>
                        <a:srgbClr val="000000"/>
                      </a:solidFill>
                      <a:prstDash val="solid"/>
                    </a:lnT>
                    <a:lnB w="6350">
                      <a:solidFill>
                        <a:srgbClr val="000000"/>
                      </a:solidFill>
                      <a:prstDash val="solid"/>
                    </a:lnB>
                  </a:tcPr>
                </a:tc>
              </a:tr>
              <a:tr h="139065">
                <a:tc>
                  <a:txBody>
                    <a:bodyPr/>
                    <a:lstStyle/>
                    <a:p>
                      <a:pPr marL="75565">
                        <a:lnSpc>
                          <a:spcPts val="930"/>
                        </a:lnSpc>
                      </a:pPr>
                      <a:r>
                        <a:rPr dirty="0" sz="1000">
                          <a:latin typeface="Times New Roman"/>
                          <a:cs typeface="Times New Roman"/>
                        </a:rPr>
                        <a:t>ByteNet</a:t>
                      </a:r>
                      <a:r>
                        <a:rPr dirty="0" sz="1000" spc="-40">
                          <a:latin typeface="Times New Roman"/>
                          <a:cs typeface="Times New Roman"/>
                        </a:rPr>
                        <a:t> </a:t>
                      </a:r>
                      <a:r>
                        <a:rPr dirty="0" sz="1000" spc="-20">
                          <a:latin typeface="Times New Roman"/>
                          <a:cs typeface="Times New Roman"/>
                        </a:rPr>
                        <a:t>[15]</a:t>
                      </a:r>
                      <a:endParaRPr sz="1000">
                        <a:latin typeface="Times New Roman"/>
                        <a:cs typeface="Times New Roman"/>
                      </a:endParaRPr>
                    </a:p>
                  </a:txBody>
                  <a:tcPr marL="0" marR="0" marB="0" marT="0">
                    <a:lnT w="6350">
                      <a:solidFill>
                        <a:srgbClr val="000000"/>
                      </a:solidFill>
                      <a:prstDash val="solid"/>
                    </a:lnT>
                  </a:tcPr>
                </a:tc>
                <a:tc>
                  <a:txBody>
                    <a:bodyPr/>
                    <a:lstStyle/>
                    <a:p>
                      <a:pPr algn="ctr">
                        <a:lnSpc>
                          <a:spcPts val="930"/>
                        </a:lnSpc>
                      </a:pPr>
                      <a:r>
                        <a:rPr dirty="0" sz="1000" spc="-10">
                          <a:latin typeface="Times New Roman"/>
                          <a:cs typeface="Times New Roman"/>
                        </a:rPr>
                        <a:t>23.75</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7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7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700">
                        <a:latin typeface="Times New Roman"/>
                        <a:cs typeface="Times New Roman"/>
                      </a:endParaRPr>
                    </a:p>
                  </a:txBody>
                  <a:tcPr marL="0" marR="0" marB="0" marT="0">
                    <a:lnT w="6350">
                      <a:solidFill>
                        <a:srgbClr val="000000"/>
                      </a:solidFill>
                      <a:prstDash val="solid"/>
                    </a:lnT>
                  </a:tcPr>
                </a:tc>
              </a:tr>
              <a:tr h="144145">
                <a:tc>
                  <a:txBody>
                    <a:bodyPr/>
                    <a:lstStyle/>
                    <a:p>
                      <a:pPr marL="75565">
                        <a:lnSpc>
                          <a:spcPts val="1040"/>
                        </a:lnSpc>
                      </a:pPr>
                      <a:r>
                        <a:rPr dirty="0" sz="1000" spc="-10">
                          <a:latin typeface="Times New Roman"/>
                          <a:cs typeface="Times New Roman"/>
                        </a:rPr>
                        <a:t>Deep-</a:t>
                      </a:r>
                      <a:r>
                        <a:rPr dirty="0" sz="1000">
                          <a:latin typeface="Times New Roman"/>
                          <a:cs typeface="Times New Roman"/>
                        </a:rPr>
                        <a:t>Att</a:t>
                      </a:r>
                      <a:r>
                        <a:rPr dirty="0" sz="1000" spc="-15">
                          <a:latin typeface="Times New Roman"/>
                          <a:cs typeface="Times New Roman"/>
                        </a:rPr>
                        <a:t> </a:t>
                      </a:r>
                      <a:r>
                        <a:rPr dirty="0" sz="1000">
                          <a:latin typeface="Times New Roman"/>
                          <a:cs typeface="Times New Roman"/>
                        </a:rPr>
                        <a:t>+</a:t>
                      </a:r>
                      <a:r>
                        <a:rPr dirty="0" sz="1000" spc="-15">
                          <a:latin typeface="Times New Roman"/>
                          <a:cs typeface="Times New Roman"/>
                        </a:rPr>
                        <a:t> </a:t>
                      </a:r>
                      <a:r>
                        <a:rPr dirty="0" sz="1000">
                          <a:latin typeface="Times New Roman"/>
                          <a:cs typeface="Times New Roman"/>
                        </a:rPr>
                        <a:t>PosUnk</a:t>
                      </a:r>
                      <a:r>
                        <a:rPr dirty="0" sz="1000" spc="-10">
                          <a:latin typeface="Times New Roman"/>
                          <a:cs typeface="Times New Roman"/>
                        </a:rPr>
                        <a:t> </a:t>
                      </a:r>
                      <a:r>
                        <a:rPr dirty="0" sz="1000" spc="-20">
                          <a:latin typeface="Times New Roman"/>
                          <a:cs typeface="Times New Roman"/>
                        </a:rPr>
                        <a:t>[32]</a:t>
                      </a:r>
                      <a:endParaRPr sz="1000">
                        <a:latin typeface="Times New Roman"/>
                        <a:cs typeface="Times New Roman"/>
                      </a:endParaRPr>
                    </a:p>
                  </a:txBody>
                  <a:tcPr marL="0" marR="0" marB="0" marT="0"/>
                </a:tc>
                <a:tc>
                  <a:txBody>
                    <a:bodyPr/>
                    <a:lstStyle/>
                    <a:p>
                      <a:pPr>
                        <a:lnSpc>
                          <a:spcPct val="100000"/>
                        </a:lnSpc>
                      </a:pPr>
                      <a:endParaRPr sz="800">
                        <a:latin typeface="Times New Roman"/>
                        <a:cs typeface="Times New Roman"/>
                      </a:endParaRPr>
                    </a:p>
                  </a:txBody>
                  <a:tcPr marL="0" marR="0" marB="0" marT="0"/>
                </a:tc>
                <a:tc>
                  <a:txBody>
                    <a:bodyPr/>
                    <a:lstStyle/>
                    <a:p>
                      <a:pPr algn="ctr">
                        <a:lnSpc>
                          <a:spcPts val="1040"/>
                        </a:lnSpc>
                      </a:pPr>
                      <a:r>
                        <a:rPr dirty="0" sz="1000" spc="-20">
                          <a:latin typeface="Times New Roman"/>
                          <a:cs typeface="Times New Roman"/>
                        </a:rPr>
                        <a:t>39.2</a:t>
                      </a:r>
                      <a:endParaRPr sz="1000">
                        <a:latin typeface="Times New Roman"/>
                        <a:cs typeface="Times New Roman"/>
                      </a:endParaRPr>
                    </a:p>
                  </a:txBody>
                  <a:tcPr marL="0" marR="0" marB="0" marT="0"/>
                </a:tc>
                <a:tc>
                  <a:txBody>
                    <a:bodyPr/>
                    <a:lstStyle/>
                    <a:p>
                      <a:pPr>
                        <a:lnSpc>
                          <a:spcPct val="100000"/>
                        </a:lnSpc>
                      </a:pPr>
                      <a:endParaRPr sz="800">
                        <a:latin typeface="Times New Roman"/>
                        <a:cs typeface="Times New Roman"/>
                      </a:endParaRPr>
                    </a:p>
                  </a:txBody>
                  <a:tcPr marL="0" marR="0" marB="0" marT="0"/>
                </a:tc>
                <a:tc>
                  <a:txBody>
                    <a:bodyPr/>
                    <a:lstStyle/>
                    <a:p>
                      <a:pPr algn="r" marR="96520">
                        <a:lnSpc>
                          <a:spcPts val="280"/>
                        </a:lnSpc>
                      </a:pPr>
                      <a:r>
                        <a:rPr dirty="0" sz="700" spc="-25">
                          <a:latin typeface="Tahoma"/>
                          <a:cs typeface="Tahoma"/>
                        </a:rPr>
                        <a:t>20</a:t>
                      </a:r>
                      <a:endParaRPr sz="700">
                        <a:latin typeface="Tahoma"/>
                        <a:cs typeface="Tahoma"/>
                      </a:endParaRPr>
                    </a:p>
                    <a:p>
                      <a:pPr marL="735965">
                        <a:lnSpc>
                          <a:spcPts val="760"/>
                        </a:lnSpc>
                      </a:pPr>
                      <a:r>
                        <a:rPr dirty="0" sz="1000">
                          <a:latin typeface="Calibri"/>
                          <a:cs typeface="Calibri"/>
                        </a:rPr>
                        <a:t>1</a:t>
                      </a:r>
                      <a:r>
                        <a:rPr dirty="0" sz="1000" i="1">
                          <a:latin typeface="Calibri"/>
                          <a:cs typeface="Calibri"/>
                        </a:rPr>
                        <a:t>.</a:t>
                      </a:r>
                      <a:r>
                        <a:rPr dirty="0" sz="1000">
                          <a:latin typeface="Calibri"/>
                          <a:cs typeface="Calibri"/>
                        </a:rPr>
                        <a:t>0</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tc>
              </a:tr>
              <a:tr h="144145">
                <a:tc>
                  <a:txBody>
                    <a:bodyPr/>
                    <a:lstStyle/>
                    <a:p>
                      <a:pPr marL="75565">
                        <a:lnSpc>
                          <a:spcPts val="1040"/>
                        </a:lnSpc>
                      </a:pPr>
                      <a:r>
                        <a:rPr dirty="0" sz="1000">
                          <a:latin typeface="Times New Roman"/>
                          <a:cs typeface="Times New Roman"/>
                        </a:rPr>
                        <a:t>GNMT</a:t>
                      </a:r>
                      <a:r>
                        <a:rPr dirty="0" sz="1000" spc="-25">
                          <a:latin typeface="Times New Roman"/>
                          <a:cs typeface="Times New Roman"/>
                        </a:rPr>
                        <a:t> </a:t>
                      </a:r>
                      <a:r>
                        <a:rPr dirty="0" sz="1000">
                          <a:latin typeface="Times New Roman"/>
                          <a:cs typeface="Times New Roman"/>
                        </a:rPr>
                        <a:t>+</a:t>
                      </a:r>
                      <a:r>
                        <a:rPr dirty="0" sz="1000" spc="-20">
                          <a:latin typeface="Times New Roman"/>
                          <a:cs typeface="Times New Roman"/>
                        </a:rPr>
                        <a:t> </a:t>
                      </a:r>
                      <a:r>
                        <a:rPr dirty="0" sz="1000">
                          <a:latin typeface="Times New Roman"/>
                          <a:cs typeface="Times New Roman"/>
                        </a:rPr>
                        <a:t>RL</a:t>
                      </a:r>
                      <a:r>
                        <a:rPr dirty="0" sz="1000" spc="-20">
                          <a:latin typeface="Times New Roman"/>
                          <a:cs typeface="Times New Roman"/>
                        </a:rPr>
                        <a:t> [31]</a:t>
                      </a:r>
                      <a:endParaRPr sz="1000">
                        <a:latin typeface="Times New Roman"/>
                        <a:cs typeface="Times New Roman"/>
                      </a:endParaRPr>
                    </a:p>
                  </a:txBody>
                  <a:tcPr marL="0" marR="0" marB="0" marT="0"/>
                </a:tc>
                <a:tc>
                  <a:txBody>
                    <a:bodyPr/>
                    <a:lstStyle/>
                    <a:p>
                      <a:pPr algn="ctr">
                        <a:lnSpc>
                          <a:spcPts val="1040"/>
                        </a:lnSpc>
                      </a:pPr>
                      <a:r>
                        <a:rPr dirty="0" sz="1000" spc="-20">
                          <a:latin typeface="Times New Roman"/>
                          <a:cs typeface="Times New Roman"/>
                        </a:rPr>
                        <a:t>24.6</a:t>
                      </a:r>
                      <a:endParaRPr sz="1000">
                        <a:latin typeface="Times New Roman"/>
                        <a:cs typeface="Times New Roman"/>
                      </a:endParaRPr>
                    </a:p>
                  </a:txBody>
                  <a:tcPr marL="0" marR="0" marB="0" marT="0"/>
                </a:tc>
                <a:tc>
                  <a:txBody>
                    <a:bodyPr/>
                    <a:lstStyle/>
                    <a:p>
                      <a:pPr algn="ctr">
                        <a:lnSpc>
                          <a:spcPts val="1040"/>
                        </a:lnSpc>
                      </a:pPr>
                      <a:r>
                        <a:rPr dirty="0" sz="1000" spc="-10">
                          <a:latin typeface="Times New Roman"/>
                          <a:cs typeface="Times New Roman"/>
                        </a:rPr>
                        <a:t>39.92</a:t>
                      </a:r>
                      <a:endParaRPr sz="1000">
                        <a:latin typeface="Times New Roman"/>
                        <a:cs typeface="Times New Roman"/>
                      </a:endParaRPr>
                    </a:p>
                  </a:txBody>
                  <a:tcPr marL="0" marR="0" marB="0" marT="0"/>
                </a:tc>
                <a:tc>
                  <a:txBody>
                    <a:bodyPr/>
                    <a:lstStyle/>
                    <a:p>
                      <a:pPr>
                        <a:lnSpc>
                          <a:spcPct val="100000"/>
                        </a:lnSpc>
                      </a:pPr>
                      <a:endParaRPr sz="800">
                        <a:latin typeface="Times New Roman"/>
                        <a:cs typeface="Times New Roman"/>
                      </a:endParaRPr>
                    </a:p>
                  </a:txBody>
                  <a:tcPr marL="0" marR="0" marB="0" marT="0"/>
                </a:tc>
                <a:tc>
                  <a:txBody>
                    <a:bodyPr/>
                    <a:lstStyle/>
                    <a:p>
                      <a:pPr marL="455295">
                        <a:lnSpc>
                          <a:spcPts val="280"/>
                        </a:lnSpc>
                        <a:tabLst>
                          <a:tab pos="1115695" algn="l"/>
                        </a:tabLst>
                      </a:pPr>
                      <a:r>
                        <a:rPr dirty="0" sz="700" spc="-25">
                          <a:latin typeface="Tahoma"/>
                          <a:cs typeface="Tahoma"/>
                        </a:rPr>
                        <a:t>19</a:t>
                      </a:r>
                      <a:r>
                        <a:rPr dirty="0" sz="700">
                          <a:latin typeface="Tahoma"/>
                          <a:cs typeface="Tahoma"/>
                        </a:rPr>
                        <a:t>	</a:t>
                      </a:r>
                      <a:r>
                        <a:rPr dirty="0" sz="700" spc="-25">
                          <a:latin typeface="Tahoma"/>
                          <a:cs typeface="Tahoma"/>
                        </a:rPr>
                        <a:t>20</a:t>
                      </a:r>
                      <a:endParaRPr sz="700">
                        <a:latin typeface="Tahoma"/>
                        <a:cs typeface="Tahoma"/>
                      </a:endParaRPr>
                    </a:p>
                    <a:p>
                      <a:pPr marL="75565">
                        <a:lnSpc>
                          <a:spcPts val="760"/>
                        </a:lnSpc>
                        <a:tabLst>
                          <a:tab pos="735965" algn="l"/>
                        </a:tabLst>
                      </a:pPr>
                      <a:r>
                        <a:rPr dirty="0" sz="1000">
                          <a:latin typeface="Calibri"/>
                          <a:cs typeface="Calibri"/>
                        </a:rPr>
                        <a:t>2</a:t>
                      </a:r>
                      <a:r>
                        <a:rPr dirty="0" sz="1000" i="1">
                          <a:latin typeface="Calibri"/>
                          <a:cs typeface="Calibri"/>
                        </a:rPr>
                        <a:t>.</a:t>
                      </a:r>
                      <a:r>
                        <a:rPr dirty="0" sz="1000">
                          <a:latin typeface="Calibri"/>
                          <a:cs typeface="Calibri"/>
                        </a:rPr>
                        <a:t>3</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r>
                        <a:rPr dirty="0" sz="1000">
                          <a:latin typeface="Calibri"/>
                          <a:cs typeface="Calibri"/>
                        </a:rPr>
                        <a:t>	1</a:t>
                      </a:r>
                      <a:r>
                        <a:rPr dirty="0" sz="1000" i="1">
                          <a:latin typeface="Calibri"/>
                          <a:cs typeface="Calibri"/>
                        </a:rPr>
                        <a:t>.</a:t>
                      </a:r>
                      <a:r>
                        <a:rPr dirty="0" sz="1000">
                          <a:latin typeface="Calibri"/>
                          <a:cs typeface="Calibri"/>
                        </a:rPr>
                        <a:t>4</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tc>
              </a:tr>
              <a:tr h="144145">
                <a:tc>
                  <a:txBody>
                    <a:bodyPr/>
                    <a:lstStyle/>
                    <a:p>
                      <a:pPr marL="75565">
                        <a:lnSpc>
                          <a:spcPts val="1040"/>
                        </a:lnSpc>
                      </a:pPr>
                      <a:r>
                        <a:rPr dirty="0" sz="1000">
                          <a:latin typeface="Times New Roman"/>
                          <a:cs typeface="Times New Roman"/>
                        </a:rPr>
                        <a:t>ConvS2S</a:t>
                      </a:r>
                      <a:r>
                        <a:rPr dirty="0" sz="1000" spc="-65">
                          <a:latin typeface="Times New Roman"/>
                          <a:cs typeface="Times New Roman"/>
                        </a:rPr>
                        <a:t> </a:t>
                      </a:r>
                      <a:r>
                        <a:rPr dirty="0" sz="1000" spc="-25">
                          <a:latin typeface="Times New Roman"/>
                          <a:cs typeface="Times New Roman"/>
                        </a:rPr>
                        <a:t>[8]</a:t>
                      </a:r>
                      <a:endParaRPr sz="1000">
                        <a:latin typeface="Times New Roman"/>
                        <a:cs typeface="Times New Roman"/>
                      </a:endParaRPr>
                    </a:p>
                  </a:txBody>
                  <a:tcPr marL="0" marR="0" marB="0" marT="0"/>
                </a:tc>
                <a:tc>
                  <a:txBody>
                    <a:bodyPr/>
                    <a:lstStyle/>
                    <a:p>
                      <a:pPr algn="ctr">
                        <a:lnSpc>
                          <a:spcPts val="1040"/>
                        </a:lnSpc>
                      </a:pPr>
                      <a:r>
                        <a:rPr dirty="0" sz="1000" spc="-10">
                          <a:latin typeface="Times New Roman"/>
                          <a:cs typeface="Times New Roman"/>
                        </a:rPr>
                        <a:t>25.16</a:t>
                      </a:r>
                      <a:endParaRPr sz="1000">
                        <a:latin typeface="Times New Roman"/>
                        <a:cs typeface="Times New Roman"/>
                      </a:endParaRPr>
                    </a:p>
                  </a:txBody>
                  <a:tcPr marL="0" marR="0" marB="0" marT="0"/>
                </a:tc>
                <a:tc>
                  <a:txBody>
                    <a:bodyPr/>
                    <a:lstStyle/>
                    <a:p>
                      <a:pPr algn="ctr">
                        <a:lnSpc>
                          <a:spcPts val="1040"/>
                        </a:lnSpc>
                      </a:pPr>
                      <a:r>
                        <a:rPr dirty="0" sz="1000" spc="-10">
                          <a:latin typeface="Times New Roman"/>
                          <a:cs typeface="Times New Roman"/>
                        </a:rPr>
                        <a:t>40.46</a:t>
                      </a:r>
                      <a:endParaRPr sz="1000">
                        <a:latin typeface="Times New Roman"/>
                        <a:cs typeface="Times New Roman"/>
                      </a:endParaRPr>
                    </a:p>
                  </a:txBody>
                  <a:tcPr marL="0" marR="0" marB="0" marT="0"/>
                </a:tc>
                <a:tc>
                  <a:txBody>
                    <a:bodyPr/>
                    <a:lstStyle/>
                    <a:p>
                      <a:pPr>
                        <a:lnSpc>
                          <a:spcPct val="100000"/>
                        </a:lnSpc>
                      </a:pPr>
                      <a:endParaRPr sz="800">
                        <a:latin typeface="Times New Roman"/>
                        <a:cs typeface="Times New Roman"/>
                      </a:endParaRPr>
                    </a:p>
                  </a:txBody>
                  <a:tcPr marL="0" marR="0" marB="0" marT="0"/>
                </a:tc>
                <a:tc>
                  <a:txBody>
                    <a:bodyPr/>
                    <a:lstStyle/>
                    <a:p>
                      <a:pPr marL="455295">
                        <a:lnSpc>
                          <a:spcPts val="280"/>
                        </a:lnSpc>
                        <a:tabLst>
                          <a:tab pos="1115695" algn="l"/>
                        </a:tabLst>
                      </a:pPr>
                      <a:r>
                        <a:rPr dirty="0" sz="700" spc="-25">
                          <a:latin typeface="Tahoma"/>
                          <a:cs typeface="Tahoma"/>
                        </a:rPr>
                        <a:t>18</a:t>
                      </a:r>
                      <a:r>
                        <a:rPr dirty="0" sz="700">
                          <a:latin typeface="Tahoma"/>
                          <a:cs typeface="Tahoma"/>
                        </a:rPr>
                        <a:t>	</a:t>
                      </a:r>
                      <a:r>
                        <a:rPr dirty="0" sz="700" spc="-25">
                          <a:latin typeface="Tahoma"/>
                          <a:cs typeface="Tahoma"/>
                        </a:rPr>
                        <a:t>20</a:t>
                      </a:r>
                      <a:endParaRPr sz="700">
                        <a:latin typeface="Tahoma"/>
                        <a:cs typeface="Tahoma"/>
                      </a:endParaRPr>
                    </a:p>
                    <a:p>
                      <a:pPr marL="75565">
                        <a:lnSpc>
                          <a:spcPts val="760"/>
                        </a:lnSpc>
                        <a:tabLst>
                          <a:tab pos="735965" algn="l"/>
                        </a:tabLst>
                      </a:pPr>
                      <a:r>
                        <a:rPr dirty="0" sz="1000">
                          <a:latin typeface="Calibri"/>
                          <a:cs typeface="Calibri"/>
                        </a:rPr>
                        <a:t>9</a:t>
                      </a:r>
                      <a:r>
                        <a:rPr dirty="0" sz="1000" i="1">
                          <a:latin typeface="Calibri"/>
                          <a:cs typeface="Calibri"/>
                        </a:rPr>
                        <a:t>.</a:t>
                      </a:r>
                      <a:r>
                        <a:rPr dirty="0" sz="1000">
                          <a:latin typeface="Calibri"/>
                          <a:cs typeface="Calibri"/>
                        </a:rPr>
                        <a:t>6</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r>
                        <a:rPr dirty="0" sz="1000">
                          <a:latin typeface="Calibri"/>
                          <a:cs typeface="Calibri"/>
                        </a:rPr>
                        <a:t>	1</a:t>
                      </a:r>
                      <a:r>
                        <a:rPr dirty="0" sz="1000" i="1">
                          <a:latin typeface="Calibri"/>
                          <a:cs typeface="Calibri"/>
                        </a:rPr>
                        <a:t>.</a:t>
                      </a:r>
                      <a:r>
                        <a:rPr dirty="0" sz="1000">
                          <a:latin typeface="Calibri"/>
                          <a:cs typeface="Calibri"/>
                        </a:rPr>
                        <a:t>5</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tc>
              </a:tr>
              <a:tr h="156210">
                <a:tc>
                  <a:txBody>
                    <a:bodyPr/>
                    <a:lstStyle/>
                    <a:p>
                      <a:pPr marL="75565">
                        <a:lnSpc>
                          <a:spcPts val="1090"/>
                        </a:lnSpc>
                      </a:pPr>
                      <a:r>
                        <a:rPr dirty="0" sz="1000">
                          <a:latin typeface="Times New Roman"/>
                          <a:cs typeface="Times New Roman"/>
                        </a:rPr>
                        <a:t>MoE</a:t>
                      </a:r>
                      <a:r>
                        <a:rPr dirty="0" sz="1000" spc="-25">
                          <a:latin typeface="Times New Roman"/>
                          <a:cs typeface="Times New Roman"/>
                        </a:rPr>
                        <a:t> </a:t>
                      </a:r>
                      <a:r>
                        <a:rPr dirty="0" sz="1000" spc="-20">
                          <a:latin typeface="Times New Roman"/>
                          <a:cs typeface="Times New Roman"/>
                        </a:rPr>
                        <a:t>[26]</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ts val="1090"/>
                        </a:lnSpc>
                      </a:pPr>
                      <a:r>
                        <a:rPr dirty="0" sz="1000" spc="-10">
                          <a:latin typeface="Times New Roman"/>
                          <a:cs typeface="Times New Roman"/>
                        </a:rPr>
                        <a:t>26.03</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ts val="1090"/>
                        </a:lnSpc>
                      </a:pPr>
                      <a:r>
                        <a:rPr dirty="0" sz="1000" spc="-10">
                          <a:latin typeface="Times New Roman"/>
                          <a:cs typeface="Times New Roman"/>
                        </a:rPr>
                        <a:t>40.56</a:t>
                      </a:r>
                      <a:endParaRPr sz="10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B w="6350">
                      <a:solidFill>
                        <a:srgbClr val="000000"/>
                      </a:solidFill>
                      <a:prstDash val="solid"/>
                    </a:lnB>
                  </a:tcPr>
                </a:tc>
                <a:tc>
                  <a:txBody>
                    <a:bodyPr/>
                    <a:lstStyle/>
                    <a:p>
                      <a:pPr marL="455295">
                        <a:lnSpc>
                          <a:spcPts val="280"/>
                        </a:lnSpc>
                        <a:tabLst>
                          <a:tab pos="1115695" algn="l"/>
                        </a:tabLst>
                      </a:pPr>
                      <a:r>
                        <a:rPr dirty="0" sz="700" spc="-25">
                          <a:latin typeface="Tahoma"/>
                          <a:cs typeface="Tahoma"/>
                        </a:rPr>
                        <a:t>19</a:t>
                      </a:r>
                      <a:r>
                        <a:rPr dirty="0" sz="700">
                          <a:latin typeface="Tahoma"/>
                          <a:cs typeface="Tahoma"/>
                        </a:rPr>
                        <a:t>	</a:t>
                      </a:r>
                      <a:r>
                        <a:rPr dirty="0" sz="700" spc="-25">
                          <a:latin typeface="Tahoma"/>
                          <a:cs typeface="Tahoma"/>
                        </a:rPr>
                        <a:t>20</a:t>
                      </a:r>
                      <a:endParaRPr sz="700">
                        <a:latin typeface="Tahoma"/>
                        <a:cs typeface="Tahoma"/>
                      </a:endParaRPr>
                    </a:p>
                    <a:p>
                      <a:pPr marL="75565">
                        <a:lnSpc>
                          <a:spcPts val="810"/>
                        </a:lnSpc>
                        <a:tabLst>
                          <a:tab pos="735965" algn="l"/>
                        </a:tabLst>
                      </a:pPr>
                      <a:r>
                        <a:rPr dirty="0" sz="1000">
                          <a:latin typeface="Calibri"/>
                          <a:cs typeface="Calibri"/>
                        </a:rPr>
                        <a:t>2</a:t>
                      </a:r>
                      <a:r>
                        <a:rPr dirty="0" sz="1000" i="1">
                          <a:latin typeface="Calibri"/>
                          <a:cs typeface="Calibri"/>
                        </a:rPr>
                        <a:t>.</a:t>
                      </a:r>
                      <a:r>
                        <a:rPr dirty="0" sz="1000">
                          <a:latin typeface="Calibri"/>
                          <a:cs typeface="Calibri"/>
                        </a:rPr>
                        <a:t>0</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r>
                        <a:rPr dirty="0" sz="1000">
                          <a:latin typeface="Calibri"/>
                          <a:cs typeface="Calibri"/>
                        </a:rPr>
                        <a:t>	1</a:t>
                      </a:r>
                      <a:r>
                        <a:rPr dirty="0" sz="1000" i="1">
                          <a:latin typeface="Calibri"/>
                          <a:cs typeface="Calibri"/>
                        </a:rPr>
                        <a:t>.</a:t>
                      </a:r>
                      <a:r>
                        <a:rPr dirty="0" sz="1000">
                          <a:latin typeface="Calibri"/>
                          <a:cs typeface="Calibri"/>
                        </a:rPr>
                        <a:t>2</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lnB w="6350">
                      <a:solidFill>
                        <a:srgbClr val="000000"/>
                      </a:solidFill>
                      <a:prstDash val="solid"/>
                    </a:lnB>
                  </a:tcPr>
                </a:tc>
              </a:tr>
              <a:tr h="147955">
                <a:tc>
                  <a:txBody>
                    <a:bodyPr/>
                    <a:lstStyle/>
                    <a:p>
                      <a:pPr marL="75565">
                        <a:lnSpc>
                          <a:spcPts val="1065"/>
                        </a:lnSpc>
                      </a:pPr>
                      <a:r>
                        <a:rPr dirty="0" sz="1000" spc="-10">
                          <a:latin typeface="Times New Roman"/>
                          <a:cs typeface="Times New Roman"/>
                        </a:rPr>
                        <a:t>Deep-</a:t>
                      </a:r>
                      <a:r>
                        <a:rPr dirty="0" sz="1000">
                          <a:latin typeface="Times New Roman"/>
                          <a:cs typeface="Times New Roman"/>
                        </a:rPr>
                        <a:t>Att</a:t>
                      </a:r>
                      <a:r>
                        <a:rPr dirty="0" sz="1000" spc="-25">
                          <a:latin typeface="Times New Roman"/>
                          <a:cs typeface="Times New Roman"/>
                        </a:rPr>
                        <a:t> </a:t>
                      </a:r>
                      <a:r>
                        <a:rPr dirty="0" sz="1000">
                          <a:latin typeface="Times New Roman"/>
                          <a:cs typeface="Times New Roman"/>
                        </a:rPr>
                        <a:t>+</a:t>
                      </a:r>
                      <a:r>
                        <a:rPr dirty="0" sz="1000" spc="-20">
                          <a:latin typeface="Times New Roman"/>
                          <a:cs typeface="Times New Roman"/>
                        </a:rPr>
                        <a:t> </a:t>
                      </a:r>
                      <a:r>
                        <a:rPr dirty="0" sz="1000">
                          <a:latin typeface="Times New Roman"/>
                          <a:cs typeface="Times New Roman"/>
                        </a:rPr>
                        <a:t>PosUnk</a:t>
                      </a:r>
                      <a:r>
                        <a:rPr dirty="0" sz="1000" spc="-20">
                          <a:latin typeface="Times New Roman"/>
                          <a:cs typeface="Times New Roman"/>
                        </a:rPr>
                        <a:t> </a:t>
                      </a:r>
                      <a:r>
                        <a:rPr dirty="0" sz="1000">
                          <a:latin typeface="Times New Roman"/>
                          <a:cs typeface="Times New Roman"/>
                        </a:rPr>
                        <a:t>Ensemble</a:t>
                      </a:r>
                      <a:r>
                        <a:rPr dirty="0" sz="1000" spc="-20">
                          <a:latin typeface="Times New Roman"/>
                          <a:cs typeface="Times New Roman"/>
                        </a:rPr>
                        <a:t> [32]</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gn="ctr">
                        <a:lnSpc>
                          <a:spcPts val="1065"/>
                        </a:lnSpc>
                      </a:pPr>
                      <a:r>
                        <a:rPr dirty="0" sz="1000" spc="-20">
                          <a:latin typeface="Times New Roman"/>
                          <a:cs typeface="Times New Roman"/>
                        </a:rPr>
                        <a:t>40.4</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gn="r" marR="96520">
                        <a:lnSpc>
                          <a:spcPts val="305"/>
                        </a:lnSpc>
                      </a:pPr>
                      <a:r>
                        <a:rPr dirty="0" sz="700" spc="-25">
                          <a:latin typeface="Tahoma"/>
                          <a:cs typeface="Tahoma"/>
                        </a:rPr>
                        <a:t>20</a:t>
                      </a:r>
                      <a:endParaRPr sz="700">
                        <a:latin typeface="Tahoma"/>
                        <a:cs typeface="Tahoma"/>
                      </a:endParaRPr>
                    </a:p>
                    <a:p>
                      <a:pPr marL="735965">
                        <a:lnSpc>
                          <a:spcPts val="760"/>
                        </a:lnSpc>
                      </a:pPr>
                      <a:r>
                        <a:rPr dirty="0" sz="1000">
                          <a:latin typeface="Calibri"/>
                          <a:cs typeface="Calibri"/>
                        </a:rPr>
                        <a:t>8</a:t>
                      </a:r>
                      <a:r>
                        <a:rPr dirty="0" sz="1000" i="1">
                          <a:latin typeface="Calibri"/>
                          <a:cs typeface="Calibri"/>
                        </a:rPr>
                        <a:t>.</a:t>
                      </a:r>
                      <a:r>
                        <a:rPr dirty="0" sz="1000">
                          <a:latin typeface="Calibri"/>
                          <a:cs typeface="Calibri"/>
                        </a:rPr>
                        <a:t>0</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lnT w="6350">
                      <a:solidFill>
                        <a:srgbClr val="000000"/>
                      </a:solidFill>
                      <a:prstDash val="solid"/>
                    </a:lnT>
                  </a:tcPr>
                </a:tc>
              </a:tr>
              <a:tr h="142240">
                <a:tc>
                  <a:txBody>
                    <a:bodyPr/>
                    <a:lstStyle/>
                    <a:p>
                      <a:pPr marL="75565">
                        <a:lnSpc>
                          <a:spcPts val="1019"/>
                        </a:lnSpc>
                      </a:pPr>
                      <a:r>
                        <a:rPr dirty="0" sz="1000">
                          <a:latin typeface="Times New Roman"/>
                          <a:cs typeface="Times New Roman"/>
                        </a:rPr>
                        <a:t>GNMT</a:t>
                      </a:r>
                      <a:r>
                        <a:rPr dirty="0" sz="1000" spc="-30">
                          <a:latin typeface="Times New Roman"/>
                          <a:cs typeface="Times New Roman"/>
                        </a:rPr>
                        <a:t> </a:t>
                      </a:r>
                      <a:r>
                        <a:rPr dirty="0" sz="1000">
                          <a:latin typeface="Times New Roman"/>
                          <a:cs typeface="Times New Roman"/>
                        </a:rPr>
                        <a:t>+</a:t>
                      </a:r>
                      <a:r>
                        <a:rPr dirty="0" sz="1000" spc="-25">
                          <a:latin typeface="Times New Roman"/>
                          <a:cs typeface="Times New Roman"/>
                        </a:rPr>
                        <a:t> </a:t>
                      </a:r>
                      <a:r>
                        <a:rPr dirty="0" sz="1000">
                          <a:latin typeface="Times New Roman"/>
                          <a:cs typeface="Times New Roman"/>
                        </a:rPr>
                        <a:t>RL</a:t>
                      </a:r>
                      <a:r>
                        <a:rPr dirty="0" sz="1000" spc="-30">
                          <a:latin typeface="Times New Roman"/>
                          <a:cs typeface="Times New Roman"/>
                        </a:rPr>
                        <a:t> </a:t>
                      </a:r>
                      <a:r>
                        <a:rPr dirty="0" sz="1000">
                          <a:latin typeface="Times New Roman"/>
                          <a:cs typeface="Times New Roman"/>
                        </a:rPr>
                        <a:t>Ensemble</a:t>
                      </a:r>
                      <a:r>
                        <a:rPr dirty="0" sz="1000" spc="-25">
                          <a:latin typeface="Times New Roman"/>
                          <a:cs typeface="Times New Roman"/>
                        </a:rPr>
                        <a:t> </a:t>
                      </a:r>
                      <a:r>
                        <a:rPr dirty="0" sz="1000" spc="-20">
                          <a:latin typeface="Times New Roman"/>
                          <a:cs typeface="Times New Roman"/>
                        </a:rPr>
                        <a:t>[31]</a:t>
                      </a:r>
                      <a:endParaRPr sz="1000">
                        <a:latin typeface="Times New Roman"/>
                        <a:cs typeface="Times New Roman"/>
                      </a:endParaRPr>
                    </a:p>
                  </a:txBody>
                  <a:tcPr marL="0" marR="0" marB="0" marT="0"/>
                </a:tc>
                <a:tc>
                  <a:txBody>
                    <a:bodyPr/>
                    <a:lstStyle/>
                    <a:p>
                      <a:pPr algn="ctr">
                        <a:lnSpc>
                          <a:spcPts val="1019"/>
                        </a:lnSpc>
                      </a:pPr>
                      <a:r>
                        <a:rPr dirty="0" sz="1000" spc="-10">
                          <a:latin typeface="Times New Roman"/>
                          <a:cs typeface="Times New Roman"/>
                        </a:rPr>
                        <a:t>26.30</a:t>
                      </a:r>
                      <a:endParaRPr sz="1000">
                        <a:latin typeface="Times New Roman"/>
                        <a:cs typeface="Times New Roman"/>
                      </a:endParaRPr>
                    </a:p>
                  </a:txBody>
                  <a:tcPr marL="0" marR="0" marB="0" marT="0"/>
                </a:tc>
                <a:tc>
                  <a:txBody>
                    <a:bodyPr/>
                    <a:lstStyle/>
                    <a:p>
                      <a:pPr algn="ctr">
                        <a:lnSpc>
                          <a:spcPts val="1019"/>
                        </a:lnSpc>
                      </a:pPr>
                      <a:r>
                        <a:rPr dirty="0" sz="1000" spc="-10">
                          <a:latin typeface="Times New Roman"/>
                          <a:cs typeface="Times New Roman"/>
                        </a:rPr>
                        <a:t>41.16</a:t>
                      </a:r>
                      <a:endParaRPr sz="1000">
                        <a:latin typeface="Times New Roman"/>
                        <a:cs typeface="Times New Roman"/>
                      </a:endParaRPr>
                    </a:p>
                  </a:txBody>
                  <a:tcPr marL="0" marR="0" marB="0" marT="0"/>
                </a:tc>
                <a:tc>
                  <a:txBody>
                    <a:bodyPr/>
                    <a:lstStyle/>
                    <a:p>
                      <a:pPr>
                        <a:lnSpc>
                          <a:spcPct val="100000"/>
                        </a:lnSpc>
                      </a:pPr>
                      <a:endParaRPr sz="800">
                        <a:latin typeface="Times New Roman"/>
                        <a:cs typeface="Times New Roman"/>
                      </a:endParaRPr>
                    </a:p>
                  </a:txBody>
                  <a:tcPr marL="0" marR="0" marB="0" marT="0"/>
                </a:tc>
                <a:tc>
                  <a:txBody>
                    <a:bodyPr/>
                    <a:lstStyle/>
                    <a:p>
                      <a:pPr marL="455295">
                        <a:lnSpc>
                          <a:spcPts val="280"/>
                        </a:lnSpc>
                        <a:tabLst>
                          <a:tab pos="1115695" algn="l"/>
                        </a:tabLst>
                      </a:pPr>
                      <a:r>
                        <a:rPr dirty="0" sz="700" spc="-25">
                          <a:latin typeface="Tahoma"/>
                          <a:cs typeface="Tahoma"/>
                        </a:rPr>
                        <a:t>20</a:t>
                      </a:r>
                      <a:r>
                        <a:rPr dirty="0" sz="700">
                          <a:latin typeface="Tahoma"/>
                          <a:cs typeface="Tahoma"/>
                        </a:rPr>
                        <a:t>	</a:t>
                      </a:r>
                      <a:r>
                        <a:rPr dirty="0" sz="700" spc="-25">
                          <a:latin typeface="Tahoma"/>
                          <a:cs typeface="Tahoma"/>
                        </a:rPr>
                        <a:t>21</a:t>
                      </a:r>
                      <a:endParaRPr sz="700">
                        <a:latin typeface="Tahoma"/>
                        <a:cs typeface="Tahoma"/>
                      </a:endParaRPr>
                    </a:p>
                    <a:p>
                      <a:pPr marL="75565">
                        <a:lnSpc>
                          <a:spcPts val="740"/>
                        </a:lnSpc>
                        <a:tabLst>
                          <a:tab pos="735965" algn="l"/>
                        </a:tabLst>
                      </a:pPr>
                      <a:r>
                        <a:rPr dirty="0" sz="1000">
                          <a:latin typeface="Calibri"/>
                          <a:cs typeface="Calibri"/>
                        </a:rPr>
                        <a:t>1</a:t>
                      </a:r>
                      <a:r>
                        <a:rPr dirty="0" sz="1000" i="1">
                          <a:latin typeface="Calibri"/>
                          <a:cs typeface="Calibri"/>
                        </a:rPr>
                        <a:t>.</a:t>
                      </a:r>
                      <a:r>
                        <a:rPr dirty="0" sz="1000">
                          <a:latin typeface="Calibri"/>
                          <a:cs typeface="Calibri"/>
                        </a:rPr>
                        <a:t>8</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r>
                        <a:rPr dirty="0" sz="1000">
                          <a:latin typeface="Calibri"/>
                          <a:cs typeface="Calibri"/>
                        </a:rPr>
                        <a:t>	1</a:t>
                      </a:r>
                      <a:r>
                        <a:rPr dirty="0" sz="1000" i="1">
                          <a:latin typeface="Calibri"/>
                          <a:cs typeface="Calibri"/>
                        </a:rPr>
                        <a:t>.</a:t>
                      </a:r>
                      <a:r>
                        <a:rPr dirty="0" sz="1000">
                          <a:latin typeface="Calibri"/>
                          <a:cs typeface="Calibri"/>
                        </a:rPr>
                        <a:t>1</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tc>
              </a:tr>
              <a:tr h="158115">
                <a:tc>
                  <a:txBody>
                    <a:bodyPr/>
                    <a:lstStyle/>
                    <a:p>
                      <a:pPr marL="75565">
                        <a:lnSpc>
                          <a:spcPts val="1085"/>
                        </a:lnSpc>
                      </a:pPr>
                      <a:r>
                        <a:rPr dirty="0" sz="1000">
                          <a:latin typeface="Times New Roman"/>
                          <a:cs typeface="Times New Roman"/>
                        </a:rPr>
                        <a:t>ConvS2S</a:t>
                      </a:r>
                      <a:r>
                        <a:rPr dirty="0" sz="1000" spc="-55">
                          <a:latin typeface="Times New Roman"/>
                          <a:cs typeface="Times New Roman"/>
                        </a:rPr>
                        <a:t> </a:t>
                      </a:r>
                      <a:r>
                        <a:rPr dirty="0" sz="1000">
                          <a:latin typeface="Times New Roman"/>
                          <a:cs typeface="Times New Roman"/>
                        </a:rPr>
                        <a:t>Ensemble</a:t>
                      </a:r>
                      <a:r>
                        <a:rPr dirty="0" sz="1000" spc="-55">
                          <a:latin typeface="Times New Roman"/>
                          <a:cs typeface="Times New Roman"/>
                        </a:rPr>
                        <a:t> </a:t>
                      </a:r>
                      <a:r>
                        <a:rPr dirty="0" sz="1000" spc="-25">
                          <a:latin typeface="Times New Roman"/>
                          <a:cs typeface="Times New Roman"/>
                        </a:rPr>
                        <a:t>[8]</a:t>
                      </a:r>
                      <a:endParaRPr sz="1000">
                        <a:latin typeface="Times New Roman"/>
                        <a:cs typeface="Times New Roman"/>
                      </a:endParaRPr>
                    </a:p>
                  </a:txBody>
                  <a:tcPr marL="0" marR="0" marB="0" marT="0">
                    <a:lnB w="12700">
                      <a:solidFill>
                        <a:srgbClr val="000000"/>
                      </a:solidFill>
                      <a:prstDash val="solid"/>
                    </a:lnB>
                  </a:tcPr>
                </a:tc>
                <a:tc>
                  <a:txBody>
                    <a:bodyPr/>
                    <a:lstStyle/>
                    <a:p>
                      <a:pPr algn="ctr">
                        <a:lnSpc>
                          <a:spcPts val="1085"/>
                        </a:lnSpc>
                      </a:pPr>
                      <a:r>
                        <a:rPr dirty="0" sz="1000" spc="-10">
                          <a:latin typeface="Times New Roman"/>
                          <a:cs typeface="Times New Roman"/>
                        </a:rPr>
                        <a:t>26.36</a:t>
                      </a:r>
                      <a:endParaRPr sz="1000">
                        <a:latin typeface="Times New Roman"/>
                        <a:cs typeface="Times New Roman"/>
                      </a:endParaRPr>
                    </a:p>
                  </a:txBody>
                  <a:tcPr marL="0" marR="0" marB="0" marT="0">
                    <a:lnB w="12700">
                      <a:solidFill>
                        <a:srgbClr val="000000"/>
                      </a:solidFill>
                      <a:prstDash val="solid"/>
                    </a:lnB>
                  </a:tcPr>
                </a:tc>
                <a:tc>
                  <a:txBody>
                    <a:bodyPr/>
                    <a:lstStyle/>
                    <a:p>
                      <a:pPr algn="ctr">
                        <a:lnSpc>
                          <a:spcPts val="1085"/>
                        </a:lnSpc>
                      </a:pPr>
                      <a:r>
                        <a:rPr dirty="0" sz="1000" spc="-10" b="1">
                          <a:latin typeface="Times New Roman"/>
                          <a:cs typeface="Times New Roman"/>
                        </a:rPr>
                        <a:t>41.29</a:t>
                      </a:r>
                      <a:endParaRPr sz="1000">
                        <a:latin typeface="Times New Roman"/>
                        <a:cs typeface="Times New Roman"/>
                      </a:endParaRPr>
                    </a:p>
                  </a:txBody>
                  <a:tcPr marL="0" marR="0" marB="0" marT="0">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12700">
                      <a:solidFill>
                        <a:srgbClr val="000000"/>
                      </a:solidFill>
                      <a:prstDash val="solid"/>
                    </a:lnB>
                  </a:tcPr>
                </a:tc>
                <a:tc>
                  <a:txBody>
                    <a:bodyPr/>
                    <a:lstStyle/>
                    <a:p>
                      <a:pPr marL="455295">
                        <a:lnSpc>
                          <a:spcPts val="295"/>
                        </a:lnSpc>
                        <a:tabLst>
                          <a:tab pos="1115695" algn="l"/>
                        </a:tabLst>
                      </a:pPr>
                      <a:r>
                        <a:rPr dirty="0" sz="700" spc="-25">
                          <a:latin typeface="Tahoma"/>
                          <a:cs typeface="Tahoma"/>
                        </a:rPr>
                        <a:t>19</a:t>
                      </a:r>
                      <a:r>
                        <a:rPr dirty="0" sz="700">
                          <a:latin typeface="Tahoma"/>
                          <a:cs typeface="Tahoma"/>
                        </a:rPr>
                        <a:t>	</a:t>
                      </a:r>
                      <a:r>
                        <a:rPr dirty="0" sz="700" spc="-25">
                          <a:latin typeface="Tahoma"/>
                          <a:cs typeface="Tahoma"/>
                        </a:rPr>
                        <a:t>21</a:t>
                      </a:r>
                      <a:endParaRPr sz="700">
                        <a:latin typeface="Tahoma"/>
                        <a:cs typeface="Tahoma"/>
                      </a:endParaRPr>
                    </a:p>
                    <a:p>
                      <a:pPr marL="75565">
                        <a:lnSpc>
                          <a:spcPts val="790"/>
                        </a:lnSpc>
                        <a:tabLst>
                          <a:tab pos="735965" algn="l"/>
                        </a:tabLst>
                      </a:pPr>
                      <a:r>
                        <a:rPr dirty="0" sz="1000">
                          <a:latin typeface="Calibri"/>
                          <a:cs typeface="Calibri"/>
                        </a:rPr>
                        <a:t>7</a:t>
                      </a:r>
                      <a:r>
                        <a:rPr dirty="0" sz="1000" i="1">
                          <a:latin typeface="Calibri"/>
                          <a:cs typeface="Calibri"/>
                        </a:rPr>
                        <a:t>.</a:t>
                      </a:r>
                      <a:r>
                        <a:rPr dirty="0" sz="1000">
                          <a:latin typeface="Calibri"/>
                          <a:cs typeface="Calibri"/>
                        </a:rPr>
                        <a:t>7</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r>
                        <a:rPr dirty="0" sz="1000">
                          <a:latin typeface="Calibri"/>
                          <a:cs typeface="Calibri"/>
                        </a:rPr>
                        <a:t>	1</a:t>
                      </a:r>
                      <a:r>
                        <a:rPr dirty="0" sz="1000" i="1">
                          <a:latin typeface="Calibri"/>
                          <a:cs typeface="Calibri"/>
                        </a:rPr>
                        <a:t>.</a:t>
                      </a:r>
                      <a:r>
                        <a:rPr dirty="0" sz="1000">
                          <a:latin typeface="Calibri"/>
                          <a:cs typeface="Calibri"/>
                        </a:rPr>
                        <a:t>2</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lnB w="12700">
                      <a:solidFill>
                        <a:srgbClr val="000000"/>
                      </a:solidFill>
                      <a:prstDash val="solid"/>
                    </a:lnB>
                  </a:tcPr>
                </a:tc>
              </a:tr>
              <a:tr h="152400">
                <a:tc>
                  <a:txBody>
                    <a:bodyPr/>
                    <a:lstStyle/>
                    <a:p>
                      <a:pPr marL="75565">
                        <a:lnSpc>
                          <a:spcPts val="1130"/>
                        </a:lnSpc>
                        <a:spcBef>
                          <a:spcPts val="35"/>
                        </a:spcBef>
                      </a:pPr>
                      <a:r>
                        <a:rPr dirty="0" sz="1000" spc="-10">
                          <a:latin typeface="Times New Roman"/>
                          <a:cs typeface="Times New Roman"/>
                        </a:rPr>
                        <a:t>Transformer</a:t>
                      </a:r>
                      <a:r>
                        <a:rPr dirty="0" sz="1000" spc="-15">
                          <a:latin typeface="Times New Roman"/>
                          <a:cs typeface="Times New Roman"/>
                        </a:rPr>
                        <a:t> </a:t>
                      </a:r>
                      <a:r>
                        <a:rPr dirty="0" sz="1000">
                          <a:latin typeface="Times New Roman"/>
                          <a:cs typeface="Times New Roman"/>
                        </a:rPr>
                        <a:t>(base</a:t>
                      </a:r>
                      <a:r>
                        <a:rPr dirty="0" sz="1000" spc="-15">
                          <a:latin typeface="Times New Roman"/>
                          <a:cs typeface="Times New Roman"/>
                        </a:rPr>
                        <a:t> </a:t>
                      </a:r>
                      <a:r>
                        <a:rPr dirty="0" sz="1000" spc="-10">
                          <a:latin typeface="Times New Roman"/>
                          <a:cs typeface="Times New Roman"/>
                        </a:rPr>
                        <a:t>model)</a:t>
                      </a:r>
                      <a:endParaRPr sz="1000">
                        <a:latin typeface="Times New Roman"/>
                        <a:cs typeface="Times New Roman"/>
                      </a:endParaRPr>
                    </a:p>
                  </a:txBody>
                  <a:tcPr marL="0" marR="0" marB="0" marT="4445">
                    <a:lnT w="12700">
                      <a:solidFill>
                        <a:srgbClr val="000000"/>
                      </a:solidFill>
                      <a:prstDash val="solid"/>
                    </a:lnT>
                  </a:tcPr>
                </a:tc>
                <a:tc>
                  <a:txBody>
                    <a:bodyPr/>
                    <a:lstStyle/>
                    <a:p>
                      <a:pPr algn="ctr">
                        <a:lnSpc>
                          <a:spcPts val="1130"/>
                        </a:lnSpc>
                        <a:spcBef>
                          <a:spcPts val="35"/>
                        </a:spcBef>
                      </a:pPr>
                      <a:r>
                        <a:rPr dirty="0" sz="1000" spc="-20">
                          <a:latin typeface="Times New Roman"/>
                          <a:cs typeface="Times New Roman"/>
                        </a:rPr>
                        <a:t>27.3</a:t>
                      </a:r>
                      <a:endParaRPr sz="1000">
                        <a:latin typeface="Times New Roman"/>
                        <a:cs typeface="Times New Roman"/>
                      </a:endParaRPr>
                    </a:p>
                  </a:txBody>
                  <a:tcPr marL="0" marR="0" marB="0" marT="4445">
                    <a:lnT w="12700">
                      <a:solidFill>
                        <a:srgbClr val="000000"/>
                      </a:solidFill>
                      <a:prstDash val="solid"/>
                    </a:lnT>
                  </a:tcPr>
                </a:tc>
                <a:tc>
                  <a:txBody>
                    <a:bodyPr/>
                    <a:lstStyle/>
                    <a:p>
                      <a:pPr algn="ctr">
                        <a:lnSpc>
                          <a:spcPts val="1130"/>
                        </a:lnSpc>
                        <a:spcBef>
                          <a:spcPts val="35"/>
                        </a:spcBef>
                      </a:pPr>
                      <a:r>
                        <a:rPr dirty="0" sz="1000" spc="-20">
                          <a:latin typeface="Times New Roman"/>
                          <a:cs typeface="Times New Roman"/>
                        </a:rPr>
                        <a:t>38.1</a:t>
                      </a:r>
                      <a:endParaRPr sz="1000">
                        <a:latin typeface="Times New Roman"/>
                        <a:cs typeface="Times New Roman"/>
                      </a:endParaRPr>
                    </a:p>
                  </a:txBody>
                  <a:tcPr marL="0" marR="0" marB="0" marT="4445">
                    <a:lnT w="12700">
                      <a:solidFill>
                        <a:srgbClr val="000000"/>
                      </a:solidFill>
                      <a:prstDash val="solid"/>
                    </a:lnT>
                  </a:tcPr>
                </a:tc>
                <a:tc>
                  <a:txBody>
                    <a:bodyPr/>
                    <a:lstStyle/>
                    <a:p>
                      <a:pPr>
                        <a:lnSpc>
                          <a:spcPct val="100000"/>
                        </a:lnSpc>
                      </a:pPr>
                      <a:endParaRPr sz="900">
                        <a:latin typeface="Times New Roman"/>
                        <a:cs typeface="Times New Roman"/>
                      </a:endParaRPr>
                    </a:p>
                  </a:txBody>
                  <a:tcPr marL="0" marR="0" marB="0" marT="0">
                    <a:lnT w="12700">
                      <a:solidFill>
                        <a:srgbClr val="000000"/>
                      </a:solidFill>
                      <a:prstDash val="solid"/>
                    </a:lnT>
                  </a:tcPr>
                </a:tc>
                <a:tc>
                  <a:txBody>
                    <a:bodyPr/>
                    <a:lstStyle/>
                    <a:p>
                      <a:pPr marL="381635">
                        <a:lnSpc>
                          <a:spcPts val="1130"/>
                        </a:lnSpc>
                        <a:spcBef>
                          <a:spcPts val="35"/>
                        </a:spcBef>
                      </a:pPr>
                      <a:r>
                        <a:rPr dirty="0" sz="1000" b="1">
                          <a:latin typeface="Roboto"/>
                          <a:cs typeface="Roboto"/>
                        </a:rPr>
                        <a:t>3</a:t>
                      </a:r>
                      <a:r>
                        <a:rPr dirty="0" sz="1000" b="1" i="1">
                          <a:latin typeface="Georgia"/>
                          <a:cs typeface="Georgia"/>
                        </a:rPr>
                        <a:t>.</a:t>
                      </a:r>
                      <a:r>
                        <a:rPr dirty="0" sz="1000" b="1">
                          <a:latin typeface="Roboto"/>
                          <a:cs typeface="Roboto"/>
                        </a:rPr>
                        <a:t>3</a:t>
                      </a:r>
                      <a:r>
                        <a:rPr dirty="0" sz="1000" spc="-5" b="1">
                          <a:latin typeface="Roboto"/>
                          <a:cs typeface="Roboto"/>
                        </a:rPr>
                        <a:t> </a:t>
                      </a:r>
                      <a:r>
                        <a:rPr dirty="0" sz="1000" spc="100">
                          <a:latin typeface="Segoe UI Symbol"/>
                          <a:cs typeface="Segoe UI Symbol"/>
                        </a:rPr>
                        <a:t>·</a:t>
                      </a:r>
                      <a:r>
                        <a:rPr dirty="0" sz="1000" spc="-30">
                          <a:latin typeface="Segoe UI Symbol"/>
                          <a:cs typeface="Segoe UI Symbol"/>
                        </a:rPr>
                        <a:t> </a:t>
                      </a:r>
                      <a:r>
                        <a:rPr dirty="0" sz="1000" spc="-20" b="1">
                          <a:latin typeface="Roboto"/>
                          <a:cs typeface="Roboto"/>
                        </a:rPr>
                        <a:t>10</a:t>
                      </a:r>
                      <a:r>
                        <a:rPr dirty="0" baseline="27777" sz="1050" spc="-30" b="1">
                          <a:latin typeface="Calibri"/>
                          <a:cs typeface="Calibri"/>
                        </a:rPr>
                        <a:t>18</a:t>
                      </a:r>
                      <a:endParaRPr baseline="27777" sz="1050">
                        <a:latin typeface="Calibri"/>
                        <a:cs typeface="Calibri"/>
                      </a:endParaRPr>
                    </a:p>
                  </a:txBody>
                  <a:tcPr marL="0" marR="0" marB="0" marT="4445">
                    <a:lnT w="12700">
                      <a:solidFill>
                        <a:srgbClr val="000000"/>
                      </a:solidFill>
                      <a:prstDash val="solid"/>
                    </a:lnT>
                  </a:tcPr>
                </a:tc>
              </a:tr>
              <a:tr h="183515">
                <a:tc>
                  <a:txBody>
                    <a:bodyPr/>
                    <a:lstStyle/>
                    <a:p>
                      <a:pPr marL="75565">
                        <a:lnSpc>
                          <a:spcPts val="1105"/>
                        </a:lnSpc>
                      </a:pPr>
                      <a:r>
                        <a:rPr dirty="0" sz="1000" spc="-10">
                          <a:latin typeface="Times New Roman"/>
                          <a:cs typeface="Times New Roman"/>
                        </a:rPr>
                        <a:t>Transformer</a:t>
                      </a:r>
                      <a:r>
                        <a:rPr dirty="0" sz="1000" spc="15">
                          <a:latin typeface="Times New Roman"/>
                          <a:cs typeface="Times New Roman"/>
                        </a:rPr>
                        <a:t> </a:t>
                      </a:r>
                      <a:r>
                        <a:rPr dirty="0" sz="1000" spc="-10">
                          <a:latin typeface="Times New Roman"/>
                          <a:cs typeface="Times New Roman"/>
                        </a:rPr>
                        <a:t>(big)</a:t>
                      </a:r>
                      <a:endParaRPr sz="1000">
                        <a:latin typeface="Times New Roman"/>
                        <a:cs typeface="Times New Roman"/>
                      </a:endParaRPr>
                    </a:p>
                  </a:txBody>
                  <a:tcPr marL="0" marR="0" marB="0" marT="0">
                    <a:lnB w="12700">
                      <a:solidFill>
                        <a:srgbClr val="000000"/>
                      </a:solidFill>
                      <a:prstDash val="solid"/>
                    </a:lnB>
                  </a:tcPr>
                </a:tc>
                <a:tc>
                  <a:txBody>
                    <a:bodyPr/>
                    <a:lstStyle/>
                    <a:p>
                      <a:pPr algn="ctr">
                        <a:lnSpc>
                          <a:spcPts val="1105"/>
                        </a:lnSpc>
                      </a:pPr>
                      <a:r>
                        <a:rPr dirty="0" sz="1000" spc="-20" b="1">
                          <a:latin typeface="Times New Roman"/>
                          <a:cs typeface="Times New Roman"/>
                        </a:rPr>
                        <a:t>28.4</a:t>
                      </a:r>
                      <a:endParaRPr sz="1000">
                        <a:latin typeface="Times New Roman"/>
                        <a:cs typeface="Times New Roman"/>
                      </a:endParaRPr>
                    </a:p>
                  </a:txBody>
                  <a:tcPr marL="0" marR="0" marB="0" marT="0">
                    <a:lnB w="12700">
                      <a:solidFill>
                        <a:srgbClr val="000000"/>
                      </a:solidFill>
                      <a:prstDash val="solid"/>
                    </a:lnB>
                  </a:tcPr>
                </a:tc>
                <a:tc>
                  <a:txBody>
                    <a:bodyPr/>
                    <a:lstStyle/>
                    <a:p>
                      <a:pPr algn="ctr">
                        <a:lnSpc>
                          <a:spcPts val="1105"/>
                        </a:lnSpc>
                      </a:pPr>
                      <a:r>
                        <a:rPr dirty="0" sz="1000" spc="-20" b="1">
                          <a:latin typeface="Times New Roman"/>
                          <a:cs typeface="Times New Roman"/>
                        </a:rPr>
                        <a:t>41.0</a:t>
                      </a:r>
                      <a:endParaRPr sz="1000">
                        <a:latin typeface="Times New Roman"/>
                        <a:cs typeface="Times New Roman"/>
                      </a:endParaRPr>
                    </a:p>
                  </a:txBody>
                  <a:tcPr marL="0" marR="0" marB="0" marT="0">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B w="12700">
                      <a:solidFill>
                        <a:srgbClr val="000000"/>
                      </a:solidFill>
                      <a:prstDash val="solid"/>
                    </a:lnB>
                  </a:tcPr>
                </a:tc>
                <a:tc>
                  <a:txBody>
                    <a:bodyPr/>
                    <a:lstStyle/>
                    <a:p>
                      <a:pPr marL="796290">
                        <a:lnSpc>
                          <a:spcPts val="295"/>
                        </a:lnSpc>
                      </a:pPr>
                      <a:r>
                        <a:rPr dirty="0" sz="700" spc="-25">
                          <a:latin typeface="Tahoma"/>
                          <a:cs typeface="Tahoma"/>
                        </a:rPr>
                        <a:t>19</a:t>
                      </a:r>
                      <a:endParaRPr sz="700">
                        <a:latin typeface="Tahoma"/>
                        <a:cs typeface="Tahoma"/>
                      </a:endParaRPr>
                    </a:p>
                    <a:p>
                      <a:pPr marL="417195">
                        <a:lnSpc>
                          <a:spcPts val="810"/>
                        </a:lnSpc>
                      </a:pPr>
                      <a:r>
                        <a:rPr dirty="0" sz="1000">
                          <a:latin typeface="Calibri"/>
                          <a:cs typeface="Calibri"/>
                        </a:rPr>
                        <a:t>2</a:t>
                      </a:r>
                      <a:r>
                        <a:rPr dirty="0" sz="1000" i="1">
                          <a:latin typeface="Calibri"/>
                          <a:cs typeface="Calibri"/>
                        </a:rPr>
                        <a:t>.</a:t>
                      </a:r>
                      <a:r>
                        <a:rPr dirty="0" sz="1000">
                          <a:latin typeface="Calibri"/>
                          <a:cs typeface="Calibri"/>
                        </a:rPr>
                        <a:t>3</a:t>
                      </a:r>
                      <a:r>
                        <a:rPr dirty="0" sz="1000" spc="-10">
                          <a:latin typeface="Calibri"/>
                          <a:cs typeface="Calibri"/>
                        </a:rPr>
                        <a:t> </a:t>
                      </a:r>
                      <a:r>
                        <a:rPr dirty="0" sz="1000" spc="-365">
                          <a:latin typeface="Lucida Sans Unicode"/>
                          <a:cs typeface="Lucida Sans Unicode"/>
                        </a:rPr>
                        <a:t>·</a:t>
                      </a:r>
                      <a:r>
                        <a:rPr dirty="0" sz="1000" spc="-95">
                          <a:latin typeface="Lucida Sans Unicode"/>
                          <a:cs typeface="Lucida Sans Unicode"/>
                        </a:rPr>
                        <a:t> </a:t>
                      </a:r>
                      <a:r>
                        <a:rPr dirty="0" sz="1000" spc="-25">
                          <a:latin typeface="Calibri"/>
                          <a:cs typeface="Calibri"/>
                        </a:rPr>
                        <a:t>10</a:t>
                      </a:r>
                      <a:endParaRPr sz="1000">
                        <a:latin typeface="Calibri"/>
                        <a:cs typeface="Calibri"/>
                      </a:endParaRPr>
                    </a:p>
                  </a:txBody>
                  <a:tcPr marL="0" marR="0" marB="0" marT="0">
                    <a:lnB w="12700">
                      <a:solidFill>
                        <a:srgbClr val="000000"/>
                      </a:solidFill>
                      <a:prstDash val="solid"/>
                    </a:lnB>
                  </a:tcPr>
                </a:tc>
              </a:tr>
            </a:tbl>
          </a:graphicData>
        </a:graphic>
      </p:graphicFrame>
      <p:sp>
        <p:nvSpPr>
          <p:cNvPr id="5" name="object 5" descr=""/>
          <p:cNvSpPr txBox="1"/>
          <p:nvPr/>
        </p:nvSpPr>
        <p:spPr>
          <a:xfrm>
            <a:off x="1303540" y="3419581"/>
            <a:ext cx="5177155" cy="5476875"/>
          </a:xfrm>
          <a:prstGeom prst="rect">
            <a:avLst/>
          </a:prstGeom>
        </p:spPr>
        <p:txBody>
          <a:bodyPr wrap="square" lIns="0" tIns="28575" rIns="0" bIns="0" rtlCol="0" vert="horz">
            <a:spAutoFit/>
          </a:bodyPr>
          <a:lstStyle/>
          <a:p>
            <a:pPr algn="just" marL="67945" marR="71120">
              <a:lnSpc>
                <a:spcPts val="1090"/>
              </a:lnSpc>
              <a:spcBef>
                <a:spcPts val="225"/>
              </a:spcBef>
            </a:pPr>
            <a:r>
              <a:rPr dirty="0" sz="1000" b="1">
                <a:latin typeface="Times New Roman"/>
                <a:cs typeface="Times New Roman"/>
              </a:rPr>
              <a:t>Label</a:t>
            </a:r>
            <a:r>
              <a:rPr dirty="0" sz="1000" spc="30" b="1">
                <a:latin typeface="Times New Roman"/>
                <a:cs typeface="Times New Roman"/>
              </a:rPr>
              <a:t> </a:t>
            </a:r>
            <a:r>
              <a:rPr dirty="0" sz="1000" b="1">
                <a:latin typeface="Times New Roman"/>
                <a:cs typeface="Times New Roman"/>
              </a:rPr>
              <a:t>Smoothing</a:t>
            </a:r>
            <a:r>
              <a:rPr dirty="0" sz="1000" spc="254" b="1">
                <a:latin typeface="Times New Roman"/>
                <a:cs typeface="Times New Roman"/>
              </a:rPr>
              <a:t>  </a:t>
            </a:r>
            <a:r>
              <a:rPr dirty="0" sz="1000">
                <a:latin typeface="Times New Roman"/>
                <a:cs typeface="Times New Roman"/>
              </a:rPr>
              <a:t>During</a:t>
            </a:r>
            <a:r>
              <a:rPr dirty="0" sz="1000" spc="35">
                <a:latin typeface="Times New Roman"/>
                <a:cs typeface="Times New Roman"/>
              </a:rPr>
              <a:t> </a:t>
            </a:r>
            <a:r>
              <a:rPr dirty="0" sz="1000">
                <a:latin typeface="Times New Roman"/>
                <a:cs typeface="Times New Roman"/>
              </a:rPr>
              <a:t>training,</a:t>
            </a:r>
            <a:r>
              <a:rPr dirty="0" sz="1000" spc="45">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employed</a:t>
            </a:r>
            <a:r>
              <a:rPr dirty="0" sz="1000" spc="35">
                <a:latin typeface="Times New Roman"/>
                <a:cs typeface="Times New Roman"/>
              </a:rPr>
              <a:t> </a:t>
            </a:r>
            <a:r>
              <a:rPr dirty="0" sz="1000">
                <a:latin typeface="Times New Roman"/>
                <a:cs typeface="Times New Roman"/>
              </a:rPr>
              <a:t>label</a:t>
            </a:r>
            <a:r>
              <a:rPr dirty="0" sz="1000" spc="35">
                <a:latin typeface="Times New Roman"/>
                <a:cs typeface="Times New Roman"/>
              </a:rPr>
              <a:t> </a:t>
            </a:r>
            <a:r>
              <a:rPr dirty="0" sz="1000">
                <a:latin typeface="Times New Roman"/>
                <a:cs typeface="Times New Roman"/>
              </a:rPr>
              <a:t>smoothing</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value</a:t>
            </a:r>
            <a:r>
              <a:rPr dirty="0" sz="1000" spc="30">
                <a:latin typeface="Times New Roman"/>
                <a:cs typeface="Times New Roman"/>
              </a:rPr>
              <a:t> </a:t>
            </a:r>
            <a:r>
              <a:rPr dirty="0" sz="1000" spc="50" i="1">
                <a:latin typeface="Calibri"/>
                <a:cs typeface="Calibri"/>
              </a:rPr>
              <a:t>ϵ</a:t>
            </a:r>
            <a:r>
              <a:rPr dirty="0" baseline="-11904" sz="1050" spc="75" i="1">
                <a:latin typeface="Calibri"/>
                <a:cs typeface="Calibri"/>
              </a:rPr>
              <a:t>ls</a:t>
            </a:r>
            <a:r>
              <a:rPr dirty="0" baseline="-11904" sz="1050" spc="352" i="1">
                <a:latin typeface="Calibri"/>
                <a:cs typeface="Calibri"/>
              </a:rPr>
              <a:t> </a:t>
            </a:r>
            <a:r>
              <a:rPr dirty="0" sz="1000" spc="270">
                <a:latin typeface="Calibri"/>
                <a:cs typeface="Calibri"/>
              </a:rPr>
              <a:t>=</a:t>
            </a:r>
            <a:r>
              <a:rPr dirty="0" sz="1000" spc="114">
                <a:latin typeface="Calibri"/>
                <a:cs typeface="Calibri"/>
              </a:rPr>
              <a:t> </a:t>
            </a:r>
            <a:r>
              <a:rPr dirty="0" sz="1000">
                <a:latin typeface="Calibri"/>
                <a:cs typeface="Calibri"/>
              </a:rPr>
              <a:t>0</a:t>
            </a:r>
            <a:r>
              <a:rPr dirty="0" sz="1000" i="1">
                <a:latin typeface="Calibri"/>
                <a:cs typeface="Calibri"/>
              </a:rPr>
              <a:t>.</a:t>
            </a:r>
            <a:r>
              <a:rPr dirty="0" sz="1000">
                <a:latin typeface="Calibri"/>
                <a:cs typeface="Calibri"/>
              </a:rPr>
              <a:t>1</a:t>
            </a:r>
            <a:r>
              <a:rPr dirty="0" sz="1000" spc="60">
                <a:latin typeface="Calibri"/>
                <a:cs typeface="Calibri"/>
              </a:rPr>
              <a:t> </a:t>
            </a:r>
            <a:r>
              <a:rPr dirty="0" sz="1000">
                <a:latin typeface="Times New Roman"/>
                <a:cs typeface="Times New Roman"/>
              </a:rPr>
              <a:t>[30].</a:t>
            </a:r>
            <a:r>
              <a:rPr dirty="0" sz="1000" spc="165">
                <a:latin typeface="Times New Roman"/>
                <a:cs typeface="Times New Roman"/>
              </a:rPr>
              <a:t> </a:t>
            </a:r>
            <a:r>
              <a:rPr dirty="0" sz="1000" spc="-20">
                <a:latin typeface="Times New Roman"/>
                <a:cs typeface="Times New Roman"/>
              </a:rPr>
              <a:t>This </a:t>
            </a:r>
            <a:r>
              <a:rPr dirty="0" sz="1000">
                <a:latin typeface="Times New Roman"/>
                <a:cs typeface="Times New Roman"/>
              </a:rPr>
              <a:t>hurts</a:t>
            </a:r>
            <a:r>
              <a:rPr dirty="0" sz="1000" spc="-20">
                <a:latin typeface="Times New Roman"/>
                <a:cs typeface="Times New Roman"/>
              </a:rPr>
              <a:t> </a:t>
            </a:r>
            <a:r>
              <a:rPr dirty="0" sz="1000" spc="-10">
                <a:latin typeface="Times New Roman"/>
                <a:cs typeface="Times New Roman"/>
              </a:rPr>
              <a:t>perplexity,</a:t>
            </a:r>
            <a:r>
              <a:rPr dirty="0" sz="1000" spc="-20">
                <a:latin typeface="Times New Roman"/>
                <a:cs typeface="Times New Roman"/>
              </a:rPr>
              <a:t> </a:t>
            </a:r>
            <a:r>
              <a:rPr dirty="0" sz="1000">
                <a:latin typeface="Times New Roman"/>
                <a:cs typeface="Times New Roman"/>
              </a:rPr>
              <a:t>as</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model</a:t>
            </a:r>
            <a:r>
              <a:rPr dirty="0" sz="1000" spc="-20">
                <a:latin typeface="Times New Roman"/>
                <a:cs typeface="Times New Roman"/>
              </a:rPr>
              <a:t> </a:t>
            </a:r>
            <a:r>
              <a:rPr dirty="0" sz="1000">
                <a:latin typeface="Times New Roman"/>
                <a:cs typeface="Times New Roman"/>
              </a:rPr>
              <a:t>learns</a:t>
            </a:r>
            <a:r>
              <a:rPr dirty="0" sz="1000" spc="-15">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a:latin typeface="Times New Roman"/>
                <a:cs typeface="Times New Roman"/>
              </a:rPr>
              <a:t>be</a:t>
            </a:r>
            <a:r>
              <a:rPr dirty="0" sz="1000" spc="-20">
                <a:latin typeface="Times New Roman"/>
                <a:cs typeface="Times New Roman"/>
              </a:rPr>
              <a:t> </a:t>
            </a:r>
            <a:r>
              <a:rPr dirty="0" sz="1000">
                <a:latin typeface="Times New Roman"/>
                <a:cs typeface="Times New Roman"/>
              </a:rPr>
              <a:t>more</a:t>
            </a:r>
            <a:r>
              <a:rPr dirty="0" sz="1000" spc="-20">
                <a:latin typeface="Times New Roman"/>
                <a:cs typeface="Times New Roman"/>
              </a:rPr>
              <a:t> </a:t>
            </a:r>
            <a:r>
              <a:rPr dirty="0" sz="1000">
                <a:latin typeface="Times New Roman"/>
                <a:cs typeface="Times New Roman"/>
              </a:rPr>
              <a:t>unsure,</a:t>
            </a:r>
            <a:r>
              <a:rPr dirty="0" sz="1000" spc="-20">
                <a:latin typeface="Times New Roman"/>
                <a:cs typeface="Times New Roman"/>
              </a:rPr>
              <a:t> </a:t>
            </a:r>
            <a:r>
              <a:rPr dirty="0" sz="1000">
                <a:latin typeface="Times New Roman"/>
                <a:cs typeface="Times New Roman"/>
              </a:rPr>
              <a:t>but</a:t>
            </a:r>
            <a:r>
              <a:rPr dirty="0" sz="1000" spc="-15">
                <a:latin typeface="Times New Roman"/>
                <a:cs typeface="Times New Roman"/>
              </a:rPr>
              <a:t> </a:t>
            </a:r>
            <a:r>
              <a:rPr dirty="0" sz="1000" spc="-10">
                <a:latin typeface="Times New Roman"/>
                <a:cs typeface="Times New Roman"/>
              </a:rPr>
              <a:t>improves</a:t>
            </a:r>
            <a:r>
              <a:rPr dirty="0" sz="1000" spc="-20">
                <a:latin typeface="Times New Roman"/>
                <a:cs typeface="Times New Roman"/>
              </a:rPr>
              <a:t> </a:t>
            </a:r>
            <a:r>
              <a:rPr dirty="0" sz="1000" spc="-10">
                <a:latin typeface="Times New Roman"/>
                <a:cs typeface="Times New Roman"/>
              </a:rPr>
              <a:t>accuracy</a:t>
            </a:r>
            <a:r>
              <a:rPr dirty="0" sz="1000" spc="-2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BLEU</a:t>
            </a:r>
            <a:r>
              <a:rPr dirty="0" sz="1000" spc="-20">
                <a:latin typeface="Times New Roman"/>
                <a:cs typeface="Times New Roman"/>
              </a:rPr>
              <a:t> </a:t>
            </a:r>
            <a:r>
              <a:rPr dirty="0" sz="1000" spc="-10">
                <a:latin typeface="Times New Roman"/>
                <a:cs typeface="Times New Roman"/>
              </a:rPr>
              <a:t>score.</a:t>
            </a:r>
            <a:endParaRPr sz="1000">
              <a:latin typeface="Times New Roman"/>
              <a:cs typeface="Times New Roman"/>
            </a:endParaRPr>
          </a:p>
          <a:p>
            <a:pPr>
              <a:lnSpc>
                <a:spcPct val="100000"/>
              </a:lnSpc>
              <a:spcBef>
                <a:spcPts val="465"/>
              </a:spcBef>
            </a:pPr>
            <a:endParaRPr sz="1000">
              <a:latin typeface="Times New Roman"/>
              <a:cs typeface="Times New Roman"/>
            </a:endParaRPr>
          </a:p>
          <a:p>
            <a:pPr marL="295275" indent="-227329">
              <a:lnSpc>
                <a:spcPct val="100000"/>
              </a:lnSpc>
              <a:spcBef>
                <a:spcPts val="5"/>
              </a:spcBef>
              <a:buAutoNum type="arabicPlain" startAt="6"/>
              <a:tabLst>
                <a:tab pos="295275" algn="l"/>
              </a:tabLst>
            </a:pPr>
            <a:r>
              <a:rPr dirty="0" sz="1200" spc="-10" b="1">
                <a:latin typeface="Times New Roman"/>
                <a:cs typeface="Times New Roman"/>
              </a:rPr>
              <a:t>Results</a:t>
            </a:r>
            <a:endParaRPr sz="1200">
              <a:latin typeface="Times New Roman"/>
              <a:cs typeface="Times New Roman"/>
            </a:endParaRPr>
          </a:p>
          <a:p>
            <a:pPr lvl="1" marL="352425" indent="-284480">
              <a:lnSpc>
                <a:spcPct val="100000"/>
              </a:lnSpc>
              <a:spcBef>
                <a:spcPts val="1190"/>
              </a:spcBef>
              <a:buAutoNum type="arabicPeriod"/>
              <a:tabLst>
                <a:tab pos="352425" algn="l"/>
              </a:tabLst>
            </a:pPr>
            <a:r>
              <a:rPr dirty="0" sz="1000" b="1">
                <a:latin typeface="Times New Roman"/>
                <a:cs typeface="Times New Roman"/>
              </a:rPr>
              <a:t>Machine</a:t>
            </a:r>
            <a:r>
              <a:rPr dirty="0" sz="1000" spc="-45" b="1">
                <a:latin typeface="Times New Roman"/>
                <a:cs typeface="Times New Roman"/>
              </a:rPr>
              <a:t> </a:t>
            </a:r>
            <a:r>
              <a:rPr dirty="0" sz="1000" spc="-10" b="1">
                <a:latin typeface="Times New Roman"/>
                <a:cs typeface="Times New Roman"/>
              </a:rPr>
              <a:t>Translation</a:t>
            </a:r>
            <a:endParaRPr sz="1000">
              <a:latin typeface="Times New Roman"/>
              <a:cs typeface="Times New Roman"/>
            </a:endParaRPr>
          </a:p>
          <a:p>
            <a:pPr algn="just" marL="67945" marR="62865">
              <a:lnSpc>
                <a:spcPts val="1090"/>
              </a:lnSpc>
              <a:spcBef>
                <a:spcPts val="1000"/>
              </a:spcBef>
            </a:pPr>
            <a:r>
              <a:rPr dirty="0" sz="1000">
                <a:latin typeface="Times New Roman"/>
                <a:cs typeface="Times New Roman"/>
              </a:rPr>
              <a:t>On</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WMT</a:t>
            </a:r>
            <a:r>
              <a:rPr dirty="0" sz="1000" spc="-25">
                <a:latin typeface="Times New Roman"/>
                <a:cs typeface="Times New Roman"/>
              </a:rPr>
              <a:t> </a:t>
            </a:r>
            <a:r>
              <a:rPr dirty="0" sz="1000" spc="-10">
                <a:latin typeface="Times New Roman"/>
                <a:cs typeface="Times New Roman"/>
              </a:rPr>
              <a:t>2014</a:t>
            </a:r>
            <a:r>
              <a:rPr dirty="0" sz="1000" spc="-25">
                <a:latin typeface="Times New Roman"/>
                <a:cs typeface="Times New Roman"/>
              </a:rPr>
              <a:t> </a:t>
            </a:r>
            <a:r>
              <a:rPr dirty="0" sz="1000" spc="-20">
                <a:latin typeface="Times New Roman"/>
                <a:cs typeface="Times New Roman"/>
              </a:rPr>
              <a:t>English-to-</a:t>
            </a:r>
            <a:r>
              <a:rPr dirty="0" sz="1000" spc="-10">
                <a:latin typeface="Times New Roman"/>
                <a:cs typeface="Times New Roman"/>
              </a:rPr>
              <a:t>German</a:t>
            </a:r>
            <a:r>
              <a:rPr dirty="0" sz="1000" spc="-30">
                <a:latin typeface="Times New Roman"/>
                <a:cs typeface="Times New Roman"/>
              </a:rPr>
              <a:t> </a:t>
            </a:r>
            <a:r>
              <a:rPr dirty="0" sz="1000" spc="-10">
                <a:latin typeface="Times New Roman"/>
                <a:cs typeface="Times New Roman"/>
              </a:rPr>
              <a:t>translation</a:t>
            </a:r>
            <a:r>
              <a:rPr dirty="0" sz="1000" spc="-25">
                <a:latin typeface="Times New Roman"/>
                <a:cs typeface="Times New Roman"/>
              </a:rPr>
              <a:t> </a:t>
            </a:r>
            <a:r>
              <a:rPr dirty="0" sz="1000">
                <a:latin typeface="Times New Roman"/>
                <a:cs typeface="Times New Roman"/>
              </a:rPr>
              <a:t>task,</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big</a:t>
            </a:r>
            <a:r>
              <a:rPr dirty="0" sz="1000" spc="-25">
                <a:latin typeface="Times New Roman"/>
                <a:cs typeface="Times New Roman"/>
              </a:rPr>
              <a:t> </a:t>
            </a:r>
            <a:r>
              <a:rPr dirty="0" sz="1000" spc="-10">
                <a:latin typeface="Times New Roman"/>
                <a:cs typeface="Times New Roman"/>
              </a:rPr>
              <a:t>transformer</a:t>
            </a:r>
            <a:r>
              <a:rPr dirty="0" sz="1000" spc="-30">
                <a:latin typeface="Times New Roman"/>
                <a:cs typeface="Times New Roman"/>
              </a:rPr>
              <a:t> </a:t>
            </a:r>
            <a:r>
              <a:rPr dirty="0" sz="1000" spc="-10">
                <a:latin typeface="Times New Roman"/>
                <a:cs typeface="Times New Roman"/>
              </a:rPr>
              <a:t>model</a:t>
            </a:r>
            <a:r>
              <a:rPr dirty="0" sz="1000" spc="-25">
                <a:latin typeface="Times New Roman"/>
                <a:cs typeface="Times New Roman"/>
              </a:rPr>
              <a:t> </a:t>
            </a:r>
            <a:r>
              <a:rPr dirty="0" sz="1000" spc="-20">
                <a:latin typeface="Times New Roman"/>
                <a:cs typeface="Times New Roman"/>
              </a:rPr>
              <a:t>(Transformer</a:t>
            </a:r>
            <a:r>
              <a:rPr dirty="0" sz="1000" spc="-25">
                <a:latin typeface="Times New Roman"/>
                <a:cs typeface="Times New Roman"/>
              </a:rPr>
              <a:t> </a:t>
            </a:r>
            <a:r>
              <a:rPr dirty="0" sz="1000" spc="-10">
                <a:latin typeface="Times New Roman"/>
                <a:cs typeface="Times New Roman"/>
              </a:rPr>
              <a:t>(big) </a:t>
            </a:r>
            <a:r>
              <a:rPr dirty="0" sz="1000">
                <a:latin typeface="Times New Roman"/>
                <a:cs typeface="Times New Roman"/>
              </a:rPr>
              <a:t>in</a:t>
            </a:r>
            <a:r>
              <a:rPr dirty="0" sz="1000" spc="-15">
                <a:latin typeface="Times New Roman"/>
                <a:cs typeface="Times New Roman"/>
              </a:rPr>
              <a:t> </a:t>
            </a:r>
            <a:r>
              <a:rPr dirty="0" sz="1000" spc="-20">
                <a:latin typeface="Times New Roman"/>
                <a:cs typeface="Times New Roman"/>
              </a:rPr>
              <a:t>Table</a:t>
            </a:r>
            <a:r>
              <a:rPr dirty="0" sz="1000" spc="-10">
                <a:latin typeface="Times New Roman"/>
                <a:cs typeface="Times New Roman"/>
              </a:rPr>
              <a:t> </a:t>
            </a:r>
            <a:r>
              <a:rPr dirty="0" sz="1000">
                <a:latin typeface="Times New Roman"/>
                <a:cs typeface="Times New Roman"/>
              </a:rPr>
              <a:t>2)</a:t>
            </a:r>
            <a:r>
              <a:rPr dirty="0" sz="1000" spc="-20">
                <a:latin typeface="Times New Roman"/>
                <a:cs typeface="Times New Roman"/>
              </a:rPr>
              <a:t> </a:t>
            </a:r>
            <a:r>
              <a:rPr dirty="0" sz="1000" spc="-10">
                <a:latin typeface="Times New Roman"/>
                <a:cs typeface="Times New Roman"/>
              </a:rPr>
              <a:t>outperforms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best</a:t>
            </a:r>
            <a:r>
              <a:rPr dirty="0" sz="1000" spc="-15">
                <a:latin typeface="Times New Roman"/>
                <a:cs typeface="Times New Roman"/>
              </a:rPr>
              <a:t> </a:t>
            </a:r>
            <a:r>
              <a:rPr dirty="0" sz="1000" spc="-10">
                <a:latin typeface="Times New Roman"/>
                <a:cs typeface="Times New Roman"/>
              </a:rPr>
              <a:t>previously</a:t>
            </a:r>
            <a:r>
              <a:rPr dirty="0" sz="1000" spc="-15">
                <a:latin typeface="Times New Roman"/>
                <a:cs typeface="Times New Roman"/>
              </a:rPr>
              <a:t> </a:t>
            </a:r>
            <a:r>
              <a:rPr dirty="0" sz="1000" spc="-10">
                <a:latin typeface="Times New Roman"/>
                <a:cs typeface="Times New Roman"/>
              </a:rPr>
              <a:t>reported models</a:t>
            </a:r>
            <a:r>
              <a:rPr dirty="0" sz="1000" spc="-15">
                <a:latin typeface="Times New Roman"/>
                <a:cs typeface="Times New Roman"/>
              </a:rPr>
              <a:t> </a:t>
            </a:r>
            <a:r>
              <a:rPr dirty="0" sz="1000" spc="-10">
                <a:latin typeface="Times New Roman"/>
                <a:cs typeface="Times New Roman"/>
              </a:rPr>
              <a:t>(including</a:t>
            </a:r>
            <a:r>
              <a:rPr dirty="0" sz="1000" spc="-15">
                <a:latin typeface="Times New Roman"/>
                <a:cs typeface="Times New Roman"/>
              </a:rPr>
              <a:t> </a:t>
            </a:r>
            <a:r>
              <a:rPr dirty="0" sz="1000" spc="-10">
                <a:latin typeface="Times New Roman"/>
                <a:cs typeface="Times New Roman"/>
              </a:rPr>
              <a:t>ensembles) </a:t>
            </a:r>
            <a:r>
              <a:rPr dirty="0" sz="1000">
                <a:latin typeface="Times New Roman"/>
                <a:cs typeface="Times New Roman"/>
              </a:rPr>
              <a:t>by</a:t>
            </a:r>
            <a:r>
              <a:rPr dirty="0" sz="1000" spc="-20">
                <a:latin typeface="Times New Roman"/>
                <a:cs typeface="Times New Roman"/>
              </a:rPr>
              <a:t> </a:t>
            </a:r>
            <a:r>
              <a:rPr dirty="0" sz="1000">
                <a:latin typeface="Times New Roman"/>
                <a:cs typeface="Times New Roman"/>
              </a:rPr>
              <a:t>more</a:t>
            </a:r>
            <a:r>
              <a:rPr dirty="0" sz="1000" spc="-10">
                <a:latin typeface="Times New Roman"/>
                <a:cs typeface="Times New Roman"/>
              </a:rPr>
              <a:t> </a:t>
            </a:r>
            <a:r>
              <a:rPr dirty="0" sz="1000">
                <a:latin typeface="Times New Roman"/>
                <a:cs typeface="Times New Roman"/>
              </a:rPr>
              <a:t>than</a:t>
            </a:r>
            <a:r>
              <a:rPr dirty="0" sz="1000" spc="-15">
                <a:latin typeface="Times New Roman"/>
                <a:cs typeface="Times New Roman"/>
              </a:rPr>
              <a:t> </a:t>
            </a:r>
            <a:r>
              <a:rPr dirty="0" sz="1000" spc="-25">
                <a:latin typeface="Calibri"/>
                <a:cs typeface="Calibri"/>
              </a:rPr>
              <a:t>2</a:t>
            </a:r>
            <a:r>
              <a:rPr dirty="0" sz="1000" spc="-25" i="1">
                <a:latin typeface="Calibri"/>
                <a:cs typeface="Calibri"/>
              </a:rPr>
              <a:t>.</a:t>
            </a:r>
            <a:r>
              <a:rPr dirty="0" sz="1000" spc="-25">
                <a:latin typeface="Calibri"/>
                <a:cs typeface="Calibri"/>
              </a:rPr>
              <a:t>0</a:t>
            </a:r>
            <a:r>
              <a:rPr dirty="0" sz="1000">
                <a:latin typeface="Calibri"/>
                <a:cs typeface="Calibri"/>
              </a:rPr>
              <a:t> </a:t>
            </a:r>
            <a:r>
              <a:rPr dirty="0" sz="1000">
                <a:latin typeface="Times New Roman"/>
                <a:cs typeface="Times New Roman"/>
              </a:rPr>
              <a:t>BLEU, establishing a</a:t>
            </a:r>
            <a:r>
              <a:rPr dirty="0" sz="1000" spc="5">
                <a:latin typeface="Times New Roman"/>
                <a:cs typeface="Times New Roman"/>
              </a:rPr>
              <a:t> </a:t>
            </a:r>
            <a:r>
              <a:rPr dirty="0" sz="1000">
                <a:latin typeface="Times New Roman"/>
                <a:cs typeface="Times New Roman"/>
              </a:rPr>
              <a:t>new state-of-the-art</a:t>
            </a:r>
            <a:r>
              <a:rPr dirty="0" sz="1000" spc="5">
                <a:latin typeface="Times New Roman"/>
                <a:cs typeface="Times New Roman"/>
              </a:rPr>
              <a:t> </a:t>
            </a:r>
            <a:r>
              <a:rPr dirty="0" sz="1000">
                <a:latin typeface="Times New Roman"/>
                <a:cs typeface="Times New Roman"/>
              </a:rPr>
              <a:t>BLEU score of</a:t>
            </a:r>
            <a:r>
              <a:rPr dirty="0" sz="1000" spc="5">
                <a:latin typeface="Times New Roman"/>
                <a:cs typeface="Times New Roman"/>
              </a:rPr>
              <a:t> </a:t>
            </a:r>
            <a:r>
              <a:rPr dirty="0" sz="1000">
                <a:latin typeface="Calibri"/>
                <a:cs typeface="Calibri"/>
              </a:rPr>
              <a:t>28</a:t>
            </a:r>
            <a:r>
              <a:rPr dirty="0" sz="1000" i="1">
                <a:latin typeface="Calibri"/>
                <a:cs typeface="Calibri"/>
              </a:rPr>
              <a:t>.</a:t>
            </a:r>
            <a:r>
              <a:rPr dirty="0" sz="1000">
                <a:latin typeface="Calibri"/>
                <a:cs typeface="Calibri"/>
              </a:rPr>
              <a:t>4</a:t>
            </a:r>
            <a:r>
              <a:rPr dirty="0" sz="1000">
                <a:latin typeface="Times New Roman"/>
                <a:cs typeface="Times New Roman"/>
              </a:rPr>
              <a:t>.</a:t>
            </a:r>
            <a:r>
              <a:rPr dirty="0" sz="1000" spc="65">
                <a:latin typeface="Times New Roman"/>
                <a:cs typeface="Times New Roman"/>
              </a:rPr>
              <a:t> </a:t>
            </a:r>
            <a:r>
              <a:rPr dirty="0" sz="1000">
                <a:latin typeface="Times New Roman"/>
                <a:cs typeface="Times New Roman"/>
              </a:rPr>
              <a:t>The configuration of</a:t>
            </a:r>
            <a:r>
              <a:rPr dirty="0" sz="1000" spc="5">
                <a:latin typeface="Times New Roman"/>
                <a:cs typeface="Times New Roman"/>
              </a:rPr>
              <a:t> </a:t>
            </a:r>
            <a:r>
              <a:rPr dirty="0" sz="1000">
                <a:latin typeface="Times New Roman"/>
                <a:cs typeface="Times New Roman"/>
              </a:rPr>
              <a:t>this model</a:t>
            </a:r>
            <a:r>
              <a:rPr dirty="0" sz="1000" spc="5">
                <a:latin typeface="Times New Roman"/>
                <a:cs typeface="Times New Roman"/>
              </a:rPr>
              <a:t> </a:t>
            </a:r>
            <a:r>
              <a:rPr dirty="0" sz="1000" spc="-25">
                <a:latin typeface="Times New Roman"/>
                <a:cs typeface="Times New Roman"/>
              </a:rPr>
              <a:t>is </a:t>
            </a:r>
            <a:r>
              <a:rPr dirty="0" sz="1000">
                <a:latin typeface="Times New Roman"/>
                <a:cs typeface="Times New Roman"/>
              </a:rPr>
              <a:t>listed</a:t>
            </a:r>
            <a:r>
              <a:rPr dirty="0" sz="1000" spc="-5">
                <a:latin typeface="Times New Roman"/>
                <a:cs typeface="Times New Roman"/>
              </a:rPr>
              <a:t> </a:t>
            </a:r>
            <a:r>
              <a:rPr dirty="0" sz="1000">
                <a:latin typeface="Times New Roman"/>
                <a:cs typeface="Times New Roman"/>
              </a:rPr>
              <a:t>in</a:t>
            </a:r>
            <a:r>
              <a:rPr dirty="0" sz="1000" spc="-5">
                <a:latin typeface="Times New Roman"/>
                <a:cs typeface="Times New Roman"/>
              </a:rPr>
              <a:t> </a:t>
            </a:r>
            <a:r>
              <a:rPr dirty="0" sz="1000">
                <a:latin typeface="Times New Roman"/>
                <a:cs typeface="Times New Roman"/>
              </a:rPr>
              <a:t>the bottom</a:t>
            </a:r>
            <a:r>
              <a:rPr dirty="0" sz="1000" spc="-5">
                <a:latin typeface="Times New Roman"/>
                <a:cs typeface="Times New Roman"/>
              </a:rPr>
              <a:t> </a:t>
            </a:r>
            <a:r>
              <a:rPr dirty="0" sz="1000">
                <a:latin typeface="Times New Roman"/>
                <a:cs typeface="Times New Roman"/>
              </a:rPr>
              <a:t>line of</a:t>
            </a:r>
            <a:r>
              <a:rPr dirty="0" sz="1000" spc="-5">
                <a:latin typeface="Times New Roman"/>
                <a:cs typeface="Times New Roman"/>
              </a:rPr>
              <a:t> </a:t>
            </a:r>
            <a:r>
              <a:rPr dirty="0" sz="1000" spc="-10">
                <a:latin typeface="Times New Roman"/>
                <a:cs typeface="Times New Roman"/>
              </a:rPr>
              <a:t>Table</a:t>
            </a:r>
            <a:r>
              <a:rPr dirty="0" sz="1000">
                <a:latin typeface="Times New Roman"/>
                <a:cs typeface="Times New Roman"/>
              </a:rPr>
              <a:t> 3.</a:t>
            </a:r>
            <a:r>
              <a:rPr dirty="0" sz="1000" spc="55">
                <a:latin typeface="Times New Roman"/>
                <a:cs typeface="Times New Roman"/>
              </a:rPr>
              <a:t> </a:t>
            </a:r>
            <a:r>
              <a:rPr dirty="0" sz="1000">
                <a:latin typeface="Times New Roman"/>
                <a:cs typeface="Times New Roman"/>
              </a:rPr>
              <a:t>Training took</a:t>
            </a:r>
            <a:r>
              <a:rPr dirty="0" sz="1000" spc="-5">
                <a:latin typeface="Times New Roman"/>
                <a:cs typeface="Times New Roman"/>
              </a:rPr>
              <a:t> </a:t>
            </a:r>
            <a:r>
              <a:rPr dirty="0" sz="1000">
                <a:latin typeface="Calibri"/>
                <a:cs typeface="Calibri"/>
              </a:rPr>
              <a:t>3</a:t>
            </a:r>
            <a:r>
              <a:rPr dirty="0" sz="1000" i="1">
                <a:latin typeface="Calibri"/>
                <a:cs typeface="Calibri"/>
              </a:rPr>
              <a:t>.</a:t>
            </a:r>
            <a:r>
              <a:rPr dirty="0" sz="1000">
                <a:latin typeface="Calibri"/>
                <a:cs typeface="Calibri"/>
              </a:rPr>
              <a:t>5</a:t>
            </a:r>
            <a:r>
              <a:rPr dirty="0" sz="1000" spc="25">
                <a:latin typeface="Calibri"/>
                <a:cs typeface="Calibri"/>
              </a:rPr>
              <a:t> </a:t>
            </a:r>
            <a:r>
              <a:rPr dirty="0" sz="1000">
                <a:latin typeface="Times New Roman"/>
                <a:cs typeface="Times New Roman"/>
              </a:rPr>
              <a:t>days</a:t>
            </a:r>
            <a:r>
              <a:rPr dirty="0" sz="1000" spc="-5">
                <a:latin typeface="Times New Roman"/>
                <a:cs typeface="Times New Roman"/>
              </a:rPr>
              <a:t> </a:t>
            </a:r>
            <a:r>
              <a:rPr dirty="0" sz="1000">
                <a:latin typeface="Times New Roman"/>
                <a:cs typeface="Times New Roman"/>
              </a:rPr>
              <a:t>on</a:t>
            </a:r>
            <a:r>
              <a:rPr dirty="0" sz="1000" spc="-5">
                <a:latin typeface="Times New Roman"/>
                <a:cs typeface="Times New Roman"/>
              </a:rPr>
              <a:t> </a:t>
            </a:r>
            <a:r>
              <a:rPr dirty="0" sz="1000">
                <a:latin typeface="Calibri"/>
                <a:cs typeface="Calibri"/>
              </a:rPr>
              <a:t>8</a:t>
            </a:r>
            <a:r>
              <a:rPr dirty="0" sz="1000" spc="25">
                <a:latin typeface="Calibri"/>
                <a:cs typeface="Calibri"/>
              </a:rPr>
              <a:t> </a:t>
            </a:r>
            <a:r>
              <a:rPr dirty="0" sz="1000">
                <a:latin typeface="Times New Roman"/>
                <a:cs typeface="Times New Roman"/>
              </a:rPr>
              <a:t>P100</a:t>
            </a:r>
            <a:r>
              <a:rPr dirty="0" sz="1000" spc="-5">
                <a:latin typeface="Times New Roman"/>
                <a:cs typeface="Times New Roman"/>
              </a:rPr>
              <a:t> </a:t>
            </a:r>
            <a:r>
              <a:rPr dirty="0" sz="1000">
                <a:latin typeface="Times New Roman"/>
                <a:cs typeface="Times New Roman"/>
              </a:rPr>
              <a:t>GPUs.</a:t>
            </a:r>
            <a:r>
              <a:rPr dirty="0" sz="1000" spc="60">
                <a:latin typeface="Times New Roman"/>
                <a:cs typeface="Times New Roman"/>
              </a:rPr>
              <a:t> </a:t>
            </a:r>
            <a:r>
              <a:rPr dirty="0" sz="1000">
                <a:latin typeface="Times New Roman"/>
                <a:cs typeface="Times New Roman"/>
              </a:rPr>
              <a:t>Even</a:t>
            </a:r>
            <a:r>
              <a:rPr dirty="0" sz="1000" spc="-5">
                <a:latin typeface="Times New Roman"/>
                <a:cs typeface="Times New Roman"/>
              </a:rPr>
              <a:t> </a:t>
            </a:r>
            <a:r>
              <a:rPr dirty="0" sz="1000">
                <a:latin typeface="Times New Roman"/>
                <a:cs typeface="Times New Roman"/>
              </a:rPr>
              <a:t>our base</a:t>
            </a:r>
            <a:r>
              <a:rPr dirty="0" sz="1000" spc="-5">
                <a:latin typeface="Times New Roman"/>
                <a:cs typeface="Times New Roman"/>
              </a:rPr>
              <a:t> </a:t>
            </a:r>
            <a:r>
              <a:rPr dirty="0" sz="1000" spc="-10">
                <a:latin typeface="Times New Roman"/>
                <a:cs typeface="Times New Roman"/>
              </a:rPr>
              <a:t>model </a:t>
            </a:r>
            <a:r>
              <a:rPr dirty="0" sz="1000">
                <a:latin typeface="Times New Roman"/>
                <a:cs typeface="Times New Roman"/>
              </a:rPr>
              <a:t>surpasses</a:t>
            </a:r>
            <a:r>
              <a:rPr dirty="0" sz="1000" spc="-25">
                <a:latin typeface="Times New Roman"/>
                <a:cs typeface="Times New Roman"/>
              </a:rPr>
              <a:t> </a:t>
            </a:r>
            <a:r>
              <a:rPr dirty="0" sz="1000">
                <a:latin typeface="Times New Roman"/>
                <a:cs typeface="Times New Roman"/>
              </a:rPr>
              <a:t>all</a:t>
            </a:r>
            <a:r>
              <a:rPr dirty="0" sz="1000" spc="-25">
                <a:latin typeface="Times New Roman"/>
                <a:cs typeface="Times New Roman"/>
              </a:rPr>
              <a:t> </a:t>
            </a:r>
            <a:r>
              <a:rPr dirty="0" sz="1000" spc="-10">
                <a:latin typeface="Times New Roman"/>
                <a:cs typeface="Times New Roman"/>
              </a:rPr>
              <a:t>previously</a:t>
            </a:r>
            <a:r>
              <a:rPr dirty="0" sz="1000" spc="-25">
                <a:latin typeface="Times New Roman"/>
                <a:cs typeface="Times New Roman"/>
              </a:rPr>
              <a:t> </a:t>
            </a:r>
            <a:r>
              <a:rPr dirty="0" sz="1000">
                <a:latin typeface="Times New Roman"/>
                <a:cs typeface="Times New Roman"/>
              </a:rPr>
              <a:t>published</a:t>
            </a:r>
            <a:r>
              <a:rPr dirty="0" sz="1000" spc="-25">
                <a:latin typeface="Times New Roman"/>
                <a:cs typeface="Times New Roman"/>
              </a:rPr>
              <a:t> </a:t>
            </a:r>
            <a:r>
              <a:rPr dirty="0" sz="1000">
                <a:latin typeface="Times New Roman"/>
                <a:cs typeface="Times New Roman"/>
              </a:rPr>
              <a:t>models</a:t>
            </a:r>
            <a:r>
              <a:rPr dirty="0" sz="1000" spc="-2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ensembles,</a:t>
            </a:r>
            <a:r>
              <a:rPr dirty="0" sz="1000" spc="-25">
                <a:latin typeface="Times New Roman"/>
                <a:cs typeface="Times New Roman"/>
              </a:rPr>
              <a:t> </a:t>
            </a:r>
            <a:r>
              <a:rPr dirty="0" sz="1000">
                <a:latin typeface="Times New Roman"/>
                <a:cs typeface="Times New Roman"/>
              </a:rPr>
              <a:t>at</a:t>
            </a:r>
            <a:r>
              <a:rPr dirty="0" sz="1000" spc="-25">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a:latin typeface="Times New Roman"/>
                <a:cs typeface="Times New Roman"/>
              </a:rPr>
              <a:t>fraction</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training</a:t>
            </a:r>
            <a:r>
              <a:rPr dirty="0" sz="1000" spc="-25">
                <a:latin typeface="Times New Roman"/>
                <a:cs typeface="Times New Roman"/>
              </a:rPr>
              <a:t> </a:t>
            </a:r>
            <a:r>
              <a:rPr dirty="0" sz="1000">
                <a:latin typeface="Times New Roman"/>
                <a:cs typeface="Times New Roman"/>
              </a:rPr>
              <a:t>cost</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any</a:t>
            </a:r>
            <a:r>
              <a:rPr dirty="0" sz="1000" spc="-25">
                <a:latin typeface="Times New Roman"/>
                <a:cs typeface="Times New Roman"/>
              </a:rPr>
              <a:t> of </a:t>
            </a:r>
            <a:r>
              <a:rPr dirty="0" sz="1000">
                <a:latin typeface="Times New Roman"/>
                <a:cs typeface="Times New Roman"/>
              </a:rPr>
              <a:t>the</a:t>
            </a:r>
            <a:r>
              <a:rPr dirty="0" sz="1000" spc="-5">
                <a:latin typeface="Times New Roman"/>
                <a:cs typeface="Times New Roman"/>
              </a:rPr>
              <a:t> </a:t>
            </a:r>
            <a:r>
              <a:rPr dirty="0" sz="1000" spc="-10">
                <a:latin typeface="Times New Roman"/>
                <a:cs typeface="Times New Roman"/>
              </a:rPr>
              <a:t>competitive</a:t>
            </a:r>
            <a:r>
              <a:rPr dirty="0" sz="1000">
                <a:latin typeface="Times New Roman"/>
                <a:cs typeface="Times New Roman"/>
              </a:rPr>
              <a:t> </a:t>
            </a:r>
            <a:r>
              <a:rPr dirty="0" sz="1000" spc="-10">
                <a:latin typeface="Times New Roman"/>
                <a:cs typeface="Times New Roman"/>
              </a:rPr>
              <a:t>models.</a:t>
            </a:r>
            <a:endParaRPr sz="1000">
              <a:latin typeface="Times New Roman"/>
              <a:cs typeface="Times New Roman"/>
            </a:endParaRPr>
          </a:p>
          <a:p>
            <a:pPr algn="just" marL="67945" marR="55880">
              <a:lnSpc>
                <a:spcPts val="1090"/>
              </a:lnSpc>
              <a:spcBef>
                <a:spcPts val="555"/>
              </a:spcBef>
            </a:pPr>
            <a:r>
              <a:rPr dirty="0" sz="1000">
                <a:latin typeface="Times New Roman"/>
                <a:cs typeface="Times New Roman"/>
              </a:rPr>
              <a:t>On</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WMT</a:t>
            </a:r>
            <a:r>
              <a:rPr dirty="0" sz="1000" spc="-30">
                <a:latin typeface="Times New Roman"/>
                <a:cs typeface="Times New Roman"/>
              </a:rPr>
              <a:t> </a:t>
            </a:r>
            <a:r>
              <a:rPr dirty="0" sz="1000" spc="-10">
                <a:latin typeface="Times New Roman"/>
                <a:cs typeface="Times New Roman"/>
              </a:rPr>
              <a:t>2014</a:t>
            </a:r>
            <a:r>
              <a:rPr dirty="0" sz="1000" spc="-25">
                <a:latin typeface="Times New Roman"/>
                <a:cs typeface="Times New Roman"/>
              </a:rPr>
              <a:t> </a:t>
            </a:r>
            <a:r>
              <a:rPr dirty="0" sz="1000" spc="-20">
                <a:latin typeface="Times New Roman"/>
                <a:cs typeface="Times New Roman"/>
              </a:rPr>
              <a:t>English-to-</a:t>
            </a:r>
            <a:r>
              <a:rPr dirty="0" sz="1000" spc="-10">
                <a:latin typeface="Times New Roman"/>
                <a:cs typeface="Times New Roman"/>
              </a:rPr>
              <a:t>French</a:t>
            </a:r>
            <a:r>
              <a:rPr dirty="0" sz="1000" spc="-30">
                <a:latin typeface="Times New Roman"/>
                <a:cs typeface="Times New Roman"/>
              </a:rPr>
              <a:t> </a:t>
            </a:r>
            <a:r>
              <a:rPr dirty="0" sz="1000" spc="-10">
                <a:latin typeface="Times New Roman"/>
                <a:cs typeface="Times New Roman"/>
              </a:rPr>
              <a:t>translation</a:t>
            </a:r>
            <a:r>
              <a:rPr dirty="0" sz="1000" spc="-25">
                <a:latin typeface="Times New Roman"/>
                <a:cs typeface="Times New Roman"/>
              </a:rPr>
              <a:t> </a:t>
            </a:r>
            <a:r>
              <a:rPr dirty="0" sz="1000">
                <a:latin typeface="Times New Roman"/>
                <a:cs typeface="Times New Roman"/>
              </a:rPr>
              <a:t>task,</a:t>
            </a:r>
            <a:r>
              <a:rPr dirty="0" sz="1000" spc="-30">
                <a:latin typeface="Times New Roman"/>
                <a:cs typeface="Times New Roman"/>
              </a:rPr>
              <a:t> </a:t>
            </a:r>
            <a:r>
              <a:rPr dirty="0" sz="1000">
                <a:latin typeface="Times New Roman"/>
                <a:cs typeface="Times New Roman"/>
              </a:rPr>
              <a:t>our</a:t>
            </a:r>
            <a:r>
              <a:rPr dirty="0" sz="1000" spc="-25">
                <a:latin typeface="Times New Roman"/>
                <a:cs typeface="Times New Roman"/>
              </a:rPr>
              <a:t> </a:t>
            </a:r>
            <a:r>
              <a:rPr dirty="0" sz="1000">
                <a:latin typeface="Times New Roman"/>
                <a:cs typeface="Times New Roman"/>
              </a:rPr>
              <a:t>big</a:t>
            </a:r>
            <a:r>
              <a:rPr dirty="0" sz="1000" spc="-30">
                <a:latin typeface="Times New Roman"/>
                <a:cs typeface="Times New Roman"/>
              </a:rPr>
              <a:t> </a:t>
            </a:r>
            <a:r>
              <a:rPr dirty="0" sz="1000" spc="-10">
                <a:latin typeface="Times New Roman"/>
                <a:cs typeface="Times New Roman"/>
              </a:rPr>
              <a:t>model</a:t>
            </a:r>
            <a:r>
              <a:rPr dirty="0" sz="1000" spc="-25">
                <a:latin typeface="Times New Roman"/>
                <a:cs typeface="Times New Roman"/>
              </a:rPr>
              <a:t> </a:t>
            </a:r>
            <a:r>
              <a:rPr dirty="0" sz="1000" spc="-20">
                <a:latin typeface="Times New Roman"/>
                <a:cs typeface="Times New Roman"/>
              </a:rPr>
              <a:t>achieves</a:t>
            </a:r>
            <a:r>
              <a:rPr dirty="0" sz="1000" spc="-30">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spc="-10">
                <a:latin typeface="Times New Roman"/>
                <a:cs typeface="Times New Roman"/>
              </a:rPr>
              <a:t>BLEU</a:t>
            </a:r>
            <a:r>
              <a:rPr dirty="0" sz="1000" spc="-30">
                <a:latin typeface="Times New Roman"/>
                <a:cs typeface="Times New Roman"/>
              </a:rPr>
              <a:t> </a:t>
            </a:r>
            <a:r>
              <a:rPr dirty="0" sz="1000" spc="-10">
                <a:latin typeface="Times New Roman"/>
                <a:cs typeface="Times New Roman"/>
              </a:rPr>
              <a:t>score</a:t>
            </a:r>
            <a:r>
              <a:rPr dirty="0" sz="1000" spc="-25">
                <a:latin typeface="Times New Roman"/>
                <a:cs typeface="Times New Roman"/>
              </a:rPr>
              <a:t> </a:t>
            </a:r>
            <a:r>
              <a:rPr dirty="0" sz="1000">
                <a:latin typeface="Times New Roman"/>
                <a:cs typeface="Times New Roman"/>
              </a:rPr>
              <a:t>of</a:t>
            </a:r>
            <a:r>
              <a:rPr dirty="0" sz="1000" spc="-30">
                <a:latin typeface="Times New Roman"/>
                <a:cs typeface="Times New Roman"/>
              </a:rPr>
              <a:t> </a:t>
            </a:r>
            <a:r>
              <a:rPr dirty="0" sz="1000" spc="-10">
                <a:latin typeface="Calibri"/>
                <a:cs typeface="Calibri"/>
              </a:rPr>
              <a:t>41</a:t>
            </a:r>
            <a:r>
              <a:rPr dirty="0" sz="1000" spc="-10" i="1">
                <a:latin typeface="Calibri"/>
                <a:cs typeface="Calibri"/>
              </a:rPr>
              <a:t>.</a:t>
            </a:r>
            <a:r>
              <a:rPr dirty="0" sz="1000" spc="-10">
                <a:latin typeface="Calibri"/>
                <a:cs typeface="Calibri"/>
              </a:rPr>
              <a:t>0</a:t>
            </a:r>
            <a:r>
              <a:rPr dirty="0" sz="1000" spc="-10">
                <a:latin typeface="Times New Roman"/>
                <a:cs typeface="Times New Roman"/>
              </a:rPr>
              <a:t>, outperforming</a:t>
            </a:r>
            <a:r>
              <a:rPr dirty="0" sz="1000" spc="-15">
                <a:latin typeface="Times New Roman"/>
                <a:cs typeface="Times New Roman"/>
              </a:rPr>
              <a:t> </a:t>
            </a:r>
            <a:r>
              <a:rPr dirty="0" sz="1000">
                <a:latin typeface="Times New Roman"/>
                <a:cs typeface="Times New Roman"/>
              </a:rPr>
              <a:t>all</a:t>
            </a:r>
            <a:r>
              <a:rPr dirty="0" sz="1000" spc="-1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10">
                <a:latin typeface="Times New Roman"/>
                <a:cs typeface="Times New Roman"/>
              </a:rPr>
              <a:t> previously </a:t>
            </a:r>
            <a:r>
              <a:rPr dirty="0" sz="1000">
                <a:latin typeface="Times New Roman"/>
                <a:cs typeface="Times New Roman"/>
              </a:rPr>
              <a:t>published</a:t>
            </a:r>
            <a:r>
              <a:rPr dirty="0" sz="1000" spc="-15">
                <a:latin typeface="Times New Roman"/>
                <a:cs typeface="Times New Roman"/>
              </a:rPr>
              <a:t> </a:t>
            </a:r>
            <a:r>
              <a:rPr dirty="0" sz="1000">
                <a:latin typeface="Times New Roman"/>
                <a:cs typeface="Times New Roman"/>
              </a:rPr>
              <a:t>single</a:t>
            </a:r>
            <a:r>
              <a:rPr dirty="0" sz="1000" spc="-10">
                <a:latin typeface="Times New Roman"/>
                <a:cs typeface="Times New Roman"/>
              </a:rPr>
              <a:t> </a:t>
            </a:r>
            <a:r>
              <a:rPr dirty="0" sz="1000">
                <a:latin typeface="Times New Roman"/>
                <a:cs typeface="Times New Roman"/>
              </a:rPr>
              <a:t>models,</a:t>
            </a:r>
            <a:r>
              <a:rPr dirty="0" sz="1000" spc="-15">
                <a:latin typeface="Times New Roman"/>
                <a:cs typeface="Times New Roman"/>
              </a:rPr>
              <a:t> </a:t>
            </a:r>
            <a:r>
              <a:rPr dirty="0" sz="1000">
                <a:latin typeface="Times New Roman"/>
                <a:cs typeface="Times New Roman"/>
              </a:rPr>
              <a:t>at</a:t>
            </a:r>
            <a:r>
              <a:rPr dirty="0" sz="1000" spc="-10">
                <a:latin typeface="Times New Roman"/>
                <a:cs typeface="Times New Roman"/>
              </a:rPr>
              <a:t> </a:t>
            </a:r>
            <a:r>
              <a:rPr dirty="0" sz="1000">
                <a:latin typeface="Times New Roman"/>
                <a:cs typeface="Times New Roman"/>
              </a:rPr>
              <a:t>less</a:t>
            </a:r>
            <a:r>
              <a:rPr dirty="0" sz="1000" spc="-10">
                <a:latin typeface="Times New Roman"/>
                <a:cs typeface="Times New Roman"/>
              </a:rPr>
              <a:t> </a:t>
            </a:r>
            <a:r>
              <a:rPr dirty="0" sz="1000">
                <a:latin typeface="Times New Roman"/>
                <a:cs typeface="Times New Roman"/>
              </a:rPr>
              <a:t>than</a:t>
            </a:r>
            <a:r>
              <a:rPr dirty="0" sz="1000" spc="-15">
                <a:latin typeface="Times New Roman"/>
                <a:cs typeface="Times New Roman"/>
              </a:rPr>
              <a:t> </a:t>
            </a:r>
            <a:r>
              <a:rPr dirty="0" sz="1000">
                <a:latin typeface="Calibri"/>
                <a:cs typeface="Calibri"/>
              </a:rPr>
              <a:t>1</a:t>
            </a:r>
            <a:r>
              <a:rPr dirty="0" sz="1000" i="1">
                <a:latin typeface="Calibri"/>
                <a:cs typeface="Calibri"/>
              </a:rPr>
              <a:t>/</a:t>
            </a:r>
            <a:r>
              <a:rPr dirty="0" sz="1000">
                <a:latin typeface="Calibri"/>
                <a:cs typeface="Calibri"/>
              </a:rPr>
              <a:t>4</a:t>
            </a:r>
            <a:r>
              <a:rPr dirty="0" sz="1000" spc="15">
                <a:latin typeface="Calibri"/>
                <a:cs typeface="Calibri"/>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training</a:t>
            </a:r>
            <a:r>
              <a:rPr dirty="0" sz="1000" spc="-10">
                <a:latin typeface="Times New Roman"/>
                <a:cs typeface="Times New Roman"/>
              </a:rPr>
              <a:t> </a:t>
            </a:r>
            <a:r>
              <a:rPr dirty="0" sz="1000">
                <a:latin typeface="Times New Roman"/>
                <a:cs typeface="Times New Roman"/>
              </a:rPr>
              <a:t>cost</a:t>
            </a:r>
            <a:r>
              <a:rPr dirty="0" sz="1000" spc="-1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spc="-25">
                <a:latin typeface="Times New Roman"/>
                <a:cs typeface="Times New Roman"/>
              </a:rPr>
              <a:t>the </a:t>
            </a:r>
            <a:r>
              <a:rPr dirty="0" sz="1000">
                <a:latin typeface="Times New Roman"/>
                <a:cs typeface="Times New Roman"/>
              </a:rPr>
              <a:t>previous</a:t>
            </a:r>
            <a:r>
              <a:rPr dirty="0" sz="1000" spc="45">
                <a:latin typeface="Times New Roman"/>
                <a:cs typeface="Times New Roman"/>
              </a:rPr>
              <a:t> </a:t>
            </a:r>
            <a:r>
              <a:rPr dirty="0" sz="1000">
                <a:latin typeface="Times New Roman"/>
                <a:cs typeface="Times New Roman"/>
              </a:rPr>
              <a:t>state-of-the-art</a:t>
            </a:r>
            <a:r>
              <a:rPr dirty="0" sz="1000" spc="45">
                <a:latin typeface="Times New Roman"/>
                <a:cs typeface="Times New Roman"/>
              </a:rPr>
              <a:t> </a:t>
            </a:r>
            <a:r>
              <a:rPr dirty="0" sz="1000">
                <a:latin typeface="Times New Roman"/>
                <a:cs typeface="Times New Roman"/>
              </a:rPr>
              <a:t>model.</a:t>
            </a:r>
            <a:r>
              <a:rPr dirty="0" sz="1000" spc="170">
                <a:latin typeface="Times New Roman"/>
                <a:cs typeface="Times New Roman"/>
              </a:rPr>
              <a:t> </a:t>
            </a:r>
            <a:r>
              <a:rPr dirty="0" sz="1000">
                <a:latin typeface="Times New Roman"/>
                <a:cs typeface="Times New Roman"/>
              </a:rPr>
              <a:t>The</a:t>
            </a:r>
            <a:r>
              <a:rPr dirty="0" sz="1000" spc="45">
                <a:latin typeface="Times New Roman"/>
                <a:cs typeface="Times New Roman"/>
              </a:rPr>
              <a:t> </a:t>
            </a:r>
            <a:r>
              <a:rPr dirty="0" sz="1000">
                <a:latin typeface="Times New Roman"/>
                <a:cs typeface="Times New Roman"/>
              </a:rPr>
              <a:t>Transformer</a:t>
            </a:r>
            <a:r>
              <a:rPr dirty="0" sz="1000" spc="50">
                <a:latin typeface="Times New Roman"/>
                <a:cs typeface="Times New Roman"/>
              </a:rPr>
              <a:t> </a:t>
            </a:r>
            <a:r>
              <a:rPr dirty="0" sz="1000">
                <a:latin typeface="Times New Roman"/>
                <a:cs typeface="Times New Roman"/>
              </a:rPr>
              <a:t>(big)</a:t>
            </a:r>
            <a:r>
              <a:rPr dirty="0" sz="1000" spc="45">
                <a:latin typeface="Times New Roman"/>
                <a:cs typeface="Times New Roman"/>
              </a:rPr>
              <a:t> </a:t>
            </a:r>
            <a:r>
              <a:rPr dirty="0" sz="1000">
                <a:latin typeface="Times New Roman"/>
                <a:cs typeface="Times New Roman"/>
              </a:rPr>
              <a:t>model</a:t>
            </a:r>
            <a:r>
              <a:rPr dirty="0" sz="1000" spc="45">
                <a:latin typeface="Times New Roman"/>
                <a:cs typeface="Times New Roman"/>
              </a:rPr>
              <a:t> </a:t>
            </a:r>
            <a:r>
              <a:rPr dirty="0" sz="1000">
                <a:latin typeface="Times New Roman"/>
                <a:cs typeface="Times New Roman"/>
              </a:rPr>
              <a:t>trained</a:t>
            </a:r>
            <a:r>
              <a:rPr dirty="0" sz="1000" spc="45">
                <a:latin typeface="Times New Roman"/>
                <a:cs typeface="Times New Roman"/>
              </a:rPr>
              <a:t> </a:t>
            </a:r>
            <a:r>
              <a:rPr dirty="0" sz="1000">
                <a:latin typeface="Times New Roman"/>
                <a:cs typeface="Times New Roman"/>
              </a:rPr>
              <a:t>for</a:t>
            </a:r>
            <a:r>
              <a:rPr dirty="0" sz="1000" spc="50">
                <a:latin typeface="Times New Roman"/>
                <a:cs typeface="Times New Roman"/>
              </a:rPr>
              <a:t> </a:t>
            </a:r>
            <a:r>
              <a:rPr dirty="0" sz="1000">
                <a:latin typeface="Times New Roman"/>
                <a:cs typeface="Times New Roman"/>
              </a:rPr>
              <a:t>English-to-French</a:t>
            </a:r>
            <a:r>
              <a:rPr dirty="0" sz="1000" spc="45">
                <a:latin typeface="Times New Roman"/>
                <a:cs typeface="Times New Roman"/>
              </a:rPr>
              <a:t> </a:t>
            </a:r>
            <a:r>
              <a:rPr dirty="0" sz="1000" spc="-20">
                <a:latin typeface="Times New Roman"/>
                <a:cs typeface="Times New Roman"/>
              </a:rPr>
              <a:t>used </a:t>
            </a:r>
            <a:r>
              <a:rPr dirty="0" sz="1000">
                <a:latin typeface="Times New Roman"/>
                <a:cs typeface="Times New Roman"/>
              </a:rPr>
              <a:t>dropout</a:t>
            </a:r>
            <a:r>
              <a:rPr dirty="0" sz="1000" spc="-20">
                <a:latin typeface="Times New Roman"/>
                <a:cs typeface="Times New Roman"/>
              </a:rPr>
              <a:t> </a:t>
            </a:r>
            <a:r>
              <a:rPr dirty="0" sz="1000">
                <a:latin typeface="Times New Roman"/>
                <a:cs typeface="Times New Roman"/>
              </a:rPr>
              <a:t>rate</a:t>
            </a:r>
            <a:r>
              <a:rPr dirty="0" sz="1000" spc="-15">
                <a:latin typeface="Times New Roman"/>
                <a:cs typeface="Times New Roman"/>
              </a:rPr>
              <a:t> </a:t>
            </a:r>
            <a:r>
              <a:rPr dirty="0" sz="1000" spc="75" i="1">
                <a:latin typeface="Calibri"/>
                <a:cs typeface="Calibri"/>
              </a:rPr>
              <a:t>P</a:t>
            </a:r>
            <a:r>
              <a:rPr dirty="0" baseline="-11904" sz="1050" spc="112" i="1">
                <a:latin typeface="Calibri"/>
                <a:cs typeface="Calibri"/>
              </a:rPr>
              <a:t>drop</a:t>
            </a:r>
            <a:r>
              <a:rPr dirty="0" baseline="-11904" sz="1050" spc="225" i="1">
                <a:latin typeface="Calibri"/>
                <a:cs typeface="Calibri"/>
              </a:rPr>
              <a:t> </a:t>
            </a:r>
            <a:r>
              <a:rPr dirty="0" sz="1000" spc="270">
                <a:latin typeface="Calibri"/>
                <a:cs typeface="Calibri"/>
              </a:rPr>
              <a:t>=</a:t>
            </a:r>
            <a:r>
              <a:rPr dirty="0" sz="1000" spc="40">
                <a:latin typeface="Calibri"/>
                <a:cs typeface="Calibri"/>
              </a:rPr>
              <a:t> </a:t>
            </a:r>
            <a:r>
              <a:rPr dirty="0" sz="1000">
                <a:latin typeface="Calibri"/>
                <a:cs typeface="Calibri"/>
              </a:rPr>
              <a:t>0</a:t>
            </a:r>
            <a:r>
              <a:rPr dirty="0" sz="1000" i="1">
                <a:latin typeface="Calibri"/>
                <a:cs typeface="Calibri"/>
              </a:rPr>
              <a:t>.</a:t>
            </a:r>
            <a:r>
              <a:rPr dirty="0" sz="1000">
                <a:latin typeface="Calibri"/>
                <a:cs typeface="Calibri"/>
              </a:rPr>
              <a:t>1</a:t>
            </a:r>
            <a:r>
              <a:rPr dirty="0" sz="1000">
                <a:latin typeface="Times New Roman"/>
                <a:cs typeface="Times New Roman"/>
              </a:rPr>
              <a:t>,</a:t>
            </a:r>
            <a:r>
              <a:rPr dirty="0" sz="1000" spc="-20">
                <a:latin typeface="Times New Roman"/>
                <a:cs typeface="Times New Roman"/>
              </a:rPr>
              <a:t> </a:t>
            </a:r>
            <a:r>
              <a:rPr dirty="0" sz="1000">
                <a:latin typeface="Times New Roman"/>
                <a:cs typeface="Times New Roman"/>
              </a:rPr>
              <a:t>instead</a:t>
            </a:r>
            <a:r>
              <a:rPr dirty="0" sz="1000" spc="-1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20">
                <a:latin typeface="Calibri"/>
                <a:cs typeface="Calibri"/>
              </a:rPr>
              <a:t>0</a:t>
            </a:r>
            <a:r>
              <a:rPr dirty="0" sz="1000" spc="-20" i="1">
                <a:latin typeface="Calibri"/>
                <a:cs typeface="Calibri"/>
              </a:rPr>
              <a:t>.</a:t>
            </a:r>
            <a:r>
              <a:rPr dirty="0" sz="1000" spc="-20">
                <a:latin typeface="Calibri"/>
                <a:cs typeface="Calibri"/>
              </a:rPr>
              <a:t>3</a:t>
            </a:r>
            <a:r>
              <a:rPr dirty="0" sz="1000" spc="-20">
                <a:latin typeface="Times New Roman"/>
                <a:cs typeface="Times New Roman"/>
              </a:rPr>
              <a:t>.</a:t>
            </a:r>
            <a:endParaRPr sz="1000">
              <a:latin typeface="Times New Roman"/>
              <a:cs typeface="Times New Roman"/>
            </a:endParaRPr>
          </a:p>
          <a:p>
            <a:pPr algn="just" marL="63500" marR="71120" indent="4445">
              <a:lnSpc>
                <a:spcPts val="1090"/>
              </a:lnSpc>
              <a:spcBef>
                <a:spcPts val="550"/>
              </a:spcBef>
            </a:pPr>
            <a:r>
              <a:rPr dirty="0" sz="1000">
                <a:latin typeface="Times New Roman"/>
                <a:cs typeface="Times New Roman"/>
              </a:rPr>
              <a:t>For</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base</a:t>
            </a:r>
            <a:r>
              <a:rPr dirty="0" sz="1000" spc="30">
                <a:latin typeface="Times New Roman"/>
                <a:cs typeface="Times New Roman"/>
              </a:rPr>
              <a:t> </a:t>
            </a:r>
            <a:r>
              <a:rPr dirty="0" sz="1000">
                <a:latin typeface="Times New Roman"/>
                <a:cs typeface="Times New Roman"/>
              </a:rPr>
              <a:t>models,</a:t>
            </a:r>
            <a:r>
              <a:rPr dirty="0" sz="1000" spc="35">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used</a:t>
            </a:r>
            <a:r>
              <a:rPr dirty="0" sz="1000" spc="30">
                <a:latin typeface="Times New Roman"/>
                <a:cs typeface="Times New Roman"/>
              </a:rPr>
              <a:t> </a:t>
            </a:r>
            <a:r>
              <a:rPr dirty="0" sz="1000">
                <a:latin typeface="Times New Roman"/>
                <a:cs typeface="Times New Roman"/>
              </a:rPr>
              <a:t>a</a:t>
            </a:r>
            <a:r>
              <a:rPr dirty="0" sz="1000" spc="30">
                <a:latin typeface="Times New Roman"/>
                <a:cs typeface="Times New Roman"/>
              </a:rPr>
              <a:t> </a:t>
            </a:r>
            <a:r>
              <a:rPr dirty="0" sz="1000">
                <a:latin typeface="Times New Roman"/>
                <a:cs typeface="Times New Roman"/>
              </a:rPr>
              <a:t>single</a:t>
            </a:r>
            <a:r>
              <a:rPr dirty="0" sz="1000" spc="30">
                <a:latin typeface="Times New Roman"/>
                <a:cs typeface="Times New Roman"/>
              </a:rPr>
              <a:t> </a:t>
            </a:r>
            <a:r>
              <a:rPr dirty="0" sz="1000">
                <a:latin typeface="Times New Roman"/>
                <a:cs typeface="Times New Roman"/>
              </a:rPr>
              <a:t>model</a:t>
            </a:r>
            <a:r>
              <a:rPr dirty="0" sz="1000" spc="30">
                <a:latin typeface="Times New Roman"/>
                <a:cs typeface="Times New Roman"/>
              </a:rPr>
              <a:t> </a:t>
            </a:r>
            <a:r>
              <a:rPr dirty="0" sz="1000">
                <a:latin typeface="Times New Roman"/>
                <a:cs typeface="Times New Roman"/>
              </a:rPr>
              <a:t>obtained</a:t>
            </a:r>
            <a:r>
              <a:rPr dirty="0" sz="1000" spc="30">
                <a:latin typeface="Times New Roman"/>
                <a:cs typeface="Times New Roman"/>
              </a:rPr>
              <a:t> </a:t>
            </a:r>
            <a:r>
              <a:rPr dirty="0" sz="1000">
                <a:latin typeface="Times New Roman"/>
                <a:cs typeface="Times New Roman"/>
              </a:rPr>
              <a:t>by</a:t>
            </a:r>
            <a:r>
              <a:rPr dirty="0" sz="1000" spc="30">
                <a:latin typeface="Times New Roman"/>
                <a:cs typeface="Times New Roman"/>
              </a:rPr>
              <a:t> </a:t>
            </a:r>
            <a:r>
              <a:rPr dirty="0" sz="1000">
                <a:latin typeface="Times New Roman"/>
                <a:cs typeface="Times New Roman"/>
              </a:rPr>
              <a:t>averaging</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last</a:t>
            </a:r>
            <a:r>
              <a:rPr dirty="0" sz="1000" spc="30">
                <a:latin typeface="Times New Roman"/>
                <a:cs typeface="Times New Roman"/>
              </a:rPr>
              <a:t> </a:t>
            </a:r>
            <a:r>
              <a:rPr dirty="0" sz="1000">
                <a:latin typeface="Times New Roman"/>
                <a:cs typeface="Times New Roman"/>
              </a:rPr>
              <a:t>5</a:t>
            </a:r>
            <a:r>
              <a:rPr dirty="0" sz="1000" spc="30">
                <a:latin typeface="Times New Roman"/>
                <a:cs typeface="Times New Roman"/>
              </a:rPr>
              <a:t> </a:t>
            </a:r>
            <a:r>
              <a:rPr dirty="0" sz="1000">
                <a:latin typeface="Times New Roman"/>
                <a:cs typeface="Times New Roman"/>
              </a:rPr>
              <a:t>checkpoints,</a:t>
            </a:r>
            <a:r>
              <a:rPr dirty="0" sz="1000" spc="30">
                <a:latin typeface="Times New Roman"/>
                <a:cs typeface="Times New Roman"/>
              </a:rPr>
              <a:t> </a:t>
            </a:r>
            <a:r>
              <a:rPr dirty="0" sz="1000" spc="-10">
                <a:latin typeface="Times New Roman"/>
                <a:cs typeface="Times New Roman"/>
              </a:rPr>
              <a:t>which </a:t>
            </a:r>
            <a:r>
              <a:rPr dirty="0" sz="1000">
                <a:latin typeface="Times New Roman"/>
                <a:cs typeface="Times New Roman"/>
              </a:rPr>
              <a:t>were</a:t>
            </a:r>
            <a:r>
              <a:rPr dirty="0" sz="1000" spc="20">
                <a:latin typeface="Times New Roman"/>
                <a:cs typeface="Times New Roman"/>
              </a:rPr>
              <a:t> </a:t>
            </a:r>
            <a:r>
              <a:rPr dirty="0" sz="1000">
                <a:latin typeface="Times New Roman"/>
                <a:cs typeface="Times New Roman"/>
              </a:rPr>
              <a:t>written</a:t>
            </a:r>
            <a:r>
              <a:rPr dirty="0" sz="1000" spc="25">
                <a:latin typeface="Times New Roman"/>
                <a:cs typeface="Times New Roman"/>
              </a:rPr>
              <a:t> </a:t>
            </a:r>
            <a:r>
              <a:rPr dirty="0" sz="1000">
                <a:latin typeface="Times New Roman"/>
                <a:cs typeface="Times New Roman"/>
              </a:rPr>
              <a:t>at</a:t>
            </a:r>
            <a:r>
              <a:rPr dirty="0" sz="1000" spc="20">
                <a:latin typeface="Times New Roman"/>
                <a:cs typeface="Times New Roman"/>
              </a:rPr>
              <a:t> </a:t>
            </a:r>
            <a:r>
              <a:rPr dirty="0" sz="1000">
                <a:latin typeface="Times New Roman"/>
                <a:cs typeface="Times New Roman"/>
              </a:rPr>
              <a:t>10-minute</a:t>
            </a:r>
            <a:r>
              <a:rPr dirty="0" sz="1000" spc="25">
                <a:latin typeface="Times New Roman"/>
                <a:cs typeface="Times New Roman"/>
              </a:rPr>
              <a:t> </a:t>
            </a:r>
            <a:r>
              <a:rPr dirty="0" sz="1000">
                <a:latin typeface="Times New Roman"/>
                <a:cs typeface="Times New Roman"/>
              </a:rPr>
              <a:t>intervals.</a:t>
            </a:r>
            <a:r>
              <a:rPr dirty="0" sz="1000" spc="110">
                <a:latin typeface="Times New Roman"/>
                <a:cs typeface="Times New Roman"/>
              </a:rPr>
              <a:t> </a:t>
            </a: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big</a:t>
            </a:r>
            <a:r>
              <a:rPr dirty="0" sz="1000" spc="20">
                <a:latin typeface="Times New Roman"/>
                <a:cs typeface="Times New Roman"/>
              </a:rPr>
              <a:t> </a:t>
            </a:r>
            <a:r>
              <a:rPr dirty="0" sz="1000">
                <a:latin typeface="Times New Roman"/>
                <a:cs typeface="Times New Roman"/>
              </a:rPr>
              <a:t>models,</a:t>
            </a:r>
            <a:r>
              <a:rPr dirty="0" sz="1000" spc="25">
                <a:latin typeface="Times New Roman"/>
                <a:cs typeface="Times New Roman"/>
              </a:rPr>
              <a:t> </a:t>
            </a:r>
            <a:r>
              <a:rPr dirty="0" sz="1000">
                <a:latin typeface="Times New Roman"/>
                <a:cs typeface="Times New Roman"/>
              </a:rPr>
              <a:t>we</a:t>
            </a:r>
            <a:r>
              <a:rPr dirty="0" sz="1000" spc="20">
                <a:latin typeface="Times New Roman"/>
                <a:cs typeface="Times New Roman"/>
              </a:rPr>
              <a:t> </a:t>
            </a:r>
            <a:r>
              <a:rPr dirty="0" sz="1000">
                <a:latin typeface="Times New Roman"/>
                <a:cs typeface="Times New Roman"/>
              </a:rPr>
              <a:t>averaged</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last</a:t>
            </a:r>
            <a:r>
              <a:rPr dirty="0" sz="1000" spc="25">
                <a:latin typeface="Times New Roman"/>
                <a:cs typeface="Times New Roman"/>
              </a:rPr>
              <a:t> </a:t>
            </a:r>
            <a:r>
              <a:rPr dirty="0" sz="1000">
                <a:latin typeface="Times New Roman"/>
                <a:cs typeface="Times New Roman"/>
              </a:rPr>
              <a:t>20</a:t>
            </a:r>
            <a:r>
              <a:rPr dirty="0" sz="1000" spc="20">
                <a:latin typeface="Times New Roman"/>
                <a:cs typeface="Times New Roman"/>
              </a:rPr>
              <a:t> </a:t>
            </a:r>
            <a:r>
              <a:rPr dirty="0" sz="1000">
                <a:latin typeface="Times New Roman"/>
                <a:cs typeface="Times New Roman"/>
              </a:rPr>
              <a:t>checkpoints.</a:t>
            </a:r>
            <a:r>
              <a:rPr dirty="0" sz="1000" spc="114">
                <a:latin typeface="Times New Roman"/>
                <a:cs typeface="Times New Roman"/>
              </a:rPr>
              <a:t> </a:t>
            </a:r>
            <a:r>
              <a:rPr dirty="0" sz="1000" spc="-25">
                <a:latin typeface="Times New Roman"/>
                <a:cs typeface="Times New Roman"/>
              </a:rPr>
              <a:t>We </a:t>
            </a:r>
            <a:r>
              <a:rPr dirty="0" sz="1000">
                <a:latin typeface="Times New Roman"/>
                <a:cs typeface="Times New Roman"/>
              </a:rPr>
              <a:t>used</a:t>
            </a:r>
            <a:r>
              <a:rPr dirty="0" sz="1000" spc="20">
                <a:latin typeface="Times New Roman"/>
                <a:cs typeface="Times New Roman"/>
              </a:rPr>
              <a:t> </a:t>
            </a:r>
            <a:r>
              <a:rPr dirty="0" sz="1000">
                <a:latin typeface="Times New Roman"/>
                <a:cs typeface="Times New Roman"/>
              </a:rPr>
              <a:t>beam</a:t>
            </a:r>
            <a:r>
              <a:rPr dirty="0" sz="1000" spc="25">
                <a:latin typeface="Times New Roman"/>
                <a:cs typeface="Times New Roman"/>
              </a:rPr>
              <a:t> </a:t>
            </a:r>
            <a:r>
              <a:rPr dirty="0" sz="1000">
                <a:latin typeface="Times New Roman"/>
                <a:cs typeface="Times New Roman"/>
              </a:rPr>
              <a:t>search</a:t>
            </a:r>
            <a:r>
              <a:rPr dirty="0" sz="1000" spc="25">
                <a:latin typeface="Times New Roman"/>
                <a:cs typeface="Times New Roman"/>
              </a:rPr>
              <a:t> </a:t>
            </a:r>
            <a:r>
              <a:rPr dirty="0" sz="1000">
                <a:latin typeface="Times New Roman"/>
                <a:cs typeface="Times New Roman"/>
              </a:rPr>
              <a:t>with</a:t>
            </a:r>
            <a:r>
              <a:rPr dirty="0" sz="1000" spc="25">
                <a:latin typeface="Times New Roman"/>
                <a:cs typeface="Times New Roman"/>
              </a:rPr>
              <a:t> </a:t>
            </a:r>
            <a:r>
              <a:rPr dirty="0" sz="1000">
                <a:latin typeface="Times New Roman"/>
                <a:cs typeface="Times New Roman"/>
              </a:rPr>
              <a:t>a</a:t>
            </a:r>
            <a:r>
              <a:rPr dirty="0" sz="1000" spc="25">
                <a:latin typeface="Times New Roman"/>
                <a:cs typeface="Times New Roman"/>
              </a:rPr>
              <a:t> </a:t>
            </a:r>
            <a:r>
              <a:rPr dirty="0" sz="1000">
                <a:latin typeface="Times New Roman"/>
                <a:cs typeface="Times New Roman"/>
              </a:rPr>
              <a:t>beam</a:t>
            </a:r>
            <a:r>
              <a:rPr dirty="0" sz="1000" spc="25">
                <a:latin typeface="Times New Roman"/>
                <a:cs typeface="Times New Roman"/>
              </a:rPr>
              <a:t> </a:t>
            </a:r>
            <a:r>
              <a:rPr dirty="0" sz="1000">
                <a:latin typeface="Times New Roman"/>
                <a:cs typeface="Times New Roman"/>
              </a:rPr>
              <a:t>size</a:t>
            </a:r>
            <a:r>
              <a:rPr dirty="0" sz="1000" spc="20">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Calibri"/>
                <a:cs typeface="Calibri"/>
              </a:rPr>
              <a:t>4</a:t>
            </a:r>
            <a:r>
              <a:rPr dirty="0" sz="1000" spc="50">
                <a:latin typeface="Calibri"/>
                <a:cs typeface="Calibri"/>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length</a:t>
            </a:r>
            <a:r>
              <a:rPr dirty="0" sz="1000" spc="25">
                <a:latin typeface="Times New Roman"/>
                <a:cs typeface="Times New Roman"/>
              </a:rPr>
              <a:t> </a:t>
            </a:r>
            <a:r>
              <a:rPr dirty="0" sz="1000">
                <a:latin typeface="Times New Roman"/>
                <a:cs typeface="Times New Roman"/>
              </a:rPr>
              <a:t>penalty</a:t>
            </a:r>
            <a:r>
              <a:rPr dirty="0" sz="1000" spc="25">
                <a:latin typeface="Times New Roman"/>
                <a:cs typeface="Times New Roman"/>
              </a:rPr>
              <a:t> </a:t>
            </a:r>
            <a:r>
              <a:rPr dirty="0" sz="1000" spc="70" i="1">
                <a:latin typeface="Calibri"/>
                <a:cs typeface="Calibri"/>
              </a:rPr>
              <a:t>α</a:t>
            </a:r>
            <a:r>
              <a:rPr dirty="0" sz="1000" spc="100" i="1">
                <a:latin typeface="Calibri"/>
                <a:cs typeface="Calibri"/>
              </a:rPr>
              <a:t> </a:t>
            </a:r>
            <a:r>
              <a:rPr dirty="0" sz="1000" spc="270">
                <a:latin typeface="Calibri"/>
                <a:cs typeface="Calibri"/>
              </a:rPr>
              <a:t>=</a:t>
            </a:r>
            <a:r>
              <a:rPr dirty="0" sz="1000" spc="95">
                <a:latin typeface="Calibri"/>
                <a:cs typeface="Calibri"/>
              </a:rPr>
              <a:t> </a:t>
            </a:r>
            <a:r>
              <a:rPr dirty="0" sz="1000">
                <a:latin typeface="Calibri"/>
                <a:cs typeface="Calibri"/>
              </a:rPr>
              <a:t>0</a:t>
            </a:r>
            <a:r>
              <a:rPr dirty="0" sz="1000" i="1">
                <a:latin typeface="Calibri"/>
                <a:cs typeface="Calibri"/>
              </a:rPr>
              <a:t>.</a:t>
            </a:r>
            <a:r>
              <a:rPr dirty="0" sz="1000">
                <a:latin typeface="Calibri"/>
                <a:cs typeface="Calibri"/>
              </a:rPr>
              <a:t>6</a:t>
            </a:r>
            <a:r>
              <a:rPr dirty="0" sz="1000" spc="50">
                <a:latin typeface="Calibri"/>
                <a:cs typeface="Calibri"/>
              </a:rPr>
              <a:t> </a:t>
            </a:r>
            <a:r>
              <a:rPr dirty="0" sz="1000">
                <a:latin typeface="Times New Roman"/>
                <a:cs typeface="Times New Roman"/>
              </a:rPr>
              <a:t>[31].</a:t>
            </a:r>
            <a:r>
              <a:rPr dirty="0" sz="1000" spc="125">
                <a:latin typeface="Times New Roman"/>
                <a:cs typeface="Times New Roman"/>
              </a:rPr>
              <a:t> </a:t>
            </a:r>
            <a:r>
              <a:rPr dirty="0" sz="1000">
                <a:latin typeface="Times New Roman"/>
                <a:cs typeface="Times New Roman"/>
              </a:rPr>
              <a:t>These</a:t>
            </a:r>
            <a:r>
              <a:rPr dirty="0" sz="1000" spc="25">
                <a:latin typeface="Times New Roman"/>
                <a:cs typeface="Times New Roman"/>
              </a:rPr>
              <a:t> </a:t>
            </a:r>
            <a:r>
              <a:rPr dirty="0" sz="1000" spc="-10">
                <a:latin typeface="Times New Roman"/>
                <a:cs typeface="Times New Roman"/>
              </a:rPr>
              <a:t>hyperparameters </a:t>
            </a:r>
            <a:r>
              <a:rPr dirty="0" sz="1000" spc="-20">
                <a:latin typeface="Times New Roman"/>
                <a:cs typeface="Times New Roman"/>
              </a:rPr>
              <a:t>were</a:t>
            </a:r>
            <a:r>
              <a:rPr dirty="0" sz="1000" spc="-45">
                <a:latin typeface="Times New Roman"/>
                <a:cs typeface="Times New Roman"/>
              </a:rPr>
              <a:t> </a:t>
            </a:r>
            <a:r>
              <a:rPr dirty="0" sz="1000" spc="-10">
                <a:latin typeface="Times New Roman"/>
                <a:cs typeface="Times New Roman"/>
              </a:rPr>
              <a:t>chosen</a:t>
            </a:r>
            <a:r>
              <a:rPr dirty="0" sz="1000" spc="-50">
                <a:latin typeface="Times New Roman"/>
                <a:cs typeface="Times New Roman"/>
              </a:rPr>
              <a:t> </a:t>
            </a:r>
            <a:r>
              <a:rPr dirty="0" sz="1000" spc="-10">
                <a:latin typeface="Times New Roman"/>
                <a:cs typeface="Times New Roman"/>
              </a:rPr>
              <a:t>after</a:t>
            </a:r>
            <a:r>
              <a:rPr dirty="0" sz="1000" spc="-20">
                <a:latin typeface="Times New Roman"/>
                <a:cs typeface="Times New Roman"/>
              </a:rPr>
              <a:t> experimentation </a:t>
            </a:r>
            <a:r>
              <a:rPr dirty="0" sz="1000">
                <a:latin typeface="Times New Roman"/>
                <a:cs typeface="Times New Roman"/>
              </a:rPr>
              <a:t>on</a:t>
            </a:r>
            <a:r>
              <a:rPr dirty="0" sz="1000" spc="-2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20">
                <a:latin typeface="Times New Roman"/>
                <a:cs typeface="Times New Roman"/>
              </a:rPr>
              <a:t>development </a:t>
            </a:r>
            <a:r>
              <a:rPr dirty="0" sz="1000">
                <a:latin typeface="Times New Roman"/>
                <a:cs typeface="Times New Roman"/>
              </a:rPr>
              <a:t>set.</a:t>
            </a:r>
            <a:r>
              <a:rPr dirty="0" sz="1000" spc="50">
                <a:latin typeface="Times New Roman"/>
                <a:cs typeface="Times New Roman"/>
              </a:rPr>
              <a:t> </a:t>
            </a:r>
            <a:r>
              <a:rPr dirty="0" sz="1000" spc="-90">
                <a:latin typeface="Times New Roman"/>
                <a:cs typeface="Times New Roman"/>
              </a:rPr>
              <a:t>We</a:t>
            </a:r>
            <a:r>
              <a:rPr dirty="0" sz="1000" spc="25">
                <a:latin typeface="Times New Roman"/>
                <a:cs typeface="Times New Roman"/>
              </a:rPr>
              <a:t> </a:t>
            </a:r>
            <a:r>
              <a:rPr dirty="0" sz="1000">
                <a:latin typeface="Times New Roman"/>
                <a:cs typeface="Times New Roman"/>
              </a:rPr>
              <a:t>set</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maximum</a:t>
            </a:r>
            <a:r>
              <a:rPr dirty="0" sz="1000" spc="-25">
                <a:latin typeface="Times New Roman"/>
                <a:cs typeface="Times New Roman"/>
              </a:rPr>
              <a:t> </a:t>
            </a:r>
            <a:r>
              <a:rPr dirty="0" sz="1000" spc="-10">
                <a:latin typeface="Times New Roman"/>
                <a:cs typeface="Times New Roman"/>
              </a:rPr>
              <a:t>output</a:t>
            </a:r>
            <a:r>
              <a:rPr dirty="0" sz="1000" spc="-20">
                <a:latin typeface="Times New Roman"/>
                <a:cs typeface="Times New Roman"/>
              </a:rPr>
              <a:t> </a:t>
            </a:r>
            <a:r>
              <a:rPr dirty="0" sz="1000" spc="-10">
                <a:latin typeface="Times New Roman"/>
                <a:cs typeface="Times New Roman"/>
              </a:rPr>
              <a:t>length</a:t>
            </a:r>
            <a:r>
              <a:rPr dirty="0" sz="1000" spc="-20">
                <a:latin typeface="Times New Roman"/>
                <a:cs typeface="Times New Roman"/>
              </a:rPr>
              <a:t> </a:t>
            </a:r>
            <a:r>
              <a:rPr dirty="0" sz="1000" spc="-10">
                <a:latin typeface="Times New Roman"/>
                <a:cs typeface="Times New Roman"/>
              </a:rPr>
              <a:t>during inference</a:t>
            </a:r>
            <a:r>
              <a:rPr dirty="0" sz="1000" spc="-30">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input</a:t>
            </a:r>
            <a:r>
              <a:rPr dirty="0" sz="1000" spc="-25">
                <a:latin typeface="Times New Roman"/>
                <a:cs typeface="Times New Roman"/>
              </a:rPr>
              <a:t> </a:t>
            </a:r>
            <a:r>
              <a:rPr dirty="0" sz="1000">
                <a:latin typeface="Times New Roman"/>
                <a:cs typeface="Times New Roman"/>
              </a:rPr>
              <a:t>length</a:t>
            </a:r>
            <a:r>
              <a:rPr dirty="0" sz="1000" spc="-25">
                <a:latin typeface="Times New Roman"/>
                <a:cs typeface="Times New Roman"/>
              </a:rPr>
              <a:t> </a:t>
            </a:r>
            <a:r>
              <a:rPr dirty="0" sz="1000">
                <a:latin typeface="Times New Roman"/>
                <a:cs typeface="Times New Roman"/>
              </a:rPr>
              <a:t>+</a:t>
            </a:r>
            <a:r>
              <a:rPr dirty="0" sz="1000" spc="-25">
                <a:latin typeface="Times New Roman"/>
                <a:cs typeface="Times New Roman"/>
              </a:rPr>
              <a:t> </a:t>
            </a:r>
            <a:r>
              <a:rPr dirty="0" sz="1000">
                <a:latin typeface="Calibri"/>
                <a:cs typeface="Calibri"/>
              </a:rPr>
              <a:t>50</a:t>
            </a:r>
            <a:r>
              <a:rPr dirty="0" sz="1000">
                <a:latin typeface="Times New Roman"/>
                <a:cs typeface="Times New Roman"/>
              </a:rPr>
              <a:t>,</a:t>
            </a:r>
            <a:r>
              <a:rPr dirty="0" sz="1000" spc="-25">
                <a:latin typeface="Times New Roman"/>
                <a:cs typeface="Times New Roman"/>
              </a:rPr>
              <a:t> </a:t>
            </a:r>
            <a:r>
              <a:rPr dirty="0" sz="1000">
                <a:latin typeface="Times New Roman"/>
                <a:cs typeface="Times New Roman"/>
              </a:rPr>
              <a:t>but</a:t>
            </a:r>
            <a:r>
              <a:rPr dirty="0" sz="1000" spc="-25">
                <a:latin typeface="Times New Roman"/>
                <a:cs typeface="Times New Roman"/>
              </a:rPr>
              <a:t> </a:t>
            </a:r>
            <a:r>
              <a:rPr dirty="0" sz="1000">
                <a:latin typeface="Times New Roman"/>
                <a:cs typeface="Times New Roman"/>
              </a:rPr>
              <a:t>terminate</a:t>
            </a:r>
            <a:r>
              <a:rPr dirty="0" sz="1000" spc="-30">
                <a:latin typeface="Times New Roman"/>
                <a:cs typeface="Times New Roman"/>
              </a:rPr>
              <a:t> </a:t>
            </a:r>
            <a:r>
              <a:rPr dirty="0" sz="1000">
                <a:latin typeface="Times New Roman"/>
                <a:cs typeface="Times New Roman"/>
              </a:rPr>
              <a:t>early</a:t>
            </a:r>
            <a:r>
              <a:rPr dirty="0" sz="1000" spc="-25">
                <a:latin typeface="Times New Roman"/>
                <a:cs typeface="Times New Roman"/>
              </a:rPr>
              <a:t> </a:t>
            </a:r>
            <a:r>
              <a:rPr dirty="0" sz="1000">
                <a:latin typeface="Times New Roman"/>
                <a:cs typeface="Times New Roman"/>
              </a:rPr>
              <a:t>when</a:t>
            </a:r>
            <a:r>
              <a:rPr dirty="0" sz="1000" spc="-25">
                <a:latin typeface="Times New Roman"/>
                <a:cs typeface="Times New Roman"/>
              </a:rPr>
              <a:t> </a:t>
            </a:r>
            <a:r>
              <a:rPr dirty="0" sz="1000">
                <a:latin typeface="Times New Roman"/>
                <a:cs typeface="Times New Roman"/>
              </a:rPr>
              <a:t>possible</a:t>
            </a:r>
            <a:r>
              <a:rPr dirty="0" sz="1000" spc="-25">
                <a:latin typeface="Times New Roman"/>
                <a:cs typeface="Times New Roman"/>
              </a:rPr>
              <a:t> </a:t>
            </a:r>
            <a:r>
              <a:rPr dirty="0" sz="1000" spc="-10">
                <a:latin typeface="Times New Roman"/>
                <a:cs typeface="Times New Roman"/>
              </a:rPr>
              <a:t>[31].</a:t>
            </a:r>
            <a:endParaRPr sz="1000">
              <a:latin typeface="Times New Roman"/>
              <a:cs typeface="Times New Roman"/>
            </a:endParaRPr>
          </a:p>
          <a:p>
            <a:pPr algn="just" marL="67945" marR="71120" indent="-4445">
              <a:lnSpc>
                <a:spcPts val="1090"/>
              </a:lnSpc>
              <a:spcBef>
                <a:spcPts val="555"/>
              </a:spcBef>
            </a:pPr>
            <a:r>
              <a:rPr dirty="0" sz="1000" spc="-30">
                <a:latin typeface="Times New Roman"/>
                <a:cs typeface="Times New Roman"/>
              </a:rPr>
              <a:t>Table </a:t>
            </a:r>
            <a:r>
              <a:rPr dirty="0" sz="1000">
                <a:latin typeface="Times New Roman"/>
                <a:cs typeface="Times New Roman"/>
              </a:rPr>
              <a:t>2</a:t>
            </a:r>
            <a:r>
              <a:rPr dirty="0" sz="1000" spc="-30">
                <a:latin typeface="Times New Roman"/>
                <a:cs typeface="Times New Roman"/>
              </a:rPr>
              <a:t> </a:t>
            </a:r>
            <a:r>
              <a:rPr dirty="0" sz="1000" spc="-20">
                <a:latin typeface="Times New Roman"/>
                <a:cs typeface="Times New Roman"/>
              </a:rPr>
              <a:t>summarizes</a:t>
            </a:r>
            <a:r>
              <a:rPr dirty="0" sz="1000" spc="-35">
                <a:latin typeface="Times New Roman"/>
                <a:cs typeface="Times New Roman"/>
              </a:rPr>
              <a:t> </a:t>
            </a:r>
            <a:r>
              <a:rPr dirty="0" sz="1000">
                <a:latin typeface="Times New Roman"/>
                <a:cs typeface="Times New Roman"/>
              </a:rPr>
              <a:t>our</a:t>
            </a:r>
            <a:r>
              <a:rPr dirty="0" sz="1000" spc="-30">
                <a:latin typeface="Times New Roman"/>
                <a:cs typeface="Times New Roman"/>
              </a:rPr>
              <a:t> </a:t>
            </a:r>
            <a:r>
              <a:rPr dirty="0" sz="1000" spc="-10">
                <a:latin typeface="Times New Roman"/>
                <a:cs typeface="Times New Roman"/>
              </a:rPr>
              <a:t>results</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compares</a:t>
            </a:r>
            <a:r>
              <a:rPr dirty="0" sz="1000" spc="-30">
                <a:latin typeface="Times New Roman"/>
                <a:cs typeface="Times New Roman"/>
              </a:rPr>
              <a:t> </a:t>
            </a:r>
            <a:r>
              <a:rPr dirty="0" sz="1000">
                <a:latin typeface="Times New Roman"/>
                <a:cs typeface="Times New Roman"/>
              </a:rPr>
              <a:t>our</a:t>
            </a:r>
            <a:r>
              <a:rPr dirty="0" sz="1000" spc="-35">
                <a:latin typeface="Times New Roman"/>
                <a:cs typeface="Times New Roman"/>
              </a:rPr>
              <a:t> </a:t>
            </a:r>
            <a:r>
              <a:rPr dirty="0" sz="1000" spc="-10">
                <a:latin typeface="Times New Roman"/>
                <a:cs typeface="Times New Roman"/>
              </a:rPr>
              <a:t>translation</a:t>
            </a:r>
            <a:r>
              <a:rPr dirty="0" sz="1000" spc="-30">
                <a:latin typeface="Times New Roman"/>
                <a:cs typeface="Times New Roman"/>
              </a:rPr>
              <a:t> </a:t>
            </a:r>
            <a:r>
              <a:rPr dirty="0" sz="1000" spc="-10">
                <a:latin typeface="Times New Roman"/>
                <a:cs typeface="Times New Roman"/>
              </a:rPr>
              <a:t>quality</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training</a:t>
            </a:r>
            <a:r>
              <a:rPr dirty="0" sz="1000" spc="-30">
                <a:latin typeface="Times New Roman"/>
                <a:cs typeface="Times New Roman"/>
              </a:rPr>
              <a:t> </a:t>
            </a:r>
            <a:r>
              <a:rPr dirty="0" sz="1000" spc="-10">
                <a:latin typeface="Times New Roman"/>
                <a:cs typeface="Times New Roman"/>
              </a:rPr>
              <a:t>costs</a:t>
            </a:r>
            <a:r>
              <a:rPr dirty="0" sz="1000" spc="-3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spc="-10">
                <a:latin typeface="Times New Roman"/>
                <a:cs typeface="Times New Roman"/>
              </a:rPr>
              <a:t>other</a:t>
            </a:r>
            <a:r>
              <a:rPr dirty="0" sz="1000" spc="-25">
                <a:latin typeface="Times New Roman"/>
                <a:cs typeface="Times New Roman"/>
              </a:rPr>
              <a:t> </a:t>
            </a:r>
            <a:r>
              <a:rPr dirty="0" sz="1000" spc="-10">
                <a:latin typeface="Times New Roman"/>
                <a:cs typeface="Times New Roman"/>
              </a:rPr>
              <a:t>model architectures</a:t>
            </a:r>
            <a:r>
              <a:rPr dirty="0" sz="1000" spc="-45">
                <a:latin typeface="Times New Roman"/>
                <a:cs typeface="Times New Roman"/>
              </a:rPr>
              <a:t> </a:t>
            </a:r>
            <a:r>
              <a:rPr dirty="0" sz="1000">
                <a:latin typeface="Times New Roman"/>
                <a:cs typeface="Times New Roman"/>
              </a:rPr>
              <a:t>from</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literature.</a:t>
            </a:r>
            <a:r>
              <a:rPr dirty="0" sz="1000" spc="30">
                <a:latin typeface="Times New Roman"/>
                <a:cs typeface="Times New Roman"/>
              </a:rPr>
              <a:t> </a:t>
            </a:r>
            <a:r>
              <a:rPr dirty="0" sz="1000" spc="-55">
                <a:latin typeface="Times New Roman"/>
                <a:cs typeface="Times New Roman"/>
              </a:rPr>
              <a:t>We</a:t>
            </a:r>
            <a:r>
              <a:rPr dirty="0" sz="1000" spc="-10">
                <a:latin typeface="Times New Roman"/>
                <a:cs typeface="Times New Roman"/>
              </a:rPr>
              <a:t> </a:t>
            </a:r>
            <a:r>
              <a:rPr dirty="0" sz="1000">
                <a:latin typeface="Times New Roman"/>
                <a:cs typeface="Times New Roman"/>
              </a:rPr>
              <a:t>estimate</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number</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spc="-10">
                <a:latin typeface="Times New Roman"/>
                <a:cs typeface="Times New Roman"/>
              </a:rPr>
              <a:t>floating</a:t>
            </a:r>
            <a:r>
              <a:rPr dirty="0" sz="1000" spc="-25">
                <a:latin typeface="Times New Roman"/>
                <a:cs typeface="Times New Roman"/>
              </a:rPr>
              <a:t> </a:t>
            </a:r>
            <a:r>
              <a:rPr dirty="0" sz="1000">
                <a:latin typeface="Times New Roman"/>
                <a:cs typeface="Times New Roman"/>
              </a:rPr>
              <a:t>point</a:t>
            </a:r>
            <a:r>
              <a:rPr dirty="0" sz="1000" spc="-25">
                <a:latin typeface="Times New Roman"/>
                <a:cs typeface="Times New Roman"/>
              </a:rPr>
              <a:t> </a:t>
            </a:r>
            <a:r>
              <a:rPr dirty="0" sz="1000">
                <a:latin typeface="Times New Roman"/>
                <a:cs typeface="Times New Roman"/>
              </a:rPr>
              <a:t>operations</a:t>
            </a:r>
            <a:r>
              <a:rPr dirty="0" sz="1000" spc="-25">
                <a:latin typeface="Times New Roman"/>
                <a:cs typeface="Times New Roman"/>
              </a:rPr>
              <a:t> </a:t>
            </a:r>
            <a:r>
              <a:rPr dirty="0" sz="1000">
                <a:latin typeface="Times New Roman"/>
                <a:cs typeface="Times New Roman"/>
              </a:rPr>
              <a:t>used</a:t>
            </a:r>
            <a:r>
              <a:rPr dirty="0" sz="1000" spc="-20">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train</a:t>
            </a:r>
            <a:r>
              <a:rPr dirty="0" sz="1000" spc="-25">
                <a:latin typeface="Times New Roman"/>
                <a:cs typeface="Times New Roman"/>
              </a:rPr>
              <a:t> </a:t>
            </a:r>
            <a:r>
              <a:rPr dirty="0" sz="1000" spc="-50">
                <a:latin typeface="Times New Roman"/>
                <a:cs typeface="Times New Roman"/>
              </a:rPr>
              <a:t>a</a:t>
            </a:r>
            <a:r>
              <a:rPr dirty="0" sz="1000">
                <a:latin typeface="Times New Roman"/>
                <a:cs typeface="Times New Roman"/>
              </a:rPr>
              <a:t> model</a:t>
            </a:r>
            <a:r>
              <a:rPr dirty="0" sz="1000" spc="-20">
                <a:latin typeface="Times New Roman"/>
                <a:cs typeface="Times New Roman"/>
              </a:rPr>
              <a:t> </a:t>
            </a:r>
            <a:r>
              <a:rPr dirty="0" sz="1000">
                <a:latin typeface="Times New Roman"/>
                <a:cs typeface="Times New Roman"/>
              </a:rPr>
              <a:t>by</a:t>
            </a:r>
            <a:r>
              <a:rPr dirty="0" sz="1000" spc="-15">
                <a:latin typeface="Times New Roman"/>
                <a:cs typeface="Times New Roman"/>
              </a:rPr>
              <a:t> </a:t>
            </a:r>
            <a:r>
              <a:rPr dirty="0" sz="1000">
                <a:latin typeface="Times New Roman"/>
                <a:cs typeface="Times New Roman"/>
              </a:rPr>
              <a:t>multiplying</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training</a:t>
            </a:r>
            <a:r>
              <a:rPr dirty="0" sz="1000" spc="-20">
                <a:latin typeface="Times New Roman"/>
                <a:cs typeface="Times New Roman"/>
              </a:rPr>
              <a:t> </a:t>
            </a:r>
            <a:r>
              <a:rPr dirty="0" sz="1000">
                <a:latin typeface="Times New Roman"/>
                <a:cs typeface="Times New Roman"/>
              </a:rPr>
              <a:t>time,</a:t>
            </a:r>
            <a:r>
              <a:rPr dirty="0" sz="1000" spc="-15">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number</a:t>
            </a:r>
            <a:r>
              <a:rPr dirty="0" sz="1000" spc="-20">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GPUs</a:t>
            </a:r>
            <a:r>
              <a:rPr dirty="0" sz="1000" spc="-20">
                <a:latin typeface="Times New Roman"/>
                <a:cs typeface="Times New Roman"/>
              </a:rPr>
              <a:t> </a:t>
            </a:r>
            <a:r>
              <a:rPr dirty="0" sz="1000">
                <a:latin typeface="Times New Roman"/>
                <a:cs typeface="Times New Roman"/>
              </a:rPr>
              <a:t>used,</a:t>
            </a:r>
            <a:r>
              <a:rPr dirty="0" sz="1000" spc="-1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an</a:t>
            </a:r>
            <a:r>
              <a:rPr dirty="0" sz="1000" spc="-15">
                <a:latin typeface="Times New Roman"/>
                <a:cs typeface="Times New Roman"/>
              </a:rPr>
              <a:t> </a:t>
            </a:r>
            <a:r>
              <a:rPr dirty="0" sz="1000">
                <a:latin typeface="Times New Roman"/>
                <a:cs typeface="Times New Roman"/>
              </a:rPr>
              <a:t>estimate</a:t>
            </a:r>
            <a:r>
              <a:rPr dirty="0" sz="1000" spc="-1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sustained single-</a:t>
            </a:r>
            <a:r>
              <a:rPr dirty="0" sz="1000">
                <a:latin typeface="Times New Roman"/>
                <a:cs typeface="Times New Roman"/>
              </a:rPr>
              <a:t>precision</a:t>
            </a:r>
            <a:r>
              <a:rPr dirty="0" sz="1000" spc="-25">
                <a:latin typeface="Times New Roman"/>
                <a:cs typeface="Times New Roman"/>
              </a:rPr>
              <a:t> </a:t>
            </a:r>
            <a:r>
              <a:rPr dirty="0" sz="1000" spc="-10">
                <a:latin typeface="Times New Roman"/>
                <a:cs typeface="Times New Roman"/>
              </a:rPr>
              <a:t>floating-</a:t>
            </a:r>
            <a:r>
              <a:rPr dirty="0" sz="1000">
                <a:latin typeface="Times New Roman"/>
                <a:cs typeface="Times New Roman"/>
              </a:rPr>
              <a:t>point</a:t>
            </a:r>
            <a:r>
              <a:rPr dirty="0" sz="1000" spc="-25">
                <a:latin typeface="Times New Roman"/>
                <a:cs typeface="Times New Roman"/>
              </a:rPr>
              <a:t> </a:t>
            </a:r>
            <a:r>
              <a:rPr dirty="0" sz="1000">
                <a:latin typeface="Times New Roman"/>
                <a:cs typeface="Times New Roman"/>
              </a:rPr>
              <a:t>capacity</a:t>
            </a:r>
            <a:r>
              <a:rPr dirty="0" sz="1000" spc="-25">
                <a:latin typeface="Times New Roman"/>
                <a:cs typeface="Times New Roman"/>
              </a:rPr>
              <a:t> </a:t>
            </a:r>
            <a:r>
              <a:rPr dirty="0" sz="1000">
                <a:latin typeface="Times New Roman"/>
                <a:cs typeface="Times New Roman"/>
              </a:rPr>
              <a:t>of</a:t>
            </a:r>
            <a:r>
              <a:rPr dirty="0" sz="1000" spc="-25">
                <a:latin typeface="Times New Roman"/>
                <a:cs typeface="Times New Roman"/>
              </a:rPr>
              <a:t> </a:t>
            </a:r>
            <a:r>
              <a:rPr dirty="0" sz="1000">
                <a:latin typeface="Times New Roman"/>
                <a:cs typeface="Times New Roman"/>
              </a:rPr>
              <a:t>each</a:t>
            </a:r>
            <a:r>
              <a:rPr dirty="0" sz="1000" spc="-20">
                <a:latin typeface="Times New Roman"/>
                <a:cs typeface="Times New Roman"/>
              </a:rPr>
              <a:t> </a:t>
            </a:r>
            <a:r>
              <a:rPr dirty="0" sz="1000">
                <a:latin typeface="Times New Roman"/>
                <a:cs typeface="Times New Roman"/>
              </a:rPr>
              <a:t>GPU</a:t>
            </a:r>
            <a:r>
              <a:rPr dirty="0" sz="1000" spc="-25">
                <a:latin typeface="Times New Roman"/>
                <a:cs typeface="Times New Roman"/>
              </a:rPr>
              <a:t> </a:t>
            </a:r>
            <a:r>
              <a:rPr dirty="0" baseline="27777" sz="1050" spc="-37">
                <a:latin typeface="Times New Roman"/>
                <a:cs typeface="Times New Roman"/>
              </a:rPr>
              <a:t>5</a:t>
            </a:r>
            <a:r>
              <a:rPr dirty="0" sz="1000" spc="-25">
                <a:latin typeface="Times New Roman"/>
                <a:cs typeface="Times New Roman"/>
              </a:rPr>
              <a:t>.</a:t>
            </a:r>
            <a:endParaRPr sz="1000">
              <a:latin typeface="Times New Roman"/>
              <a:cs typeface="Times New Roman"/>
            </a:endParaRPr>
          </a:p>
          <a:p>
            <a:pPr>
              <a:lnSpc>
                <a:spcPct val="100000"/>
              </a:lnSpc>
              <a:spcBef>
                <a:spcPts val="275"/>
              </a:spcBef>
            </a:pPr>
            <a:endParaRPr sz="1000">
              <a:latin typeface="Times New Roman"/>
              <a:cs typeface="Times New Roman"/>
            </a:endParaRPr>
          </a:p>
          <a:p>
            <a:pPr lvl="1" marL="352425" indent="-284480">
              <a:lnSpc>
                <a:spcPct val="100000"/>
              </a:lnSpc>
              <a:spcBef>
                <a:spcPts val="5"/>
              </a:spcBef>
              <a:buAutoNum type="arabicPeriod" startAt="2"/>
              <a:tabLst>
                <a:tab pos="352425" algn="l"/>
              </a:tabLst>
            </a:pPr>
            <a:r>
              <a:rPr dirty="0" sz="1000" b="1">
                <a:latin typeface="Times New Roman"/>
                <a:cs typeface="Times New Roman"/>
              </a:rPr>
              <a:t>Model</a:t>
            </a:r>
            <a:r>
              <a:rPr dirty="0" sz="1000" spc="-35" b="1">
                <a:latin typeface="Times New Roman"/>
                <a:cs typeface="Times New Roman"/>
              </a:rPr>
              <a:t> </a:t>
            </a:r>
            <a:r>
              <a:rPr dirty="0" sz="1000" spc="-10" b="1">
                <a:latin typeface="Times New Roman"/>
                <a:cs typeface="Times New Roman"/>
              </a:rPr>
              <a:t>Variations</a:t>
            </a:r>
            <a:endParaRPr sz="1000">
              <a:latin typeface="Times New Roman"/>
              <a:cs typeface="Times New Roman"/>
            </a:endParaRPr>
          </a:p>
          <a:p>
            <a:pPr algn="just" marL="67945" marR="71120" indent="-4445">
              <a:lnSpc>
                <a:spcPts val="1090"/>
              </a:lnSpc>
              <a:spcBef>
                <a:spcPts val="1005"/>
              </a:spcBef>
            </a:pPr>
            <a:r>
              <a:rPr dirty="0" sz="1000" spc="-20">
                <a:latin typeface="Times New Roman"/>
                <a:cs typeface="Times New Roman"/>
              </a:rPr>
              <a:t>To</a:t>
            </a:r>
            <a:r>
              <a:rPr dirty="0" sz="1000">
                <a:latin typeface="Times New Roman"/>
                <a:cs typeface="Times New Roman"/>
              </a:rPr>
              <a:t> evaluate the importance of</a:t>
            </a:r>
            <a:r>
              <a:rPr dirty="0" sz="1000" spc="5">
                <a:latin typeface="Times New Roman"/>
                <a:cs typeface="Times New Roman"/>
              </a:rPr>
              <a:t> </a:t>
            </a:r>
            <a:r>
              <a:rPr dirty="0" sz="1000">
                <a:latin typeface="Times New Roman"/>
                <a:cs typeface="Times New Roman"/>
              </a:rPr>
              <a:t>different components of the</a:t>
            </a:r>
            <a:r>
              <a:rPr dirty="0" sz="1000" spc="5">
                <a:latin typeface="Times New Roman"/>
                <a:cs typeface="Times New Roman"/>
              </a:rPr>
              <a:t> </a:t>
            </a:r>
            <a:r>
              <a:rPr dirty="0" sz="1000" spc="-10">
                <a:latin typeface="Times New Roman"/>
                <a:cs typeface="Times New Roman"/>
              </a:rPr>
              <a:t>Transformer,</a:t>
            </a:r>
            <a:r>
              <a:rPr dirty="0" sz="1000">
                <a:latin typeface="Times New Roman"/>
                <a:cs typeface="Times New Roman"/>
              </a:rPr>
              <a:t> we varied our</a:t>
            </a:r>
            <a:r>
              <a:rPr dirty="0" sz="1000" spc="5">
                <a:latin typeface="Times New Roman"/>
                <a:cs typeface="Times New Roman"/>
              </a:rPr>
              <a:t> </a:t>
            </a:r>
            <a:r>
              <a:rPr dirty="0" sz="1000">
                <a:latin typeface="Times New Roman"/>
                <a:cs typeface="Times New Roman"/>
              </a:rPr>
              <a:t>base </a:t>
            </a:r>
            <a:r>
              <a:rPr dirty="0" sz="1000" spc="-10">
                <a:latin typeface="Times New Roman"/>
                <a:cs typeface="Times New Roman"/>
              </a:rPr>
              <a:t>model </a:t>
            </a:r>
            <a:r>
              <a:rPr dirty="0" sz="1000">
                <a:latin typeface="Times New Roman"/>
                <a:cs typeface="Times New Roman"/>
              </a:rPr>
              <a:t>in</a:t>
            </a:r>
            <a:r>
              <a:rPr dirty="0" sz="1000" spc="40">
                <a:latin typeface="Times New Roman"/>
                <a:cs typeface="Times New Roman"/>
              </a:rPr>
              <a:t> </a:t>
            </a:r>
            <a:r>
              <a:rPr dirty="0" sz="1000">
                <a:latin typeface="Times New Roman"/>
                <a:cs typeface="Times New Roman"/>
              </a:rPr>
              <a:t>different</a:t>
            </a:r>
            <a:r>
              <a:rPr dirty="0" sz="1000" spc="45">
                <a:latin typeface="Times New Roman"/>
                <a:cs typeface="Times New Roman"/>
              </a:rPr>
              <a:t> </a:t>
            </a:r>
            <a:r>
              <a:rPr dirty="0" sz="1000">
                <a:latin typeface="Times New Roman"/>
                <a:cs typeface="Times New Roman"/>
              </a:rPr>
              <a:t>ways,</a:t>
            </a:r>
            <a:r>
              <a:rPr dirty="0" sz="1000" spc="45">
                <a:latin typeface="Times New Roman"/>
                <a:cs typeface="Times New Roman"/>
              </a:rPr>
              <a:t> </a:t>
            </a:r>
            <a:r>
              <a:rPr dirty="0" sz="1000">
                <a:latin typeface="Times New Roman"/>
                <a:cs typeface="Times New Roman"/>
              </a:rPr>
              <a:t>measuring</a:t>
            </a:r>
            <a:r>
              <a:rPr dirty="0" sz="1000" spc="45">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change</a:t>
            </a:r>
            <a:r>
              <a:rPr dirty="0" sz="1000" spc="45">
                <a:latin typeface="Times New Roman"/>
                <a:cs typeface="Times New Roman"/>
              </a:rPr>
              <a:t> </a:t>
            </a:r>
            <a:r>
              <a:rPr dirty="0" sz="1000">
                <a:latin typeface="Times New Roman"/>
                <a:cs typeface="Times New Roman"/>
              </a:rPr>
              <a:t>in</a:t>
            </a:r>
            <a:r>
              <a:rPr dirty="0" sz="1000" spc="40">
                <a:latin typeface="Times New Roman"/>
                <a:cs typeface="Times New Roman"/>
              </a:rPr>
              <a:t> </a:t>
            </a:r>
            <a:r>
              <a:rPr dirty="0" sz="1000">
                <a:latin typeface="Times New Roman"/>
                <a:cs typeface="Times New Roman"/>
              </a:rPr>
              <a:t>performance</a:t>
            </a:r>
            <a:r>
              <a:rPr dirty="0" sz="1000" spc="45">
                <a:latin typeface="Times New Roman"/>
                <a:cs typeface="Times New Roman"/>
              </a:rPr>
              <a:t> </a:t>
            </a:r>
            <a:r>
              <a:rPr dirty="0" sz="1000">
                <a:latin typeface="Times New Roman"/>
                <a:cs typeface="Times New Roman"/>
              </a:rPr>
              <a:t>on</a:t>
            </a:r>
            <a:r>
              <a:rPr dirty="0" sz="1000" spc="45">
                <a:latin typeface="Times New Roman"/>
                <a:cs typeface="Times New Roman"/>
              </a:rPr>
              <a:t> </a:t>
            </a:r>
            <a:r>
              <a:rPr dirty="0" sz="1000">
                <a:latin typeface="Times New Roman"/>
                <a:cs typeface="Times New Roman"/>
              </a:rPr>
              <a:t>English-to-German</a:t>
            </a:r>
            <a:r>
              <a:rPr dirty="0" sz="1000" spc="40">
                <a:latin typeface="Times New Roman"/>
                <a:cs typeface="Times New Roman"/>
              </a:rPr>
              <a:t> </a:t>
            </a:r>
            <a:r>
              <a:rPr dirty="0" sz="1000">
                <a:latin typeface="Times New Roman"/>
                <a:cs typeface="Times New Roman"/>
              </a:rPr>
              <a:t>translation</a:t>
            </a:r>
            <a:r>
              <a:rPr dirty="0" sz="1000" spc="45">
                <a:latin typeface="Times New Roman"/>
                <a:cs typeface="Times New Roman"/>
              </a:rPr>
              <a:t> </a:t>
            </a:r>
            <a:r>
              <a:rPr dirty="0" sz="1000">
                <a:latin typeface="Times New Roman"/>
                <a:cs typeface="Times New Roman"/>
              </a:rPr>
              <a:t>on</a:t>
            </a:r>
            <a:r>
              <a:rPr dirty="0" sz="1000" spc="40">
                <a:latin typeface="Times New Roman"/>
                <a:cs typeface="Times New Roman"/>
              </a:rPr>
              <a:t> </a:t>
            </a:r>
            <a:r>
              <a:rPr dirty="0" sz="1000" spc="-25">
                <a:latin typeface="Times New Roman"/>
                <a:cs typeface="Times New Roman"/>
              </a:rPr>
              <a:t>the </a:t>
            </a:r>
            <a:r>
              <a:rPr dirty="0" sz="1000">
                <a:latin typeface="Times New Roman"/>
                <a:cs typeface="Times New Roman"/>
              </a:rPr>
              <a:t>development</a:t>
            </a:r>
            <a:r>
              <a:rPr dirty="0" sz="1000" spc="5">
                <a:latin typeface="Times New Roman"/>
                <a:cs typeface="Times New Roman"/>
              </a:rPr>
              <a:t> </a:t>
            </a:r>
            <a:r>
              <a:rPr dirty="0" sz="1000">
                <a:latin typeface="Times New Roman"/>
                <a:cs typeface="Times New Roman"/>
              </a:rPr>
              <a:t>set,</a:t>
            </a:r>
            <a:r>
              <a:rPr dirty="0" sz="1000" spc="10">
                <a:latin typeface="Times New Roman"/>
                <a:cs typeface="Times New Roman"/>
              </a:rPr>
              <a:t> </a:t>
            </a:r>
            <a:r>
              <a:rPr dirty="0" sz="1000">
                <a:latin typeface="Times New Roman"/>
                <a:cs typeface="Times New Roman"/>
              </a:rPr>
              <a:t>newstest2013.</a:t>
            </a:r>
            <a:r>
              <a:rPr dirty="0" sz="1000" spc="75">
                <a:latin typeface="Times New Roman"/>
                <a:cs typeface="Times New Roman"/>
              </a:rPr>
              <a:t> </a:t>
            </a:r>
            <a:r>
              <a:rPr dirty="0" sz="1000" spc="-20">
                <a:latin typeface="Times New Roman"/>
                <a:cs typeface="Times New Roman"/>
              </a:rPr>
              <a:t>We</a:t>
            </a:r>
            <a:r>
              <a:rPr dirty="0" sz="1000" spc="10">
                <a:latin typeface="Times New Roman"/>
                <a:cs typeface="Times New Roman"/>
              </a:rPr>
              <a:t> </a:t>
            </a:r>
            <a:r>
              <a:rPr dirty="0" sz="1000">
                <a:latin typeface="Times New Roman"/>
                <a:cs typeface="Times New Roman"/>
              </a:rPr>
              <a:t>used</a:t>
            </a:r>
            <a:r>
              <a:rPr dirty="0" sz="1000" spc="10">
                <a:latin typeface="Times New Roman"/>
                <a:cs typeface="Times New Roman"/>
              </a:rPr>
              <a:t> </a:t>
            </a:r>
            <a:r>
              <a:rPr dirty="0" sz="1000">
                <a:latin typeface="Times New Roman"/>
                <a:cs typeface="Times New Roman"/>
              </a:rPr>
              <a:t>beam</a:t>
            </a:r>
            <a:r>
              <a:rPr dirty="0" sz="1000" spc="10">
                <a:latin typeface="Times New Roman"/>
                <a:cs typeface="Times New Roman"/>
              </a:rPr>
              <a:t> </a:t>
            </a:r>
            <a:r>
              <a:rPr dirty="0" sz="1000">
                <a:latin typeface="Times New Roman"/>
                <a:cs typeface="Times New Roman"/>
              </a:rPr>
              <a:t>search</a:t>
            </a:r>
            <a:r>
              <a:rPr dirty="0" sz="1000" spc="5">
                <a:latin typeface="Times New Roman"/>
                <a:cs typeface="Times New Roman"/>
              </a:rPr>
              <a:t> </a:t>
            </a:r>
            <a:r>
              <a:rPr dirty="0" sz="1000">
                <a:latin typeface="Times New Roman"/>
                <a:cs typeface="Times New Roman"/>
              </a:rPr>
              <a:t>as</a:t>
            </a:r>
            <a:r>
              <a:rPr dirty="0" sz="1000" spc="10">
                <a:latin typeface="Times New Roman"/>
                <a:cs typeface="Times New Roman"/>
              </a:rPr>
              <a:t> </a:t>
            </a:r>
            <a:r>
              <a:rPr dirty="0" sz="1000">
                <a:latin typeface="Times New Roman"/>
                <a:cs typeface="Times New Roman"/>
              </a:rPr>
              <a:t>described</a:t>
            </a:r>
            <a:r>
              <a:rPr dirty="0" sz="1000" spc="10">
                <a:latin typeface="Times New Roman"/>
                <a:cs typeface="Times New Roman"/>
              </a:rPr>
              <a:t> </a:t>
            </a:r>
            <a:r>
              <a:rPr dirty="0" sz="1000">
                <a:latin typeface="Times New Roman"/>
                <a:cs typeface="Times New Roman"/>
              </a:rPr>
              <a:t>in</a:t>
            </a:r>
            <a:r>
              <a:rPr dirty="0" sz="1000" spc="10">
                <a:latin typeface="Times New Roman"/>
                <a:cs typeface="Times New Roman"/>
              </a:rPr>
              <a:t> </a:t>
            </a:r>
            <a:r>
              <a:rPr dirty="0" sz="1000">
                <a:latin typeface="Times New Roman"/>
                <a:cs typeface="Times New Roman"/>
              </a:rPr>
              <a:t>the</a:t>
            </a:r>
            <a:r>
              <a:rPr dirty="0" sz="1000" spc="5">
                <a:latin typeface="Times New Roman"/>
                <a:cs typeface="Times New Roman"/>
              </a:rPr>
              <a:t> </a:t>
            </a:r>
            <a:r>
              <a:rPr dirty="0" sz="1000">
                <a:latin typeface="Times New Roman"/>
                <a:cs typeface="Times New Roman"/>
              </a:rPr>
              <a:t>previous</a:t>
            </a:r>
            <a:r>
              <a:rPr dirty="0" sz="1000" spc="10">
                <a:latin typeface="Times New Roman"/>
                <a:cs typeface="Times New Roman"/>
              </a:rPr>
              <a:t> </a:t>
            </a:r>
            <a:r>
              <a:rPr dirty="0" sz="1000">
                <a:latin typeface="Times New Roman"/>
                <a:cs typeface="Times New Roman"/>
              </a:rPr>
              <a:t>section,</a:t>
            </a:r>
            <a:r>
              <a:rPr dirty="0" sz="1000" spc="10">
                <a:latin typeface="Times New Roman"/>
                <a:cs typeface="Times New Roman"/>
              </a:rPr>
              <a:t> </a:t>
            </a:r>
            <a:r>
              <a:rPr dirty="0" sz="1000">
                <a:latin typeface="Times New Roman"/>
                <a:cs typeface="Times New Roman"/>
              </a:rPr>
              <a:t>but</a:t>
            </a:r>
            <a:r>
              <a:rPr dirty="0" sz="1000" spc="10">
                <a:latin typeface="Times New Roman"/>
                <a:cs typeface="Times New Roman"/>
              </a:rPr>
              <a:t> </a:t>
            </a:r>
            <a:r>
              <a:rPr dirty="0" sz="1000" spc="-25">
                <a:latin typeface="Times New Roman"/>
                <a:cs typeface="Times New Roman"/>
              </a:rPr>
              <a:t>no </a:t>
            </a:r>
            <a:r>
              <a:rPr dirty="0" sz="1000">
                <a:latin typeface="Times New Roman"/>
                <a:cs typeface="Times New Roman"/>
              </a:rPr>
              <a:t>checkpoint</a:t>
            </a:r>
            <a:r>
              <a:rPr dirty="0" sz="1000" spc="-55">
                <a:latin typeface="Times New Roman"/>
                <a:cs typeface="Times New Roman"/>
              </a:rPr>
              <a:t> </a:t>
            </a:r>
            <a:r>
              <a:rPr dirty="0" sz="1000">
                <a:latin typeface="Times New Roman"/>
                <a:cs typeface="Times New Roman"/>
              </a:rPr>
              <a:t>averaging.</a:t>
            </a:r>
            <a:r>
              <a:rPr dirty="0" sz="1000" spc="25">
                <a:latin typeface="Times New Roman"/>
                <a:cs typeface="Times New Roman"/>
              </a:rPr>
              <a:t> </a:t>
            </a:r>
            <a:r>
              <a:rPr dirty="0" sz="1000" spc="-55">
                <a:latin typeface="Times New Roman"/>
                <a:cs typeface="Times New Roman"/>
              </a:rPr>
              <a:t>We</a:t>
            </a:r>
            <a:r>
              <a:rPr dirty="0" sz="1000" spc="-5">
                <a:latin typeface="Times New Roman"/>
                <a:cs typeface="Times New Roman"/>
              </a:rPr>
              <a:t> </a:t>
            </a:r>
            <a:r>
              <a:rPr dirty="0" sz="1000">
                <a:latin typeface="Times New Roman"/>
                <a:cs typeface="Times New Roman"/>
              </a:rPr>
              <a:t>present</a:t>
            </a:r>
            <a:r>
              <a:rPr dirty="0" sz="1000" spc="-30">
                <a:latin typeface="Times New Roman"/>
                <a:cs typeface="Times New Roman"/>
              </a:rPr>
              <a:t> </a:t>
            </a:r>
            <a:r>
              <a:rPr dirty="0" sz="1000">
                <a:latin typeface="Times New Roman"/>
                <a:cs typeface="Times New Roman"/>
              </a:rPr>
              <a:t>these</a:t>
            </a:r>
            <a:r>
              <a:rPr dirty="0" sz="1000" spc="-30">
                <a:latin typeface="Times New Roman"/>
                <a:cs typeface="Times New Roman"/>
              </a:rPr>
              <a:t> </a:t>
            </a:r>
            <a:r>
              <a:rPr dirty="0" sz="1000">
                <a:latin typeface="Times New Roman"/>
                <a:cs typeface="Times New Roman"/>
              </a:rPr>
              <a:t>results</a:t>
            </a:r>
            <a:r>
              <a:rPr dirty="0" sz="1000" spc="-30">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spc="-20">
                <a:latin typeface="Times New Roman"/>
                <a:cs typeface="Times New Roman"/>
              </a:rPr>
              <a:t>Table</a:t>
            </a:r>
            <a:r>
              <a:rPr dirty="0" sz="1000" spc="-30">
                <a:latin typeface="Times New Roman"/>
                <a:cs typeface="Times New Roman"/>
              </a:rPr>
              <a:t> </a:t>
            </a:r>
            <a:r>
              <a:rPr dirty="0" sz="1000" spc="-25">
                <a:latin typeface="Times New Roman"/>
                <a:cs typeface="Times New Roman"/>
              </a:rPr>
              <a:t>3.</a:t>
            </a:r>
            <a:endParaRPr sz="1000">
              <a:latin typeface="Times New Roman"/>
              <a:cs typeface="Times New Roman"/>
            </a:endParaRPr>
          </a:p>
          <a:p>
            <a:pPr algn="just" marL="67945" marR="55880">
              <a:lnSpc>
                <a:spcPts val="1090"/>
              </a:lnSpc>
              <a:spcBef>
                <a:spcPts val="550"/>
              </a:spcBef>
            </a:pPr>
            <a:r>
              <a:rPr dirty="0" sz="1000" spc="-10">
                <a:latin typeface="Times New Roman"/>
                <a:cs typeface="Times New Roman"/>
              </a:rPr>
              <a:t>In</a:t>
            </a:r>
            <a:r>
              <a:rPr dirty="0" sz="1000" spc="-25">
                <a:latin typeface="Times New Roman"/>
                <a:cs typeface="Times New Roman"/>
              </a:rPr>
              <a:t> </a:t>
            </a:r>
            <a:r>
              <a:rPr dirty="0" sz="1000" spc="-35">
                <a:latin typeface="Times New Roman"/>
                <a:cs typeface="Times New Roman"/>
              </a:rPr>
              <a:t>Table</a:t>
            </a:r>
            <a:r>
              <a:rPr dirty="0" sz="1000" spc="-25">
                <a:latin typeface="Times New Roman"/>
                <a:cs typeface="Times New Roman"/>
              </a:rPr>
              <a:t> </a:t>
            </a:r>
            <a:r>
              <a:rPr dirty="0" sz="1000">
                <a:latin typeface="Times New Roman"/>
                <a:cs typeface="Times New Roman"/>
              </a:rPr>
              <a:t>3</a:t>
            </a:r>
            <a:r>
              <a:rPr dirty="0" sz="1000" spc="-25">
                <a:latin typeface="Times New Roman"/>
                <a:cs typeface="Times New Roman"/>
              </a:rPr>
              <a:t> rows </a:t>
            </a:r>
            <a:r>
              <a:rPr dirty="0" sz="1000" spc="-20">
                <a:latin typeface="Times New Roman"/>
                <a:cs typeface="Times New Roman"/>
              </a:rPr>
              <a:t>(A),</a:t>
            </a:r>
            <a:r>
              <a:rPr dirty="0" sz="1000" spc="-25">
                <a:latin typeface="Times New Roman"/>
                <a:cs typeface="Times New Roman"/>
              </a:rPr>
              <a:t> </a:t>
            </a:r>
            <a:r>
              <a:rPr dirty="0" sz="1000" spc="-30">
                <a:latin typeface="Times New Roman"/>
                <a:cs typeface="Times New Roman"/>
              </a:rPr>
              <a:t>we</a:t>
            </a:r>
            <a:r>
              <a:rPr dirty="0" sz="1000" spc="-25">
                <a:latin typeface="Times New Roman"/>
                <a:cs typeface="Times New Roman"/>
              </a:rPr>
              <a:t> vary </a:t>
            </a:r>
            <a:r>
              <a:rPr dirty="0" sz="1000" spc="-10">
                <a:latin typeface="Times New Roman"/>
                <a:cs typeface="Times New Roman"/>
              </a:rPr>
              <a:t>the</a:t>
            </a:r>
            <a:r>
              <a:rPr dirty="0" sz="1000" spc="-25">
                <a:latin typeface="Times New Roman"/>
                <a:cs typeface="Times New Roman"/>
              </a:rPr>
              <a:t> </a:t>
            </a:r>
            <a:r>
              <a:rPr dirty="0" sz="1000" spc="-20">
                <a:latin typeface="Times New Roman"/>
                <a:cs typeface="Times New Roman"/>
              </a:rPr>
              <a:t>number</a:t>
            </a:r>
            <a:r>
              <a:rPr dirty="0" sz="1000" spc="-25">
                <a:latin typeface="Times New Roman"/>
                <a:cs typeface="Times New Roman"/>
              </a:rPr>
              <a:t> </a:t>
            </a:r>
            <a:r>
              <a:rPr dirty="0" sz="1000" spc="-10">
                <a:latin typeface="Times New Roman"/>
                <a:cs typeface="Times New Roman"/>
              </a:rPr>
              <a:t>of</a:t>
            </a:r>
            <a:r>
              <a:rPr dirty="0" sz="1000" spc="-25">
                <a:latin typeface="Times New Roman"/>
                <a:cs typeface="Times New Roman"/>
              </a:rPr>
              <a:t> </a:t>
            </a:r>
            <a:r>
              <a:rPr dirty="0" sz="1000" spc="-20">
                <a:latin typeface="Times New Roman"/>
                <a:cs typeface="Times New Roman"/>
              </a:rPr>
              <a:t>attention</a:t>
            </a:r>
            <a:r>
              <a:rPr dirty="0" sz="1000" spc="-25">
                <a:latin typeface="Times New Roman"/>
                <a:cs typeface="Times New Roman"/>
              </a:rPr>
              <a:t> </a:t>
            </a:r>
            <a:r>
              <a:rPr dirty="0" sz="1000" spc="-20">
                <a:latin typeface="Times New Roman"/>
                <a:cs typeface="Times New Roman"/>
              </a:rPr>
              <a:t>heads</a:t>
            </a:r>
            <a:r>
              <a:rPr dirty="0" sz="1000" spc="-25">
                <a:latin typeface="Times New Roman"/>
                <a:cs typeface="Times New Roman"/>
              </a:rPr>
              <a:t> </a:t>
            </a:r>
            <a:r>
              <a:rPr dirty="0" sz="1000" spc="-20">
                <a:latin typeface="Times New Roman"/>
                <a:cs typeface="Times New Roman"/>
              </a:rPr>
              <a:t>and</a:t>
            </a:r>
            <a:r>
              <a:rPr dirty="0" sz="1000" spc="-25">
                <a:latin typeface="Times New Roman"/>
                <a:cs typeface="Times New Roman"/>
              </a:rPr>
              <a:t> </a:t>
            </a:r>
            <a:r>
              <a:rPr dirty="0" sz="1000" spc="-20">
                <a:latin typeface="Times New Roman"/>
                <a:cs typeface="Times New Roman"/>
              </a:rPr>
              <a:t>the attention</a:t>
            </a:r>
            <a:r>
              <a:rPr dirty="0" sz="1000" spc="-25">
                <a:latin typeface="Times New Roman"/>
                <a:cs typeface="Times New Roman"/>
              </a:rPr>
              <a:t> </a:t>
            </a:r>
            <a:r>
              <a:rPr dirty="0" sz="1000" spc="-35">
                <a:latin typeface="Times New Roman"/>
                <a:cs typeface="Times New Roman"/>
              </a:rPr>
              <a:t>key</a:t>
            </a:r>
            <a:r>
              <a:rPr dirty="0" sz="1000" spc="-25">
                <a:latin typeface="Times New Roman"/>
                <a:cs typeface="Times New Roman"/>
              </a:rPr>
              <a:t> </a:t>
            </a:r>
            <a:r>
              <a:rPr dirty="0" sz="1000" spc="-20">
                <a:latin typeface="Times New Roman"/>
                <a:cs typeface="Times New Roman"/>
              </a:rPr>
              <a:t>and</a:t>
            </a:r>
            <a:r>
              <a:rPr dirty="0" sz="1000" spc="-25">
                <a:latin typeface="Times New Roman"/>
                <a:cs typeface="Times New Roman"/>
              </a:rPr>
              <a:t> value </a:t>
            </a:r>
            <a:r>
              <a:rPr dirty="0" sz="1000" spc="-10">
                <a:latin typeface="Times New Roman"/>
                <a:cs typeface="Times New Roman"/>
              </a:rPr>
              <a:t>dimensions, </a:t>
            </a:r>
            <a:r>
              <a:rPr dirty="0" sz="1000">
                <a:latin typeface="Times New Roman"/>
                <a:cs typeface="Times New Roman"/>
              </a:rPr>
              <a:t>keeping</a:t>
            </a:r>
            <a:r>
              <a:rPr dirty="0" sz="1000" spc="125">
                <a:latin typeface="Times New Roman"/>
                <a:cs typeface="Times New Roman"/>
              </a:rPr>
              <a:t> </a:t>
            </a:r>
            <a:r>
              <a:rPr dirty="0" sz="1000">
                <a:latin typeface="Times New Roman"/>
                <a:cs typeface="Times New Roman"/>
              </a:rPr>
              <a:t>the</a:t>
            </a:r>
            <a:r>
              <a:rPr dirty="0" sz="1000" spc="120">
                <a:latin typeface="Times New Roman"/>
                <a:cs typeface="Times New Roman"/>
              </a:rPr>
              <a:t> </a:t>
            </a:r>
            <a:r>
              <a:rPr dirty="0" sz="1000">
                <a:latin typeface="Times New Roman"/>
                <a:cs typeface="Times New Roman"/>
              </a:rPr>
              <a:t>amount</a:t>
            </a:r>
            <a:r>
              <a:rPr dirty="0" sz="1000" spc="125">
                <a:latin typeface="Times New Roman"/>
                <a:cs typeface="Times New Roman"/>
              </a:rPr>
              <a:t> </a:t>
            </a:r>
            <a:r>
              <a:rPr dirty="0" sz="1000">
                <a:latin typeface="Times New Roman"/>
                <a:cs typeface="Times New Roman"/>
              </a:rPr>
              <a:t>of</a:t>
            </a:r>
            <a:r>
              <a:rPr dirty="0" sz="1000" spc="125">
                <a:latin typeface="Times New Roman"/>
                <a:cs typeface="Times New Roman"/>
              </a:rPr>
              <a:t> </a:t>
            </a:r>
            <a:r>
              <a:rPr dirty="0" sz="1000">
                <a:latin typeface="Times New Roman"/>
                <a:cs typeface="Times New Roman"/>
              </a:rPr>
              <a:t>computation</a:t>
            </a:r>
            <a:r>
              <a:rPr dirty="0" sz="1000" spc="125">
                <a:latin typeface="Times New Roman"/>
                <a:cs typeface="Times New Roman"/>
              </a:rPr>
              <a:t> </a:t>
            </a:r>
            <a:r>
              <a:rPr dirty="0" sz="1000">
                <a:latin typeface="Times New Roman"/>
                <a:cs typeface="Times New Roman"/>
              </a:rPr>
              <a:t>constant,</a:t>
            </a:r>
            <a:r>
              <a:rPr dirty="0" sz="1000" spc="155">
                <a:latin typeface="Times New Roman"/>
                <a:cs typeface="Times New Roman"/>
              </a:rPr>
              <a:t> </a:t>
            </a:r>
            <a:r>
              <a:rPr dirty="0" sz="1000">
                <a:latin typeface="Times New Roman"/>
                <a:cs typeface="Times New Roman"/>
              </a:rPr>
              <a:t>as</a:t>
            </a:r>
            <a:r>
              <a:rPr dirty="0" sz="1000" spc="125">
                <a:latin typeface="Times New Roman"/>
                <a:cs typeface="Times New Roman"/>
              </a:rPr>
              <a:t> </a:t>
            </a:r>
            <a:r>
              <a:rPr dirty="0" sz="1000">
                <a:latin typeface="Times New Roman"/>
                <a:cs typeface="Times New Roman"/>
              </a:rPr>
              <a:t>described</a:t>
            </a:r>
            <a:r>
              <a:rPr dirty="0" sz="1000" spc="125">
                <a:latin typeface="Times New Roman"/>
                <a:cs typeface="Times New Roman"/>
              </a:rPr>
              <a:t> </a:t>
            </a:r>
            <a:r>
              <a:rPr dirty="0" sz="1000">
                <a:latin typeface="Times New Roman"/>
                <a:cs typeface="Times New Roman"/>
              </a:rPr>
              <a:t>in</a:t>
            </a:r>
            <a:r>
              <a:rPr dirty="0" sz="1000" spc="125">
                <a:latin typeface="Times New Roman"/>
                <a:cs typeface="Times New Roman"/>
              </a:rPr>
              <a:t> </a:t>
            </a:r>
            <a:r>
              <a:rPr dirty="0" sz="1000">
                <a:latin typeface="Times New Roman"/>
                <a:cs typeface="Times New Roman"/>
              </a:rPr>
              <a:t>Section</a:t>
            </a:r>
            <a:r>
              <a:rPr dirty="0" sz="1000" spc="125">
                <a:latin typeface="Times New Roman"/>
                <a:cs typeface="Times New Roman"/>
              </a:rPr>
              <a:t> </a:t>
            </a:r>
            <a:r>
              <a:rPr dirty="0" sz="1000">
                <a:latin typeface="Times New Roman"/>
                <a:cs typeface="Times New Roman"/>
              </a:rPr>
              <a:t>3.2.2.</a:t>
            </a:r>
            <a:r>
              <a:rPr dirty="0" sz="1000" spc="400">
                <a:latin typeface="Times New Roman"/>
                <a:cs typeface="Times New Roman"/>
              </a:rPr>
              <a:t> </a:t>
            </a:r>
            <a:r>
              <a:rPr dirty="0" sz="1000">
                <a:latin typeface="Times New Roman"/>
                <a:cs typeface="Times New Roman"/>
              </a:rPr>
              <a:t>While</a:t>
            </a:r>
            <a:r>
              <a:rPr dirty="0" sz="1000" spc="125">
                <a:latin typeface="Times New Roman"/>
                <a:cs typeface="Times New Roman"/>
              </a:rPr>
              <a:t> </a:t>
            </a:r>
            <a:r>
              <a:rPr dirty="0" sz="1000">
                <a:latin typeface="Times New Roman"/>
                <a:cs typeface="Times New Roman"/>
              </a:rPr>
              <a:t>single-</a:t>
            </a:r>
            <a:r>
              <a:rPr dirty="0" sz="1000" spc="-20">
                <a:latin typeface="Times New Roman"/>
                <a:cs typeface="Times New Roman"/>
              </a:rPr>
              <a:t>head </a:t>
            </a:r>
            <a:r>
              <a:rPr dirty="0" sz="1000">
                <a:latin typeface="Times New Roman"/>
                <a:cs typeface="Times New Roman"/>
              </a:rPr>
              <a:t>attention</a:t>
            </a:r>
            <a:r>
              <a:rPr dirty="0" sz="1000" spc="-30">
                <a:latin typeface="Times New Roman"/>
                <a:cs typeface="Times New Roman"/>
              </a:rPr>
              <a:t> </a:t>
            </a:r>
            <a:r>
              <a:rPr dirty="0" sz="1000">
                <a:latin typeface="Times New Roman"/>
                <a:cs typeface="Times New Roman"/>
              </a:rPr>
              <a:t>is</a:t>
            </a:r>
            <a:r>
              <a:rPr dirty="0" sz="1000" spc="-25">
                <a:latin typeface="Times New Roman"/>
                <a:cs typeface="Times New Roman"/>
              </a:rPr>
              <a:t> </a:t>
            </a:r>
            <a:r>
              <a:rPr dirty="0" sz="1000">
                <a:latin typeface="Times New Roman"/>
                <a:cs typeface="Times New Roman"/>
              </a:rPr>
              <a:t>0.9</a:t>
            </a:r>
            <a:r>
              <a:rPr dirty="0" sz="1000" spc="-30">
                <a:latin typeface="Times New Roman"/>
                <a:cs typeface="Times New Roman"/>
              </a:rPr>
              <a:t> </a:t>
            </a:r>
            <a:r>
              <a:rPr dirty="0" sz="1000">
                <a:latin typeface="Times New Roman"/>
                <a:cs typeface="Times New Roman"/>
              </a:rPr>
              <a:t>BLEU</a:t>
            </a:r>
            <a:r>
              <a:rPr dirty="0" sz="1000" spc="-25">
                <a:latin typeface="Times New Roman"/>
                <a:cs typeface="Times New Roman"/>
              </a:rPr>
              <a:t> </a:t>
            </a:r>
            <a:r>
              <a:rPr dirty="0" sz="1000">
                <a:latin typeface="Times New Roman"/>
                <a:cs typeface="Times New Roman"/>
              </a:rPr>
              <a:t>worse</a:t>
            </a:r>
            <a:r>
              <a:rPr dirty="0" sz="1000" spc="-30">
                <a:latin typeface="Times New Roman"/>
                <a:cs typeface="Times New Roman"/>
              </a:rPr>
              <a:t> </a:t>
            </a:r>
            <a:r>
              <a:rPr dirty="0" sz="1000">
                <a:latin typeface="Times New Roman"/>
                <a:cs typeface="Times New Roman"/>
              </a:rPr>
              <a:t>than</a:t>
            </a:r>
            <a:r>
              <a:rPr dirty="0" sz="1000" spc="-2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best</a:t>
            </a:r>
            <a:r>
              <a:rPr dirty="0" sz="1000" spc="-25">
                <a:latin typeface="Times New Roman"/>
                <a:cs typeface="Times New Roman"/>
              </a:rPr>
              <a:t> </a:t>
            </a:r>
            <a:r>
              <a:rPr dirty="0" sz="1000">
                <a:latin typeface="Times New Roman"/>
                <a:cs typeface="Times New Roman"/>
              </a:rPr>
              <a:t>setting,</a:t>
            </a:r>
            <a:r>
              <a:rPr dirty="0" sz="1000" spc="-30">
                <a:latin typeface="Times New Roman"/>
                <a:cs typeface="Times New Roman"/>
              </a:rPr>
              <a:t> </a:t>
            </a:r>
            <a:r>
              <a:rPr dirty="0" sz="1000">
                <a:latin typeface="Times New Roman"/>
                <a:cs typeface="Times New Roman"/>
              </a:rPr>
              <a:t>quality</a:t>
            </a:r>
            <a:r>
              <a:rPr dirty="0" sz="1000" spc="-25">
                <a:latin typeface="Times New Roman"/>
                <a:cs typeface="Times New Roman"/>
              </a:rPr>
              <a:t> </a:t>
            </a:r>
            <a:r>
              <a:rPr dirty="0" sz="1000">
                <a:latin typeface="Times New Roman"/>
                <a:cs typeface="Times New Roman"/>
              </a:rPr>
              <a:t>also</a:t>
            </a:r>
            <a:r>
              <a:rPr dirty="0" sz="1000" spc="-25">
                <a:latin typeface="Times New Roman"/>
                <a:cs typeface="Times New Roman"/>
              </a:rPr>
              <a:t> </a:t>
            </a:r>
            <a:r>
              <a:rPr dirty="0" sz="1000">
                <a:latin typeface="Times New Roman"/>
                <a:cs typeface="Times New Roman"/>
              </a:rPr>
              <a:t>drops</a:t>
            </a:r>
            <a:r>
              <a:rPr dirty="0" sz="1000" spc="-30">
                <a:latin typeface="Times New Roman"/>
                <a:cs typeface="Times New Roman"/>
              </a:rPr>
              <a:t> </a:t>
            </a:r>
            <a:r>
              <a:rPr dirty="0" sz="1000">
                <a:latin typeface="Times New Roman"/>
                <a:cs typeface="Times New Roman"/>
              </a:rPr>
              <a:t>off</a:t>
            </a:r>
            <a:r>
              <a:rPr dirty="0" sz="1000" spc="-25">
                <a:latin typeface="Times New Roman"/>
                <a:cs typeface="Times New Roman"/>
              </a:rPr>
              <a:t> </a:t>
            </a:r>
            <a:r>
              <a:rPr dirty="0" sz="1000">
                <a:latin typeface="Times New Roman"/>
                <a:cs typeface="Times New Roman"/>
              </a:rPr>
              <a:t>with</a:t>
            </a:r>
            <a:r>
              <a:rPr dirty="0" sz="1000" spc="-30">
                <a:latin typeface="Times New Roman"/>
                <a:cs typeface="Times New Roman"/>
              </a:rPr>
              <a:t> </a:t>
            </a:r>
            <a:r>
              <a:rPr dirty="0" sz="1000">
                <a:latin typeface="Times New Roman"/>
                <a:cs typeface="Times New Roman"/>
              </a:rPr>
              <a:t>too</a:t>
            </a:r>
            <a:r>
              <a:rPr dirty="0" sz="1000" spc="-25">
                <a:latin typeface="Times New Roman"/>
                <a:cs typeface="Times New Roman"/>
              </a:rPr>
              <a:t> </a:t>
            </a:r>
            <a:r>
              <a:rPr dirty="0" sz="1000">
                <a:latin typeface="Times New Roman"/>
                <a:cs typeface="Times New Roman"/>
              </a:rPr>
              <a:t>many</a:t>
            </a:r>
            <a:r>
              <a:rPr dirty="0" sz="1000" spc="-30">
                <a:latin typeface="Times New Roman"/>
                <a:cs typeface="Times New Roman"/>
              </a:rPr>
              <a:t> </a:t>
            </a:r>
            <a:r>
              <a:rPr dirty="0" sz="1000" spc="-10">
                <a:latin typeface="Times New Roman"/>
                <a:cs typeface="Times New Roman"/>
              </a:rPr>
              <a:t>heads.</a:t>
            </a:r>
            <a:endParaRPr sz="1000">
              <a:latin typeface="Times New Roman"/>
              <a:cs typeface="Times New Roman"/>
            </a:endParaRPr>
          </a:p>
        </p:txBody>
      </p:sp>
      <p:sp>
        <p:nvSpPr>
          <p:cNvPr id="6" name="object 6" descr=""/>
          <p:cNvSpPr/>
          <p:nvPr/>
        </p:nvSpPr>
        <p:spPr>
          <a:xfrm>
            <a:off x="1371600" y="9008732"/>
            <a:ext cx="1822450" cy="0"/>
          </a:xfrm>
          <a:custGeom>
            <a:avLst/>
            <a:gdLst/>
            <a:ahLst/>
            <a:cxnLst/>
            <a:rect l="l" t="t" r="r" b="b"/>
            <a:pathLst>
              <a:path w="1822450" h="0">
                <a:moveTo>
                  <a:pt x="0" y="0"/>
                </a:moveTo>
                <a:lnTo>
                  <a:pt x="1821967" y="0"/>
                </a:lnTo>
              </a:path>
            </a:pathLst>
          </a:custGeom>
          <a:ln w="5054">
            <a:solidFill>
              <a:srgbClr val="000000"/>
            </a:solidFill>
          </a:ln>
        </p:spPr>
        <p:txBody>
          <a:bodyPr wrap="square" lIns="0" tIns="0" rIns="0" bIns="0" rtlCol="0"/>
          <a:lstStyle/>
          <a:p/>
        </p:txBody>
      </p:sp>
      <p:sp>
        <p:nvSpPr>
          <p:cNvPr id="7" name="object 7" descr=""/>
          <p:cNvSpPr txBox="1"/>
          <p:nvPr/>
        </p:nvSpPr>
        <p:spPr>
          <a:xfrm>
            <a:off x="1519593" y="9012780"/>
            <a:ext cx="4258945" cy="176530"/>
          </a:xfrm>
          <a:prstGeom prst="rect">
            <a:avLst/>
          </a:prstGeom>
        </p:spPr>
        <p:txBody>
          <a:bodyPr wrap="square" lIns="0" tIns="16510" rIns="0" bIns="0" rtlCol="0" vert="horz">
            <a:spAutoFit/>
          </a:bodyPr>
          <a:lstStyle/>
          <a:p>
            <a:pPr marL="12700">
              <a:lnSpc>
                <a:spcPct val="100000"/>
              </a:lnSpc>
              <a:spcBef>
                <a:spcPts val="130"/>
              </a:spcBef>
            </a:pPr>
            <a:r>
              <a:rPr dirty="0" baseline="37037" sz="900">
                <a:latin typeface="Times New Roman"/>
                <a:cs typeface="Times New Roman"/>
              </a:rPr>
              <a:t>5</a:t>
            </a:r>
            <a:r>
              <a:rPr dirty="0" sz="900">
                <a:latin typeface="Times New Roman"/>
                <a:cs typeface="Times New Roman"/>
              </a:rPr>
              <a:t>We</a:t>
            </a:r>
            <a:r>
              <a:rPr dirty="0" sz="900" spc="-25">
                <a:latin typeface="Times New Roman"/>
                <a:cs typeface="Times New Roman"/>
              </a:rPr>
              <a:t> </a:t>
            </a:r>
            <a:r>
              <a:rPr dirty="0" sz="900">
                <a:latin typeface="Times New Roman"/>
                <a:cs typeface="Times New Roman"/>
              </a:rPr>
              <a:t>used</a:t>
            </a:r>
            <a:r>
              <a:rPr dirty="0" sz="900" spc="-25">
                <a:latin typeface="Times New Roman"/>
                <a:cs typeface="Times New Roman"/>
              </a:rPr>
              <a:t> </a:t>
            </a:r>
            <a:r>
              <a:rPr dirty="0" sz="900">
                <a:latin typeface="Times New Roman"/>
                <a:cs typeface="Times New Roman"/>
              </a:rPr>
              <a:t>values</a:t>
            </a:r>
            <a:r>
              <a:rPr dirty="0" sz="900" spc="-25">
                <a:latin typeface="Times New Roman"/>
                <a:cs typeface="Times New Roman"/>
              </a:rPr>
              <a:t> </a:t>
            </a:r>
            <a:r>
              <a:rPr dirty="0" sz="900">
                <a:latin typeface="Times New Roman"/>
                <a:cs typeface="Times New Roman"/>
              </a:rPr>
              <a:t>of</a:t>
            </a:r>
            <a:r>
              <a:rPr dirty="0" sz="900" spc="-25">
                <a:latin typeface="Times New Roman"/>
                <a:cs typeface="Times New Roman"/>
              </a:rPr>
              <a:t> </a:t>
            </a:r>
            <a:r>
              <a:rPr dirty="0" sz="900">
                <a:latin typeface="Times New Roman"/>
                <a:cs typeface="Times New Roman"/>
              </a:rPr>
              <a:t>2.8,</a:t>
            </a:r>
            <a:r>
              <a:rPr dirty="0" sz="900" spc="-25">
                <a:latin typeface="Times New Roman"/>
                <a:cs typeface="Times New Roman"/>
              </a:rPr>
              <a:t> </a:t>
            </a:r>
            <a:r>
              <a:rPr dirty="0" sz="900">
                <a:latin typeface="Times New Roman"/>
                <a:cs typeface="Times New Roman"/>
              </a:rPr>
              <a:t>3.7,</a:t>
            </a:r>
            <a:r>
              <a:rPr dirty="0" sz="900" spc="-25">
                <a:latin typeface="Times New Roman"/>
                <a:cs typeface="Times New Roman"/>
              </a:rPr>
              <a:t> </a:t>
            </a:r>
            <a:r>
              <a:rPr dirty="0" sz="900">
                <a:latin typeface="Times New Roman"/>
                <a:cs typeface="Times New Roman"/>
              </a:rPr>
              <a:t>6.0</a:t>
            </a:r>
            <a:r>
              <a:rPr dirty="0" sz="900" spc="-25">
                <a:latin typeface="Times New Roman"/>
                <a:cs typeface="Times New Roman"/>
              </a:rPr>
              <a:t> </a:t>
            </a:r>
            <a:r>
              <a:rPr dirty="0" sz="900">
                <a:latin typeface="Times New Roman"/>
                <a:cs typeface="Times New Roman"/>
              </a:rPr>
              <a:t>and</a:t>
            </a:r>
            <a:r>
              <a:rPr dirty="0" sz="900" spc="-20">
                <a:latin typeface="Times New Roman"/>
                <a:cs typeface="Times New Roman"/>
              </a:rPr>
              <a:t> </a:t>
            </a:r>
            <a:r>
              <a:rPr dirty="0" sz="900">
                <a:latin typeface="Times New Roman"/>
                <a:cs typeface="Times New Roman"/>
              </a:rPr>
              <a:t>9.5</a:t>
            </a:r>
            <a:r>
              <a:rPr dirty="0" sz="900" spc="-25">
                <a:latin typeface="Times New Roman"/>
                <a:cs typeface="Times New Roman"/>
              </a:rPr>
              <a:t> </a:t>
            </a:r>
            <a:r>
              <a:rPr dirty="0" sz="900">
                <a:latin typeface="Times New Roman"/>
                <a:cs typeface="Times New Roman"/>
              </a:rPr>
              <a:t>TFLOPS</a:t>
            </a:r>
            <a:r>
              <a:rPr dirty="0" sz="900" spc="-25">
                <a:latin typeface="Times New Roman"/>
                <a:cs typeface="Times New Roman"/>
              </a:rPr>
              <a:t> </a:t>
            </a:r>
            <a:r>
              <a:rPr dirty="0" sz="900">
                <a:latin typeface="Times New Roman"/>
                <a:cs typeface="Times New Roman"/>
              </a:rPr>
              <a:t>for</a:t>
            </a:r>
            <a:r>
              <a:rPr dirty="0" sz="900" spc="-25">
                <a:latin typeface="Times New Roman"/>
                <a:cs typeface="Times New Roman"/>
              </a:rPr>
              <a:t> </a:t>
            </a:r>
            <a:r>
              <a:rPr dirty="0" sz="900">
                <a:latin typeface="Times New Roman"/>
                <a:cs typeface="Times New Roman"/>
              </a:rPr>
              <a:t>K80,</a:t>
            </a:r>
            <a:r>
              <a:rPr dirty="0" sz="900" spc="-25">
                <a:latin typeface="Times New Roman"/>
                <a:cs typeface="Times New Roman"/>
              </a:rPr>
              <a:t> </a:t>
            </a:r>
            <a:r>
              <a:rPr dirty="0" sz="900">
                <a:latin typeface="Times New Roman"/>
                <a:cs typeface="Times New Roman"/>
              </a:rPr>
              <a:t>K40,</a:t>
            </a:r>
            <a:r>
              <a:rPr dirty="0" sz="900" spc="-25">
                <a:latin typeface="Times New Roman"/>
                <a:cs typeface="Times New Roman"/>
              </a:rPr>
              <a:t> </a:t>
            </a:r>
            <a:r>
              <a:rPr dirty="0" sz="900">
                <a:latin typeface="Times New Roman"/>
                <a:cs typeface="Times New Roman"/>
              </a:rPr>
              <a:t>M40</a:t>
            </a:r>
            <a:r>
              <a:rPr dirty="0" sz="900" spc="-25">
                <a:latin typeface="Times New Roman"/>
                <a:cs typeface="Times New Roman"/>
              </a:rPr>
              <a:t> </a:t>
            </a:r>
            <a:r>
              <a:rPr dirty="0" sz="900">
                <a:latin typeface="Times New Roman"/>
                <a:cs typeface="Times New Roman"/>
              </a:rPr>
              <a:t>and</a:t>
            </a:r>
            <a:r>
              <a:rPr dirty="0" sz="900" spc="-20">
                <a:latin typeface="Times New Roman"/>
                <a:cs typeface="Times New Roman"/>
              </a:rPr>
              <a:t> </a:t>
            </a:r>
            <a:r>
              <a:rPr dirty="0" sz="900">
                <a:latin typeface="Times New Roman"/>
                <a:cs typeface="Times New Roman"/>
              </a:rPr>
              <a:t>P100,</a:t>
            </a:r>
            <a:r>
              <a:rPr dirty="0" sz="900" spc="-25">
                <a:latin typeface="Times New Roman"/>
                <a:cs typeface="Times New Roman"/>
              </a:rPr>
              <a:t> </a:t>
            </a:r>
            <a:r>
              <a:rPr dirty="0" sz="900" spc="-10">
                <a:latin typeface="Times New Roman"/>
                <a:cs typeface="Times New Roman"/>
              </a:rPr>
              <a:t>respectively.</a:t>
            </a:r>
            <a:endParaRPr sz="900">
              <a:latin typeface="Times New Roman"/>
              <a:cs typeface="Times New Roman"/>
            </a:endParaRPr>
          </a:p>
        </p:txBody>
      </p:sp>
      <p:sp>
        <p:nvSpPr>
          <p:cNvPr id="8" name="object 8" descr=""/>
          <p:cNvSpPr txBox="1">
            <a:spLocks noGrp="1"/>
          </p:cNvSpPr>
          <p:nvPr>
            <p:ph type="sldNum" idx="7" sz="quarter"/>
          </p:nvPr>
        </p:nvSpPr>
        <p:spPr>
          <a:prstGeom prst="rect"/>
        </p:spPr>
        <p:txBody>
          <a:bodyPr wrap="square" lIns="0" tIns="2540" rIns="0" bIns="0" rtlCol="0" vert="horz">
            <a:spAutoFit/>
          </a:bodyPr>
          <a:lstStyle/>
          <a:p>
            <a:pPr marL="69215">
              <a:lnSpc>
                <a:spcPct val="100000"/>
              </a:lnSpc>
              <a:spcBef>
                <a:spcPts val="20"/>
              </a:spcBef>
            </a:pPr>
            <a:fld id="{81D60167-4931-47E6-BA6A-407CBD079E47}" type="slidenum">
              <a:rPr dirty="0" spc="-50"/>
              <a:t>8</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descr=""/>
          <p:cNvSpPr txBox="1"/>
          <p:nvPr/>
        </p:nvSpPr>
        <p:spPr>
          <a:xfrm>
            <a:off x="3841864" y="9393968"/>
            <a:ext cx="88900" cy="178435"/>
          </a:xfrm>
          <a:prstGeom prst="rect">
            <a:avLst/>
          </a:prstGeom>
        </p:spPr>
        <p:txBody>
          <a:bodyPr wrap="square" lIns="0" tIns="2540" rIns="0" bIns="0" rtlCol="0" vert="horz">
            <a:spAutoFit/>
          </a:bodyPr>
          <a:lstStyle/>
          <a:p>
            <a:pPr marL="12700">
              <a:lnSpc>
                <a:spcPct val="100000"/>
              </a:lnSpc>
              <a:spcBef>
                <a:spcPts val="20"/>
              </a:spcBef>
            </a:pPr>
            <a:r>
              <a:rPr dirty="0" sz="1000" spc="-50">
                <a:latin typeface="Times New Roman"/>
                <a:cs typeface="Times New Roman"/>
              </a:rPr>
              <a:t>9</a:t>
            </a:r>
            <a:endParaRPr sz="1000">
              <a:latin typeface="Times New Roman"/>
              <a:cs typeface="Times New Roman"/>
            </a:endParaRPr>
          </a:p>
        </p:txBody>
      </p:sp>
      <p:sp>
        <p:nvSpPr>
          <p:cNvPr id="2" name="object 2" descr=""/>
          <p:cNvSpPr txBox="1"/>
          <p:nvPr/>
        </p:nvSpPr>
        <p:spPr>
          <a:xfrm>
            <a:off x="1354975" y="860963"/>
            <a:ext cx="5059045" cy="593090"/>
          </a:xfrm>
          <a:prstGeom prst="rect">
            <a:avLst/>
          </a:prstGeom>
        </p:spPr>
        <p:txBody>
          <a:bodyPr wrap="square" lIns="0" tIns="28575" rIns="0" bIns="0" rtlCol="0" vert="horz">
            <a:spAutoFit/>
          </a:bodyPr>
          <a:lstStyle/>
          <a:p>
            <a:pPr algn="just" marL="16510" marR="5080" indent="-4445">
              <a:lnSpc>
                <a:spcPts val="1090"/>
              </a:lnSpc>
              <a:spcBef>
                <a:spcPts val="225"/>
              </a:spcBef>
            </a:pPr>
            <a:r>
              <a:rPr dirty="0" sz="1000" spc="-25">
                <a:latin typeface="Times New Roman"/>
                <a:cs typeface="Times New Roman"/>
              </a:rPr>
              <a:t>Table</a:t>
            </a:r>
            <a:r>
              <a:rPr dirty="0" sz="1000" spc="-20">
                <a:latin typeface="Times New Roman"/>
                <a:cs typeface="Times New Roman"/>
              </a:rPr>
              <a:t> </a:t>
            </a:r>
            <a:r>
              <a:rPr dirty="0" sz="1000">
                <a:latin typeface="Times New Roman"/>
                <a:cs typeface="Times New Roman"/>
              </a:rPr>
              <a:t>3:</a:t>
            </a:r>
            <a:r>
              <a:rPr dirty="0" sz="1000" spc="35">
                <a:latin typeface="Times New Roman"/>
                <a:cs typeface="Times New Roman"/>
              </a:rPr>
              <a:t> </a:t>
            </a:r>
            <a:r>
              <a:rPr dirty="0" sz="1000" spc="-25">
                <a:latin typeface="Times New Roman"/>
                <a:cs typeface="Times New Roman"/>
              </a:rPr>
              <a:t>Variations</a:t>
            </a:r>
            <a:r>
              <a:rPr dirty="0" sz="1000" spc="-15">
                <a:latin typeface="Times New Roman"/>
                <a:cs typeface="Times New Roman"/>
              </a:rPr>
              <a:t> </a:t>
            </a:r>
            <a:r>
              <a:rPr dirty="0" sz="1000">
                <a:latin typeface="Times New Roman"/>
                <a:cs typeface="Times New Roman"/>
              </a:rPr>
              <a:t>on</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spc="-20">
                <a:latin typeface="Times New Roman"/>
                <a:cs typeface="Times New Roman"/>
              </a:rPr>
              <a:t>Transformer</a:t>
            </a:r>
            <a:r>
              <a:rPr dirty="0" sz="1000" spc="-15">
                <a:latin typeface="Times New Roman"/>
                <a:cs typeface="Times New Roman"/>
              </a:rPr>
              <a:t> </a:t>
            </a:r>
            <a:r>
              <a:rPr dirty="0" sz="1000" spc="-10">
                <a:latin typeface="Times New Roman"/>
                <a:cs typeface="Times New Roman"/>
              </a:rPr>
              <a:t>architecture.</a:t>
            </a:r>
            <a:r>
              <a:rPr dirty="0" sz="1000" spc="35">
                <a:latin typeface="Times New Roman"/>
                <a:cs typeface="Times New Roman"/>
              </a:rPr>
              <a:t> </a:t>
            </a:r>
            <a:r>
              <a:rPr dirty="0" sz="1000" spc="-10">
                <a:latin typeface="Times New Roman"/>
                <a:cs typeface="Times New Roman"/>
              </a:rPr>
              <a:t>Unlisted</a:t>
            </a:r>
            <a:r>
              <a:rPr dirty="0" sz="1000" spc="-20">
                <a:latin typeface="Times New Roman"/>
                <a:cs typeface="Times New Roman"/>
              </a:rPr>
              <a:t> </a:t>
            </a:r>
            <a:r>
              <a:rPr dirty="0" sz="1000" spc="-10">
                <a:latin typeface="Times New Roman"/>
                <a:cs typeface="Times New Roman"/>
              </a:rPr>
              <a:t>values</a:t>
            </a:r>
            <a:r>
              <a:rPr dirty="0" sz="1000" spc="-15">
                <a:latin typeface="Times New Roman"/>
                <a:cs typeface="Times New Roman"/>
              </a:rPr>
              <a:t> </a:t>
            </a:r>
            <a:r>
              <a:rPr dirty="0" sz="1000">
                <a:latin typeface="Times New Roman"/>
                <a:cs typeface="Times New Roman"/>
              </a:rPr>
              <a:t>are</a:t>
            </a:r>
            <a:r>
              <a:rPr dirty="0" sz="1000" spc="-20">
                <a:latin typeface="Times New Roman"/>
                <a:cs typeface="Times New Roman"/>
              </a:rPr>
              <a:t> </a:t>
            </a:r>
            <a:r>
              <a:rPr dirty="0" sz="1000" spc="-10">
                <a:latin typeface="Times New Roman"/>
                <a:cs typeface="Times New Roman"/>
              </a:rPr>
              <a:t>identical</a:t>
            </a:r>
            <a:r>
              <a:rPr dirty="0" sz="1000" spc="-2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spc="-10">
                <a:latin typeface="Times New Roman"/>
                <a:cs typeface="Times New Roman"/>
              </a:rPr>
              <a:t>those</a:t>
            </a:r>
            <a:r>
              <a:rPr dirty="0" sz="1000" spc="-15">
                <a:latin typeface="Times New Roman"/>
                <a:cs typeface="Times New Roman"/>
              </a:rPr>
              <a:t> </a:t>
            </a:r>
            <a:r>
              <a:rPr dirty="0" sz="1000">
                <a:latin typeface="Times New Roman"/>
                <a:cs typeface="Times New Roman"/>
              </a:rPr>
              <a:t>of</a:t>
            </a:r>
            <a:r>
              <a:rPr dirty="0" sz="1000" spc="-15">
                <a:latin typeface="Times New Roman"/>
                <a:cs typeface="Times New Roman"/>
              </a:rPr>
              <a:t> </a:t>
            </a:r>
            <a:r>
              <a:rPr dirty="0" sz="1000">
                <a:latin typeface="Times New Roman"/>
                <a:cs typeface="Times New Roman"/>
              </a:rPr>
              <a:t>the</a:t>
            </a:r>
            <a:r>
              <a:rPr dirty="0" sz="1000" spc="-20">
                <a:latin typeface="Times New Roman"/>
                <a:cs typeface="Times New Roman"/>
              </a:rPr>
              <a:t> base </a:t>
            </a:r>
            <a:r>
              <a:rPr dirty="0" sz="1000">
                <a:latin typeface="Times New Roman"/>
                <a:cs typeface="Times New Roman"/>
              </a:rPr>
              <a:t>model.</a:t>
            </a:r>
            <a:r>
              <a:rPr dirty="0" sz="1000" spc="30">
                <a:latin typeface="Times New Roman"/>
                <a:cs typeface="Times New Roman"/>
              </a:rPr>
              <a:t> </a:t>
            </a:r>
            <a:r>
              <a:rPr dirty="0" sz="1000">
                <a:latin typeface="Times New Roman"/>
                <a:cs typeface="Times New Roman"/>
              </a:rPr>
              <a:t>All</a:t>
            </a:r>
            <a:r>
              <a:rPr dirty="0" sz="1000" spc="-20">
                <a:latin typeface="Times New Roman"/>
                <a:cs typeface="Times New Roman"/>
              </a:rPr>
              <a:t> </a:t>
            </a:r>
            <a:r>
              <a:rPr dirty="0" sz="1000">
                <a:latin typeface="Times New Roman"/>
                <a:cs typeface="Times New Roman"/>
              </a:rPr>
              <a:t>metrics</a:t>
            </a:r>
            <a:r>
              <a:rPr dirty="0" sz="1000" spc="-25">
                <a:latin typeface="Times New Roman"/>
                <a:cs typeface="Times New Roman"/>
              </a:rPr>
              <a:t> </a:t>
            </a:r>
            <a:r>
              <a:rPr dirty="0" sz="1000">
                <a:latin typeface="Times New Roman"/>
                <a:cs typeface="Times New Roman"/>
              </a:rPr>
              <a:t>are</a:t>
            </a:r>
            <a:r>
              <a:rPr dirty="0" sz="1000" spc="-25">
                <a:latin typeface="Times New Roman"/>
                <a:cs typeface="Times New Roman"/>
              </a:rPr>
              <a:t> </a:t>
            </a:r>
            <a:r>
              <a:rPr dirty="0" sz="1000">
                <a:latin typeface="Times New Roman"/>
                <a:cs typeface="Times New Roman"/>
              </a:rPr>
              <a:t>on</a:t>
            </a:r>
            <a:r>
              <a:rPr dirty="0" sz="1000" spc="-2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10">
                <a:latin typeface="Times New Roman"/>
                <a:cs typeface="Times New Roman"/>
              </a:rPr>
              <a:t>English-to-</a:t>
            </a:r>
            <a:r>
              <a:rPr dirty="0" sz="1000">
                <a:latin typeface="Times New Roman"/>
                <a:cs typeface="Times New Roman"/>
              </a:rPr>
              <a:t>German</a:t>
            </a:r>
            <a:r>
              <a:rPr dirty="0" sz="1000" spc="-20">
                <a:latin typeface="Times New Roman"/>
                <a:cs typeface="Times New Roman"/>
              </a:rPr>
              <a:t> </a:t>
            </a:r>
            <a:r>
              <a:rPr dirty="0" sz="1000">
                <a:latin typeface="Times New Roman"/>
                <a:cs typeface="Times New Roman"/>
              </a:rPr>
              <a:t>translation</a:t>
            </a:r>
            <a:r>
              <a:rPr dirty="0" sz="1000" spc="-25">
                <a:latin typeface="Times New Roman"/>
                <a:cs typeface="Times New Roman"/>
              </a:rPr>
              <a:t> </a:t>
            </a:r>
            <a:r>
              <a:rPr dirty="0" sz="1000" spc="-10">
                <a:latin typeface="Times New Roman"/>
                <a:cs typeface="Times New Roman"/>
              </a:rPr>
              <a:t>development</a:t>
            </a:r>
            <a:r>
              <a:rPr dirty="0" sz="1000" spc="-25">
                <a:latin typeface="Times New Roman"/>
                <a:cs typeface="Times New Roman"/>
              </a:rPr>
              <a:t> </a:t>
            </a:r>
            <a:r>
              <a:rPr dirty="0" sz="1000">
                <a:latin typeface="Times New Roman"/>
                <a:cs typeface="Times New Roman"/>
              </a:rPr>
              <a:t>set,</a:t>
            </a:r>
            <a:r>
              <a:rPr dirty="0" sz="1000" spc="-20">
                <a:latin typeface="Times New Roman"/>
                <a:cs typeface="Times New Roman"/>
              </a:rPr>
              <a:t> </a:t>
            </a:r>
            <a:r>
              <a:rPr dirty="0" sz="1000">
                <a:latin typeface="Times New Roman"/>
                <a:cs typeface="Times New Roman"/>
              </a:rPr>
              <a:t>newstest2013.</a:t>
            </a:r>
            <a:r>
              <a:rPr dirty="0" sz="1000" spc="30">
                <a:latin typeface="Times New Roman"/>
                <a:cs typeface="Times New Roman"/>
              </a:rPr>
              <a:t> </a:t>
            </a:r>
            <a:r>
              <a:rPr dirty="0" sz="1000" spc="-10">
                <a:latin typeface="Times New Roman"/>
                <a:cs typeface="Times New Roman"/>
              </a:rPr>
              <a:t>Listed perplexities</a:t>
            </a:r>
            <a:r>
              <a:rPr dirty="0" sz="1000" spc="-15">
                <a:latin typeface="Times New Roman"/>
                <a:cs typeface="Times New Roman"/>
              </a:rPr>
              <a:t> </a:t>
            </a:r>
            <a:r>
              <a:rPr dirty="0" sz="1000">
                <a:latin typeface="Times New Roman"/>
                <a:cs typeface="Times New Roman"/>
              </a:rPr>
              <a:t>are</a:t>
            </a:r>
            <a:r>
              <a:rPr dirty="0" sz="1000" spc="-10">
                <a:latin typeface="Times New Roman"/>
                <a:cs typeface="Times New Roman"/>
              </a:rPr>
              <a:t> </a:t>
            </a:r>
            <a:r>
              <a:rPr dirty="0" sz="1000" spc="-20">
                <a:latin typeface="Times New Roman"/>
                <a:cs typeface="Times New Roman"/>
              </a:rPr>
              <a:t>per-</a:t>
            </a:r>
            <a:r>
              <a:rPr dirty="0" sz="1000" spc="-10">
                <a:latin typeface="Times New Roman"/>
                <a:cs typeface="Times New Roman"/>
              </a:rPr>
              <a:t>wordpiece,</a:t>
            </a:r>
            <a:r>
              <a:rPr dirty="0" sz="1000" spc="-15">
                <a:latin typeface="Times New Roman"/>
                <a:cs typeface="Times New Roman"/>
              </a:rPr>
              <a:t> </a:t>
            </a:r>
            <a:r>
              <a:rPr dirty="0" sz="1000">
                <a:latin typeface="Times New Roman"/>
                <a:cs typeface="Times New Roman"/>
              </a:rPr>
              <a:t>according</a:t>
            </a:r>
            <a:r>
              <a:rPr dirty="0" sz="1000" spc="-1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our</a:t>
            </a:r>
            <a:r>
              <a:rPr dirty="0" sz="1000" spc="-10">
                <a:latin typeface="Times New Roman"/>
                <a:cs typeface="Times New Roman"/>
              </a:rPr>
              <a:t> byte-</a:t>
            </a:r>
            <a:r>
              <a:rPr dirty="0" sz="1000">
                <a:latin typeface="Times New Roman"/>
                <a:cs typeface="Times New Roman"/>
              </a:rPr>
              <a:t>pair</a:t>
            </a:r>
            <a:r>
              <a:rPr dirty="0" sz="1000" spc="-10">
                <a:latin typeface="Times New Roman"/>
                <a:cs typeface="Times New Roman"/>
              </a:rPr>
              <a:t> </a:t>
            </a:r>
            <a:r>
              <a:rPr dirty="0" sz="1000">
                <a:latin typeface="Times New Roman"/>
                <a:cs typeface="Times New Roman"/>
              </a:rPr>
              <a:t>encoding,</a:t>
            </a:r>
            <a:r>
              <a:rPr dirty="0" sz="1000" spc="-15">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should</a:t>
            </a:r>
            <a:r>
              <a:rPr dirty="0" sz="1000" spc="-15">
                <a:latin typeface="Times New Roman"/>
                <a:cs typeface="Times New Roman"/>
              </a:rPr>
              <a:t> </a:t>
            </a:r>
            <a:r>
              <a:rPr dirty="0" sz="1000">
                <a:latin typeface="Times New Roman"/>
                <a:cs typeface="Times New Roman"/>
              </a:rPr>
              <a:t>not</a:t>
            </a:r>
            <a:r>
              <a:rPr dirty="0" sz="1000" spc="-10">
                <a:latin typeface="Times New Roman"/>
                <a:cs typeface="Times New Roman"/>
              </a:rPr>
              <a:t> </a:t>
            </a:r>
            <a:r>
              <a:rPr dirty="0" sz="1000">
                <a:latin typeface="Times New Roman"/>
                <a:cs typeface="Times New Roman"/>
              </a:rPr>
              <a:t>be</a:t>
            </a:r>
            <a:r>
              <a:rPr dirty="0" sz="1000" spc="-10">
                <a:latin typeface="Times New Roman"/>
                <a:cs typeface="Times New Roman"/>
              </a:rPr>
              <a:t> </a:t>
            </a:r>
            <a:r>
              <a:rPr dirty="0" sz="1000">
                <a:latin typeface="Times New Roman"/>
                <a:cs typeface="Times New Roman"/>
              </a:rPr>
              <a:t>compared</a:t>
            </a:r>
            <a:r>
              <a:rPr dirty="0" sz="1000" spc="-15">
                <a:latin typeface="Times New Roman"/>
                <a:cs typeface="Times New Roman"/>
              </a:rPr>
              <a:t> </a:t>
            </a:r>
            <a:r>
              <a:rPr dirty="0" sz="1000" spc="-25">
                <a:latin typeface="Times New Roman"/>
                <a:cs typeface="Times New Roman"/>
              </a:rPr>
              <a:t>to </a:t>
            </a:r>
            <a:r>
              <a:rPr dirty="0" sz="1000" spc="-20">
                <a:latin typeface="Times New Roman"/>
                <a:cs typeface="Times New Roman"/>
              </a:rPr>
              <a:t>per-</a:t>
            </a:r>
            <a:r>
              <a:rPr dirty="0" sz="1000">
                <a:latin typeface="Times New Roman"/>
                <a:cs typeface="Times New Roman"/>
              </a:rPr>
              <a:t>word</a:t>
            </a:r>
            <a:r>
              <a:rPr dirty="0" sz="1000" spc="-20">
                <a:latin typeface="Times New Roman"/>
                <a:cs typeface="Times New Roman"/>
              </a:rPr>
              <a:t> </a:t>
            </a:r>
            <a:r>
              <a:rPr dirty="0" sz="1000" spc="-10">
                <a:latin typeface="Times New Roman"/>
                <a:cs typeface="Times New Roman"/>
              </a:rPr>
              <a:t>perplexities.</a:t>
            </a:r>
            <a:endParaRPr sz="1000">
              <a:latin typeface="Times New Roman"/>
              <a:cs typeface="Times New Roman"/>
            </a:endParaRPr>
          </a:p>
        </p:txBody>
      </p:sp>
      <p:graphicFrame>
        <p:nvGraphicFramePr>
          <p:cNvPr id="3" name="object 3" descr=""/>
          <p:cNvGraphicFramePr>
            <a:graphicFrameLocks noGrp="1"/>
          </p:cNvGraphicFramePr>
          <p:nvPr/>
        </p:nvGraphicFramePr>
        <p:xfrm>
          <a:off x="1371600" y="1646847"/>
          <a:ext cx="5165725" cy="3223895"/>
        </p:xfrm>
        <a:graphic>
          <a:graphicData uri="http://schemas.openxmlformats.org/drawingml/2006/table">
            <a:tbl>
              <a:tblPr firstRow="1" bandRow="1">
                <a:tableStyleId>{2D5ABB26-0587-4C30-8999-92F81FD0307C}</a:tableStyleId>
              </a:tblPr>
              <a:tblGrid>
                <a:gridCol w="408305"/>
                <a:gridCol w="260350"/>
                <a:gridCol w="448945"/>
                <a:gridCol w="407669"/>
                <a:gridCol w="278130"/>
                <a:gridCol w="341630"/>
                <a:gridCol w="341630"/>
                <a:gridCol w="440689"/>
                <a:gridCol w="313055"/>
                <a:gridCol w="433069"/>
                <a:gridCol w="415925"/>
                <a:gridCol w="482600"/>
                <a:gridCol w="517525"/>
              </a:tblGrid>
              <a:tr h="304800">
                <a:tc>
                  <a:txBody>
                    <a:bodyPr/>
                    <a:lstStyle/>
                    <a:p>
                      <a:pPr>
                        <a:lnSpc>
                          <a:spcPct val="100000"/>
                        </a:lnSpc>
                      </a:pPr>
                      <a:endParaRPr sz="900">
                        <a:latin typeface="Times New Roman"/>
                        <a:cs typeface="Times New Roman"/>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459"/>
                        </a:spcBef>
                      </a:pPr>
                      <a:r>
                        <a:rPr dirty="0" sz="1000" spc="95" i="1">
                          <a:latin typeface="Calibri"/>
                          <a:cs typeface="Calibri"/>
                        </a:rPr>
                        <a:t>N</a:t>
                      </a:r>
                      <a:endParaRPr sz="1000">
                        <a:latin typeface="Calibri"/>
                        <a:cs typeface="Calibri"/>
                      </a:endParaRPr>
                    </a:p>
                  </a:txBody>
                  <a:tcPr marL="0" marR="0" marB="0" marT="58419">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marL="3175">
                        <a:lnSpc>
                          <a:spcPct val="100000"/>
                        </a:lnSpc>
                        <a:spcBef>
                          <a:spcPts val="610"/>
                        </a:spcBef>
                      </a:pPr>
                      <a:r>
                        <a:rPr dirty="0" baseline="8333" sz="1500" spc="-15" i="1">
                          <a:latin typeface="Calibri"/>
                          <a:cs typeface="Calibri"/>
                        </a:rPr>
                        <a:t>d</a:t>
                      </a:r>
                      <a:r>
                        <a:rPr dirty="0" sz="700" spc="-10">
                          <a:latin typeface="Times New Roman"/>
                          <a:cs typeface="Times New Roman"/>
                        </a:rPr>
                        <a:t>model</a:t>
                      </a:r>
                      <a:endParaRPr sz="700">
                        <a:latin typeface="Times New Roman"/>
                        <a:cs typeface="Times New Roman"/>
                      </a:endParaRPr>
                    </a:p>
                  </a:txBody>
                  <a:tcPr marL="0" marR="0" marB="0" marT="77470">
                    <a:lnT w="6350">
                      <a:solidFill>
                        <a:srgbClr val="000000"/>
                      </a:solidFill>
                      <a:prstDash val="solid"/>
                    </a:lnT>
                    <a:lnB w="6350">
                      <a:solidFill>
                        <a:srgbClr val="000000"/>
                      </a:solidFill>
                      <a:prstDash val="solid"/>
                    </a:lnB>
                  </a:tcPr>
                </a:tc>
                <a:tc>
                  <a:txBody>
                    <a:bodyPr/>
                    <a:lstStyle/>
                    <a:p>
                      <a:pPr algn="ctr">
                        <a:lnSpc>
                          <a:spcPct val="100000"/>
                        </a:lnSpc>
                        <a:spcBef>
                          <a:spcPts val="610"/>
                        </a:spcBef>
                      </a:pPr>
                      <a:r>
                        <a:rPr dirty="0" baseline="8333" sz="1500" spc="-37" i="1">
                          <a:latin typeface="Calibri"/>
                          <a:cs typeface="Calibri"/>
                        </a:rPr>
                        <a:t>d</a:t>
                      </a:r>
                      <a:r>
                        <a:rPr dirty="0" sz="700" spc="-25">
                          <a:latin typeface="Times New Roman"/>
                          <a:cs typeface="Times New Roman"/>
                        </a:rPr>
                        <a:t>ff</a:t>
                      </a:r>
                      <a:endParaRPr sz="700">
                        <a:latin typeface="Times New Roman"/>
                        <a:cs typeface="Times New Roman"/>
                      </a:endParaRPr>
                    </a:p>
                  </a:txBody>
                  <a:tcPr marL="0" marR="0" marB="0" marT="77470">
                    <a:lnT w="6350">
                      <a:solidFill>
                        <a:srgbClr val="000000"/>
                      </a:solidFill>
                      <a:prstDash val="solid"/>
                    </a:lnT>
                    <a:lnB w="6350">
                      <a:solidFill>
                        <a:srgbClr val="000000"/>
                      </a:solidFill>
                      <a:prstDash val="solid"/>
                    </a:lnB>
                  </a:tcPr>
                </a:tc>
                <a:tc>
                  <a:txBody>
                    <a:bodyPr/>
                    <a:lstStyle/>
                    <a:p>
                      <a:pPr algn="ctr">
                        <a:lnSpc>
                          <a:spcPct val="100000"/>
                        </a:lnSpc>
                        <a:spcBef>
                          <a:spcPts val="459"/>
                        </a:spcBef>
                      </a:pPr>
                      <a:r>
                        <a:rPr dirty="0" sz="1000" spc="5" i="1">
                          <a:latin typeface="Calibri"/>
                          <a:cs typeface="Calibri"/>
                        </a:rPr>
                        <a:t>h</a:t>
                      </a:r>
                      <a:endParaRPr sz="1000">
                        <a:latin typeface="Calibri"/>
                        <a:cs typeface="Calibri"/>
                      </a:endParaRPr>
                    </a:p>
                  </a:txBody>
                  <a:tcPr marL="0" marR="0" marB="0" marT="58419">
                    <a:lnT w="6350">
                      <a:solidFill>
                        <a:srgbClr val="000000"/>
                      </a:solidFill>
                      <a:prstDash val="solid"/>
                    </a:lnT>
                    <a:lnB w="6350">
                      <a:solidFill>
                        <a:srgbClr val="000000"/>
                      </a:solidFill>
                      <a:prstDash val="solid"/>
                    </a:lnB>
                  </a:tcPr>
                </a:tc>
                <a:tc>
                  <a:txBody>
                    <a:bodyPr/>
                    <a:lstStyle/>
                    <a:p>
                      <a:pPr algn="ctr" marR="635">
                        <a:lnSpc>
                          <a:spcPct val="100000"/>
                        </a:lnSpc>
                        <a:spcBef>
                          <a:spcPts val="459"/>
                        </a:spcBef>
                      </a:pPr>
                      <a:r>
                        <a:rPr dirty="0" sz="1000" spc="30" i="1">
                          <a:latin typeface="Calibri"/>
                          <a:cs typeface="Calibri"/>
                        </a:rPr>
                        <a:t>d</a:t>
                      </a:r>
                      <a:r>
                        <a:rPr dirty="0" baseline="-11904" sz="1050" spc="44" i="1">
                          <a:latin typeface="Calibri"/>
                          <a:cs typeface="Calibri"/>
                        </a:rPr>
                        <a:t>k</a:t>
                      </a:r>
                      <a:endParaRPr baseline="-11904" sz="1050">
                        <a:latin typeface="Calibri"/>
                        <a:cs typeface="Calibri"/>
                      </a:endParaRPr>
                    </a:p>
                  </a:txBody>
                  <a:tcPr marL="0" marR="0" marB="0" marT="58419">
                    <a:lnT w="6350">
                      <a:solidFill>
                        <a:srgbClr val="000000"/>
                      </a:solidFill>
                      <a:prstDash val="solid"/>
                    </a:lnT>
                    <a:lnB w="6350">
                      <a:solidFill>
                        <a:srgbClr val="000000"/>
                      </a:solidFill>
                      <a:prstDash val="solid"/>
                    </a:lnB>
                  </a:tcPr>
                </a:tc>
                <a:tc>
                  <a:txBody>
                    <a:bodyPr/>
                    <a:lstStyle/>
                    <a:p>
                      <a:pPr algn="ctr" marR="1905">
                        <a:lnSpc>
                          <a:spcPct val="100000"/>
                        </a:lnSpc>
                        <a:spcBef>
                          <a:spcPts val="459"/>
                        </a:spcBef>
                      </a:pPr>
                      <a:r>
                        <a:rPr dirty="0" sz="1000" spc="-25" i="1">
                          <a:latin typeface="Calibri"/>
                          <a:cs typeface="Calibri"/>
                        </a:rPr>
                        <a:t>d</a:t>
                      </a:r>
                      <a:r>
                        <a:rPr dirty="0" baseline="-11904" sz="1050" spc="-37" i="1">
                          <a:latin typeface="Calibri"/>
                          <a:cs typeface="Calibri"/>
                        </a:rPr>
                        <a:t>v</a:t>
                      </a:r>
                      <a:endParaRPr baseline="-11904" sz="1050">
                        <a:latin typeface="Calibri"/>
                        <a:cs typeface="Calibri"/>
                      </a:endParaRPr>
                    </a:p>
                  </a:txBody>
                  <a:tcPr marL="0" marR="0" marB="0" marT="58419">
                    <a:lnT w="6350">
                      <a:solidFill>
                        <a:srgbClr val="000000"/>
                      </a:solidFill>
                      <a:prstDash val="solid"/>
                    </a:lnT>
                    <a:lnB w="6350">
                      <a:solidFill>
                        <a:srgbClr val="000000"/>
                      </a:solidFill>
                      <a:prstDash val="solid"/>
                    </a:lnB>
                  </a:tcPr>
                </a:tc>
                <a:tc>
                  <a:txBody>
                    <a:bodyPr/>
                    <a:lstStyle/>
                    <a:p>
                      <a:pPr algn="ctr">
                        <a:lnSpc>
                          <a:spcPct val="100000"/>
                        </a:lnSpc>
                        <a:spcBef>
                          <a:spcPts val="610"/>
                        </a:spcBef>
                      </a:pPr>
                      <a:r>
                        <a:rPr dirty="0" baseline="8333" sz="1500" spc="97" i="1">
                          <a:latin typeface="Calibri"/>
                          <a:cs typeface="Calibri"/>
                        </a:rPr>
                        <a:t>P</a:t>
                      </a:r>
                      <a:r>
                        <a:rPr dirty="0" sz="700" spc="65" i="1">
                          <a:latin typeface="Calibri"/>
                          <a:cs typeface="Calibri"/>
                        </a:rPr>
                        <a:t>drop</a:t>
                      </a:r>
                      <a:endParaRPr sz="700">
                        <a:latin typeface="Calibri"/>
                        <a:cs typeface="Calibri"/>
                      </a:endParaRPr>
                    </a:p>
                  </a:txBody>
                  <a:tcPr marL="0" marR="0" marB="0" marT="77470">
                    <a:lnT w="6350">
                      <a:solidFill>
                        <a:srgbClr val="000000"/>
                      </a:solidFill>
                      <a:prstDash val="solid"/>
                    </a:lnT>
                    <a:lnB w="6350">
                      <a:solidFill>
                        <a:srgbClr val="000000"/>
                      </a:solidFill>
                      <a:prstDash val="solid"/>
                    </a:lnB>
                  </a:tcPr>
                </a:tc>
                <a:tc>
                  <a:txBody>
                    <a:bodyPr/>
                    <a:lstStyle/>
                    <a:p>
                      <a:pPr algn="ctr">
                        <a:lnSpc>
                          <a:spcPct val="100000"/>
                        </a:lnSpc>
                        <a:spcBef>
                          <a:spcPts val="610"/>
                        </a:spcBef>
                      </a:pPr>
                      <a:r>
                        <a:rPr dirty="0" baseline="8333" sz="1500" spc="37" i="1">
                          <a:latin typeface="Calibri"/>
                          <a:cs typeface="Calibri"/>
                        </a:rPr>
                        <a:t>ϵ</a:t>
                      </a:r>
                      <a:r>
                        <a:rPr dirty="0" sz="700" spc="25" i="1">
                          <a:latin typeface="Calibri"/>
                          <a:cs typeface="Calibri"/>
                        </a:rPr>
                        <a:t>ls</a:t>
                      </a:r>
                      <a:endParaRPr sz="700">
                        <a:latin typeface="Calibri"/>
                        <a:cs typeface="Calibri"/>
                      </a:endParaRPr>
                    </a:p>
                  </a:txBody>
                  <a:tcPr marL="0" marR="0" marB="0" marT="77470">
                    <a:lnT w="6350">
                      <a:solidFill>
                        <a:srgbClr val="000000"/>
                      </a:solidFill>
                      <a:prstDash val="solid"/>
                    </a:lnT>
                    <a:lnB w="6350">
                      <a:solidFill>
                        <a:srgbClr val="000000"/>
                      </a:solidFill>
                      <a:prstDash val="solid"/>
                    </a:lnB>
                  </a:tcPr>
                </a:tc>
                <a:tc>
                  <a:txBody>
                    <a:bodyPr/>
                    <a:lstStyle/>
                    <a:p>
                      <a:pPr marL="89535" marR="81915" indent="10160">
                        <a:lnSpc>
                          <a:spcPts val="1140"/>
                        </a:lnSpc>
                        <a:spcBef>
                          <a:spcPts val="5"/>
                        </a:spcBef>
                      </a:pPr>
                      <a:r>
                        <a:rPr dirty="0" sz="1000" spc="-10">
                          <a:latin typeface="Times New Roman"/>
                          <a:cs typeface="Times New Roman"/>
                        </a:rPr>
                        <a:t>train steps</a:t>
                      </a:r>
                      <a:endParaRPr sz="1000">
                        <a:latin typeface="Times New Roman"/>
                        <a:cs typeface="Times New Roman"/>
                      </a:endParaRPr>
                    </a:p>
                  </a:txBody>
                  <a:tcPr marL="0" marR="0" marB="0" marT="635">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8425">
                        <a:lnSpc>
                          <a:spcPts val="1085"/>
                        </a:lnSpc>
                      </a:pPr>
                      <a:r>
                        <a:rPr dirty="0" sz="1000" spc="-25">
                          <a:latin typeface="Times New Roman"/>
                          <a:cs typeface="Times New Roman"/>
                        </a:rPr>
                        <a:t>PPL</a:t>
                      </a:r>
                      <a:endParaRPr sz="1000">
                        <a:latin typeface="Times New Roman"/>
                        <a:cs typeface="Times New Roman"/>
                      </a:endParaRPr>
                    </a:p>
                    <a:p>
                      <a:pPr marL="75565">
                        <a:lnSpc>
                          <a:spcPts val="1170"/>
                        </a:lnSpc>
                      </a:pPr>
                      <a:r>
                        <a:rPr dirty="0" sz="1000" spc="-10">
                          <a:latin typeface="Times New Roman"/>
                          <a:cs typeface="Times New Roman"/>
                        </a:rPr>
                        <a:t>(dev)</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75565">
                        <a:lnSpc>
                          <a:spcPts val="1085"/>
                        </a:lnSpc>
                      </a:pPr>
                      <a:r>
                        <a:rPr dirty="0" sz="1000" spc="-20">
                          <a:latin typeface="Times New Roman"/>
                          <a:cs typeface="Times New Roman"/>
                        </a:rPr>
                        <a:t>BLEU</a:t>
                      </a:r>
                      <a:endParaRPr sz="1000">
                        <a:latin typeface="Times New Roman"/>
                        <a:cs typeface="Times New Roman"/>
                      </a:endParaRPr>
                    </a:p>
                    <a:p>
                      <a:pPr marL="108585">
                        <a:lnSpc>
                          <a:spcPts val="1170"/>
                        </a:lnSpc>
                      </a:pPr>
                      <a:r>
                        <a:rPr dirty="0" sz="1000" spc="-10">
                          <a:latin typeface="Times New Roman"/>
                          <a:cs typeface="Times New Roman"/>
                        </a:rPr>
                        <a:t>(dev)</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marL="75565">
                        <a:lnSpc>
                          <a:spcPts val="1055"/>
                        </a:lnSpc>
                      </a:pPr>
                      <a:r>
                        <a:rPr dirty="0" sz="1000" spc="-10">
                          <a:latin typeface="Times New Roman"/>
                          <a:cs typeface="Times New Roman"/>
                        </a:rPr>
                        <a:t>params</a:t>
                      </a:r>
                      <a:endParaRPr sz="1000">
                        <a:latin typeface="Times New Roman"/>
                        <a:cs typeface="Times New Roman"/>
                      </a:endParaRPr>
                    </a:p>
                    <a:p>
                      <a:pPr marL="342265">
                        <a:lnSpc>
                          <a:spcPts val="390"/>
                        </a:lnSpc>
                      </a:pPr>
                      <a:r>
                        <a:rPr dirty="0" sz="700" spc="-50">
                          <a:latin typeface="Tahoma"/>
                          <a:cs typeface="Tahoma"/>
                        </a:rPr>
                        <a:t>6</a:t>
                      </a:r>
                      <a:endParaRPr sz="700">
                        <a:latin typeface="Tahoma"/>
                        <a:cs typeface="Tahoma"/>
                      </a:endParaRPr>
                    </a:p>
                    <a:p>
                      <a:pPr marL="117475">
                        <a:lnSpc>
                          <a:spcPts val="810"/>
                        </a:lnSpc>
                      </a:pPr>
                      <a:r>
                        <a:rPr dirty="0" sz="1000" spc="-25">
                          <a:latin typeface="Lucida Sans Unicode"/>
                          <a:cs typeface="Lucida Sans Unicode"/>
                        </a:rPr>
                        <a:t>×</a:t>
                      </a:r>
                      <a:r>
                        <a:rPr dirty="0" sz="1000" spc="-25">
                          <a:latin typeface="Calibri"/>
                          <a:cs typeface="Calibri"/>
                        </a:rPr>
                        <a:t>10</a:t>
                      </a:r>
                      <a:endParaRPr sz="1000">
                        <a:latin typeface="Calibri"/>
                        <a:cs typeface="Calibri"/>
                      </a:endParaRPr>
                    </a:p>
                  </a:txBody>
                  <a:tcPr marL="0" marR="0" marB="0" marT="0">
                    <a:lnT w="6350">
                      <a:solidFill>
                        <a:srgbClr val="000000"/>
                      </a:solidFill>
                      <a:prstDash val="solid"/>
                    </a:lnT>
                    <a:lnB w="6350">
                      <a:solidFill>
                        <a:srgbClr val="000000"/>
                      </a:solidFill>
                      <a:prstDash val="solid"/>
                    </a:lnB>
                  </a:tcPr>
                </a:tc>
              </a:tr>
              <a:tr h="160020">
                <a:tc>
                  <a:txBody>
                    <a:bodyPr/>
                    <a:lstStyle/>
                    <a:p>
                      <a:pPr algn="ctr" marL="31115">
                        <a:lnSpc>
                          <a:spcPts val="1115"/>
                        </a:lnSpc>
                      </a:pPr>
                      <a:r>
                        <a:rPr dirty="0" sz="1000" spc="-20">
                          <a:latin typeface="Times New Roman"/>
                          <a:cs typeface="Times New Roman"/>
                        </a:rPr>
                        <a:t>base</a:t>
                      </a:r>
                      <a:endParaRPr sz="1000">
                        <a:latin typeface="Times New Roman"/>
                        <a:cs typeface="Times New Roman"/>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0">
                        <a:lnSpc>
                          <a:spcPts val="1115"/>
                        </a:lnSpc>
                      </a:pPr>
                      <a:r>
                        <a:rPr dirty="0" sz="1000" spc="-50">
                          <a:latin typeface="Times New Roman"/>
                          <a:cs typeface="Times New Roman"/>
                        </a:rPr>
                        <a:t>6</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marL="9525">
                        <a:lnSpc>
                          <a:spcPts val="1115"/>
                        </a:lnSpc>
                      </a:pPr>
                      <a:r>
                        <a:rPr dirty="0" sz="1000" spc="-25">
                          <a:latin typeface="Times New Roman"/>
                          <a:cs typeface="Times New Roman"/>
                        </a:rPr>
                        <a:t>512</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marL="3175">
                        <a:lnSpc>
                          <a:spcPts val="1115"/>
                        </a:lnSpc>
                      </a:pPr>
                      <a:r>
                        <a:rPr dirty="0" sz="1000" spc="-20">
                          <a:latin typeface="Times New Roman"/>
                          <a:cs typeface="Times New Roman"/>
                        </a:rPr>
                        <a:t>2048</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50">
                          <a:latin typeface="Times New Roman"/>
                          <a:cs typeface="Times New Roman"/>
                        </a:rPr>
                        <a:t>8</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5">
                          <a:latin typeface="Times New Roman"/>
                          <a:cs typeface="Times New Roman"/>
                        </a:rPr>
                        <a:t>64</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5">
                          <a:latin typeface="Times New Roman"/>
                          <a:cs typeface="Times New Roman"/>
                        </a:rPr>
                        <a:t>64</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marL="3175">
                        <a:lnSpc>
                          <a:spcPts val="1115"/>
                        </a:lnSpc>
                      </a:pPr>
                      <a:r>
                        <a:rPr dirty="0" sz="1000" spc="-25">
                          <a:latin typeface="Times New Roman"/>
                          <a:cs typeface="Times New Roman"/>
                        </a:rPr>
                        <a:t>0.1</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marL="3175">
                        <a:lnSpc>
                          <a:spcPts val="1115"/>
                        </a:lnSpc>
                      </a:pPr>
                      <a:r>
                        <a:rPr dirty="0" sz="1000" spc="-25">
                          <a:latin typeface="Times New Roman"/>
                          <a:cs typeface="Times New Roman"/>
                        </a:rPr>
                        <a:t>0.1</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0">
                          <a:latin typeface="Times New Roman"/>
                          <a:cs typeface="Times New Roman"/>
                        </a:rPr>
                        <a:t>100K</a:t>
                      </a:r>
                      <a:endParaRPr sz="1000">
                        <a:latin typeface="Times New Roman"/>
                        <a:cs typeface="Times New Roman"/>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115"/>
                        </a:lnSpc>
                      </a:pPr>
                      <a:r>
                        <a:rPr dirty="0" sz="1000" spc="-20">
                          <a:latin typeface="Times New Roman"/>
                          <a:cs typeface="Times New Roman"/>
                        </a:rPr>
                        <a:t>4.92</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ts val="1115"/>
                        </a:lnSpc>
                      </a:pPr>
                      <a:r>
                        <a:rPr dirty="0" sz="1000" spc="-20">
                          <a:latin typeface="Times New Roman"/>
                          <a:cs typeface="Times New Roman"/>
                        </a:rPr>
                        <a:t>25.8</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5">
                          <a:latin typeface="Times New Roman"/>
                          <a:cs typeface="Times New Roman"/>
                        </a:rPr>
                        <a:t>65</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r>
              <a:tr h="144780">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gn="ctr">
                        <a:lnSpc>
                          <a:spcPts val="1040"/>
                        </a:lnSpc>
                      </a:pPr>
                      <a:r>
                        <a:rPr dirty="0" sz="1000" spc="-50">
                          <a:latin typeface="Times New Roman"/>
                          <a:cs typeface="Times New Roman"/>
                        </a:rPr>
                        <a:t>1</a:t>
                      </a:r>
                      <a:endParaRPr sz="1000">
                        <a:latin typeface="Times New Roman"/>
                        <a:cs typeface="Times New Roman"/>
                      </a:endParaRPr>
                    </a:p>
                  </a:txBody>
                  <a:tcPr marL="0" marR="0" marB="0" marT="0">
                    <a:lnT w="6350">
                      <a:solidFill>
                        <a:srgbClr val="000000"/>
                      </a:solidFill>
                      <a:prstDash val="solid"/>
                    </a:lnT>
                  </a:tcPr>
                </a:tc>
                <a:tc>
                  <a:txBody>
                    <a:bodyPr/>
                    <a:lstStyle/>
                    <a:p>
                      <a:pPr algn="ctr">
                        <a:lnSpc>
                          <a:spcPts val="1040"/>
                        </a:lnSpc>
                      </a:pPr>
                      <a:r>
                        <a:rPr dirty="0" sz="1000" spc="-25">
                          <a:latin typeface="Times New Roman"/>
                          <a:cs typeface="Times New Roman"/>
                        </a:rPr>
                        <a:t>512</a:t>
                      </a:r>
                      <a:endParaRPr sz="1000">
                        <a:latin typeface="Times New Roman"/>
                        <a:cs typeface="Times New Roman"/>
                      </a:endParaRPr>
                    </a:p>
                  </a:txBody>
                  <a:tcPr marL="0" marR="0" marB="0" marT="0">
                    <a:lnT w="6350">
                      <a:solidFill>
                        <a:srgbClr val="000000"/>
                      </a:solidFill>
                      <a:prstDash val="solid"/>
                    </a:lnT>
                  </a:tcPr>
                </a:tc>
                <a:tc>
                  <a:txBody>
                    <a:bodyPr/>
                    <a:lstStyle/>
                    <a:p>
                      <a:pPr algn="ctr">
                        <a:lnSpc>
                          <a:spcPts val="1040"/>
                        </a:lnSpc>
                      </a:pPr>
                      <a:r>
                        <a:rPr dirty="0" sz="1000" spc="-25">
                          <a:latin typeface="Times New Roman"/>
                          <a:cs typeface="Times New Roman"/>
                        </a:rPr>
                        <a:t>512</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T w="6350">
                      <a:solidFill>
                        <a:srgbClr val="000000"/>
                      </a:solidFill>
                      <a:prstDash val="solid"/>
                    </a:lnT>
                  </a:tcPr>
                </a:tc>
                <a:tc>
                  <a:txBody>
                    <a:bodyPr/>
                    <a:lstStyle/>
                    <a:p>
                      <a:pPr algn="ctr">
                        <a:lnSpc>
                          <a:spcPts val="1040"/>
                        </a:lnSpc>
                      </a:pPr>
                      <a:r>
                        <a:rPr dirty="0" sz="1000" spc="-20">
                          <a:latin typeface="Times New Roman"/>
                          <a:cs typeface="Times New Roman"/>
                        </a:rPr>
                        <a:t>5.29</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gn="ctr">
                        <a:lnSpc>
                          <a:spcPts val="1040"/>
                        </a:lnSpc>
                      </a:pPr>
                      <a:r>
                        <a:rPr dirty="0" sz="1000" spc="-20">
                          <a:latin typeface="Times New Roman"/>
                          <a:cs typeface="Times New Roman"/>
                        </a:rPr>
                        <a:t>24.9</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r>
              <a:tr h="138430">
                <a:tc rowSpan="2">
                  <a:txBody>
                    <a:bodyPr/>
                    <a:lstStyle/>
                    <a:p>
                      <a:pPr marL="132080">
                        <a:lnSpc>
                          <a:spcPct val="100000"/>
                        </a:lnSpc>
                        <a:spcBef>
                          <a:spcPts val="409"/>
                        </a:spcBef>
                      </a:pPr>
                      <a:r>
                        <a:rPr dirty="0" sz="1000" spc="-25">
                          <a:latin typeface="Times New Roman"/>
                          <a:cs typeface="Times New Roman"/>
                        </a:rPr>
                        <a:t>(A)</a:t>
                      </a:r>
                      <a:endParaRPr sz="1000">
                        <a:latin typeface="Times New Roman"/>
                        <a:cs typeface="Times New Roman"/>
                      </a:endParaRPr>
                    </a:p>
                  </a:txBody>
                  <a:tcPr marL="0" marR="0" marB="0" marT="52069">
                    <a:lnR w="6350">
                      <a:solidFill>
                        <a:srgbClr val="000000"/>
                      </a:solidFill>
                      <a:prstDash val="solid"/>
                    </a:lnR>
                  </a:tcPr>
                </a:tc>
                <a:tc rowSpan="2">
                  <a:txBody>
                    <a:bodyPr/>
                    <a:lstStyle/>
                    <a:p>
                      <a:pPr>
                        <a:lnSpc>
                          <a:spcPct val="100000"/>
                        </a:lnSpc>
                      </a:pPr>
                      <a:endParaRPr sz="900">
                        <a:latin typeface="Times New Roman"/>
                        <a:cs typeface="Times New Roman"/>
                      </a:endParaRPr>
                    </a:p>
                  </a:txBody>
                  <a:tcPr marL="0" marR="0" marB="0" marT="0">
                    <a:lnL w="6350">
                      <a:solidFill>
                        <a:srgbClr val="000000"/>
                      </a:solidFill>
                      <a:prstDash val="solid"/>
                    </a:lnL>
                  </a:tcPr>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a:txBody>
                    <a:bodyPr/>
                    <a:lstStyle/>
                    <a:p>
                      <a:pPr algn="ctr">
                        <a:lnSpc>
                          <a:spcPts val="990"/>
                        </a:lnSpc>
                      </a:pPr>
                      <a:r>
                        <a:rPr dirty="0" sz="1000" spc="-50">
                          <a:latin typeface="Times New Roman"/>
                          <a:cs typeface="Times New Roman"/>
                        </a:rPr>
                        <a:t>4</a:t>
                      </a:r>
                      <a:endParaRPr sz="1000">
                        <a:latin typeface="Times New Roman"/>
                        <a:cs typeface="Times New Roman"/>
                      </a:endParaRPr>
                    </a:p>
                  </a:txBody>
                  <a:tcPr marL="0" marR="0" marB="0" marT="0"/>
                </a:tc>
                <a:tc>
                  <a:txBody>
                    <a:bodyPr/>
                    <a:lstStyle/>
                    <a:p>
                      <a:pPr algn="ctr">
                        <a:lnSpc>
                          <a:spcPts val="990"/>
                        </a:lnSpc>
                      </a:pPr>
                      <a:r>
                        <a:rPr dirty="0" sz="1000" spc="-25">
                          <a:latin typeface="Times New Roman"/>
                          <a:cs typeface="Times New Roman"/>
                        </a:rPr>
                        <a:t>128</a:t>
                      </a:r>
                      <a:endParaRPr sz="1000">
                        <a:latin typeface="Times New Roman"/>
                        <a:cs typeface="Times New Roman"/>
                      </a:endParaRPr>
                    </a:p>
                  </a:txBody>
                  <a:tcPr marL="0" marR="0" marB="0" marT="0"/>
                </a:tc>
                <a:tc>
                  <a:txBody>
                    <a:bodyPr/>
                    <a:lstStyle/>
                    <a:p>
                      <a:pPr algn="ctr">
                        <a:lnSpc>
                          <a:spcPts val="990"/>
                        </a:lnSpc>
                      </a:pPr>
                      <a:r>
                        <a:rPr dirty="0" sz="1000" spc="-25">
                          <a:latin typeface="Times New Roman"/>
                          <a:cs typeface="Times New Roman"/>
                        </a:rPr>
                        <a:t>128</a:t>
                      </a:r>
                      <a:endParaRPr sz="10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lnR w="6350">
                      <a:solidFill>
                        <a:srgbClr val="000000"/>
                      </a:solidFill>
                      <a:prstDash val="solid"/>
                    </a:lnR>
                  </a:tcPr>
                </a:tc>
                <a:tc>
                  <a:txBody>
                    <a:bodyPr/>
                    <a:lstStyle/>
                    <a:p>
                      <a:pPr algn="ctr">
                        <a:lnSpc>
                          <a:spcPts val="990"/>
                        </a:lnSpc>
                      </a:pPr>
                      <a:r>
                        <a:rPr dirty="0" sz="1000" spc="-20">
                          <a:latin typeface="Times New Roman"/>
                          <a:cs typeface="Times New Roman"/>
                        </a:rPr>
                        <a:t>5.00</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990"/>
                        </a:lnSpc>
                      </a:pPr>
                      <a:r>
                        <a:rPr dirty="0" sz="1000" spc="-20">
                          <a:latin typeface="Times New Roman"/>
                          <a:cs typeface="Times New Roman"/>
                        </a:rPr>
                        <a:t>25.5</a:t>
                      </a:r>
                      <a:endParaRPr sz="10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r>
              <a:tr h="138430">
                <a:tc vMerge="1">
                  <a:txBody>
                    <a:bodyPr/>
                    <a:lstStyle/>
                    <a:p>
                      <a:pPr/>
                    </a:p>
                  </a:txBody>
                  <a:tcPr marL="0" marR="0" marB="0" marT="52069">
                    <a:lnR w="6350">
                      <a:solidFill>
                        <a:srgbClr val="000000"/>
                      </a:solidFill>
                      <a:prstDash val="solid"/>
                    </a:lnR>
                  </a:tcPr>
                </a:tc>
                <a:tc vMerge="1">
                  <a:txBody>
                    <a:bodyPr/>
                    <a:lstStyle/>
                    <a:p>
                      <a:pPr/>
                    </a:p>
                  </a:txBody>
                  <a:tcPr marL="0" marR="0" marB="0" marT="0">
                    <a:lnL w="6350">
                      <a:solidFill>
                        <a:srgbClr val="000000"/>
                      </a:solidFill>
                      <a:prstDash val="solid"/>
                    </a:lnL>
                  </a:tcPr>
                </a:tc>
                <a:tc vMerge="1">
                  <a:txBody>
                    <a:bodyPr/>
                    <a:lstStyle/>
                    <a:p>
                      <a:pPr/>
                    </a:p>
                  </a:txBody>
                  <a:tcPr marL="0" marR="0" marB="0" marT="0"/>
                </a:tc>
                <a:tc vMerge="1">
                  <a:txBody>
                    <a:bodyPr/>
                    <a:lstStyle/>
                    <a:p>
                      <a:pPr/>
                    </a:p>
                  </a:txBody>
                  <a:tcPr marL="0" marR="0" marB="0" marT="0"/>
                </a:tc>
                <a:tc>
                  <a:txBody>
                    <a:bodyPr/>
                    <a:lstStyle/>
                    <a:p>
                      <a:pPr algn="ctr">
                        <a:lnSpc>
                          <a:spcPts val="990"/>
                        </a:lnSpc>
                      </a:pPr>
                      <a:r>
                        <a:rPr dirty="0" sz="1000" spc="-25">
                          <a:latin typeface="Times New Roman"/>
                          <a:cs typeface="Times New Roman"/>
                        </a:rPr>
                        <a:t>16</a:t>
                      </a:r>
                      <a:endParaRPr sz="1000">
                        <a:latin typeface="Times New Roman"/>
                        <a:cs typeface="Times New Roman"/>
                      </a:endParaRPr>
                    </a:p>
                  </a:txBody>
                  <a:tcPr marL="0" marR="0" marB="0" marT="0"/>
                </a:tc>
                <a:tc>
                  <a:txBody>
                    <a:bodyPr/>
                    <a:lstStyle/>
                    <a:p>
                      <a:pPr algn="ctr">
                        <a:lnSpc>
                          <a:spcPts val="990"/>
                        </a:lnSpc>
                      </a:pPr>
                      <a:r>
                        <a:rPr dirty="0" sz="1000" spc="-25">
                          <a:latin typeface="Times New Roman"/>
                          <a:cs typeface="Times New Roman"/>
                        </a:rPr>
                        <a:t>32</a:t>
                      </a:r>
                      <a:endParaRPr sz="1000">
                        <a:latin typeface="Times New Roman"/>
                        <a:cs typeface="Times New Roman"/>
                      </a:endParaRPr>
                    </a:p>
                  </a:txBody>
                  <a:tcPr marL="0" marR="0" marB="0" marT="0"/>
                </a:tc>
                <a:tc>
                  <a:txBody>
                    <a:bodyPr/>
                    <a:lstStyle/>
                    <a:p>
                      <a:pPr algn="ctr">
                        <a:lnSpc>
                          <a:spcPts val="990"/>
                        </a:lnSpc>
                      </a:pPr>
                      <a:r>
                        <a:rPr dirty="0" sz="1000" spc="-25">
                          <a:latin typeface="Times New Roman"/>
                          <a:cs typeface="Times New Roman"/>
                        </a:rPr>
                        <a:t>32</a:t>
                      </a:r>
                      <a:endParaRPr sz="1000">
                        <a:latin typeface="Times New Roman"/>
                        <a:cs typeface="Times New Roman"/>
                      </a:endParaR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lnR w="6350">
                      <a:solidFill>
                        <a:srgbClr val="000000"/>
                      </a:solidFill>
                      <a:prstDash val="solid"/>
                    </a:lnR>
                  </a:tcPr>
                </a:tc>
                <a:tc>
                  <a:txBody>
                    <a:bodyPr/>
                    <a:lstStyle/>
                    <a:p>
                      <a:pPr algn="ctr">
                        <a:lnSpc>
                          <a:spcPts val="990"/>
                        </a:lnSpc>
                      </a:pPr>
                      <a:r>
                        <a:rPr dirty="0" sz="1000" spc="-20">
                          <a:latin typeface="Times New Roman"/>
                          <a:cs typeface="Times New Roman"/>
                        </a:rPr>
                        <a:t>4.91</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990"/>
                        </a:lnSpc>
                      </a:pPr>
                      <a:r>
                        <a:rPr dirty="0" sz="1000" spc="-20">
                          <a:latin typeface="Times New Roman"/>
                          <a:cs typeface="Times New Roman"/>
                        </a:rPr>
                        <a:t>25.8</a:t>
                      </a:r>
                      <a:endParaRPr sz="1000">
                        <a:latin typeface="Times New Roman"/>
                        <a:cs typeface="Times New Roman"/>
                      </a:endParaRPr>
                    </a:p>
                  </a:txBody>
                  <a:tcPr marL="0" marR="0" marB="0" marT="0"/>
                </a:tc>
                <a:tc vMerge="1">
                  <a:txBody>
                    <a:bodyPr/>
                    <a:lstStyle/>
                    <a:p>
                      <a:pPr/>
                    </a:p>
                  </a:txBody>
                  <a:tcPr marL="0" marR="0" marB="0" marT="0"/>
                </a:tc>
              </a:tr>
              <a:tr h="153670">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gn="ctr">
                        <a:lnSpc>
                          <a:spcPts val="1065"/>
                        </a:lnSpc>
                      </a:pPr>
                      <a:r>
                        <a:rPr dirty="0" sz="1000" spc="-25">
                          <a:latin typeface="Times New Roman"/>
                          <a:cs typeface="Times New Roman"/>
                        </a:rPr>
                        <a:t>32</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ts val="1065"/>
                        </a:lnSpc>
                      </a:pPr>
                      <a:r>
                        <a:rPr dirty="0" sz="1000" spc="-25">
                          <a:latin typeface="Times New Roman"/>
                          <a:cs typeface="Times New Roman"/>
                        </a:rPr>
                        <a:t>16</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ts val="1065"/>
                        </a:lnSpc>
                      </a:pPr>
                      <a:r>
                        <a:rPr dirty="0" sz="1000" spc="-25">
                          <a:latin typeface="Times New Roman"/>
                          <a:cs typeface="Times New Roman"/>
                        </a:rPr>
                        <a:t>16</a:t>
                      </a:r>
                      <a:endParaRPr sz="10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B w="6350">
                      <a:solidFill>
                        <a:srgbClr val="000000"/>
                      </a:solidFill>
                      <a:prstDash val="solid"/>
                    </a:lnB>
                  </a:tcPr>
                </a:tc>
                <a:tc>
                  <a:txBody>
                    <a:bodyPr/>
                    <a:lstStyle/>
                    <a:p>
                      <a:pPr algn="ctr">
                        <a:lnSpc>
                          <a:spcPts val="1065"/>
                        </a:lnSpc>
                      </a:pPr>
                      <a:r>
                        <a:rPr dirty="0" sz="1000" spc="-20">
                          <a:latin typeface="Times New Roman"/>
                          <a:cs typeface="Times New Roman"/>
                        </a:rPr>
                        <a:t>5.01</a:t>
                      </a:r>
                      <a:endParaRPr sz="10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gn="ctr">
                        <a:lnSpc>
                          <a:spcPts val="1065"/>
                        </a:lnSpc>
                      </a:pPr>
                      <a:r>
                        <a:rPr dirty="0" sz="1000" spc="-20">
                          <a:latin typeface="Times New Roman"/>
                          <a:cs typeface="Times New Roman"/>
                        </a:rPr>
                        <a:t>25.4</a:t>
                      </a:r>
                      <a:endParaRPr sz="10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r>
              <a:tr h="144780">
                <a:tc rowSpan="2">
                  <a:txBody>
                    <a:bodyPr/>
                    <a:lstStyle/>
                    <a:p>
                      <a:pPr marL="135255">
                        <a:lnSpc>
                          <a:spcPct val="100000"/>
                        </a:lnSpc>
                        <a:spcBef>
                          <a:spcPts val="459"/>
                        </a:spcBef>
                      </a:pPr>
                      <a:r>
                        <a:rPr dirty="0" sz="1000" spc="-25">
                          <a:latin typeface="Times New Roman"/>
                          <a:cs typeface="Times New Roman"/>
                        </a:rPr>
                        <a:t>(B)</a:t>
                      </a:r>
                      <a:endParaRPr sz="1000">
                        <a:latin typeface="Times New Roman"/>
                        <a:cs typeface="Times New Roman"/>
                      </a:endParaRPr>
                    </a:p>
                  </a:txBody>
                  <a:tcPr marL="0" marR="0" marB="0" marT="58419">
                    <a:lnR w="6350">
                      <a:solidFill>
                        <a:srgbClr val="000000"/>
                      </a:solidFill>
                      <a:prstDash val="solid"/>
                    </a:lnR>
                    <a:lnT w="6350">
                      <a:solidFill>
                        <a:srgbClr val="000000"/>
                      </a:solidFill>
                      <a:prstDash val="solid"/>
                    </a:lnT>
                    <a:lnB w="6350">
                      <a:solidFill>
                        <a:srgbClr val="000000"/>
                      </a:solidFill>
                      <a:prstDash val="solid"/>
                    </a:lnB>
                  </a:tcPr>
                </a:tc>
                <a:tc gridSpan="9">
                  <a:txBody>
                    <a:bodyPr/>
                    <a:lstStyle/>
                    <a:p>
                      <a:pPr algn="ctr" marR="124460">
                        <a:lnSpc>
                          <a:spcPts val="1040"/>
                        </a:lnSpc>
                      </a:pPr>
                      <a:r>
                        <a:rPr dirty="0" sz="1000" spc="-25">
                          <a:latin typeface="Times New Roman"/>
                          <a:cs typeface="Times New Roman"/>
                        </a:rPr>
                        <a:t>16</a:t>
                      </a: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gn="ctr">
                        <a:lnSpc>
                          <a:spcPts val="1040"/>
                        </a:lnSpc>
                      </a:pPr>
                      <a:r>
                        <a:rPr dirty="0" sz="1000" spc="-20">
                          <a:latin typeface="Times New Roman"/>
                          <a:cs typeface="Times New Roman"/>
                        </a:rPr>
                        <a:t>5.16</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gn="ctr">
                        <a:lnSpc>
                          <a:spcPts val="1040"/>
                        </a:lnSpc>
                      </a:pPr>
                      <a:r>
                        <a:rPr dirty="0" sz="1000" spc="-20">
                          <a:latin typeface="Times New Roman"/>
                          <a:cs typeface="Times New Roman"/>
                        </a:rPr>
                        <a:t>25.1</a:t>
                      </a:r>
                      <a:endParaRPr sz="1000">
                        <a:latin typeface="Times New Roman"/>
                        <a:cs typeface="Times New Roman"/>
                      </a:endParaRPr>
                    </a:p>
                  </a:txBody>
                  <a:tcPr marL="0" marR="0" marB="0" marT="0">
                    <a:lnT w="6350">
                      <a:solidFill>
                        <a:srgbClr val="000000"/>
                      </a:solidFill>
                      <a:prstDash val="solid"/>
                    </a:lnT>
                  </a:tcPr>
                </a:tc>
                <a:tc>
                  <a:txBody>
                    <a:bodyPr/>
                    <a:lstStyle/>
                    <a:p>
                      <a:pPr algn="ctr">
                        <a:lnSpc>
                          <a:spcPts val="1040"/>
                        </a:lnSpc>
                      </a:pPr>
                      <a:r>
                        <a:rPr dirty="0" sz="1000" spc="-25">
                          <a:latin typeface="Times New Roman"/>
                          <a:cs typeface="Times New Roman"/>
                        </a:rPr>
                        <a:t>58</a:t>
                      </a:r>
                      <a:endParaRPr sz="1000">
                        <a:latin typeface="Times New Roman"/>
                        <a:cs typeface="Times New Roman"/>
                      </a:endParaRPr>
                    </a:p>
                  </a:txBody>
                  <a:tcPr marL="0" marR="0" marB="0" marT="0">
                    <a:lnT w="6350">
                      <a:solidFill>
                        <a:srgbClr val="000000"/>
                      </a:solidFill>
                      <a:prstDash val="solid"/>
                    </a:lnT>
                  </a:tcPr>
                </a:tc>
              </a:tr>
              <a:tr h="153670">
                <a:tc vMerge="1">
                  <a:txBody>
                    <a:bodyPr/>
                    <a:lstStyle/>
                    <a:p>
                      <a:pPr/>
                    </a:p>
                  </a:txBody>
                  <a:tcPr marL="0" marR="0" marB="0" marT="58419">
                    <a:lnR w="6350">
                      <a:solidFill>
                        <a:srgbClr val="000000"/>
                      </a:solidFill>
                      <a:prstDash val="solid"/>
                    </a:lnR>
                    <a:lnT w="6350">
                      <a:solidFill>
                        <a:srgbClr val="000000"/>
                      </a:solidFill>
                      <a:prstDash val="solid"/>
                    </a:lnT>
                    <a:lnB w="6350">
                      <a:solidFill>
                        <a:srgbClr val="000000"/>
                      </a:solidFill>
                      <a:prstDash val="solid"/>
                    </a:lnB>
                  </a:tcPr>
                </a:tc>
                <a:tc gridSpan="9">
                  <a:txBody>
                    <a:bodyPr/>
                    <a:lstStyle/>
                    <a:p>
                      <a:pPr algn="ctr" marR="124460">
                        <a:lnSpc>
                          <a:spcPts val="1065"/>
                        </a:lnSpc>
                      </a:pPr>
                      <a:r>
                        <a:rPr dirty="0" sz="1000" spc="-25">
                          <a:latin typeface="Times New Roman"/>
                          <a:cs typeface="Times New Roman"/>
                        </a:rPr>
                        <a:t>32</a:t>
                      </a: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gn="ctr">
                        <a:lnSpc>
                          <a:spcPts val="1065"/>
                        </a:lnSpc>
                      </a:pPr>
                      <a:r>
                        <a:rPr dirty="0" sz="1000" spc="-20">
                          <a:latin typeface="Times New Roman"/>
                          <a:cs typeface="Times New Roman"/>
                        </a:rPr>
                        <a:t>5.01</a:t>
                      </a:r>
                      <a:endParaRPr sz="10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gn="ctr">
                        <a:lnSpc>
                          <a:spcPts val="1065"/>
                        </a:lnSpc>
                      </a:pPr>
                      <a:r>
                        <a:rPr dirty="0" sz="1000" spc="-20">
                          <a:latin typeface="Times New Roman"/>
                          <a:cs typeface="Times New Roman"/>
                        </a:rPr>
                        <a:t>25.4</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ts val="1065"/>
                        </a:lnSpc>
                      </a:pPr>
                      <a:r>
                        <a:rPr dirty="0" sz="1000" spc="-25">
                          <a:latin typeface="Times New Roman"/>
                          <a:cs typeface="Times New Roman"/>
                        </a:rPr>
                        <a:t>60</a:t>
                      </a:r>
                      <a:endParaRPr sz="1000">
                        <a:latin typeface="Times New Roman"/>
                        <a:cs typeface="Times New Roman"/>
                      </a:endParaRPr>
                    </a:p>
                  </a:txBody>
                  <a:tcPr marL="0" marR="0" marB="0" marT="0">
                    <a:lnB w="6350">
                      <a:solidFill>
                        <a:srgbClr val="000000"/>
                      </a:solidFill>
                      <a:prstDash val="solid"/>
                    </a:lnB>
                  </a:tcPr>
                </a:tc>
              </a:tr>
              <a:tr h="144780">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T w="6350">
                      <a:solidFill>
                        <a:srgbClr val="000000"/>
                      </a:solidFill>
                      <a:prstDash val="solid"/>
                    </a:lnT>
                  </a:tcPr>
                </a:tc>
                <a:tc>
                  <a:txBody>
                    <a:bodyPr/>
                    <a:lstStyle/>
                    <a:p>
                      <a:pPr algn="ctr" marL="6350">
                        <a:lnSpc>
                          <a:spcPts val="1040"/>
                        </a:lnSpc>
                      </a:pPr>
                      <a:r>
                        <a:rPr dirty="0" sz="1000" spc="-50">
                          <a:latin typeface="Times New Roman"/>
                          <a:cs typeface="Times New Roman"/>
                        </a:rPr>
                        <a:t>2</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T w="6350">
                      <a:solidFill>
                        <a:srgbClr val="000000"/>
                      </a:solidFill>
                      <a:prstDash val="solid"/>
                    </a:lnT>
                  </a:tcPr>
                </a:tc>
                <a:tc>
                  <a:txBody>
                    <a:bodyPr/>
                    <a:lstStyle/>
                    <a:p>
                      <a:pPr algn="ctr">
                        <a:lnSpc>
                          <a:spcPts val="1040"/>
                        </a:lnSpc>
                      </a:pPr>
                      <a:r>
                        <a:rPr dirty="0" sz="1000" spc="-20">
                          <a:latin typeface="Times New Roman"/>
                          <a:cs typeface="Times New Roman"/>
                        </a:rPr>
                        <a:t>6.11</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gn="ctr">
                        <a:lnSpc>
                          <a:spcPts val="1040"/>
                        </a:lnSpc>
                      </a:pPr>
                      <a:r>
                        <a:rPr dirty="0" sz="1000" spc="-20">
                          <a:latin typeface="Times New Roman"/>
                          <a:cs typeface="Times New Roman"/>
                        </a:rPr>
                        <a:t>23.7</a:t>
                      </a:r>
                      <a:endParaRPr sz="1000">
                        <a:latin typeface="Times New Roman"/>
                        <a:cs typeface="Times New Roman"/>
                      </a:endParaRPr>
                    </a:p>
                  </a:txBody>
                  <a:tcPr marL="0" marR="0" marB="0" marT="0">
                    <a:lnT w="6350">
                      <a:solidFill>
                        <a:srgbClr val="000000"/>
                      </a:solidFill>
                      <a:prstDash val="solid"/>
                    </a:lnT>
                  </a:tcPr>
                </a:tc>
                <a:tc>
                  <a:txBody>
                    <a:bodyPr/>
                    <a:lstStyle/>
                    <a:p>
                      <a:pPr algn="ctr">
                        <a:lnSpc>
                          <a:spcPts val="1040"/>
                        </a:lnSpc>
                      </a:pPr>
                      <a:r>
                        <a:rPr dirty="0" sz="1000" spc="-25">
                          <a:latin typeface="Times New Roman"/>
                          <a:cs typeface="Times New Roman"/>
                        </a:rPr>
                        <a:t>36</a:t>
                      </a:r>
                      <a:endParaRPr sz="1000">
                        <a:latin typeface="Times New Roman"/>
                        <a:cs typeface="Times New Roman"/>
                      </a:endParaRPr>
                    </a:p>
                  </a:txBody>
                  <a:tcPr marL="0" marR="0" marB="0" marT="0">
                    <a:lnT w="6350">
                      <a:solidFill>
                        <a:srgbClr val="000000"/>
                      </a:solidFill>
                      <a:prstDash val="solid"/>
                    </a:lnT>
                  </a:tcPr>
                </a:tc>
              </a:tr>
              <a:tr h="138430">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a:txBody>
                    <a:bodyPr/>
                    <a:lstStyle/>
                    <a:p>
                      <a:pPr algn="ctr" marL="6350">
                        <a:lnSpc>
                          <a:spcPts val="990"/>
                        </a:lnSpc>
                      </a:pPr>
                      <a:r>
                        <a:rPr dirty="0" sz="1000" spc="-50">
                          <a:latin typeface="Times New Roman"/>
                          <a:cs typeface="Times New Roman"/>
                        </a:rPr>
                        <a:t>4</a:t>
                      </a:r>
                      <a:endParaRPr sz="1000">
                        <a:latin typeface="Times New Roman"/>
                        <a:cs typeface="Times New Roman"/>
                      </a:endParaRPr>
                    </a:p>
                  </a:txBody>
                  <a:tcPr marL="0" marR="0" marB="0" marT="0">
                    <a:lnL w="6350">
                      <a:solidFill>
                        <a:srgbClr val="000000"/>
                      </a:solidFill>
                      <a:prstDash val="solid"/>
                    </a:lnL>
                  </a:tcPr>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a:txBody>
                    <a:bodyPr/>
                    <a:lstStyle/>
                    <a:p>
                      <a:pPr algn="ctr">
                        <a:lnSpc>
                          <a:spcPts val="990"/>
                        </a:lnSpc>
                      </a:pPr>
                      <a:r>
                        <a:rPr dirty="0" sz="1000" spc="-20">
                          <a:latin typeface="Times New Roman"/>
                          <a:cs typeface="Times New Roman"/>
                        </a:rPr>
                        <a:t>5.19</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990"/>
                        </a:lnSpc>
                      </a:pPr>
                      <a:r>
                        <a:rPr dirty="0" sz="1000" spc="-20">
                          <a:latin typeface="Times New Roman"/>
                          <a:cs typeface="Times New Roman"/>
                        </a:rPr>
                        <a:t>25.3</a:t>
                      </a:r>
                      <a:endParaRPr sz="1000">
                        <a:latin typeface="Times New Roman"/>
                        <a:cs typeface="Times New Roman"/>
                      </a:endParaRPr>
                    </a:p>
                  </a:txBody>
                  <a:tcPr marL="0" marR="0" marB="0" marT="0"/>
                </a:tc>
                <a:tc>
                  <a:txBody>
                    <a:bodyPr/>
                    <a:lstStyle/>
                    <a:p>
                      <a:pPr algn="ctr">
                        <a:lnSpc>
                          <a:spcPts val="990"/>
                        </a:lnSpc>
                      </a:pPr>
                      <a:r>
                        <a:rPr dirty="0" sz="1000" spc="-25">
                          <a:latin typeface="Times New Roman"/>
                          <a:cs typeface="Times New Roman"/>
                        </a:rPr>
                        <a:t>50</a:t>
                      </a:r>
                      <a:endParaRPr sz="1000">
                        <a:latin typeface="Times New Roman"/>
                        <a:cs typeface="Times New Roman"/>
                      </a:endParaRPr>
                    </a:p>
                  </a:txBody>
                  <a:tcPr marL="0" marR="0" marB="0" marT="0"/>
                </a:tc>
              </a:tr>
              <a:tr h="133985">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a:txBody>
                    <a:bodyPr/>
                    <a:lstStyle/>
                    <a:p>
                      <a:pPr algn="ctr" marL="6350">
                        <a:lnSpc>
                          <a:spcPts val="960"/>
                        </a:lnSpc>
                      </a:pPr>
                      <a:r>
                        <a:rPr dirty="0" sz="1000" spc="-50">
                          <a:latin typeface="Times New Roman"/>
                          <a:cs typeface="Times New Roman"/>
                        </a:rPr>
                        <a:t>8</a:t>
                      </a:r>
                      <a:endParaRPr sz="1000">
                        <a:latin typeface="Times New Roman"/>
                        <a:cs typeface="Times New Roman"/>
                      </a:endParaRPr>
                    </a:p>
                  </a:txBody>
                  <a:tcPr marL="0" marR="0" marB="0" marT="0">
                    <a:lnL w="6350">
                      <a:solidFill>
                        <a:srgbClr val="000000"/>
                      </a:solidFill>
                      <a:prstDash val="solid"/>
                    </a:lnL>
                  </a:tcPr>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rowSpan="2">
                  <a:txBody>
                    <a:bodyPr/>
                    <a:lstStyle/>
                    <a:p>
                      <a:pPr marL="96520">
                        <a:lnSpc>
                          <a:spcPts val="975"/>
                        </a:lnSpc>
                      </a:pPr>
                      <a:r>
                        <a:rPr dirty="0" sz="1000" spc="-20">
                          <a:latin typeface="Times New Roman"/>
                          <a:cs typeface="Times New Roman"/>
                        </a:rPr>
                        <a:t>4.88</a:t>
                      </a:r>
                      <a:endParaRPr sz="1000">
                        <a:latin typeface="Times New Roman"/>
                        <a:cs typeface="Times New Roman"/>
                      </a:endParaRPr>
                    </a:p>
                  </a:txBody>
                  <a:tcPr marL="0" marR="0" marB="0" marT="0">
                    <a:lnL w="6350">
                      <a:solidFill>
                        <a:srgbClr val="000000"/>
                      </a:solidFill>
                      <a:prstDash val="solid"/>
                    </a:lnL>
                  </a:tcPr>
                </a:tc>
                <a:tc rowSpan="2">
                  <a:txBody>
                    <a:bodyPr/>
                    <a:lstStyle/>
                    <a:p>
                      <a:pPr marL="130175">
                        <a:lnSpc>
                          <a:spcPts val="975"/>
                        </a:lnSpc>
                      </a:pPr>
                      <a:r>
                        <a:rPr dirty="0" sz="1000" spc="-20">
                          <a:latin typeface="Times New Roman"/>
                          <a:cs typeface="Times New Roman"/>
                        </a:rPr>
                        <a:t>25.5</a:t>
                      </a:r>
                      <a:endParaRPr sz="1000">
                        <a:latin typeface="Times New Roman"/>
                        <a:cs typeface="Times New Roman"/>
                      </a:endParaRPr>
                    </a:p>
                  </a:txBody>
                  <a:tcPr marL="0" marR="0" marB="0" marT="0"/>
                </a:tc>
                <a:tc rowSpan="2">
                  <a:txBody>
                    <a:bodyPr/>
                    <a:lstStyle/>
                    <a:p>
                      <a:pPr algn="ctr">
                        <a:lnSpc>
                          <a:spcPts val="975"/>
                        </a:lnSpc>
                      </a:pPr>
                      <a:r>
                        <a:rPr dirty="0" sz="1000" spc="-25">
                          <a:latin typeface="Times New Roman"/>
                          <a:cs typeface="Times New Roman"/>
                        </a:rPr>
                        <a:t>80</a:t>
                      </a:r>
                      <a:endParaRPr sz="1000">
                        <a:latin typeface="Times New Roman"/>
                        <a:cs typeface="Times New Roman"/>
                      </a:endParaRPr>
                    </a:p>
                  </a:txBody>
                  <a:tcPr marL="0" marR="0" marB="0" marT="0"/>
                </a:tc>
              </a:tr>
              <a:tr h="2540">
                <a:tc rowSpan="3">
                  <a:txBody>
                    <a:bodyPr/>
                    <a:lstStyle/>
                    <a:p>
                      <a:pPr marL="135255">
                        <a:lnSpc>
                          <a:spcPts val="1060"/>
                        </a:lnSpc>
                      </a:pPr>
                      <a:r>
                        <a:rPr dirty="0" sz="1000" spc="-25">
                          <a:latin typeface="Times New Roman"/>
                          <a:cs typeface="Times New Roman"/>
                        </a:rPr>
                        <a:t>(C)</a:t>
                      </a:r>
                      <a:endParaRPr sz="1000">
                        <a:latin typeface="Times New Roman"/>
                        <a:cs typeface="Times New Roman"/>
                      </a:endParaRPr>
                    </a:p>
                  </a:txBody>
                  <a:tcPr marL="0" marR="0" marB="0" marT="0">
                    <a:lnR w="6350">
                      <a:solidFill>
                        <a:srgbClr val="000000"/>
                      </a:solidFill>
                      <a:prstDash val="solid"/>
                    </a:lnR>
                  </a:tcPr>
                </a:tc>
                <a:tc rowSpan="2">
                  <a:txBody>
                    <a:bodyPr/>
                    <a:lstStyle/>
                    <a:p>
                      <a:pPr>
                        <a:lnSpc>
                          <a:spcPct val="100000"/>
                        </a:lnSpc>
                      </a:pPr>
                      <a:endParaRPr sz="800">
                        <a:latin typeface="Times New Roman"/>
                        <a:cs typeface="Times New Roman"/>
                      </a:endParaRPr>
                    </a:p>
                  </a:txBody>
                  <a:tcPr marL="0" marR="0" marB="0" marT="0">
                    <a:lnL w="6350">
                      <a:solidFill>
                        <a:srgbClr val="000000"/>
                      </a:solidFill>
                      <a:prstDash val="solid"/>
                    </a:lnL>
                  </a:tcPr>
                </a:tc>
                <a:tc rowSpan="2">
                  <a:txBody>
                    <a:bodyPr/>
                    <a:lstStyle/>
                    <a:p>
                      <a:pPr marL="134620">
                        <a:lnSpc>
                          <a:spcPts val="1055"/>
                        </a:lnSpc>
                      </a:pPr>
                      <a:r>
                        <a:rPr dirty="0" sz="1000" spc="-25">
                          <a:latin typeface="Times New Roman"/>
                          <a:cs typeface="Times New Roman"/>
                        </a:rPr>
                        <a:t>256</a:t>
                      </a:r>
                      <a:endParaRPr sz="1000">
                        <a:latin typeface="Times New Roman"/>
                        <a:cs typeface="Times New Roman"/>
                      </a:endParaRPr>
                    </a:p>
                  </a:txBody>
                  <a:tcPr marL="0" marR="0" marB="0" marT="0"/>
                </a:tc>
                <a:tc rowSpan="2">
                  <a:txBody>
                    <a:bodyPr/>
                    <a:lstStyle/>
                    <a:p>
                      <a:pPr>
                        <a:lnSpc>
                          <a:spcPct val="100000"/>
                        </a:lnSpc>
                      </a:pPr>
                      <a:endParaRPr sz="800">
                        <a:latin typeface="Times New Roman"/>
                        <a:cs typeface="Times New Roman"/>
                      </a:endParaRPr>
                    </a:p>
                  </a:txBody>
                  <a:tcPr marL="0" marR="0" marB="0" marT="0"/>
                </a:tc>
                <a:tc rowSpan="2">
                  <a:txBody>
                    <a:bodyPr/>
                    <a:lstStyle/>
                    <a:p>
                      <a:pPr>
                        <a:lnSpc>
                          <a:spcPct val="100000"/>
                        </a:lnSpc>
                      </a:pPr>
                      <a:endParaRPr sz="800">
                        <a:latin typeface="Times New Roman"/>
                        <a:cs typeface="Times New Roman"/>
                      </a:endParaRPr>
                    </a:p>
                  </a:txBody>
                  <a:tcPr marL="0" marR="0" marB="0" marT="0"/>
                </a:tc>
                <a:tc rowSpan="2">
                  <a:txBody>
                    <a:bodyPr/>
                    <a:lstStyle/>
                    <a:p>
                      <a:pPr marL="107314">
                        <a:lnSpc>
                          <a:spcPts val="1055"/>
                        </a:lnSpc>
                      </a:pPr>
                      <a:r>
                        <a:rPr dirty="0" sz="1000" spc="-25">
                          <a:latin typeface="Times New Roman"/>
                          <a:cs typeface="Times New Roman"/>
                        </a:rPr>
                        <a:t>32</a:t>
                      </a:r>
                      <a:endParaRPr sz="1000">
                        <a:latin typeface="Times New Roman"/>
                        <a:cs typeface="Times New Roman"/>
                      </a:endParaRPr>
                    </a:p>
                  </a:txBody>
                  <a:tcPr marL="0" marR="0" marB="0" marT="0"/>
                </a:tc>
                <a:tc rowSpan="2">
                  <a:txBody>
                    <a:bodyPr/>
                    <a:lstStyle/>
                    <a:p>
                      <a:pPr marL="107314">
                        <a:lnSpc>
                          <a:spcPts val="1055"/>
                        </a:lnSpc>
                      </a:pPr>
                      <a:r>
                        <a:rPr dirty="0" sz="1000" spc="-25">
                          <a:latin typeface="Times New Roman"/>
                          <a:cs typeface="Times New Roman"/>
                        </a:rPr>
                        <a:t>32</a:t>
                      </a:r>
                      <a:endParaRPr sz="1000">
                        <a:latin typeface="Times New Roman"/>
                        <a:cs typeface="Times New Roman"/>
                      </a:endParaRPr>
                    </a:p>
                  </a:txBody>
                  <a:tcPr marL="0" marR="0" marB="0" marT="0"/>
                </a:tc>
                <a:tc rowSpan="2">
                  <a:txBody>
                    <a:bodyPr/>
                    <a:lstStyle/>
                    <a:p>
                      <a:pPr>
                        <a:lnSpc>
                          <a:spcPct val="100000"/>
                        </a:lnSpc>
                      </a:pPr>
                      <a:endParaRPr sz="800">
                        <a:latin typeface="Times New Roman"/>
                        <a:cs typeface="Times New Roman"/>
                      </a:endParaRPr>
                    </a:p>
                  </a:txBody>
                  <a:tcPr marL="0" marR="0" marB="0" marT="0"/>
                </a:tc>
                <a:tc rowSpan="2">
                  <a:txBody>
                    <a:bodyPr/>
                    <a:lstStyle/>
                    <a:p>
                      <a:pPr>
                        <a:lnSpc>
                          <a:spcPct val="100000"/>
                        </a:lnSpc>
                      </a:pPr>
                      <a:endParaRPr sz="800">
                        <a:latin typeface="Times New Roman"/>
                        <a:cs typeface="Times New Roman"/>
                      </a:endParaRPr>
                    </a:p>
                  </a:txBody>
                  <a:tcPr marL="0" marR="0" marB="0" marT="0"/>
                </a:tc>
                <a:tc rowSpan="2">
                  <a:txBody>
                    <a:bodyPr/>
                    <a:lstStyle/>
                    <a:p>
                      <a:pPr>
                        <a:lnSpc>
                          <a:spcPct val="100000"/>
                        </a:lnSpc>
                      </a:pPr>
                      <a:endParaRPr sz="800">
                        <a:latin typeface="Times New Roman"/>
                        <a:cs typeface="Times New Roman"/>
                      </a:endParaRPr>
                    </a:p>
                  </a:txBody>
                  <a:tcPr marL="0" marR="0" marB="0" marT="0">
                    <a:lnR w="6350">
                      <a:solidFill>
                        <a:srgbClr val="000000"/>
                      </a:solidFill>
                      <a:prstDash val="solid"/>
                    </a:lnR>
                  </a:tcPr>
                </a:tc>
                <a:tc vMerge="1">
                  <a:txBody>
                    <a:bodyPr/>
                    <a:lstStyle/>
                    <a:p>
                      <a:pPr/>
                    </a:p>
                  </a:txBody>
                  <a:tcPr marL="0" marR="0" marB="0" marT="0">
                    <a:lnL w="6350">
                      <a:solidFill>
                        <a:srgbClr val="000000"/>
                      </a:solidFill>
                      <a:prstDash val="solid"/>
                    </a:lnL>
                  </a:tcPr>
                </a:tc>
                <a:tc vMerge="1">
                  <a:txBody>
                    <a:bodyPr/>
                    <a:lstStyle/>
                    <a:p>
                      <a:pPr/>
                    </a:p>
                  </a:txBody>
                  <a:tcPr marL="0" marR="0" marB="0" marT="0"/>
                </a:tc>
                <a:tc vMerge="1">
                  <a:txBody>
                    <a:bodyPr/>
                    <a:lstStyle/>
                    <a:p>
                      <a:pPr/>
                    </a:p>
                  </a:txBody>
                  <a:tcPr marL="0" marR="0" marB="0" marT="0"/>
                </a:tc>
              </a:tr>
              <a:tr h="141605">
                <a:tc vMerge="1">
                  <a:txBody>
                    <a:bodyPr/>
                    <a:lstStyle/>
                    <a:p>
                      <a:pPr/>
                    </a:p>
                  </a:txBody>
                  <a:tcPr marL="0" marR="0" marB="0" marT="0">
                    <a:lnR w="6350">
                      <a:solidFill>
                        <a:srgbClr val="000000"/>
                      </a:solidFill>
                      <a:prstDash val="solid"/>
                    </a:lnR>
                  </a:tcPr>
                </a:tc>
                <a:tc vMerge="1">
                  <a:txBody>
                    <a:bodyPr/>
                    <a:lstStyle/>
                    <a:p>
                      <a:pPr/>
                    </a:p>
                  </a:txBody>
                  <a:tcPr marL="0" marR="0" marB="0" marT="0">
                    <a:lnL w="6350">
                      <a:solidFill>
                        <a:srgbClr val="000000"/>
                      </a:solidFill>
                      <a:prstDash val="solid"/>
                    </a:lnL>
                  </a:tcPr>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lnR w="6350">
                      <a:solidFill>
                        <a:srgbClr val="000000"/>
                      </a:solidFill>
                      <a:prstDash val="solid"/>
                    </a:lnR>
                  </a:tcPr>
                </a:tc>
                <a:tc>
                  <a:txBody>
                    <a:bodyPr/>
                    <a:lstStyle/>
                    <a:p>
                      <a:pPr algn="ctr">
                        <a:lnSpc>
                          <a:spcPts val="1019"/>
                        </a:lnSpc>
                      </a:pPr>
                      <a:r>
                        <a:rPr dirty="0" sz="1000" spc="-20">
                          <a:latin typeface="Times New Roman"/>
                          <a:cs typeface="Times New Roman"/>
                        </a:rPr>
                        <a:t>5.75</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1019"/>
                        </a:lnSpc>
                      </a:pPr>
                      <a:r>
                        <a:rPr dirty="0" sz="1000" spc="-20">
                          <a:latin typeface="Times New Roman"/>
                          <a:cs typeface="Times New Roman"/>
                        </a:rPr>
                        <a:t>24.5</a:t>
                      </a:r>
                      <a:endParaRPr sz="1000">
                        <a:latin typeface="Times New Roman"/>
                        <a:cs typeface="Times New Roman"/>
                      </a:endParaRPr>
                    </a:p>
                  </a:txBody>
                  <a:tcPr marL="0" marR="0" marB="0" marT="0"/>
                </a:tc>
                <a:tc>
                  <a:txBody>
                    <a:bodyPr/>
                    <a:lstStyle/>
                    <a:p>
                      <a:pPr algn="ctr">
                        <a:lnSpc>
                          <a:spcPts val="1019"/>
                        </a:lnSpc>
                      </a:pPr>
                      <a:r>
                        <a:rPr dirty="0" sz="1000" spc="-25">
                          <a:latin typeface="Times New Roman"/>
                          <a:cs typeface="Times New Roman"/>
                        </a:rPr>
                        <a:t>28</a:t>
                      </a:r>
                      <a:endParaRPr sz="1000">
                        <a:latin typeface="Times New Roman"/>
                        <a:cs typeface="Times New Roman"/>
                      </a:endParaRPr>
                    </a:p>
                  </a:txBody>
                  <a:tcPr marL="0" marR="0" marB="0" marT="0"/>
                </a:tc>
              </a:tr>
              <a:tr h="2540">
                <a:tc vMerge="1">
                  <a:txBody>
                    <a:bodyPr/>
                    <a:lstStyle/>
                    <a:p>
                      <a:pPr/>
                    </a:p>
                  </a:txBody>
                  <a:tcPr marL="0" marR="0" marB="0" marT="0">
                    <a:lnR w="6350">
                      <a:solidFill>
                        <a:srgbClr val="000000"/>
                      </a:solidFill>
                      <a:prstDash val="solid"/>
                    </a:lnR>
                  </a:tcPr>
                </a:tc>
                <a:tc rowSpan="2">
                  <a:txBody>
                    <a:bodyPr/>
                    <a:lstStyle/>
                    <a:p>
                      <a:pPr>
                        <a:lnSpc>
                          <a:spcPct val="100000"/>
                        </a:lnSpc>
                      </a:pPr>
                      <a:endParaRPr sz="700">
                        <a:latin typeface="Times New Roman"/>
                        <a:cs typeface="Times New Roman"/>
                      </a:endParaRPr>
                    </a:p>
                  </a:txBody>
                  <a:tcPr marL="0" marR="0" marB="0" marT="0">
                    <a:lnL w="6350">
                      <a:solidFill>
                        <a:srgbClr val="000000"/>
                      </a:solidFill>
                      <a:prstDash val="solid"/>
                    </a:lnL>
                  </a:tcPr>
                </a:tc>
                <a:tc rowSpan="2">
                  <a:txBody>
                    <a:bodyPr/>
                    <a:lstStyle/>
                    <a:p>
                      <a:pPr marL="102870">
                        <a:lnSpc>
                          <a:spcPts val="960"/>
                        </a:lnSpc>
                      </a:pPr>
                      <a:r>
                        <a:rPr dirty="0" sz="1000" spc="-20">
                          <a:latin typeface="Times New Roman"/>
                          <a:cs typeface="Times New Roman"/>
                        </a:rPr>
                        <a:t>1024</a:t>
                      </a:r>
                      <a:endParaRPr sz="1000">
                        <a:latin typeface="Times New Roman"/>
                        <a:cs typeface="Times New Roman"/>
                      </a:endParaRPr>
                    </a:p>
                  </a:txBody>
                  <a:tcPr marL="0" marR="0" marB="0" marT="0"/>
                </a:tc>
                <a:tc rowSpan="2">
                  <a:txBody>
                    <a:bodyPr/>
                    <a:lstStyle/>
                    <a:p>
                      <a:pPr>
                        <a:lnSpc>
                          <a:spcPct val="100000"/>
                        </a:lnSpc>
                      </a:pPr>
                      <a:endParaRPr sz="700">
                        <a:latin typeface="Times New Roman"/>
                        <a:cs typeface="Times New Roman"/>
                      </a:endParaRPr>
                    </a:p>
                  </a:txBody>
                  <a:tcPr marL="0" marR="0" marB="0" marT="0"/>
                </a:tc>
                <a:tc rowSpan="2">
                  <a:txBody>
                    <a:bodyPr/>
                    <a:lstStyle/>
                    <a:p>
                      <a:pPr>
                        <a:lnSpc>
                          <a:spcPct val="100000"/>
                        </a:lnSpc>
                      </a:pPr>
                      <a:endParaRPr sz="700">
                        <a:latin typeface="Times New Roman"/>
                        <a:cs typeface="Times New Roman"/>
                      </a:endParaRPr>
                    </a:p>
                  </a:txBody>
                  <a:tcPr marL="0" marR="0" marB="0" marT="0"/>
                </a:tc>
                <a:tc rowSpan="2">
                  <a:txBody>
                    <a:bodyPr/>
                    <a:lstStyle/>
                    <a:p>
                      <a:pPr marL="75565">
                        <a:lnSpc>
                          <a:spcPts val="960"/>
                        </a:lnSpc>
                      </a:pPr>
                      <a:r>
                        <a:rPr dirty="0" sz="1000" spc="-25">
                          <a:latin typeface="Times New Roman"/>
                          <a:cs typeface="Times New Roman"/>
                        </a:rPr>
                        <a:t>128</a:t>
                      </a:r>
                      <a:endParaRPr sz="1000">
                        <a:latin typeface="Times New Roman"/>
                        <a:cs typeface="Times New Roman"/>
                      </a:endParaRPr>
                    </a:p>
                  </a:txBody>
                  <a:tcPr marL="0" marR="0" marB="0" marT="0"/>
                </a:tc>
                <a:tc rowSpan="2">
                  <a:txBody>
                    <a:bodyPr/>
                    <a:lstStyle/>
                    <a:p>
                      <a:pPr marL="75565">
                        <a:lnSpc>
                          <a:spcPts val="960"/>
                        </a:lnSpc>
                      </a:pPr>
                      <a:r>
                        <a:rPr dirty="0" sz="1000" spc="-25">
                          <a:latin typeface="Times New Roman"/>
                          <a:cs typeface="Times New Roman"/>
                        </a:rPr>
                        <a:t>128</a:t>
                      </a:r>
                      <a:endParaRPr sz="1000">
                        <a:latin typeface="Times New Roman"/>
                        <a:cs typeface="Times New Roman"/>
                      </a:endParaRPr>
                    </a:p>
                  </a:txBody>
                  <a:tcPr marL="0" marR="0" marB="0" marT="0"/>
                </a:tc>
                <a:tc rowSpan="2">
                  <a:txBody>
                    <a:bodyPr/>
                    <a:lstStyle/>
                    <a:p>
                      <a:pPr>
                        <a:lnSpc>
                          <a:spcPct val="100000"/>
                        </a:lnSpc>
                      </a:pPr>
                      <a:endParaRPr sz="700">
                        <a:latin typeface="Times New Roman"/>
                        <a:cs typeface="Times New Roman"/>
                      </a:endParaRPr>
                    </a:p>
                  </a:txBody>
                  <a:tcPr marL="0" marR="0" marB="0" marT="0"/>
                </a:tc>
                <a:tc rowSpan="2">
                  <a:txBody>
                    <a:bodyPr/>
                    <a:lstStyle/>
                    <a:p>
                      <a:pPr>
                        <a:lnSpc>
                          <a:spcPct val="100000"/>
                        </a:lnSpc>
                      </a:pPr>
                      <a:endParaRPr sz="700">
                        <a:latin typeface="Times New Roman"/>
                        <a:cs typeface="Times New Roman"/>
                      </a:endParaRPr>
                    </a:p>
                  </a:txBody>
                  <a:tcPr marL="0" marR="0" marB="0" marT="0"/>
                </a:tc>
                <a:tc rowSpan="2">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rowSpan="2">
                  <a:txBody>
                    <a:bodyPr/>
                    <a:lstStyle/>
                    <a:p>
                      <a:pPr marL="96520">
                        <a:lnSpc>
                          <a:spcPts val="975"/>
                        </a:lnSpc>
                      </a:pPr>
                      <a:r>
                        <a:rPr dirty="0" sz="1000" spc="-20">
                          <a:latin typeface="Times New Roman"/>
                          <a:cs typeface="Times New Roman"/>
                        </a:rPr>
                        <a:t>4.66</a:t>
                      </a:r>
                      <a:endParaRPr sz="1000">
                        <a:latin typeface="Times New Roman"/>
                        <a:cs typeface="Times New Roman"/>
                      </a:endParaRPr>
                    </a:p>
                  </a:txBody>
                  <a:tcPr marL="0" marR="0" marB="0" marT="0">
                    <a:lnL w="6350">
                      <a:solidFill>
                        <a:srgbClr val="000000"/>
                      </a:solidFill>
                      <a:prstDash val="solid"/>
                    </a:lnL>
                  </a:tcPr>
                </a:tc>
                <a:tc rowSpan="2">
                  <a:txBody>
                    <a:bodyPr/>
                    <a:lstStyle/>
                    <a:p>
                      <a:pPr marL="130175">
                        <a:lnSpc>
                          <a:spcPts val="975"/>
                        </a:lnSpc>
                      </a:pPr>
                      <a:r>
                        <a:rPr dirty="0" sz="1000" spc="-20">
                          <a:latin typeface="Times New Roman"/>
                          <a:cs typeface="Times New Roman"/>
                        </a:rPr>
                        <a:t>26.0</a:t>
                      </a:r>
                      <a:endParaRPr sz="1000">
                        <a:latin typeface="Times New Roman"/>
                        <a:cs typeface="Times New Roman"/>
                      </a:endParaRPr>
                    </a:p>
                  </a:txBody>
                  <a:tcPr marL="0" marR="0" marB="0" marT="0"/>
                </a:tc>
                <a:tc rowSpan="2">
                  <a:txBody>
                    <a:bodyPr/>
                    <a:lstStyle/>
                    <a:p>
                      <a:pPr marL="163195">
                        <a:lnSpc>
                          <a:spcPts val="975"/>
                        </a:lnSpc>
                      </a:pPr>
                      <a:r>
                        <a:rPr dirty="0" sz="1000" spc="-25">
                          <a:latin typeface="Times New Roman"/>
                          <a:cs typeface="Times New Roman"/>
                        </a:rPr>
                        <a:t>168</a:t>
                      </a:r>
                      <a:endParaRPr sz="1000">
                        <a:latin typeface="Times New Roman"/>
                        <a:cs typeface="Times New Roman"/>
                      </a:endParaRPr>
                    </a:p>
                  </a:txBody>
                  <a:tcPr marL="0" marR="0" marB="0" marT="0"/>
                </a:tc>
              </a:tr>
              <a:tr h="133985">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vMerge="1">
                  <a:txBody>
                    <a:bodyPr/>
                    <a:lstStyle/>
                    <a:p>
                      <a:pPr/>
                    </a:p>
                  </a:txBody>
                  <a:tcPr marL="0" marR="0" marB="0" marT="0">
                    <a:lnL w="6350">
                      <a:solidFill>
                        <a:srgbClr val="000000"/>
                      </a:solidFill>
                      <a:prstDash val="solid"/>
                    </a:lnL>
                  </a:tcPr>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lnR w="6350">
                      <a:solidFill>
                        <a:srgbClr val="000000"/>
                      </a:solidFill>
                      <a:prstDash val="solid"/>
                    </a:lnR>
                  </a:tcPr>
                </a:tc>
                <a:tc vMerge="1">
                  <a:txBody>
                    <a:bodyPr/>
                    <a:lstStyle/>
                    <a:p>
                      <a:pPr/>
                    </a:p>
                  </a:txBody>
                  <a:tcPr marL="0" marR="0" marB="0" marT="0">
                    <a:lnL w="6350">
                      <a:solidFill>
                        <a:srgbClr val="000000"/>
                      </a:solidFill>
                      <a:prstDash val="solid"/>
                    </a:lnL>
                  </a:tcPr>
                </a:tc>
                <a:tc vMerge="1">
                  <a:txBody>
                    <a:bodyPr/>
                    <a:lstStyle/>
                    <a:p>
                      <a:pPr/>
                    </a:p>
                  </a:txBody>
                  <a:tcPr marL="0" marR="0" marB="0" marT="0"/>
                </a:tc>
                <a:tc vMerge="1">
                  <a:txBody>
                    <a:bodyPr/>
                    <a:lstStyle/>
                    <a:p>
                      <a:pPr/>
                    </a:p>
                  </a:txBody>
                  <a:tcPr marL="0" marR="0" marB="0" marT="0"/>
                </a:tc>
              </a:tr>
              <a:tr h="138430">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a:txBody>
                    <a:bodyPr/>
                    <a:lstStyle/>
                    <a:p>
                      <a:pPr>
                        <a:lnSpc>
                          <a:spcPct val="100000"/>
                        </a:lnSpc>
                      </a:pPr>
                      <a:endParaRPr sz="700">
                        <a:latin typeface="Times New Roman"/>
                        <a:cs typeface="Times New Roman"/>
                      </a:endParaRPr>
                    </a:p>
                  </a:txBody>
                  <a:tcPr marL="0" marR="0" marB="0" marT="0">
                    <a:lnL w="6350">
                      <a:solidFill>
                        <a:srgbClr val="000000"/>
                      </a:solidFill>
                      <a:prstDash val="solid"/>
                    </a:lnL>
                  </a:tcPr>
                </a:tc>
                <a:tc>
                  <a:txBody>
                    <a:bodyPr/>
                    <a:lstStyle/>
                    <a:p>
                      <a:pPr>
                        <a:lnSpc>
                          <a:spcPct val="100000"/>
                        </a:lnSpc>
                      </a:pPr>
                      <a:endParaRPr sz="700">
                        <a:latin typeface="Times New Roman"/>
                        <a:cs typeface="Times New Roman"/>
                      </a:endParaRPr>
                    </a:p>
                  </a:txBody>
                  <a:tcPr marL="0" marR="0" marB="0" marT="0"/>
                </a:tc>
                <a:tc>
                  <a:txBody>
                    <a:bodyPr/>
                    <a:lstStyle/>
                    <a:p>
                      <a:pPr algn="ctr" marL="2540">
                        <a:lnSpc>
                          <a:spcPts val="990"/>
                        </a:lnSpc>
                      </a:pPr>
                      <a:r>
                        <a:rPr dirty="0" sz="1000" spc="-20">
                          <a:latin typeface="Times New Roman"/>
                          <a:cs typeface="Times New Roman"/>
                        </a:rPr>
                        <a:t>1024</a:t>
                      </a:r>
                      <a:endParaRPr sz="10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tc>
                <a:tc>
                  <a:txBody>
                    <a:bodyPr/>
                    <a:lstStyle/>
                    <a:p>
                      <a:pPr>
                        <a:lnSpc>
                          <a:spcPct val="100000"/>
                        </a:lnSpc>
                      </a:pPr>
                      <a:endParaRPr sz="700">
                        <a:latin typeface="Times New Roman"/>
                        <a:cs typeface="Times New Roman"/>
                      </a:endParaRPr>
                    </a:p>
                  </a:txBody>
                  <a:tcPr marL="0" marR="0" marB="0" marT="0">
                    <a:lnR w="6350">
                      <a:solidFill>
                        <a:srgbClr val="000000"/>
                      </a:solidFill>
                      <a:prstDash val="solid"/>
                    </a:lnR>
                  </a:tcPr>
                </a:tc>
                <a:tc>
                  <a:txBody>
                    <a:bodyPr/>
                    <a:lstStyle/>
                    <a:p>
                      <a:pPr algn="ctr">
                        <a:lnSpc>
                          <a:spcPts val="990"/>
                        </a:lnSpc>
                      </a:pPr>
                      <a:r>
                        <a:rPr dirty="0" sz="1000" spc="-20">
                          <a:latin typeface="Times New Roman"/>
                          <a:cs typeface="Times New Roman"/>
                        </a:rPr>
                        <a:t>5.12</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990"/>
                        </a:lnSpc>
                      </a:pPr>
                      <a:r>
                        <a:rPr dirty="0" sz="1000" spc="-20">
                          <a:latin typeface="Times New Roman"/>
                          <a:cs typeface="Times New Roman"/>
                        </a:rPr>
                        <a:t>25.4</a:t>
                      </a:r>
                      <a:endParaRPr sz="1000">
                        <a:latin typeface="Times New Roman"/>
                        <a:cs typeface="Times New Roman"/>
                      </a:endParaRPr>
                    </a:p>
                  </a:txBody>
                  <a:tcPr marL="0" marR="0" marB="0" marT="0"/>
                </a:tc>
                <a:tc>
                  <a:txBody>
                    <a:bodyPr/>
                    <a:lstStyle/>
                    <a:p>
                      <a:pPr algn="ctr">
                        <a:lnSpc>
                          <a:spcPts val="990"/>
                        </a:lnSpc>
                      </a:pPr>
                      <a:r>
                        <a:rPr dirty="0" sz="1000" spc="-25">
                          <a:latin typeface="Times New Roman"/>
                          <a:cs typeface="Times New Roman"/>
                        </a:rPr>
                        <a:t>53</a:t>
                      </a:r>
                      <a:endParaRPr sz="1000">
                        <a:latin typeface="Times New Roman"/>
                        <a:cs typeface="Times New Roman"/>
                      </a:endParaRPr>
                    </a:p>
                  </a:txBody>
                  <a:tcPr marL="0" marR="0" marB="0" marT="0"/>
                </a:tc>
              </a:tr>
              <a:tr h="153670">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gn="ctr" marL="2540">
                        <a:lnSpc>
                          <a:spcPts val="1065"/>
                        </a:lnSpc>
                      </a:pPr>
                      <a:r>
                        <a:rPr dirty="0" sz="1000" spc="-20">
                          <a:latin typeface="Times New Roman"/>
                          <a:cs typeface="Times New Roman"/>
                        </a:rPr>
                        <a:t>4096</a:t>
                      </a:r>
                      <a:endParaRPr sz="10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B w="6350">
                      <a:solidFill>
                        <a:srgbClr val="000000"/>
                      </a:solidFill>
                      <a:prstDash val="solid"/>
                    </a:lnB>
                  </a:tcPr>
                </a:tc>
                <a:tc>
                  <a:txBody>
                    <a:bodyPr/>
                    <a:lstStyle/>
                    <a:p>
                      <a:pPr algn="ctr">
                        <a:lnSpc>
                          <a:spcPts val="1065"/>
                        </a:lnSpc>
                      </a:pPr>
                      <a:r>
                        <a:rPr dirty="0" sz="1000" spc="-20">
                          <a:latin typeface="Times New Roman"/>
                          <a:cs typeface="Times New Roman"/>
                        </a:rPr>
                        <a:t>4.75</a:t>
                      </a:r>
                      <a:endParaRPr sz="10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gn="ctr">
                        <a:lnSpc>
                          <a:spcPts val="1065"/>
                        </a:lnSpc>
                      </a:pPr>
                      <a:r>
                        <a:rPr dirty="0" sz="1000" spc="-20">
                          <a:latin typeface="Times New Roman"/>
                          <a:cs typeface="Times New Roman"/>
                        </a:rPr>
                        <a:t>26.2</a:t>
                      </a:r>
                      <a:endParaRPr sz="1000">
                        <a:latin typeface="Times New Roman"/>
                        <a:cs typeface="Times New Roman"/>
                      </a:endParaRPr>
                    </a:p>
                  </a:txBody>
                  <a:tcPr marL="0" marR="0" marB="0" marT="0">
                    <a:lnB w="6350">
                      <a:solidFill>
                        <a:srgbClr val="000000"/>
                      </a:solidFill>
                      <a:prstDash val="solid"/>
                    </a:lnB>
                  </a:tcPr>
                </a:tc>
                <a:tc>
                  <a:txBody>
                    <a:bodyPr/>
                    <a:lstStyle/>
                    <a:p>
                      <a:pPr algn="ctr">
                        <a:lnSpc>
                          <a:spcPts val="1065"/>
                        </a:lnSpc>
                      </a:pPr>
                      <a:r>
                        <a:rPr dirty="0" sz="1000" spc="-25">
                          <a:latin typeface="Times New Roman"/>
                          <a:cs typeface="Times New Roman"/>
                        </a:rPr>
                        <a:t>90</a:t>
                      </a:r>
                      <a:endParaRPr sz="1000">
                        <a:latin typeface="Times New Roman"/>
                        <a:cs typeface="Times New Roman"/>
                      </a:endParaRPr>
                    </a:p>
                  </a:txBody>
                  <a:tcPr marL="0" marR="0" marB="0" marT="0">
                    <a:lnB w="6350">
                      <a:solidFill>
                        <a:srgbClr val="000000"/>
                      </a:solidFill>
                      <a:prstDash val="solid"/>
                    </a:lnB>
                  </a:tcPr>
                </a:tc>
              </a:tr>
              <a:tr h="144780">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gn="ctr" marL="3175">
                        <a:lnSpc>
                          <a:spcPts val="1040"/>
                        </a:lnSpc>
                      </a:pPr>
                      <a:r>
                        <a:rPr dirty="0" sz="1000" spc="-25">
                          <a:latin typeface="Times New Roman"/>
                          <a:cs typeface="Times New Roman"/>
                        </a:rPr>
                        <a:t>0.0</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T w="6350">
                      <a:solidFill>
                        <a:srgbClr val="000000"/>
                      </a:solidFill>
                      <a:prstDash val="solid"/>
                    </a:lnT>
                  </a:tcPr>
                </a:tc>
                <a:tc>
                  <a:txBody>
                    <a:bodyPr/>
                    <a:lstStyle/>
                    <a:p>
                      <a:pPr algn="ctr">
                        <a:lnSpc>
                          <a:spcPts val="1040"/>
                        </a:lnSpc>
                      </a:pPr>
                      <a:r>
                        <a:rPr dirty="0" sz="1000" spc="-20">
                          <a:latin typeface="Times New Roman"/>
                          <a:cs typeface="Times New Roman"/>
                        </a:rPr>
                        <a:t>5.77</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tcPr>
                </a:tc>
                <a:tc>
                  <a:txBody>
                    <a:bodyPr/>
                    <a:lstStyle/>
                    <a:p>
                      <a:pPr algn="ctr">
                        <a:lnSpc>
                          <a:spcPts val="1040"/>
                        </a:lnSpc>
                      </a:pPr>
                      <a:r>
                        <a:rPr dirty="0" sz="1000" spc="-20">
                          <a:latin typeface="Times New Roman"/>
                          <a:cs typeface="Times New Roman"/>
                        </a:rPr>
                        <a:t>24.6</a:t>
                      </a:r>
                      <a:endParaRPr sz="1000">
                        <a:latin typeface="Times New Roman"/>
                        <a:cs typeface="Times New Roman"/>
                      </a:endParaRPr>
                    </a:p>
                  </a:txBody>
                  <a:tcPr marL="0" marR="0" marB="0" marT="0">
                    <a:lnT w="6350">
                      <a:solidFill>
                        <a:srgbClr val="000000"/>
                      </a:solidFill>
                      <a:prstDash val="solid"/>
                    </a:lnT>
                  </a:tcPr>
                </a:tc>
                <a:tc>
                  <a:txBody>
                    <a:bodyPr/>
                    <a:lstStyle/>
                    <a:p>
                      <a:pPr>
                        <a:lnSpc>
                          <a:spcPct val="100000"/>
                        </a:lnSpc>
                      </a:pPr>
                      <a:endParaRPr sz="800">
                        <a:latin typeface="Times New Roman"/>
                        <a:cs typeface="Times New Roman"/>
                      </a:endParaRPr>
                    </a:p>
                  </a:txBody>
                  <a:tcPr marL="0" marR="0" marB="0" marT="0">
                    <a:lnT w="6350">
                      <a:solidFill>
                        <a:srgbClr val="000000"/>
                      </a:solidFill>
                      <a:prstDash val="solid"/>
                    </a:lnT>
                  </a:tcPr>
                </a:tc>
              </a:tr>
              <a:tr h="138430">
                <a:tc rowSpan="2">
                  <a:txBody>
                    <a:bodyPr/>
                    <a:lstStyle/>
                    <a:p>
                      <a:pPr marL="132080">
                        <a:lnSpc>
                          <a:spcPct val="100000"/>
                        </a:lnSpc>
                        <a:spcBef>
                          <a:spcPts val="409"/>
                        </a:spcBef>
                      </a:pPr>
                      <a:r>
                        <a:rPr dirty="0" sz="1000" spc="-25">
                          <a:latin typeface="Times New Roman"/>
                          <a:cs typeface="Times New Roman"/>
                        </a:rPr>
                        <a:t>(D)</a:t>
                      </a:r>
                      <a:endParaRPr sz="1000">
                        <a:latin typeface="Times New Roman"/>
                        <a:cs typeface="Times New Roman"/>
                      </a:endParaRPr>
                    </a:p>
                  </a:txBody>
                  <a:tcPr marL="0" marR="0" marB="0" marT="52069">
                    <a:lnR w="6350">
                      <a:solidFill>
                        <a:srgbClr val="000000"/>
                      </a:solidFill>
                      <a:prstDash val="solid"/>
                    </a:lnR>
                  </a:tcPr>
                </a:tc>
                <a:tc rowSpan="2">
                  <a:txBody>
                    <a:bodyPr/>
                    <a:lstStyle/>
                    <a:p>
                      <a:pPr>
                        <a:lnSpc>
                          <a:spcPct val="100000"/>
                        </a:lnSpc>
                      </a:pPr>
                      <a:endParaRPr sz="900">
                        <a:latin typeface="Times New Roman"/>
                        <a:cs typeface="Times New Roman"/>
                      </a:endParaRPr>
                    </a:p>
                  </a:txBody>
                  <a:tcPr marL="0" marR="0" marB="0" marT="0">
                    <a:lnL w="6350">
                      <a:solidFill>
                        <a:srgbClr val="000000"/>
                      </a:solidFill>
                      <a:prstDash val="solid"/>
                    </a:lnL>
                  </a:tcPr>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c rowSpan="2">
                  <a:txBody>
                    <a:bodyPr/>
                    <a:lstStyle/>
                    <a:p>
                      <a:pPr marL="142240">
                        <a:lnSpc>
                          <a:spcPts val="1065"/>
                        </a:lnSpc>
                      </a:pPr>
                      <a:r>
                        <a:rPr dirty="0" sz="1000" spc="-25">
                          <a:latin typeface="Times New Roman"/>
                          <a:cs typeface="Times New Roman"/>
                        </a:rPr>
                        <a:t>0.2</a:t>
                      </a:r>
                      <a:endParaRPr sz="1000">
                        <a:latin typeface="Times New Roman"/>
                        <a:cs typeface="Times New Roman"/>
                      </a:endParaRPr>
                    </a:p>
                  </a:txBody>
                  <a:tcPr marL="0" marR="0" marB="0" marT="0"/>
                </a:tc>
                <a:tc rowSpan="2">
                  <a:txBody>
                    <a:bodyPr/>
                    <a:lstStyle/>
                    <a:p>
                      <a:pPr marL="78740">
                        <a:lnSpc>
                          <a:spcPts val="1125"/>
                        </a:lnSpc>
                        <a:spcBef>
                          <a:spcPts val="955"/>
                        </a:spcBef>
                      </a:pPr>
                      <a:r>
                        <a:rPr dirty="0" sz="1000" spc="-25">
                          <a:latin typeface="Times New Roman"/>
                          <a:cs typeface="Times New Roman"/>
                        </a:rPr>
                        <a:t>0.0</a:t>
                      </a:r>
                      <a:endParaRPr sz="1000">
                        <a:latin typeface="Times New Roman"/>
                        <a:cs typeface="Times New Roman"/>
                      </a:endParaRPr>
                    </a:p>
                  </a:txBody>
                  <a:tcPr marL="0" marR="0" marB="0" marT="121285"/>
                </a:tc>
                <a:tc rowSpan="2">
                  <a:txBody>
                    <a:bodyPr/>
                    <a:lstStyle/>
                    <a:p>
                      <a:pPr>
                        <a:lnSpc>
                          <a:spcPct val="100000"/>
                        </a:lnSpc>
                      </a:pPr>
                      <a:endParaRPr sz="900">
                        <a:latin typeface="Times New Roman"/>
                        <a:cs typeface="Times New Roman"/>
                      </a:endParaRPr>
                    </a:p>
                  </a:txBody>
                  <a:tcPr marL="0" marR="0" marB="0" marT="0">
                    <a:lnR w="6350">
                      <a:solidFill>
                        <a:srgbClr val="000000"/>
                      </a:solidFill>
                      <a:prstDash val="solid"/>
                    </a:lnR>
                  </a:tcPr>
                </a:tc>
                <a:tc>
                  <a:txBody>
                    <a:bodyPr/>
                    <a:lstStyle/>
                    <a:p>
                      <a:pPr algn="ctr">
                        <a:lnSpc>
                          <a:spcPts val="990"/>
                        </a:lnSpc>
                      </a:pPr>
                      <a:r>
                        <a:rPr dirty="0" sz="1000" spc="-20">
                          <a:latin typeface="Times New Roman"/>
                          <a:cs typeface="Times New Roman"/>
                        </a:rPr>
                        <a:t>4.95</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990"/>
                        </a:lnSpc>
                      </a:pPr>
                      <a:r>
                        <a:rPr dirty="0" sz="1000" spc="-20">
                          <a:latin typeface="Times New Roman"/>
                          <a:cs typeface="Times New Roman"/>
                        </a:rPr>
                        <a:t>25.5</a:t>
                      </a:r>
                      <a:endParaRPr sz="1000">
                        <a:latin typeface="Times New Roman"/>
                        <a:cs typeface="Times New Roman"/>
                      </a:endParaRPr>
                    </a:p>
                  </a:txBody>
                  <a:tcPr marL="0" marR="0" marB="0" marT="0"/>
                </a:tc>
                <a:tc rowSpan="2">
                  <a:txBody>
                    <a:bodyPr/>
                    <a:lstStyle/>
                    <a:p>
                      <a:pPr>
                        <a:lnSpc>
                          <a:spcPct val="100000"/>
                        </a:lnSpc>
                      </a:pPr>
                      <a:endParaRPr sz="900">
                        <a:latin typeface="Times New Roman"/>
                        <a:cs typeface="Times New Roman"/>
                      </a:endParaRPr>
                    </a:p>
                  </a:txBody>
                  <a:tcPr marL="0" marR="0" marB="0" marT="0"/>
                </a:tc>
              </a:tr>
              <a:tr h="138430">
                <a:tc vMerge="1">
                  <a:txBody>
                    <a:bodyPr/>
                    <a:lstStyle/>
                    <a:p>
                      <a:pPr/>
                    </a:p>
                  </a:txBody>
                  <a:tcPr marL="0" marR="0" marB="0" marT="52069">
                    <a:lnR w="6350">
                      <a:solidFill>
                        <a:srgbClr val="000000"/>
                      </a:solidFill>
                      <a:prstDash val="solid"/>
                    </a:lnR>
                  </a:tcPr>
                </a:tc>
                <a:tc vMerge="1">
                  <a:txBody>
                    <a:bodyPr/>
                    <a:lstStyle/>
                    <a:p>
                      <a:pPr/>
                    </a:p>
                  </a:txBody>
                  <a:tcPr marL="0" marR="0" marB="0" marT="0">
                    <a:lnL w="6350">
                      <a:solidFill>
                        <a:srgbClr val="000000"/>
                      </a:solidFill>
                      <a:prstDash val="solid"/>
                    </a:lnL>
                  </a:tcPr>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0"/>
                </a:tc>
                <a:tc vMerge="1">
                  <a:txBody>
                    <a:bodyPr/>
                    <a:lstStyle/>
                    <a:p>
                      <a:pPr/>
                    </a:p>
                  </a:txBody>
                  <a:tcPr marL="0" marR="0" marB="0" marT="121285"/>
                </a:tc>
                <a:tc vMerge="1">
                  <a:txBody>
                    <a:bodyPr/>
                    <a:lstStyle/>
                    <a:p>
                      <a:pPr/>
                    </a:p>
                  </a:txBody>
                  <a:tcPr marL="0" marR="0" marB="0" marT="0">
                    <a:lnR w="6350">
                      <a:solidFill>
                        <a:srgbClr val="000000"/>
                      </a:solidFill>
                      <a:prstDash val="solid"/>
                    </a:lnR>
                  </a:tcPr>
                </a:tc>
                <a:tc>
                  <a:txBody>
                    <a:bodyPr/>
                    <a:lstStyle/>
                    <a:p>
                      <a:pPr algn="ctr">
                        <a:lnSpc>
                          <a:spcPts val="990"/>
                        </a:lnSpc>
                      </a:pPr>
                      <a:r>
                        <a:rPr dirty="0" sz="1000" spc="-20">
                          <a:latin typeface="Times New Roman"/>
                          <a:cs typeface="Times New Roman"/>
                        </a:rPr>
                        <a:t>4.67</a:t>
                      </a:r>
                      <a:endParaRPr sz="1000">
                        <a:latin typeface="Times New Roman"/>
                        <a:cs typeface="Times New Roman"/>
                      </a:endParaRPr>
                    </a:p>
                  </a:txBody>
                  <a:tcPr marL="0" marR="0" marB="0" marT="0">
                    <a:lnL w="6350">
                      <a:solidFill>
                        <a:srgbClr val="000000"/>
                      </a:solidFill>
                      <a:prstDash val="solid"/>
                    </a:lnL>
                  </a:tcPr>
                </a:tc>
                <a:tc>
                  <a:txBody>
                    <a:bodyPr/>
                    <a:lstStyle/>
                    <a:p>
                      <a:pPr algn="ctr">
                        <a:lnSpc>
                          <a:spcPts val="990"/>
                        </a:lnSpc>
                      </a:pPr>
                      <a:r>
                        <a:rPr dirty="0" sz="1000" spc="-20">
                          <a:latin typeface="Times New Roman"/>
                          <a:cs typeface="Times New Roman"/>
                        </a:rPr>
                        <a:t>25.3</a:t>
                      </a:r>
                      <a:endParaRPr sz="1000">
                        <a:latin typeface="Times New Roman"/>
                        <a:cs typeface="Times New Roman"/>
                      </a:endParaRPr>
                    </a:p>
                  </a:txBody>
                  <a:tcPr marL="0" marR="0" marB="0" marT="0"/>
                </a:tc>
                <a:tc vMerge="1">
                  <a:txBody>
                    <a:bodyPr/>
                    <a:lstStyle/>
                    <a:p>
                      <a:pPr/>
                    </a:p>
                  </a:txBody>
                  <a:tcPr marL="0" marR="0" marB="0" marT="0"/>
                </a:tc>
              </a:tr>
              <a:tr h="153670">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c>
                  <a:txBody>
                    <a:bodyPr/>
                    <a:lstStyle/>
                    <a:p>
                      <a:pPr algn="ctr" marL="3175">
                        <a:lnSpc>
                          <a:spcPts val="1065"/>
                        </a:lnSpc>
                      </a:pPr>
                      <a:r>
                        <a:rPr dirty="0" sz="1000" spc="-25">
                          <a:latin typeface="Times New Roman"/>
                          <a:cs typeface="Times New Roman"/>
                        </a:rPr>
                        <a:t>0.2</a:t>
                      </a:r>
                      <a:endParaRPr sz="10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R w="6350">
                      <a:solidFill>
                        <a:srgbClr val="000000"/>
                      </a:solidFill>
                      <a:prstDash val="solid"/>
                    </a:lnR>
                    <a:lnB w="6350">
                      <a:solidFill>
                        <a:srgbClr val="000000"/>
                      </a:solidFill>
                      <a:prstDash val="solid"/>
                    </a:lnB>
                  </a:tcPr>
                </a:tc>
                <a:tc>
                  <a:txBody>
                    <a:bodyPr/>
                    <a:lstStyle/>
                    <a:p>
                      <a:pPr algn="ctr">
                        <a:lnSpc>
                          <a:spcPts val="1065"/>
                        </a:lnSpc>
                      </a:pPr>
                      <a:r>
                        <a:rPr dirty="0" sz="1000" spc="-20">
                          <a:latin typeface="Times New Roman"/>
                          <a:cs typeface="Times New Roman"/>
                        </a:rPr>
                        <a:t>5.47</a:t>
                      </a:r>
                      <a:endParaRPr sz="1000">
                        <a:latin typeface="Times New Roman"/>
                        <a:cs typeface="Times New Roman"/>
                      </a:endParaRPr>
                    </a:p>
                  </a:txBody>
                  <a:tcPr marL="0" marR="0" marB="0" marT="0">
                    <a:lnL w="6350">
                      <a:solidFill>
                        <a:srgbClr val="000000"/>
                      </a:solidFill>
                      <a:prstDash val="solid"/>
                    </a:lnL>
                    <a:lnB w="6350">
                      <a:solidFill>
                        <a:srgbClr val="000000"/>
                      </a:solidFill>
                      <a:prstDash val="solid"/>
                    </a:lnB>
                  </a:tcPr>
                </a:tc>
                <a:tc>
                  <a:txBody>
                    <a:bodyPr/>
                    <a:lstStyle/>
                    <a:p>
                      <a:pPr algn="ctr">
                        <a:lnSpc>
                          <a:spcPts val="1065"/>
                        </a:lnSpc>
                      </a:pPr>
                      <a:r>
                        <a:rPr dirty="0" sz="1000" spc="-20">
                          <a:latin typeface="Times New Roman"/>
                          <a:cs typeface="Times New Roman"/>
                        </a:rPr>
                        <a:t>25.7</a:t>
                      </a:r>
                      <a:endParaRPr sz="1000">
                        <a:latin typeface="Times New Roman"/>
                        <a:cs typeface="Times New Roman"/>
                      </a:endParaRPr>
                    </a:p>
                  </a:txBody>
                  <a:tcPr marL="0" marR="0" marB="0" marT="0">
                    <a:lnB w="635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B w="6350">
                      <a:solidFill>
                        <a:srgbClr val="000000"/>
                      </a:solidFill>
                      <a:prstDash val="solid"/>
                    </a:lnB>
                  </a:tcPr>
                </a:tc>
              </a:tr>
              <a:tr h="160020">
                <a:tc>
                  <a:txBody>
                    <a:bodyPr/>
                    <a:lstStyle/>
                    <a:p>
                      <a:pPr algn="ctr" marL="31115">
                        <a:lnSpc>
                          <a:spcPts val="1115"/>
                        </a:lnSpc>
                      </a:pPr>
                      <a:r>
                        <a:rPr dirty="0" sz="1000" spc="-25">
                          <a:latin typeface="Times New Roman"/>
                          <a:cs typeface="Times New Roman"/>
                        </a:rPr>
                        <a:t>(E)</a:t>
                      </a:r>
                      <a:endParaRPr sz="1000">
                        <a:latin typeface="Times New Roman"/>
                        <a:cs typeface="Times New Roman"/>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gridSpan="9">
                  <a:txBody>
                    <a:bodyPr/>
                    <a:lstStyle/>
                    <a:p>
                      <a:pPr marL="488315">
                        <a:lnSpc>
                          <a:spcPts val="1115"/>
                        </a:lnSpc>
                      </a:pPr>
                      <a:r>
                        <a:rPr dirty="0" sz="1000">
                          <a:latin typeface="Times New Roman"/>
                          <a:cs typeface="Times New Roman"/>
                        </a:rPr>
                        <a:t>positional</a:t>
                      </a:r>
                      <a:r>
                        <a:rPr dirty="0" sz="1000" spc="-40">
                          <a:latin typeface="Times New Roman"/>
                          <a:cs typeface="Times New Roman"/>
                        </a:rPr>
                        <a:t> </a:t>
                      </a:r>
                      <a:r>
                        <a:rPr dirty="0" sz="1000">
                          <a:latin typeface="Times New Roman"/>
                          <a:cs typeface="Times New Roman"/>
                        </a:rPr>
                        <a:t>embedding</a:t>
                      </a:r>
                      <a:r>
                        <a:rPr dirty="0" sz="1000" spc="-35">
                          <a:latin typeface="Times New Roman"/>
                          <a:cs typeface="Times New Roman"/>
                        </a:rPr>
                        <a:t> </a:t>
                      </a:r>
                      <a:r>
                        <a:rPr dirty="0" sz="1000">
                          <a:latin typeface="Times New Roman"/>
                          <a:cs typeface="Times New Roman"/>
                        </a:rPr>
                        <a:t>instead</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spc="-10">
                          <a:latin typeface="Times New Roman"/>
                          <a:cs typeface="Times New Roman"/>
                        </a:rPr>
                        <a:t>sinusoids</a:t>
                      </a:r>
                      <a:endParaRPr sz="1000">
                        <a:latin typeface="Times New Roman"/>
                        <a:cs typeface="Times New Roman"/>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c>
                  <a:txBody>
                    <a:bodyPr/>
                    <a:lstStyle/>
                    <a:p>
                      <a:pPr algn="ctr">
                        <a:lnSpc>
                          <a:spcPts val="1115"/>
                        </a:lnSpc>
                      </a:pPr>
                      <a:r>
                        <a:rPr dirty="0" sz="1000" spc="-20">
                          <a:latin typeface="Times New Roman"/>
                          <a:cs typeface="Times New Roman"/>
                        </a:rPr>
                        <a:t>4.92</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ts val="1115"/>
                        </a:lnSpc>
                      </a:pPr>
                      <a:r>
                        <a:rPr dirty="0" sz="1000" spc="-20">
                          <a:latin typeface="Times New Roman"/>
                          <a:cs typeface="Times New Roman"/>
                        </a:rPr>
                        <a:t>25.7</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T w="6350">
                      <a:solidFill>
                        <a:srgbClr val="000000"/>
                      </a:solidFill>
                      <a:prstDash val="solid"/>
                    </a:lnT>
                    <a:lnB w="6350">
                      <a:solidFill>
                        <a:srgbClr val="000000"/>
                      </a:solidFill>
                      <a:prstDash val="solid"/>
                    </a:lnB>
                  </a:tcPr>
                </a:tc>
              </a:tr>
              <a:tr h="160020">
                <a:tc>
                  <a:txBody>
                    <a:bodyPr/>
                    <a:lstStyle/>
                    <a:p>
                      <a:pPr algn="ctr" marL="31115">
                        <a:lnSpc>
                          <a:spcPts val="1115"/>
                        </a:lnSpc>
                      </a:pPr>
                      <a:r>
                        <a:rPr dirty="0" sz="1000" spc="-25">
                          <a:latin typeface="Times New Roman"/>
                          <a:cs typeface="Times New Roman"/>
                        </a:rPr>
                        <a:t>big</a:t>
                      </a:r>
                      <a:endParaRPr sz="1000">
                        <a:latin typeface="Times New Roman"/>
                        <a:cs typeface="Times New Roman"/>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marL="6350">
                        <a:lnSpc>
                          <a:spcPts val="1115"/>
                        </a:lnSpc>
                      </a:pPr>
                      <a:r>
                        <a:rPr dirty="0" sz="1000" spc="-50">
                          <a:latin typeface="Times New Roman"/>
                          <a:cs typeface="Times New Roman"/>
                        </a:rPr>
                        <a:t>6</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marL="9525">
                        <a:lnSpc>
                          <a:spcPts val="1115"/>
                        </a:lnSpc>
                      </a:pPr>
                      <a:r>
                        <a:rPr dirty="0" sz="1000" spc="-20">
                          <a:latin typeface="Times New Roman"/>
                          <a:cs typeface="Times New Roman"/>
                        </a:rPr>
                        <a:t>1024</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marL="3175">
                        <a:lnSpc>
                          <a:spcPts val="1115"/>
                        </a:lnSpc>
                      </a:pPr>
                      <a:r>
                        <a:rPr dirty="0" sz="1000" spc="-20">
                          <a:latin typeface="Times New Roman"/>
                          <a:cs typeface="Times New Roman"/>
                        </a:rPr>
                        <a:t>4096</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5">
                          <a:latin typeface="Times New Roman"/>
                          <a:cs typeface="Times New Roman"/>
                        </a:rPr>
                        <a:t>16</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marL="3175">
                        <a:lnSpc>
                          <a:spcPts val="1115"/>
                        </a:lnSpc>
                      </a:pPr>
                      <a:r>
                        <a:rPr dirty="0" sz="1000" spc="-25">
                          <a:latin typeface="Times New Roman"/>
                          <a:cs typeface="Times New Roman"/>
                        </a:rPr>
                        <a:t>0.3</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0">
                          <a:latin typeface="Times New Roman"/>
                          <a:cs typeface="Times New Roman"/>
                        </a:rPr>
                        <a:t>300K</a:t>
                      </a:r>
                      <a:endParaRPr sz="1000">
                        <a:latin typeface="Times New Roman"/>
                        <a:cs typeface="Times New Roman"/>
                      </a:endParaRPr>
                    </a:p>
                  </a:txBody>
                  <a:tcPr marL="0" marR="0" marB="0" marT="0">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115"/>
                        </a:lnSpc>
                      </a:pPr>
                      <a:r>
                        <a:rPr dirty="0" sz="1000" spc="-20" b="1">
                          <a:latin typeface="Times New Roman"/>
                          <a:cs typeface="Times New Roman"/>
                        </a:rPr>
                        <a:t>4.33</a:t>
                      </a:r>
                      <a:endParaRPr sz="1000">
                        <a:latin typeface="Times New Roman"/>
                        <a:cs typeface="Times New Roman"/>
                      </a:endParaRPr>
                    </a:p>
                  </a:txBody>
                  <a:tcPr marL="0" marR="0" marB="0" marT="0">
                    <a:lnL w="6350">
                      <a:solidFill>
                        <a:srgbClr val="000000"/>
                      </a:solidFill>
                      <a:prstDash val="solid"/>
                    </a:lnL>
                    <a:lnT w="6350">
                      <a:solidFill>
                        <a:srgbClr val="000000"/>
                      </a:solidFill>
                      <a:prstDash val="solid"/>
                    </a:lnT>
                    <a:lnB w="6350">
                      <a:solidFill>
                        <a:srgbClr val="000000"/>
                      </a:solidFill>
                      <a:prstDash val="solid"/>
                    </a:lnB>
                  </a:tcPr>
                </a:tc>
                <a:tc>
                  <a:txBody>
                    <a:bodyPr/>
                    <a:lstStyle/>
                    <a:p>
                      <a:pPr algn="ctr">
                        <a:lnSpc>
                          <a:spcPts val="1115"/>
                        </a:lnSpc>
                      </a:pPr>
                      <a:r>
                        <a:rPr dirty="0" sz="1000" spc="-20" b="1">
                          <a:latin typeface="Times New Roman"/>
                          <a:cs typeface="Times New Roman"/>
                        </a:rPr>
                        <a:t>26.4</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c>
                  <a:txBody>
                    <a:bodyPr/>
                    <a:lstStyle/>
                    <a:p>
                      <a:pPr algn="ctr">
                        <a:lnSpc>
                          <a:spcPts val="1115"/>
                        </a:lnSpc>
                      </a:pPr>
                      <a:r>
                        <a:rPr dirty="0" sz="1000" spc="-25">
                          <a:latin typeface="Times New Roman"/>
                          <a:cs typeface="Times New Roman"/>
                        </a:rPr>
                        <a:t>213</a:t>
                      </a:r>
                      <a:endParaRPr sz="1000">
                        <a:latin typeface="Times New Roman"/>
                        <a:cs typeface="Times New Roman"/>
                      </a:endParaRPr>
                    </a:p>
                  </a:txBody>
                  <a:tcPr marL="0" marR="0" marB="0" marT="0">
                    <a:lnT w="6350">
                      <a:solidFill>
                        <a:srgbClr val="000000"/>
                      </a:solidFill>
                      <a:prstDash val="solid"/>
                    </a:lnT>
                    <a:lnB w="6350">
                      <a:solidFill>
                        <a:srgbClr val="000000"/>
                      </a:solidFill>
                      <a:prstDash val="solid"/>
                    </a:lnB>
                  </a:tcPr>
                </a:tc>
              </a:tr>
            </a:tbl>
          </a:graphicData>
        </a:graphic>
      </p:graphicFrame>
      <p:sp>
        <p:nvSpPr>
          <p:cNvPr id="4" name="object 4" descr=""/>
          <p:cNvSpPr txBox="1"/>
          <p:nvPr/>
        </p:nvSpPr>
        <p:spPr>
          <a:xfrm>
            <a:off x="1308100" y="5228303"/>
            <a:ext cx="5172075" cy="3954145"/>
          </a:xfrm>
          <a:prstGeom prst="rect">
            <a:avLst/>
          </a:prstGeom>
        </p:spPr>
        <p:txBody>
          <a:bodyPr wrap="square" lIns="0" tIns="28575" rIns="0" bIns="0" rtlCol="0" vert="horz">
            <a:spAutoFit/>
          </a:bodyPr>
          <a:lstStyle/>
          <a:p>
            <a:pPr algn="just" marL="63500" marR="55880">
              <a:lnSpc>
                <a:spcPts val="1090"/>
              </a:lnSpc>
              <a:spcBef>
                <a:spcPts val="225"/>
              </a:spcBef>
            </a:pPr>
            <a:r>
              <a:rPr dirty="0" sz="1000">
                <a:latin typeface="Times New Roman"/>
                <a:cs typeface="Times New Roman"/>
              </a:rPr>
              <a:t>In</a:t>
            </a:r>
            <a:r>
              <a:rPr dirty="0" sz="1000" spc="25">
                <a:latin typeface="Times New Roman"/>
                <a:cs typeface="Times New Roman"/>
              </a:rPr>
              <a:t> </a:t>
            </a:r>
            <a:r>
              <a:rPr dirty="0" sz="1000">
                <a:latin typeface="Times New Roman"/>
                <a:cs typeface="Times New Roman"/>
              </a:rPr>
              <a:t>Table</a:t>
            </a:r>
            <a:r>
              <a:rPr dirty="0" sz="1000" spc="30">
                <a:latin typeface="Times New Roman"/>
                <a:cs typeface="Times New Roman"/>
              </a:rPr>
              <a:t> </a:t>
            </a:r>
            <a:r>
              <a:rPr dirty="0" sz="1000">
                <a:latin typeface="Times New Roman"/>
                <a:cs typeface="Times New Roman"/>
              </a:rPr>
              <a:t>3</a:t>
            </a:r>
            <a:r>
              <a:rPr dirty="0" sz="1000" spc="30">
                <a:latin typeface="Times New Roman"/>
                <a:cs typeface="Times New Roman"/>
              </a:rPr>
              <a:t> </a:t>
            </a:r>
            <a:r>
              <a:rPr dirty="0" sz="1000">
                <a:latin typeface="Times New Roman"/>
                <a:cs typeface="Times New Roman"/>
              </a:rPr>
              <a:t>rows</a:t>
            </a:r>
            <a:r>
              <a:rPr dirty="0" sz="1000" spc="30">
                <a:latin typeface="Times New Roman"/>
                <a:cs typeface="Times New Roman"/>
              </a:rPr>
              <a:t> </a:t>
            </a:r>
            <a:r>
              <a:rPr dirty="0" sz="1000">
                <a:latin typeface="Times New Roman"/>
                <a:cs typeface="Times New Roman"/>
              </a:rPr>
              <a:t>(B),</a:t>
            </a:r>
            <a:r>
              <a:rPr dirty="0" sz="1000" spc="30">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observe</a:t>
            </a:r>
            <a:r>
              <a:rPr dirty="0" sz="1000" spc="30">
                <a:latin typeface="Times New Roman"/>
                <a:cs typeface="Times New Roman"/>
              </a:rPr>
              <a:t> </a:t>
            </a:r>
            <a:r>
              <a:rPr dirty="0" sz="1000">
                <a:latin typeface="Times New Roman"/>
                <a:cs typeface="Times New Roman"/>
              </a:rPr>
              <a:t>that</a:t>
            </a:r>
            <a:r>
              <a:rPr dirty="0" sz="1000" spc="30">
                <a:latin typeface="Times New Roman"/>
                <a:cs typeface="Times New Roman"/>
              </a:rPr>
              <a:t> </a:t>
            </a:r>
            <a:r>
              <a:rPr dirty="0" sz="1000">
                <a:latin typeface="Times New Roman"/>
                <a:cs typeface="Times New Roman"/>
              </a:rPr>
              <a:t>reducing</a:t>
            </a:r>
            <a:r>
              <a:rPr dirty="0" sz="1000" spc="30">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attention</a:t>
            </a:r>
            <a:r>
              <a:rPr dirty="0" sz="1000" spc="30">
                <a:latin typeface="Times New Roman"/>
                <a:cs typeface="Times New Roman"/>
              </a:rPr>
              <a:t> </a:t>
            </a:r>
            <a:r>
              <a:rPr dirty="0" sz="1000">
                <a:latin typeface="Times New Roman"/>
                <a:cs typeface="Times New Roman"/>
              </a:rPr>
              <a:t>key</a:t>
            </a:r>
            <a:r>
              <a:rPr dirty="0" sz="1000" spc="30">
                <a:latin typeface="Times New Roman"/>
                <a:cs typeface="Times New Roman"/>
              </a:rPr>
              <a:t> </a:t>
            </a:r>
            <a:r>
              <a:rPr dirty="0" sz="1000">
                <a:latin typeface="Times New Roman"/>
                <a:cs typeface="Times New Roman"/>
              </a:rPr>
              <a:t>size</a:t>
            </a:r>
            <a:r>
              <a:rPr dirty="0" sz="1000" spc="25">
                <a:latin typeface="Times New Roman"/>
                <a:cs typeface="Times New Roman"/>
              </a:rPr>
              <a:t> </a:t>
            </a:r>
            <a:r>
              <a:rPr dirty="0" sz="1000" spc="55" i="1">
                <a:latin typeface="Calibri"/>
                <a:cs typeface="Calibri"/>
              </a:rPr>
              <a:t>d</a:t>
            </a:r>
            <a:r>
              <a:rPr dirty="0" baseline="-11904" sz="1050" spc="82" i="1">
                <a:latin typeface="Calibri"/>
                <a:cs typeface="Calibri"/>
              </a:rPr>
              <a:t>k</a:t>
            </a:r>
            <a:r>
              <a:rPr dirty="0" baseline="-11904" sz="1050" spc="292" i="1">
                <a:latin typeface="Calibri"/>
                <a:cs typeface="Calibri"/>
              </a:rPr>
              <a:t> </a:t>
            </a:r>
            <a:r>
              <a:rPr dirty="0" sz="1000">
                <a:latin typeface="Times New Roman"/>
                <a:cs typeface="Times New Roman"/>
              </a:rPr>
              <a:t>hurts</a:t>
            </a:r>
            <a:r>
              <a:rPr dirty="0" sz="1000" spc="30">
                <a:latin typeface="Times New Roman"/>
                <a:cs typeface="Times New Roman"/>
              </a:rPr>
              <a:t> </a:t>
            </a:r>
            <a:r>
              <a:rPr dirty="0" sz="1000">
                <a:latin typeface="Times New Roman"/>
                <a:cs typeface="Times New Roman"/>
              </a:rPr>
              <a:t>model</a:t>
            </a:r>
            <a:r>
              <a:rPr dirty="0" sz="1000" spc="25">
                <a:latin typeface="Times New Roman"/>
                <a:cs typeface="Times New Roman"/>
              </a:rPr>
              <a:t> </a:t>
            </a:r>
            <a:r>
              <a:rPr dirty="0" sz="1000">
                <a:latin typeface="Times New Roman"/>
                <a:cs typeface="Times New Roman"/>
              </a:rPr>
              <a:t>quality.</a:t>
            </a:r>
            <a:r>
              <a:rPr dirty="0" sz="1000" spc="150">
                <a:latin typeface="Times New Roman"/>
                <a:cs typeface="Times New Roman"/>
              </a:rPr>
              <a:t> </a:t>
            </a:r>
            <a:r>
              <a:rPr dirty="0" sz="1000" spc="-20">
                <a:latin typeface="Times New Roman"/>
                <a:cs typeface="Times New Roman"/>
              </a:rPr>
              <a:t>This </a:t>
            </a:r>
            <a:r>
              <a:rPr dirty="0" sz="1000">
                <a:latin typeface="Times New Roman"/>
                <a:cs typeface="Times New Roman"/>
              </a:rPr>
              <a:t>suggests</a:t>
            </a:r>
            <a:r>
              <a:rPr dirty="0" sz="1000" spc="125">
                <a:latin typeface="Times New Roman"/>
                <a:cs typeface="Times New Roman"/>
              </a:rPr>
              <a:t> </a:t>
            </a:r>
            <a:r>
              <a:rPr dirty="0" sz="1000">
                <a:latin typeface="Times New Roman"/>
                <a:cs typeface="Times New Roman"/>
              </a:rPr>
              <a:t>that</a:t>
            </a:r>
            <a:r>
              <a:rPr dirty="0" sz="1000" spc="130">
                <a:latin typeface="Times New Roman"/>
                <a:cs typeface="Times New Roman"/>
              </a:rPr>
              <a:t> </a:t>
            </a:r>
            <a:r>
              <a:rPr dirty="0" sz="1000">
                <a:latin typeface="Times New Roman"/>
                <a:cs typeface="Times New Roman"/>
              </a:rPr>
              <a:t>determining</a:t>
            </a:r>
            <a:r>
              <a:rPr dirty="0" sz="1000" spc="130">
                <a:latin typeface="Times New Roman"/>
                <a:cs typeface="Times New Roman"/>
              </a:rPr>
              <a:t> </a:t>
            </a:r>
            <a:r>
              <a:rPr dirty="0" sz="1000">
                <a:latin typeface="Times New Roman"/>
                <a:cs typeface="Times New Roman"/>
              </a:rPr>
              <a:t>compatibility</a:t>
            </a:r>
            <a:r>
              <a:rPr dirty="0" sz="1000" spc="130">
                <a:latin typeface="Times New Roman"/>
                <a:cs typeface="Times New Roman"/>
              </a:rPr>
              <a:t> </a:t>
            </a:r>
            <a:r>
              <a:rPr dirty="0" sz="1000">
                <a:latin typeface="Times New Roman"/>
                <a:cs typeface="Times New Roman"/>
              </a:rPr>
              <a:t>is</a:t>
            </a:r>
            <a:r>
              <a:rPr dirty="0" sz="1000" spc="130">
                <a:latin typeface="Times New Roman"/>
                <a:cs typeface="Times New Roman"/>
              </a:rPr>
              <a:t> </a:t>
            </a:r>
            <a:r>
              <a:rPr dirty="0" sz="1000">
                <a:latin typeface="Times New Roman"/>
                <a:cs typeface="Times New Roman"/>
              </a:rPr>
              <a:t>not</a:t>
            </a:r>
            <a:r>
              <a:rPr dirty="0" sz="1000" spc="130">
                <a:latin typeface="Times New Roman"/>
                <a:cs typeface="Times New Roman"/>
              </a:rPr>
              <a:t> </a:t>
            </a:r>
            <a:r>
              <a:rPr dirty="0" sz="1000">
                <a:latin typeface="Times New Roman"/>
                <a:cs typeface="Times New Roman"/>
              </a:rPr>
              <a:t>easy</a:t>
            </a:r>
            <a:r>
              <a:rPr dirty="0" sz="1000" spc="130">
                <a:latin typeface="Times New Roman"/>
                <a:cs typeface="Times New Roman"/>
              </a:rPr>
              <a:t> </a:t>
            </a:r>
            <a:r>
              <a:rPr dirty="0" sz="1000">
                <a:latin typeface="Times New Roman"/>
                <a:cs typeface="Times New Roman"/>
              </a:rPr>
              <a:t>and</a:t>
            </a:r>
            <a:r>
              <a:rPr dirty="0" sz="1000" spc="130">
                <a:latin typeface="Times New Roman"/>
                <a:cs typeface="Times New Roman"/>
              </a:rPr>
              <a:t> </a:t>
            </a:r>
            <a:r>
              <a:rPr dirty="0" sz="1000">
                <a:latin typeface="Times New Roman"/>
                <a:cs typeface="Times New Roman"/>
              </a:rPr>
              <a:t>that</a:t>
            </a:r>
            <a:r>
              <a:rPr dirty="0" sz="1000" spc="130">
                <a:latin typeface="Times New Roman"/>
                <a:cs typeface="Times New Roman"/>
              </a:rPr>
              <a:t> </a:t>
            </a:r>
            <a:r>
              <a:rPr dirty="0" sz="1000">
                <a:latin typeface="Times New Roman"/>
                <a:cs typeface="Times New Roman"/>
              </a:rPr>
              <a:t>a</a:t>
            </a:r>
            <a:r>
              <a:rPr dirty="0" sz="1000" spc="130">
                <a:latin typeface="Times New Roman"/>
                <a:cs typeface="Times New Roman"/>
              </a:rPr>
              <a:t> </a:t>
            </a:r>
            <a:r>
              <a:rPr dirty="0" sz="1000">
                <a:latin typeface="Times New Roman"/>
                <a:cs typeface="Times New Roman"/>
              </a:rPr>
              <a:t>more</a:t>
            </a:r>
            <a:r>
              <a:rPr dirty="0" sz="1000" spc="130">
                <a:latin typeface="Times New Roman"/>
                <a:cs typeface="Times New Roman"/>
              </a:rPr>
              <a:t> </a:t>
            </a:r>
            <a:r>
              <a:rPr dirty="0" sz="1000">
                <a:latin typeface="Times New Roman"/>
                <a:cs typeface="Times New Roman"/>
              </a:rPr>
              <a:t>sophisticated</a:t>
            </a:r>
            <a:r>
              <a:rPr dirty="0" sz="1000" spc="130">
                <a:latin typeface="Times New Roman"/>
                <a:cs typeface="Times New Roman"/>
              </a:rPr>
              <a:t> </a:t>
            </a:r>
            <a:r>
              <a:rPr dirty="0" sz="1000" spc="-10">
                <a:latin typeface="Times New Roman"/>
                <a:cs typeface="Times New Roman"/>
              </a:rPr>
              <a:t>compatibility function</a:t>
            </a:r>
            <a:r>
              <a:rPr dirty="0" sz="1000" spc="-55">
                <a:latin typeface="Times New Roman"/>
                <a:cs typeface="Times New Roman"/>
              </a:rPr>
              <a:t> </a:t>
            </a:r>
            <a:r>
              <a:rPr dirty="0" sz="1000" spc="-10">
                <a:latin typeface="Times New Roman"/>
                <a:cs typeface="Times New Roman"/>
              </a:rPr>
              <a:t>than</a:t>
            </a:r>
            <a:r>
              <a:rPr dirty="0" sz="1000" spc="-50">
                <a:latin typeface="Times New Roman"/>
                <a:cs typeface="Times New Roman"/>
              </a:rPr>
              <a:t> </a:t>
            </a:r>
            <a:r>
              <a:rPr dirty="0" sz="1000">
                <a:latin typeface="Times New Roman"/>
                <a:cs typeface="Times New Roman"/>
              </a:rPr>
              <a:t>dot</a:t>
            </a:r>
            <a:r>
              <a:rPr dirty="0" sz="1000" spc="-65">
                <a:latin typeface="Times New Roman"/>
                <a:cs typeface="Times New Roman"/>
              </a:rPr>
              <a:t> </a:t>
            </a:r>
            <a:r>
              <a:rPr dirty="0" sz="1000" spc="-10">
                <a:latin typeface="Times New Roman"/>
                <a:cs typeface="Times New Roman"/>
              </a:rPr>
              <a:t>product</a:t>
            </a:r>
            <a:r>
              <a:rPr dirty="0" sz="1000" spc="-45">
                <a:latin typeface="Times New Roman"/>
                <a:cs typeface="Times New Roman"/>
              </a:rPr>
              <a:t> </a:t>
            </a:r>
            <a:r>
              <a:rPr dirty="0" sz="1000" spc="-10">
                <a:latin typeface="Times New Roman"/>
                <a:cs typeface="Times New Roman"/>
              </a:rPr>
              <a:t>may</a:t>
            </a:r>
            <a:r>
              <a:rPr dirty="0" sz="1000" spc="-40">
                <a:latin typeface="Times New Roman"/>
                <a:cs typeface="Times New Roman"/>
              </a:rPr>
              <a:t> </a:t>
            </a:r>
            <a:r>
              <a:rPr dirty="0" sz="1000">
                <a:latin typeface="Times New Roman"/>
                <a:cs typeface="Times New Roman"/>
              </a:rPr>
              <a:t>be</a:t>
            </a:r>
            <a:r>
              <a:rPr dirty="0" sz="1000" spc="-35">
                <a:latin typeface="Times New Roman"/>
                <a:cs typeface="Times New Roman"/>
              </a:rPr>
              <a:t> </a:t>
            </a:r>
            <a:r>
              <a:rPr dirty="0" sz="1000" spc="-10">
                <a:latin typeface="Times New Roman"/>
                <a:cs typeface="Times New Roman"/>
              </a:rPr>
              <a:t>beneficial.</a:t>
            </a:r>
            <a:r>
              <a:rPr dirty="0" sz="1000" spc="25">
                <a:latin typeface="Times New Roman"/>
                <a:cs typeface="Times New Roman"/>
              </a:rPr>
              <a:t> </a:t>
            </a:r>
            <a:r>
              <a:rPr dirty="0" sz="1000" spc="-90">
                <a:latin typeface="Times New Roman"/>
                <a:cs typeface="Times New Roman"/>
              </a:rPr>
              <a:t>We</a:t>
            </a:r>
            <a:r>
              <a:rPr dirty="0" sz="1000" spc="25">
                <a:latin typeface="Times New Roman"/>
                <a:cs typeface="Times New Roman"/>
              </a:rPr>
              <a:t> </a:t>
            </a:r>
            <a:r>
              <a:rPr dirty="0" sz="1000" spc="-10">
                <a:latin typeface="Times New Roman"/>
                <a:cs typeface="Times New Roman"/>
              </a:rPr>
              <a:t>further</a:t>
            </a:r>
            <a:r>
              <a:rPr dirty="0" sz="1000" spc="-35">
                <a:latin typeface="Times New Roman"/>
                <a:cs typeface="Times New Roman"/>
              </a:rPr>
              <a:t> </a:t>
            </a:r>
            <a:r>
              <a:rPr dirty="0" sz="1000" spc="-20">
                <a:latin typeface="Times New Roman"/>
                <a:cs typeface="Times New Roman"/>
              </a:rPr>
              <a:t>observe</a:t>
            </a:r>
            <a:r>
              <a:rPr dirty="0" sz="1000" spc="-40">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spc="-20">
                <a:latin typeface="Times New Roman"/>
                <a:cs typeface="Times New Roman"/>
              </a:rPr>
              <a:t>rows</a:t>
            </a:r>
            <a:r>
              <a:rPr dirty="0" sz="1000" spc="-40">
                <a:latin typeface="Times New Roman"/>
                <a:cs typeface="Times New Roman"/>
              </a:rPr>
              <a:t> </a:t>
            </a:r>
            <a:r>
              <a:rPr dirty="0" sz="1000">
                <a:latin typeface="Times New Roman"/>
                <a:cs typeface="Times New Roman"/>
              </a:rPr>
              <a:t>(C)</a:t>
            </a:r>
            <a:r>
              <a:rPr dirty="0" sz="1000" spc="-35">
                <a:latin typeface="Times New Roman"/>
                <a:cs typeface="Times New Roman"/>
              </a:rPr>
              <a:t> </a:t>
            </a:r>
            <a:r>
              <a:rPr dirty="0" sz="1000" spc="-10">
                <a:latin typeface="Times New Roman"/>
                <a:cs typeface="Times New Roman"/>
              </a:rPr>
              <a:t>and</a:t>
            </a:r>
            <a:r>
              <a:rPr dirty="0" sz="1000" spc="-40">
                <a:latin typeface="Times New Roman"/>
                <a:cs typeface="Times New Roman"/>
              </a:rPr>
              <a:t> </a:t>
            </a:r>
            <a:r>
              <a:rPr dirty="0" sz="1000" spc="-10">
                <a:latin typeface="Times New Roman"/>
                <a:cs typeface="Times New Roman"/>
              </a:rPr>
              <a:t>(D)</a:t>
            </a:r>
            <a:r>
              <a:rPr dirty="0" sz="1000" spc="-35">
                <a:latin typeface="Times New Roman"/>
                <a:cs typeface="Times New Roman"/>
              </a:rPr>
              <a:t> </a:t>
            </a:r>
            <a:r>
              <a:rPr dirty="0" sz="1000" spc="-10">
                <a:latin typeface="Times New Roman"/>
                <a:cs typeface="Times New Roman"/>
              </a:rPr>
              <a:t>that,</a:t>
            </a:r>
            <a:r>
              <a:rPr dirty="0" sz="1000" spc="-35">
                <a:latin typeface="Times New Roman"/>
                <a:cs typeface="Times New Roman"/>
              </a:rPr>
              <a:t> </a:t>
            </a:r>
            <a:r>
              <a:rPr dirty="0" sz="1000">
                <a:latin typeface="Times New Roman"/>
                <a:cs typeface="Times New Roman"/>
              </a:rPr>
              <a:t>as</a:t>
            </a:r>
            <a:r>
              <a:rPr dirty="0" sz="1000" spc="-35">
                <a:latin typeface="Times New Roman"/>
                <a:cs typeface="Times New Roman"/>
              </a:rPr>
              <a:t> </a:t>
            </a:r>
            <a:r>
              <a:rPr dirty="0" sz="1000" spc="-10">
                <a:latin typeface="Times New Roman"/>
                <a:cs typeface="Times New Roman"/>
              </a:rPr>
              <a:t>expected, </a:t>
            </a:r>
            <a:r>
              <a:rPr dirty="0" sz="1000" spc="-20">
                <a:latin typeface="Times New Roman"/>
                <a:cs typeface="Times New Roman"/>
              </a:rPr>
              <a:t>bigger</a:t>
            </a:r>
            <a:r>
              <a:rPr dirty="0" sz="1000" spc="-30">
                <a:latin typeface="Times New Roman"/>
                <a:cs typeface="Times New Roman"/>
              </a:rPr>
              <a:t> </a:t>
            </a:r>
            <a:r>
              <a:rPr dirty="0" sz="1000" spc="-20">
                <a:latin typeface="Times New Roman"/>
                <a:cs typeface="Times New Roman"/>
              </a:rPr>
              <a:t>models</a:t>
            </a:r>
            <a:r>
              <a:rPr dirty="0" sz="1000" spc="-30">
                <a:latin typeface="Times New Roman"/>
                <a:cs typeface="Times New Roman"/>
              </a:rPr>
              <a:t> </a:t>
            </a:r>
            <a:r>
              <a:rPr dirty="0" sz="1000" spc="-20">
                <a:latin typeface="Times New Roman"/>
                <a:cs typeface="Times New Roman"/>
              </a:rPr>
              <a:t>are</a:t>
            </a:r>
            <a:r>
              <a:rPr dirty="0" sz="1000" spc="-25">
                <a:latin typeface="Times New Roman"/>
                <a:cs typeface="Times New Roman"/>
              </a:rPr>
              <a:t> </a:t>
            </a:r>
            <a:r>
              <a:rPr dirty="0" sz="1000" spc="-20">
                <a:latin typeface="Times New Roman"/>
                <a:cs typeface="Times New Roman"/>
              </a:rPr>
              <a:t>better, and</a:t>
            </a:r>
            <a:r>
              <a:rPr dirty="0" sz="1000" spc="-25">
                <a:latin typeface="Times New Roman"/>
                <a:cs typeface="Times New Roman"/>
              </a:rPr>
              <a:t> </a:t>
            </a:r>
            <a:r>
              <a:rPr dirty="0" sz="1000" spc="-20">
                <a:latin typeface="Times New Roman"/>
                <a:cs typeface="Times New Roman"/>
              </a:rPr>
              <a:t>dropout</a:t>
            </a:r>
            <a:r>
              <a:rPr dirty="0" sz="1000" spc="-30">
                <a:latin typeface="Times New Roman"/>
                <a:cs typeface="Times New Roman"/>
              </a:rPr>
              <a:t> </a:t>
            </a:r>
            <a:r>
              <a:rPr dirty="0" sz="1000" spc="-10">
                <a:latin typeface="Times New Roman"/>
                <a:cs typeface="Times New Roman"/>
              </a:rPr>
              <a:t>is</a:t>
            </a:r>
            <a:r>
              <a:rPr dirty="0" sz="1000" spc="-25">
                <a:latin typeface="Times New Roman"/>
                <a:cs typeface="Times New Roman"/>
              </a:rPr>
              <a:t> very</a:t>
            </a:r>
            <a:r>
              <a:rPr dirty="0" sz="1000" spc="-30">
                <a:latin typeface="Times New Roman"/>
                <a:cs typeface="Times New Roman"/>
              </a:rPr>
              <a:t> </a:t>
            </a:r>
            <a:r>
              <a:rPr dirty="0" sz="1000" spc="-20">
                <a:latin typeface="Times New Roman"/>
                <a:cs typeface="Times New Roman"/>
              </a:rPr>
              <a:t>helpful</a:t>
            </a:r>
            <a:r>
              <a:rPr dirty="0" sz="1000" spc="-25">
                <a:latin typeface="Times New Roman"/>
                <a:cs typeface="Times New Roman"/>
              </a:rPr>
              <a:t> </a:t>
            </a:r>
            <a:r>
              <a:rPr dirty="0" sz="1000" spc="-10">
                <a:latin typeface="Times New Roman"/>
                <a:cs typeface="Times New Roman"/>
              </a:rPr>
              <a:t>in</a:t>
            </a:r>
            <a:r>
              <a:rPr dirty="0" sz="1000" spc="-30">
                <a:latin typeface="Times New Roman"/>
                <a:cs typeface="Times New Roman"/>
              </a:rPr>
              <a:t> </a:t>
            </a:r>
            <a:r>
              <a:rPr dirty="0" sz="1000" spc="-25">
                <a:latin typeface="Times New Roman"/>
                <a:cs typeface="Times New Roman"/>
              </a:rPr>
              <a:t>avoiding </a:t>
            </a:r>
            <a:r>
              <a:rPr dirty="0" sz="1000" spc="-35">
                <a:latin typeface="Times New Roman"/>
                <a:cs typeface="Times New Roman"/>
              </a:rPr>
              <a:t>over-</a:t>
            </a:r>
            <a:r>
              <a:rPr dirty="0" sz="1000" spc="-10">
                <a:latin typeface="Times New Roman"/>
                <a:cs typeface="Times New Roman"/>
              </a:rPr>
              <a:t>fitting.</a:t>
            </a:r>
            <a:r>
              <a:rPr dirty="0" sz="1000" spc="70">
                <a:latin typeface="Times New Roman"/>
                <a:cs typeface="Times New Roman"/>
              </a:rPr>
              <a:t> </a:t>
            </a:r>
            <a:r>
              <a:rPr dirty="0" sz="1000" spc="-20">
                <a:latin typeface="Times New Roman"/>
                <a:cs typeface="Times New Roman"/>
              </a:rPr>
              <a:t>In</a:t>
            </a:r>
            <a:r>
              <a:rPr dirty="0" sz="1000" spc="-30">
                <a:latin typeface="Times New Roman"/>
                <a:cs typeface="Times New Roman"/>
              </a:rPr>
              <a:t> </a:t>
            </a:r>
            <a:r>
              <a:rPr dirty="0" sz="1000" spc="-35">
                <a:latin typeface="Times New Roman"/>
                <a:cs typeface="Times New Roman"/>
              </a:rPr>
              <a:t>row</a:t>
            </a:r>
            <a:r>
              <a:rPr dirty="0" sz="1000" spc="-25">
                <a:latin typeface="Times New Roman"/>
                <a:cs typeface="Times New Roman"/>
              </a:rPr>
              <a:t> </a:t>
            </a:r>
            <a:r>
              <a:rPr dirty="0" sz="1000" spc="-20">
                <a:latin typeface="Times New Roman"/>
                <a:cs typeface="Times New Roman"/>
              </a:rPr>
              <a:t>(E)</a:t>
            </a:r>
            <a:r>
              <a:rPr dirty="0" sz="1000" spc="-30">
                <a:latin typeface="Times New Roman"/>
                <a:cs typeface="Times New Roman"/>
              </a:rPr>
              <a:t> </a:t>
            </a:r>
            <a:r>
              <a:rPr dirty="0" sz="1000" spc="-35">
                <a:latin typeface="Times New Roman"/>
                <a:cs typeface="Times New Roman"/>
              </a:rPr>
              <a:t>we</a:t>
            </a:r>
            <a:r>
              <a:rPr dirty="0" sz="1000" spc="-25">
                <a:latin typeface="Times New Roman"/>
                <a:cs typeface="Times New Roman"/>
              </a:rPr>
              <a:t> </a:t>
            </a:r>
            <a:r>
              <a:rPr dirty="0" sz="1000" spc="-20">
                <a:latin typeface="Times New Roman"/>
                <a:cs typeface="Times New Roman"/>
              </a:rPr>
              <a:t>replace</a:t>
            </a:r>
            <a:r>
              <a:rPr dirty="0" sz="1000" spc="-30">
                <a:latin typeface="Times New Roman"/>
                <a:cs typeface="Times New Roman"/>
              </a:rPr>
              <a:t> </a:t>
            </a:r>
            <a:r>
              <a:rPr dirty="0" sz="1000" spc="-25">
                <a:latin typeface="Times New Roman"/>
                <a:cs typeface="Times New Roman"/>
              </a:rPr>
              <a:t>our </a:t>
            </a:r>
            <a:r>
              <a:rPr dirty="0" sz="1000">
                <a:latin typeface="Times New Roman"/>
                <a:cs typeface="Times New Roman"/>
              </a:rPr>
              <a:t>sinusoidal</a:t>
            </a:r>
            <a:r>
              <a:rPr dirty="0" sz="1000" spc="-40">
                <a:latin typeface="Times New Roman"/>
                <a:cs typeface="Times New Roman"/>
              </a:rPr>
              <a:t> </a:t>
            </a:r>
            <a:r>
              <a:rPr dirty="0" sz="1000">
                <a:latin typeface="Times New Roman"/>
                <a:cs typeface="Times New Roman"/>
              </a:rPr>
              <a:t>positional</a:t>
            </a:r>
            <a:r>
              <a:rPr dirty="0" sz="1000" spc="-35">
                <a:latin typeface="Times New Roman"/>
                <a:cs typeface="Times New Roman"/>
              </a:rPr>
              <a:t> </a:t>
            </a:r>
            <a:r>
              <a:rPr dirty="0" sz="1000">
                <a:latin typeface="Times New Roman"/>
                <a:cs typeface="Times New Roman"/>
              </a:rPr>
              <a:t>encoding</a:t>
            </a:r>
            <a:r>
              <a:rPr dirty="0" sz="1000" spc="-35">
                <a:latin typeface="Times New Roman"/>
                <a:cs typeface="Times New Roman"/>
              </a:rPr>
              <a:t> </a:t>
            </a:r>
            <a:r>
              <a:rPr dirty="0" sz="1000">
                <a:latin typeface="Times New Roman"/>
                <a:cs typeface="Times New Roman"/>
              </a:rPr>
              <a:t>with</a:t>
            </a:r>
            <a:r>
              <a:rPr dirty="0" sz="1000" spc="-35">
                <a:latin typeface="Times New Roman"/>
                <a:cs typeface="Times New Roman"/>
              </a:rPr>
              <a:t> </a:t>
            </a:r>
            <a:r>
              <a:rPr dirty="0" sz="1000" spc="-10">
                <a:latin typeface="Times New Roman"/>
                <a:cs typeface="Times New Roman"/>
              </a:rPr>
              <a:t>learned</a:t>
            </a:r>
            <a:r>
              <a:rPr dirty="0" sz="1000" spc="-35">
                <a:latin typeface="Times New Roman"/>
                <a:cs typeface="Times New Roman"/>
              </a:rPr>
              <a:t> </a:t>
            </a:r>
            <a:r>
              <a:rPr dirty="0" sz="1000">
                <a:latin typeface="Times New Roman"/>
                <a:cs typeface="Times New Roman"/>
              </a:rPr>
              <a:t>positional</a:t>
            </a:r>
            <a:r>
              <a:rPr dirty="0" sz="1000" spc="-40">
                <a:latin typeface="Times New Roman"/>
                <a:cs typeface="Times New Roman"/>
              </a:rPr>
              <a:t> </a:t>
            </a:r>
            <a:r>
              <a:rPr dirty="0" sz="1000">
                <a:latin typeface="Times New Roman"/>
                <a:cs typeface="Times New Roman"/>
              </a:rPr>
              <a:t>embeddings</a:t>
            </a:r>
            <a:r>
              <a:rPr dirty="0" sz="1000" spc="-35">
                <a:latin typeface="Times New Roman"/>
                <a:cs typeface="Times New Roman"/>
              </a:rPr>
              <a:t> </a:t>
            </a:r>
            <a:r>
              <a:rPr dirty="0" sz="1000">
                <a:latin typeface="Times New Roman"/>
                <a:cs typeface="Times New Roman"/>
              </a:rPr>
              <a:t>[8],</a:t>
            </a:r>
            <a:r>
              <a:rPr dirty="0" sz="1000" spc="-35">
                <a:latin typeface="Times New Roman"/>
                <a:cs typeface="Times New Roman"/>
              </a:rPr>
              <a:t> </a:t>
            </a:r>
            <a:r>
              <a:rPr dirty="0" sz="1000">
                <a:latin typeface="Times New Roman"/>
                <a:cs typeface="Times New Roman"/>
              </a:rPr>
              <a:t>and</a:t>
            </a:r>
            <a:r>
              <a:rPr dirty="0" sz="1000" spc="-35">
                <a:latin typeface="Times New Roman"/>
                <a:cs typeface="Times New Roman"/>
              </a:rPr>
              <a:t> </a:t>
            </a:r>
            <a:r>
              <a:rPr dirty="0" sz="1000">
                <a:latin typeface="Times New Roman"/>
                <a:cs typeface="Times New Roman"/>
              </a:rPr>
              <a:t>observe</a:t>
            </a:r>
            <a:r>
              <a:rPr dirty="0" sz="1000" spc="-35">
                <a:latin typeface="Times New Roman"/>
                <a:cs typeface="Times New Roman"/>
              </a:rPr>
              <a:t> </a:t>
            </a:r>
            <a:r>
              <a:rPr dirty="0" sz="1000">
                <a:latin typeface="Times New Roman"/>
                <a:cs typeface="Times New Roman"/>
              </a:rPr>
              <a:t>nearly</a:t>
            </a:r>
            <a:r>
              <a:rPr dirty="0" sz="1000" spc="-40">
                <a:latin typeface="Times New Roman"/>
                <a:cs typeface="Times New Roman"/>
              </a:rPr>
              <a:t> </a:t>
            </a:r>
            <a:r>
              <a:rPr dirty="0" sz="1000" spc="-10">
                <a:latin typeface="Times New Roman"/>
                <a:cs typeface="Times New Roman"/>
              </a:rPr>
              <a:t>identical </a:t>
            </a:r>
            <a:r>
              <a:rPr dirty="0" sz="1000">
                <a:latin typeface="Times New Roman"/>
                <a:cs typeface="Times New Roman"/>
              </a:rPr>
              <a:t>results</a:t>
            </a:r>
            <a:r>
              <a:rPr dirty="0" sz="1000" spc="-20">
                <a:latin typeface="Times New Roman"/>
                <a:cs typeface="Times New Roman"/>
              </a:rPr>
              <a:t> </a:t>
            </a:r>
            <a:r>
              <a:rPr dirty="0" sz="1000">
                <a:latin typeface="Times New Roman"/>
                <a:cs typeface="Times New Roman"/>
              </a:rPr>
              <a:t>to</a:t>
            </a:r>
            <a:r>
              <a:rPr dirty="0" sz="1000" spc="-20">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a:latin typeface="Times New Roman"/>
                <a:cs typeface="Times New Roman"/>
              </a:rPr>
              <a:t>base</a:t>
            </a:r>
            <a:r>
              <a:rPr dirty="0" sz="1000" spc="-20">
                <a:latin typeface="Times New Roman"/>
                <a:cs typeface="Times New Roman"/>
              </a:rPr>
              <a:t> </a:t>
            </a:r>
            <a:r>
              <a:rPr dirty="0" sz="1000" spc="-10">
                <a:latin typeface="Times New Roman"/>
                <a:cs typeface="Times New Roman"/>
              </a:rPr>
              <a:t>model.</a:t>
            </a:r>
            <a:endParaRPr sz="1000">
              <a:latin typeface="Times New Roman"/>
              <a:cs typeface="Times New Roman"/>
            </a:endParaRPr>
          </a:p>
          <a:p>
            <a:pPr>
              <a:lnSpc>
                <a:spcPct val="100000"/>
              </a:lnSpc>
              <a:spcBef>
                <a:spcPts val="655"/>
              </a:spcBef>
            </a:pPr>
            <a:endParaRPr sz="1000">
              <a:latin typeface="Times New Roman"/>
              <a:cs typeface="Times New Roman"/>
            </a:endParaRPr>
          </a:p>
          <a:p>
            <a:pPr marL="63500">
              <a:lnSpc>
                <a:spcPct val="100000"/>
              </a:lnSpc>
              <a:tabLst>
                <a:tab pos="290830" algn="l"/>
              </a:tabLst>
            </a:pPr>
            <a:r>
              <a:rPr dirty="0" sz="1200" spc="-50" b="1">
                <a:latin typeface="Times New Roman"/>
                <a:cs typeface="Times New Roman"/>
              </a:rPr>
              <a:t>7</a:t>
            </a:r>
            <a:r>
              <a:rPr dirty="0" sz="1200" b="1">
                <a:latin typeface="Times New Roman"/>
                <a:cs typeface="Times New Roman"/>
              </a:rPr>
              <a:t>	</a:t>
            </a:r>
            <a:r>
              <a:rPr dirty="0" sz="1200" spc="-10" b="1">
                <a:latin typeface="Times New Roman"/>
                <a:cs typeface="Times New Roman"/>
              </a:rPr>
              <a:t>Conclusion</a:t>
            </a:r>
            <a:endParaRPr sz="1200">
              <a:latin typeface="Times New Roman"/>
              <a:cs typeface="Times New Roman"/>
            </a:endParaRPr>
          </a:p>
          <a:p>
            <a:pPr>
              <a:lnSpc>
                <a:spcPct val="100000"/>
              </a:lnSpc>
              <a:spcBef>
                <a:spcPts val="50"/>
              </a:spcBef>
            </a:pPr>
            <a:endParaRPr sz="1200">
              <a:latin typeface="Times New Roman"/>
              <a:cs typeface="Times New Roman"/>
            </a:endParaRPr>
          </a:p>
          <a:p>
            <a:pPr algn="just" marL="63500" marR="71120">
              <a:lnSpc>
                <a:spcPts val="1090"/>
              </a:lnSpc>
            </a:pP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this</a:t>
            </a:r>
            <a:r>
              <a:rPr dirty="0" sz="1000" spc="-25">
                <a:latin typeface="Times New Roman"/>
                <a:cs typeface="Times New Roman"/>
              </a:rPr>
              <a:t> </a:t>
            </a:r>
            <a:r>
              <a:rPr dirty="0" sz="1000">
                <a:latin typeface="Times New Roman"/>
                <a:cs typeface="Times New Roman"/>
              </a:rPr>
              <a:t>work,</a:t>
            </a:r>
            <a:r>
              <a:rPr dirty="0" sz="1000" spc="-25">
                <a:latin typeface="Times New Roman"/>
                <a:cs typeface="Times New Roman"/>
              </a:rPr>
              <a:t> </a:t>
            </a:r>
            <a:r>
              <a:rPr dirty="0" sz="1000">
                <a:latin typeface="Times New Roman"/>
                <a:cs typeface="Times New Roman"/>
              </a:rPr>
              <a:t>we</a:t>
            </a:r>
            <a:r>
              <a:rPr dirty="0" sz="1000" spc="-30">
                <a:latin typeface="Times New Roman"/>
                <a:cs typeface="Times New Roman"/>
              </a:rPr>
              <a:t> </a:t>
            </a:r>
            <a:r>
              <a:rPr dirty="0" sz="1000">
                <a:latin typeface="Times New Roman"/>
                <a:cs typeface="Times New Roman"/>
              </a:rPr>
              <a:t>presented</a:t>
            </a:r>
            <a:r>
              <a:rPr dirty="0" sz="1000" spc="-2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Transformer,</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10">
                <a:latin typeface="Times New Roman"/>
                <a:cs typeface="Times New Roman"/>
              </a:rPr>
              <a:t>first</a:t>
            </a:r>
            <a:r>
              <a:rPr dirty="0" sz="1000" spc="-25">
                <a:latin typeface="Times New Roman"/>
                <a:cs typeface="Times New Roman"/>
              </a:rPr>
              <a:t> </a:t>
            </a:r>
            <a:r>
              <a:rPr dirty="0" sz="1000">
                <a:latin typeface="Times New Roman"/>
                <a:cs typeface="Times New Roman"/>
              </a:rPr>
              <a:t>sequence</a:t>
            </a:r>
            <a:r>
              <a:rPr dirty="0" sz="1000" spc="-30">
                <a:latin typeface="Times New Roman"/>
                <a:cs typeface="Times New Roman"/>
              </a:rPr>
              <a:t> </a:t>
            </a:r>
            <a:r>
              <a:rPr dirty="0" sz="1000">
                <a:latin typeface="Times New Roman"/>
                <a:cs typeface="Times New Roman"/>
              </a:rPr>
              <a:t>transduction</a:t>
            </a:r>
            <a:r>
              <a:rPr dirty="0" sz="1000" spc="-25">
                <a:latin typeface="Times New Roman"/>
                <a:cs typeface="Times New Roman"/>
              </a:rPr>
              <a:t> </a:t>
            </a:r>
            <a:r>
              <a:rPr dirty="0" sz="1000">
                <a:latin typeface="Times New Roman"/>
                <a:cs typeface="Times New Roman"/>
              </a:rPr>
              <a:t>model</a:t>
            </a:r>
            <a:r>
              <a:rPr dirty="0" sz="1000" spc="-25">
                <a:latin typeface="Times New Roman"/>
                <a:cs typeface="Times New Roman"/>
              </a:rPr>
              <a:t> </a:t>
            </a:r>
            <a:r>
              <a:rPr dirty="0" sz="1000">
                <a:latin typeface="Times New Roman"/>
                <a:cs typeface="Times New Roman"/>
              </a:rPr>
              <a:t>based</a:t>
            </a:r>
            <a:r>
              <a:rPr dirty="0" sz="1000" spc="-30">
                <a:latin typeface="Times New Roman"/>
                <a:cs typeface="Times New Roman"/>
              </a:rPr>
              <a:t> </a:t>
            </a:r>
            <a:r>
              <a:rPr dirty="0" sz="1000">
                <a:latin typeface="Times New Roman"/>
                <a:cs typeface="Times New Roman"/>
              </a:rPr>
              <a:t>entirely</a:t>
            </a:r>
            <a:r>
              <a:rPr dirty="0" sz="1000" spc="-25">
                <a:latin typeface="Times New Roman"/>
                <a:cs typeface="Times New Roman"/>
              </a:rPr>
              <a:t> on </a:t>
            </a:r>
            <a:r>
              <a:rPr dirty="0" sz="1000">
                <a:latin typeface="Times New Roman"/>
                <a:cs typeface="Times New Roman"/>
              </a:rPr>
              <a:t>attention,</a:t>
            </a:r>
            <a:r>
              <a:rPr dirty="0" sz="1000" spc="-15">
                <a:latin typeface="Times New Roman"/>
                <a:cs typeface="Times New Roman"/>
              </a:rPr>
              <a:t> </a:t>
            </a:r>
            <a:r>
              <a:rPr dirty="0" sz="1000">
                <a:latin typeface="Times New Roman"/>
                <a:cs typeface="Times New Roman"/>
              </a:rPr>
              <a:t>replacing</a:t>
            </a:r>
            <a:r>
              <a:rPr dirty="0" sz="1000" spc="-1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spc="-10">
                <a:latin typeface="Times New Roman"/>
                <a:cs typeface="Times New Roman"/>
              </a:rPr>
              <a:t>recurrent </a:t>
            </a:r>
            <a:r>
              <a:rPr dirty="0" sz="1000">
                <a:latin typeface="Times New Roman"/>
                <a:cs typeface="Times New Roman"/>
              </a:rPr>
              <a:t>layers</a:t>
            </a:r>
            <a:r>
              <a:rPr dirty="0" sz="1000" spc="-15">
                <a:latin typeface="Times New Roman"/>
                <a:cs typeface="Times New Roman"/>
              </a:rPr>
              <a:t> </a:t>
            </a:r>
            <a:r>
              <a:rPr dirty="0" sz="1000">
                <a:latin typeface="Times New Roman"/>
                <a:cs typeface="Times New Roman"/>
              </a:rPr>
              <a:t>most</a:t>
            </a:r>
            <a:r>
              <a:rPr dirty="0" sz="1000" spc="-10">
                <a:latin typeface="Times New Roman"/>
                <a:cs typeface="Times New Roman"/>
              </a:rPr>
              <a:t> </a:t>
            </a:r>
            <a:r>
              <a:rPr dirty="0" sz="1000">
                <a:latin typeface="Times New Roman"/>
                <a:cs typeface="Times New Roman"/>
              </a:rPr>
              <a:t>commonly</a:t>
            </a:r>
            <a:r>
              <a:rPr dirty="0" sz="1000" spc="-15">
                <a:latin typeface="Times New Roman"/>
                <a:cs typeface="Times New Roman"/>
              </a:rPr>
              <a:t> </a:t>
            </a:r>
            <a:r>
              <a:rPr dirty="0" sz="1000">
                <a:latin typeface="Times New Roman"/>
                <a:cs typeface="Times New Roman"/>
              </a:rPr>
              <a:t>used</a:t>
            </a:r>
            <a:r>
              <a:rPr dirty="0" sz="1000" spc="-10">
                <a:latin typeface="Times New Roman"/>
                <a:cs typeface="Times New Roman"/>
              </a:rPr>
              <a:t> </a:t>
            </a:r>
            <a:r>
              <a:rPr dirty="0" sz="1000">
                <a:latin typeface="Times New Roman"/>
                <a:cs typeface="Times New Roman"/>
              </a:rPr>
              <a:t>in</a:t>
            </a:r>
            <a:r>
              <a:rPr dirty="0" sz="1000" spc="-10">
                <a:latin typeface="Times New Roman"/>
                <a:cs typeface="Times New Roman"/>
              </a:rPr>
              <a:t> </a:t>
            </a:r>
            <a:r>
              <a:rPr dirty="0" sz="1000" spc="-20">
                <a:latin typeface="Times New Roman"/>
                <a:cs typeface="Times New Roman"/>
              </a:rPr>
              <a:t>encoder-</a:t>
            </a:r>
            <a:r>
              <a:rPr dirty="0" sz="1000" spc="-10">
                <a:latin typeface="Times New Roman"/>
                <a:cs typeface="Times New Roman"/>
              </a:rPr>
              <a:t>decoder</a:t>
            </a:r>
            <a:r>
              <a:rPr dirty="0" sz="1000" spc="-15">
                <a:latin typeface="Times New Roman"/>
                <a:cs typeface="Times New Roman"/>
              </a:rPr>
              <a:t> </a:t>
            </a:r>
            <a:r>
              <a:rPr dirty="0" sz="1000" spc="-10">
                <a:latin typeface="Times New Roman"/>
                <a:cs typeface="Times New Roman"/>
              </a:rPr>
              <a:t>architectures </a:t>
            </a:r>
            <a:r>
              <a:rPr dirty="0" sz="1000" spc="-20">
                <a:latin typeface="Times New Roman"/>
                <a:cs typeface="Times New Roman"/>
              </a:rPr>
              <a:t>with </a:t>
            </a:r>
            <a:r>
              <a:rPr dirty="0" sz="1000" spc="-10">
                <a:latin typeface="Times New Roman"/>
                <a:cs typeface="Times New Roman"/>
              </a:rPr>
              <a:t>multi-</a:t>
            </a:r>
            <a:r>
              <a:rPr dirty="0" sz="1000">
                <a:latin typeface="Times New Roman"/>
                <a:cs typeface="Times New Roman"/>
              </a:rPr>
              <a:t>headed</a:t>
            </a:r>
            <a:r>
              <a:rPr dirty="0" sz="1000" spc="30">
                <a:latin typeface="Times New Roman"/>
                <a:cs typeface="Times New Roman"/>
              </a:rPr>
              <a:t> </a:t>
            </a:r>
            <a:r>
              <a:rPr dirty="0" sz="1000" spc="-10">
                <a:latin typeface="Times New Roman"/>
                <a:cs typeface="Times New Roman"/>
              </a:rPr>
              <a:t>self-attention.</a:t>
            </a:r>
            <a:endParaRPr sz="1000">
              <a:latin typeface="Times New Roman"/>
              <a:cs typeface="Times New Roman"/>
            </a:endParaRPr>
          </a:p>
          <a:p>
            <a:pPr algn="just" marL="63500" marR="71120">
              <a:lnSpc>
                <a:spcPts val="1090"/>
              </a:lnSpc>
              <a:spcBef>
                <a:spcPts val="550"/>
              </a:spcBef>
            </a:pPr>
            <a:r>
              <a:rPr dirty="0" sz="1000">
                <a:latin typeface="Times New Roman"/>
                <a:cs typeface="Times New Roman"/>
              </a:rPr>
              <a:t>For</a:t>
            </a:r>
            <a:r>
              <a:rPr dirty="0" sz="1000" spc="60">
                <a:latin typeface="Times New Roman"/>
                <a:cs typeface="Times New Roman"/>
              </a:rPr>
              <a:t> </a:t>
            </a:r>
            <a:r>
              <a:rPr dirty="0" sz="1000">
                <a:latin typeface="Times New Roman"/>
                <a:cs typeface="Times New Roman"/>
              </a:rPr>
              <a:t>translation</a:t>
            </a:r>
            <a:r>
              <a:rPr dirty="0" sz="1000" spc="65">
                <a:latin typeface="Times New Roman"/>
                <a:cs typeface="Times New Roman"/>
              </a:rPr>
              <a:t> </a:t>
            </a:r>
            <a:r>
              <a:rPr dirty="0" sz="1000">
                <a:latin typeface="Times New Roman"/>
                <a:cs typeface="Times New Roman"/>
              </a:rPr>
              <a:t>tasks,</a:t>
            </a:r>
            <a:r>
              <a:rPr dirty="0" sz="1000" spc="75">
                <a:latin typeface="Times New Roman"/>
                <a:cs typeface="Times New Roman"/>
              </a:rPr>
              <a:t> </a:t>
            </a:r>
            <a:r>
              <a:rPr dirty="0" sz="1000">
                <a:latin typeface="Times New Roman"/>
                <a:cs typeface="Times New Roman"/>
              </a:rPr>
              <a:t>the</a:t>
            </a:r>
            <a:r>
              <a:rPr dirty="0" sz="1000" spc="65">
                <a:latin typeface="Times New Roman"/>
                <a:cs typeface="Times New Roman"/>
              </a:rPr>
              <a:t> </a:t>
            </a:r>
            <a:r>
              <a:rPr dirty="0" sz="1000">
                <a:latin typeface="Times New Roman"/>
                <a:cs typeface="Times New Roman"/>
              </a:rPr>
              <a:t>Transformer</a:t>
            </a:r>
            <a:r>
              <a:rPr dirty="0" sz="1000" spc="65">
                <a:latin typeface="Times New Roman"/>
                <a:cs typeface="Times New Roman"/>
              </a:rPr>
              <a:t> </a:t>
            </a:r>
            <a:r>
              <a:rPr dirty="0" sz="1000">
                <a:latin typeface="Times New Roman"/>
                <a:cs typeface="Times New Roman"/>
              </a:rPr>
              <a:t>can</a:t>
            </a:r>
            <a:r>
              <a:rPr dirty="0" sz="1000" spc="60">
                <a:latin typeface="Times New Roman"/>
                <a:cs typeface="Times New Roman"/>
              </a:rPr>
              <a:t> </a:t>
            </a:r>
            <a:r>
              <a:rPr dirty="0" sz="1000">
                <a:latin typeface="Times New Roman"/>
                <a:cs typeface="Times New Roman"/>
              </a:rPr>
              <a:t>be</a:t>
            </a:r>
            <a:r>
              <a:rPr dirty="0" sz="1000" spc="65">
                <a:latin typeface="Times New Roman"/>
                <a:cs typeface="Times New Roman"/>
              </a:rPr>
              <a:t> </a:t>
            </a:r>
            <a:r>
              <a:rPr dirty="0" sz="1000">
                <a:latin typeface="Times New Roman"/>
                <a:cs typeface="Times New Roman"/>
              </a:rPr>
              <a:t>trained</a:t>
            </a:r>
            <a:r>
              <a:rPr dirty="0" sz="1000" spc="65">
                <a:latin typeface="Times New Roman"/>
                <a:cs typeface="Times New Roman"/>
              </a:rPr>
              <a:t> </a:t>
            </a:r>
            <a:r>
              <a:rPr dirty="0" sz="1000">
                <a:latin typeface="Times New Roman"/>
                <a:cs typeface="Times New Roman"/>
              </a:rPr>
              <a:t>significantly</a:t>
            </a:r>
            <a:r>
              <a:rPr dirty="0" sz="1000" spc="65">
                <a:latin typeface="Times New Roman"/>
                <a:cs typeface="Times New Roman"/>
              </a:rPr>
              <a:t> </a:t>
            </a:r>
            <a:r>
              <a:rPr dirty="0" sz="1000">
                <a:latin typeface="Times New Roman"/>
                <a:cs typeface="Times New Roman"/>
              </a:rPr>
              <a:t>faster</a:t>
            </a:r>
            <a:r>
              <a:rPr dirty="0" sz="1000" spc="65">
                <a:latin typeface="Times New Roman"/>
                <a:cs typeface="Times New Roman"/>
              </a:rPr>
              <a:t> </a:t>
            </a:r>
            <a:r>
              <a:rPr dirty="0" sz="1000">
                <a:latin typeface="Times New Roman"/>
                <a:cs typeface="Times New Roman"/>
              </a:rPr>
              <a:t>than</a:t>
            </a:r>
            <a:r>
              <a:rPr dirty="0" sz="1000" spc="60">
                <a:latin typeface="Times New Roman"/>
                <a:cs typeface="Times New Roman"/>
              </a:rPr>
              <a:t> </a:t>
            </a:r>
            <a:r>
              <a:rPr dirty="0" sz="1000">
                <a:latin typeface="Times New Roman"/>
                <a:cs typeface="Times New Roman"/>
              </a:rPr>
              <a:t>architectures</a:t>
            </a:r>
            <a:r>
              <a:rPr dirty="0" sz="1000" spc="65">
                <a:latin typeface="Times New Roman"/>
                <a:cs typeface="Times New Roman"/>
              </a:rPr>
              <a:t> </a:t>
            </a:r>
            <a:r>
              <a:rPr dirty="0" sz="1000" spc="-10">
                <a:latin typeface="Times New Roman"/>
                <a:cs typeface="Times New Roman"/>
              </a:rPr>
              <a:t>based </a:t>
            </a:r>
            <a:r>
              <a:rPr dirty="0" sz="1000">
                <a:latin typeface="Times New Roman"/>
                <a:cs typeface="Times New Roman"/>
              </a:rPr>
              <a:t>on</a:t>
            </a:r>
            <a:r>
              <a:rPr dirty="0" sz="1000" spc="114">
                <a:latin typeface="Times New Roman"/>
                <a:cs typeface="Times New Roman"/>
              </a:rPr>
              <a:t> </a:t>
            </a:r>
            <a:r>
              <a:rPr dirty="0" sz="1000">
                <a:latin typeface="Times New Roman"/>
                <a:cs typeface="Times New Roman"/>
              </a:rPr>
              <a:t>recurrent</a:t>
            </a:r>
            <a:r>
              <a:rPr dirty="0" sz="1000" spc="120">
                <a:latin typeface="Times New Roman"/>
                <a:cs typeface="Times New Roman"/>
              </a:rPr>
              <a:t> </a:t>
            </a:r>
            <a:r>
              <a:rPr dirty="0" sz="1000">
                <a:latin typeface="Times New Roman"/>
                <a:cs typeface="Times New Roman"/>
              </a:rPr>
              <a:t>or</a:t>
            </a:r>
            <a:r>
              <a:rPr dirty="0" sz="1000" spc="110">
                <a:latin typeface="Times New Roman"/>
                <a:cs typeface="Times New Roman"/>
              </a:rPr>
              <a:t> </a:t>
            </a:r>
            <a:r>
              <a:rPr dirty="0" sz="1000">
                <a:latin typeface="Times New Roman"/>
                <a:cs typeface="Times New Roman"/>
              </a:rPr>
              <a:t>convolutional</a:t>
            </a:r>
            <a:r>
              <a:rPr dirty="0" sz="1000" spc="120">
                <a:latin typeface="Times New Roman"/>
                <a:cs typeface="Times New Roman"/>
              </a:rPr>
              <a:t> </a:t>
            </a:r>
            <a:r>
              <a:rPr dirty="0" sz="1000">
                <a:latin typeface="Times New Roman"/>
                <a:cs typeface="Times New Roman"/>
              </a:rPr>
              <a:t>layers.</a:t>
            </a:r>
            <a:r>
              <a:rPr dirty="0" sz="1000" spc="390">
                <a:latin typeface="Times New Roman"/>
                <a:cs typeface="Times New Roman"/>
              </a:rPr>
              <a:t> </a:t>
            </a:r>
            <a:r>
              <a:rPr dirty="0" sz="1000">
                <a:latin typeface="Times New Roman"/>
                <a:cs typeface="Times New Roman"/>
              </a:rPr>
              <a:t>On</a:t>
            </a:r>
            <a:r>
              <a:rPr dirty="0" sz="1000" spc="114">
                <a:latin typeface="Times New Roman"/>
                <a:cs typeface="Times New Roman"/>
              </a:rPr>
              <a:t> </a:t>
            </a:r>
            <a:r>
              <a:rPr dirty="0" sz="1000">
                <a:latin typeface="Times New Roman"/>
                <a:cs typeface="Times New Roman"/>
              </a:rPr>
              <a:t>both</a:t>
            </a:r>
            <a:r>
              <a:rPr dirty="0" sz="1000" spc="120">
                <a:latin typeface="Times New Roman"/>
                <a:cs typeface="Times New Roman"/>
              </a:rPr>
              <a:t> </a:t>
            </a:r>
            <a:r>
              <a:rPr dirty="0" sz="1000">
                <a:latin typeface="Times New Roman"/>
                <a:cs typeface="Times New Roman"/>
              </a:rPr>
              <a:t>WMT</a:t>
            </a:r>
            <a:r>
              <a:rPr dirty="0" sz="1000" spc="110">
                <a:latin typeface="Times New Roman"/>
                <a:cs typeface="Times New Roman"/>
              </a:rPr>
              <a:t> </a:t>
            </a:r>
            <a:r>
              <a:rPr dirty="0" sz="1000">
                <a:latin typeface="Times New Roman"/>
                <a:cs typeface="Times New Roman"/>
              </a:rPr>
              <a:t>2014</a:t>
            </a:r>
            <a:r>
              <a:rPr dirty="0" sz="1000" spc="120">
                <a:latin typeface="Times New Roman"/>
                <a:cs typeface="Times New Roman"/>
              </a:rPr>
              <a:t> </a:t>
            </a:r>
            <a:r>
              <a:rPr dirty="0" sz="1000">
                <a:latin typeface="Times New Roman"/>
                <a:cs typeface="Times New Roman"/>
              </a:rPr>
              <a:t>English-to-German</a:t>
            </a:r>
            <a:r>
              <a:rPr dirty="0" sz="1000" spc="120">
                <a:latin typeface="Times New Roman"/>
                <a:cs typeface="Times New Roman"/>
              </a:rPr>
              <a:t> </a:t>
            </a:r>
            <a:r>
              <a:rPr dirty="0" sz="1000">
                <a:latin typeface="Times New Roman"/>
                <a:cs typeface="Times New Roman"/>
              </a:rPr>
              <a:t>and</a:t>
            </a:r>
            <a:r>
              <a:rPr dirty="0" sz="1000" spc="114">
                <a:latin typeface="Times New Roman"/>
                <a:cs typeface="Times New Roman"/>
              </a:rPr>
              <a:t> </a:t>
            </a:r>
            <a:r>
              <a:rPr dirty="0" sz="1000">
                <a:latin typeface="Times New Roman"/>
                <a:cs typeface="Times New Roman"/>
              </a:rPr>
              <a:t>WMT</a:t>
            </a:r>
            <a:r>
              <a:rPr dirty="0" sz="1000" spc="114">
                <a:latin typeface="Times New Roman"/>
                <a:cs typeface="Times New Roman"/>
              </a:rPr>
              <a:t> </a:t>
            </a:r>
            <a:r>
              <a:rPr dirty="0" sz="1000" spc="-20">
                <a:latin typeface="Times New Roman"/>
                <a:cs typeface="Times New Roman"/>
              </a:rPr>
              <a:t>2014 </a:t>
            </a:r>
            <a:r>
              <a:rPr dirty="0" sz="1000">
                <a:latin typeface="Times New Roman"/>
                <a:cs typeface="Times New Roman"/>
              </a:rPr>
              <a:t>English-to-French</a:t>
            </a:r>
            <a:r>
              <a:rPr dirty="0" sz="1000" spc="30">
                <a:latin typeface="Times New Roman"/>
                <a:cs typeface="Times New Roman"/>
              </a:rPr>
              <a:t> </a:t>
            </a:r>
            <a:r>
              <a:rPr dirty="0" sz="1000">
                <a:latin typeface="Times New Roman"/>
                <a:cs typeface="Times New Roman"/>
              </a:rPr>
              <a:t>translation</a:t>
            </a:r>
            <a:r>
              <a:rPr dirty="0" sz="1000" spc="35">
                <a:latin typeface="Times New Roman"/>
                <a:cs typeface="Times New Roman"/>
              </a:rPr>
              <a:t> </a:t>
            </a:r>
            <a:r>
              <a:rPr dirty="0" sz="1000">
                <a:latin typeface="Times New Roman"/>
                <a:cs typeface="Times New Roman"/>
              </a:rPr>
              <a:t>tasks,</a:t>
            </a:r>
            <a:r>
              <a:rPr dirty="0" sz="1000" spc="40">
                <a:latin typeface="Times New Roman"/>
                <a:cs typeface="Times New Roman"/>
              </a:rPr>
              <a:t> </a:t>
            </a:r>
            <a:r>
              <a:rPr dirty="0" sz="1000">
                <a:latin typeface="Times New Roman"/>
                <a:cs typeface="Times New Roman"/>
              </a:rPr>
              <a:t>we</a:t>
            </a:r>
            <a:r>
              <a:rPr dirty="0" sz="1000" spc="35">
                <a:latin typeface="Times New Roman"/>
                <a:cs typeface="Times New Roman"/>
              </a:rPr>
              <a:t> </a:t>
            </a:r>
            <a:r>
              <a:rPr dirty="0" sz="1000">
                <a:latin typeface="Times New Roman"/>
                <a:cs typeface="Times New Roman"/>
              </a:rPr>
              <a:t>achieve</a:t>
            </a:r>
            <a:r>
              <a:rPr dirty="0" sz="1000" spc="30">
                <a:latin typeface="Times New Roman"/>
                <a:cs typeface="Times New Roman"/>
              </a:rPr>
              <a:t> </a:t>
            </a:r>
            <a:r>
              <a:rPr dirty="0" sz="1000">
                <a:latin typeface="Times New Roman"/>
                <a:cs typeface="Times New Roman"/>
              </a:rPr>
              <a:t>a</a:t>
            </a:r>
            <a:r>
              <a:rPr dirty="0" sz="1000" spc="35">
                <a:latin typeface="Times New Roman"/>
                <a:cs typeface="Times New Roman"/>
              </a:rPr>
              <a:t> </a:t>
            </a:r>
            <a:r>
              <a:rPr dirty="0" sz="1000">
                <a:latin typeface="Times New Roman"/>
                <a:cs typeface="Times New Roman"/>
              </a:rPr>
              <a:t>new</a:t>
            </a:r>
            <a:r>
              <a:rPr dirty="0" sz="1000" spc="30">
                <a:latin typeface="Times New Roman"/>
                <a:cs typeface="Times New Roman"/>
              </a:rPr>
              <a:t> </a:t>
            </a:r>
            <a:r>
              <a:rPr dirty="0" sz="1000">
                <a:latin typeface="Times New Roman"/>
                <a:cs typeface="Times New Roman"/>
              </a:rPr>
              <a:t>state</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a:latin typeface="Times New Roman"/>
                <a:cs typeface="Times New Roman"/>
              </a:rPr>
              <a:t>the</a:t>
            </a:r>
            <a:r>
              <a:rPr dirty="0" sz="1000" spc="30">
                <a:latin typeface="Times New Roman"/>
                <a:cs typeface="Times New Roman"/>
              </a:rPr>
              <a:t> </a:t>
            </a:r>
            <a:r>
              <a:rPr dirty="0" sz="1000">
                <a:latin typeface="Times New Roman"/>
                <a:cs typeface="Times New Roman"/>
              </a:rPr>
              <a:t>art.</a:t>
            </a:r>
            <a:r>
              <a:rPr dirty="0" sz="1000" spc="150">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a:latin typeface="Times New Roman"/>
                <a:cs typeface="Times New Roman"/>
              </a:rPr>
              <a:t>the</a:t>
            </a:r>
            <a:r>
              <a:rPr dirty="0" sz="1000" spc="35">
                <a:latin typeface="Times New Roman"/>
                <a:cs typeface="Times New Roman"/>
              </a:rPr>
              <a:t> </a:t>
            </a:r>
            <a:r>
              <a:rPr dirty="0" sz="1000">
                <a:latin typeface="Times New Roman"/>
                <a:cs typeface="Times New Roman"/>
              </a:rPr>
              <a:t>former</a:t>
            </a:r>
            <a:r>
              <a:rPr dirty="0" sz="1000" spc="30">
                <a:latin typeface="Times New Roman"/>
                <a:cs typeface="Times New Roman"/>
              </a:rPr>
              <a:t> </a:t>
            </a:r>
            <a:r>
              <a:rPr dirty="0" sz="1000">
                <a:latin typeface="Times New Roman"/>
                <a:cs typeface="Times New Roman"/>
              </a:rPr>
              <a:t>task</a:t>
            </a:r>
            <a:r>
              <a:rPr dirty="0" sz="1000" spc="35">
                <a:latin typeface="Times New Roman"/>
                <a:cs typeface="Times New Roman"/>
              </a:rPr>
              <a:t> </a:t>
            </a:r>
            <a:r>
              <a:rPr dirty="0" sz="1000">
                <a:latin typeface="Times New Roman"/>
                <a:cs typeface="Times New Roman"/>
              </a:rPr>
              <a:t>our</a:t>
            </a:r>
            <a:r>
              <a:rPr dirty="0" sz="1000" spc="30">
                <a:latin typeface="Times New Roman"/>
                <a:cs typeface="Times New Roman"/>
              </a:rPr>
              <a:t> </a:t>
            </a:r>
            <a:r>
              <a:rPr dirty="0" sz="1000" spc="-20">
                <a:latin typeface="Times New Roman"/>
                <a:cs typeface="Times New Roman"/>
              </a:rPr>
              <a:t>best </a:t>
            </a:r>
            <a:r>
              <a:rPr dirty="0" sz="1000">
                <a:latin typeface="Times New Roman"/>
                <a:cs typeface="Times New Roman"/>
              </a:rPr>
              <a:t>model</a:t>
            </a:r>
            <a:r>
              <a:rPr dirty="0" sz="1000" spc="-30">
                <a:latin typeface="Times New Roman"/>
                <a:cs typeface="Times New Roman"/>
              </a:rPr>
              <a:t> </a:t>
            </a:r>
            <a:r>
              <a:rPr dirty="0" sz="1000">
                <a:latin typeface="Times New Roman"/>
                <a:cs typeface="Times New Roman"/>
              </a:rPr>
              <a:t>outperforms</a:t>
            </a:r>
            <a:r>
              <a:rPr dirty="0" sz="1000" spc="-25">
                <a:latin typeface="Times New Roman"/>
                <a:cs typeface="Times New Roman"/>
              </a:rPr>
              <a:t> </a:t>
            </a:r>
            <a:r>
              <a:rPr dirty="0" sz="1000" spc="-10">
                <a:latin typeface="Times New Roman"/>
                <a:cs typeface="Times New Roman"/>
              </a:rPr>
              <a:t>even</a:t>
            </a:r>
            <a:r>
              <a:rPr dirty="0" sz="1000" spc="-30">
                <a:latin typeface="Times New Roman"/>
                <a:cs typeface="Times New Roman"/>
              </a:rPr>
              <a:t> </a:t>
            </a:r>
            <a:r>
              <a:rPr dirty="0" sz="1000">
                <a:latin typeface="Times New Roman"/>
                <a:cs typeface="Times New Roman"/>
              </a:rPr>
              <a:t>all</a:t>
            </a:r>
            <a:r>
              <a:rPr dirty="0" sz="1000" spc="-25">
                <a:latin typeface="Times New Roman"/>
                <a:cs typeface="Times New Roman"/>
              </a:rPr>
              <a:t> </a:t>
            </a:r>
            <a:r>
              <a:rPr dirty="0" sz="1000" spc="-10">
                <a:latin typeface="Times New Roman"/>
                <a:cs typeface="Times New Roman"/>
              </a:rPr>
              <a:t>previously</a:t>
            </a:r>
            <a:r>
              <a:rPr dirty="0" sz="1000" spc="-25">
                <a:latin typeface="Times New Roman"/>
                <a:cs typeface="Times New Roman"/>
              </a:rPr>
              <a:t> </a:t>
            </a:r>
            <a:r>
              <a:rPr dirty="0" sz="1000">
                <a:latin typeface="Times New Roman"/>
                <a:cs typeface="Times New Roman"/>
              </a:rPr>
              <a:t>reported</a:t>
            </a:r>
            <a:r>
              <a:rPr dirty="0" sz="1000" spc="-30">
                <a:latin typeface="Times New Roman"/>
                <a:cs typeface="Times New Roman"/>
              </a:rPr>
              <a:t> </a:t>
            </a:r>
            <a:r>
              <a:rPr dirty="0" sz="1000" spc="-10">
                <a:latin typeface="Times New Roman"/>
                <a:cs typeface="Times New Roman"/>
              </a:rPr>
              <a:t>ensembles.</a:t>
            </a:r>
            <a:endParaRPr sz="1000">
              <a:latin typeface="Times New Roman"/>
              <a:cs typeface="Times New Roman"/>
            </a:endParaRPr>
          </a:p>
          <a:p>
            <a:pPr algn="just" marL="63500" marR="50800" indent="-6350">
              <a:lnSpc>
                <a:spcPts val="1090"/>
              </a:lnSpc>
              <a:spcBef>
                <a:spcPts val="550"/>
              </a:spcBef>
            </a:pPr>
            <a:r>
              <a:rPr dirty="0" sz="1000" spc="-60">
                <a:latin typeface="Times New Roman"/>
                <a:cs typeface="Times New Roman"/>
              </a:rPr>
              <a:t>We</a:t>
            </a:r>
            <a:r>
              <a:rPr dirty="0" sz="1000" spc="-5">
                <a:latin typeface="Times New Roman"/>
                <a:cs typeface="Times New Roman"/>
              </a:rPr>
              <a:t> </a:t>
            </a:r>
            <a:r>
              <a:rPr dirty="0" sz="1000">
                <a:latin typeface="Times New Roman"/>
                <a:cs typeface="Times New Roman"/>
              </a:rPr>
              <a:t>are</a:t>
            </a:r>
            <a:r>
              <a:rPr dirty="0" sz="1000" spc="-50">
                <a:latin typeface="Times New Roman"/>
                <a:cs typeface="Times New Roman"/>
              </a:rPr>
              <a:t> </a:t>
            </a:r>
            <a:r>
              <a:rPr dirty="0" sz="1000" spc="-10">
                <a:latin typeface="Times New Roman"/>
                <a:cs typeface="Times New Roman"/>
              </a:rPr>
              <a:t>excited</a:t>
            </a:r>
            <a:r>
              <a:rPr dirty="0" sz="1000" spc="-20">
                <a:latin typeface="Times New Roman"/>
                <a:cs typeface="Times New Roman"/>
              </a:rPr>
              <a:t> </a:t>
            </a:r>
            <a:r>
              <a:rPr dirty="0" sz="1000">
                <a:latin typeface="Times New Roman"/>
                <a:cs typeface="Times New Roman"/>
              </a:rPr>
              <a:t>about</a:t>
            </a:r>
            <a:r>
              <a:rPr dirty="0" sz="1000" spc="-30">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a:latin typeface="Times New Roman"/>
                <a:cs typeface="Times New Roman"/>
              </a:rPr>
              <a:t>future</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attention-</a:t>
            </a:r>
            <a:r>
              <a:rPr dirty="0" sz="1000">
                <a:latin typeface="Times New Roman"/>
                <a:cs typeface="Times New Roman"/>
              </a:rPr>
              <a:t>based</a:t>
            </a:r>
            <a:r>
              <a:rPr dirty="0" sz="1000" spc="-30">
                <a:latin typeface="Times New Roman"/>
                <a:cs typeface="Times New Roman"/>
              </a:rPr>
              <a:t> </a:t>
            </a:r>
            <a:r>
              <a:rPr dirty="0" sz="1000">
                <a:latin typeface="Times New Roman"/>
                <a:cs typeface="Times New Roman"/>
              </a:rPr>
              <a:t>models</a:t>
            </a:r>
            <a:r>
              <a:rPr dirty="0" sz="1000" spc="-2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plan</a:t>
            </a:r>
            <a:r>
              <a:rPr dirty="0" sz="1000" spc="-2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a:latin typeface="Times New Roman"/>
                <a:cs typeface="Times New Roman"/>
              </a:rPr>
              <a:t>apply</a:t>
            </a:r>
            <a:r>
              <a:rPr dirty="0" sz="1000" spc="-20">
                <a:latin typeface="Times New Roman"/>
                <a:cs typeface="Times New Roman"/>
              </a:rPr>
              <a:t> </a:t>
            </a:r>
            <a:r>
              <a:rPr dirty="0" sz="1000">
                <a:latin typeface="Times New Roman"/>
                <a:cs typeface="Times New Roman"/>
              </a:rPr>
              <a:t>them</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other</a:t>
            </a:r>
            <a:r>
              <a:rPr dirty="0" sz="1000" spc="-25">
                <a:latin typeface="Times New Roman"/>
                <a:cs typeface="Times New Roman"/>
              </a:rPr>
              <a:t> </a:t>
            </a:r>
            <a:r>
              <a:rPr dirty="0" sz="1000">
                <a:latin typeface="Times New Roman"/>
                <a:cs typeface="Times New Roman"/>
              </a:rPr>
              <a:t>tasks.</a:t>
            </a:r>
            <a:r>
              <a:rPr dirty="0" sz="1000" spc="30">
                <a:latin typeface="Times New Roman"/>
                <a:cs typeface="Times New Roman"/>
              </a:rPr>
              <a:t> </a:t>
            </a:r>
            <a:r>
              <a:rPr dirty="0" sz="1000" spc="-25">
                <a:latin typeface="Times New Roman"/>
                <a:cs typeface="Times New Roman"/>
              </a:rPr>
              <a:t>We </a:t>
            </a:r>
            <a:r>
              <a:rPr dirty="0" sz="1000">
                <a:latin typeface="Times New Roman"/>
                <a:cs typeface="Times New Roman"/>
              </a:rPr>
              <a:t>plan</a:t>
            </a:r>
            <a:r>
              <a:rPr dirty="0" sz="1000" spc="-3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spc="-10">
                <a:latin typeface="Times New Roman"/>
                <a:cs typeface="Times New Roman"/>
              </a:rPr>
              <a:t>extend</a:t>
            </a:r>
            <a:r>
              <a:rPr dirty="0" sz="1000" spc="-35">
                <a:latin typeface="Times New Roman"/>
                <a:cs typeface="Times New Roman"/>
              </a:rPr>
              <a:t> </a:t>
            </a:r>
            <a:r>
              <a:rPr dirty="0" sz="1000">
                <a:latin typeface="Times New Roman"/>
                <a:cs typeface="Times New Roman"/>
              </a:rPr>
              <a:t>the</a:t>
            </a:r>
            <a:r>
              <a:rPr dirty="0" sz="1000" spc="-25">
                <a:latin typeface="Times New Roman"/>
                <a:cs typeface="Times New Roman"/>
              </a:rPr>
              <a:t> </a:t>
            </a:r>
            <a:r>
              <a:rPr dirty="0" sz="1000" spc="-20">
                <a:latin typeface="Times New Roman"/>
                <a:cs typeface="Times New Roman"/>
              </a:rPr>
              <a:t>Transformer</a:t>
            </a:r>
            <a:r>
              <a:rPr dirty="0" sz="1000" spc="-30">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spc="-10">
                <a:latin typeface="Times New Roman"/>
                <a:cs typeface="Times New Roman"/>
              </a:rPr>
              <a:t>problems</a:t>
            </a:r>
            <a:r>
              <a:rPr dirty="0" sz="1000" spc="-35">
                <a:latin typeface="Times New Roman"/>
                <a:cs typeface="Times New Roman"/>
              </a:rPr>
              <a:t> </a:t>
            </a:r>
            <a:r>
              <a:rPr dirty="0" sz="1000" spc="-10">
                <a:latin typeface="Times New Roman"/>
                <a:cs typeface="Times New Roman"/>
              </a:rPr>
              <a:t>involving</a:t>
            </a:r>
            <a:r>
              <a:rPr dirty="0" sz="1000" spc="-30">
                <a:latin typeface="Times New Roman"/>
                <a:cs typeface="Times New Roman"/>
              </a:rPr>
              <a:t> </a:t>
            </a:r>
            <a:r>
              <a:rPr dirty="0" sz="1000">
                <a:latin typeface="Times New Roman"/>
                <a:cs typeface="Times New Roman"/>
              </a:rPr>
              <a:t>input</a:t>
            </a:r>
            <a:r>
              <a:rPr dirty="0" sz="1000" spc="-3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a:latin typeface="Times New Roman"/>
                <a:cs typeface="Times New Roman"/>
              </a:rPr>
              <a:t>output</a:t>
            </a:r>
            <a:r>
              <a:rPr dirty="0" sz="1000" spc="-35">
                <a:latin typeface="Times New Roman"/>
                <a:cs typeface="Times New Roman"/>
              </a:rPr>
              <a:t> </a:t>
            </a:r>
            <a:r>
              <a:rPr dirty="0" sz="1000" spc="-10">
                <a:latin typeface="Times New Roman"/>
                <a:cs typeface="Times New Roman"/>
              </a:rPr>
              <a:t>modalities</a:t>
            </a:r>
            <a:r>
              <a:rPr dirty="0" sz="1000" spc="-25">
                <a:latin typeface="Times New Roman"/>
                <a:cs typeface="Times New Roman"/>
              </a:rPr>
              <a:t> </a:t>
            </a:r>
            <a:r>
              <a:rPr dirty="0" sz="1000" spc="-10">
                <a:latin typeface="Times New Roman"/>
                <a:cs typeface="Times New Roman"/>
              </a:rPr>
              <a:t>other</a:t>
            </a:r>
            <a:r>
              <a:rPr dirty="0" sz="1000" spc="-35">
                <a:latin typeface="Times New Roman"/>
                <a:cs typeface="Times New Roman"/>
              </a:rPr>
              <a:t> </a:t>
            </a:r>
            <a:r>
              <a:rPr dirty="0" sz="1000">
                <a:latin typeface="Times New Roman"/>
                <a:cs typeface="Times New Roman"/>
              </a:rPr>
              <a:t>than</a:t>
            </a:r>
            <a:r>
              <a:rPr dirty="0" sz="1000" spc="-25">
                <a:latin typeface="Times New Roman"/>
                <a:cs typeface="Times New Roman"/>
              </a:rPr>
              <a:t> </a:t>
            </a:r>
            <a:r>
              <a:rPr dirty="0" sz="1000">
                <a:latin typeface="Times New Roman"/>
                <a:cs typeface="Times New Roman"/>
              </a:rPr>
              <a:t>text</a:t>
            </a:r>
            <a:r>
              <a:rPr dirty="0" sz="1000" spc="-30">
                <a:latin typeface="Times New Roman"/>
                <a:cs typeface="Times New Roman"/>
              </a:rPr>
              <a:t> </a:t>
            </a:r>
            <a:r>
              <a:rPr dirty="0" sz="1000" spc="-25">
                <a:latin typeface="Times New Roman"/>
                <a:cs typeface="Times New Roman"/>
              </a:rPr>
              <a:t>and </a:t>
            </a:r>
            <a:r>
              <a:rPr dirty="0" sz="1000">
                <a:latin typeface="Times New Roman"/>
                <a:cs typeface="Times New Roman"/>
              </a:rPr>
              <a:t>to</a:t>
            </a:r>
            <a:r>
              <a:rPr dirty="0" sz="1000" spc="35">
                <a:latin typeface="Times New Roman"/>
                <a:cs typeface="Times New Roman"/>
              </a:rPr>
              <a:t> </a:t>
            </a:r>
            <a:r>
              <a:rPr dirty="0" sz="1000">
                <a:latin typeface="Times New Roman"/>
                <a:cs typeface="Times New Roman"/>
              </a:rPr>
              <a:t>investigate</a:t>
            </a:r>
            <a:r>
              <a:rPr dirty="0" sz="1000" spc="35">
                <a:latin typeface="Times New Roman"/>
                <a:cs typeface="Times New Roman"/>
              </a:rPr>
              <a:t> </a:t>
            </a:r>
            <a:r>
              <a:rPr dirty="0" sz="1000">
                <a:latin typeface="Times New Roman"/>
                <a:cs typeface="Times New Roman"/>
              </a:rPr>
              <a:t>local,</a:t>
            </a:r>
            <a:r>
              <a:rPr dirty="0" sz="1000" spc="40">
                <a:latin typeface="Times New Roman"/>
                <a:cs typeface="Times New Roman"/>
              </a:rPr>
              <a:t> </a:t>
            </a:r>
            <a:r>
              <a:rPr dirty="0" sz="1000">
                <a:latin typeface="Times New Roman"/>
                <a:cs typeface="Times New Roman"/>
              </a:rPr>
              <a:t>restricted</a:t>
            </a:r>
            <a:r>
              <a:rPr dirty="0" sz="1000" spc="35">
                <a:latin typeface="Times New Roman"/>
                <a:cs typeface="Times New Roman"/>
              </a:rPr>
              <a:t> </a:t>
            </a:r>
            <a:r>
              <a:rPr dirty="0" sz="1000">
                <a:latin typeface="Times New Roman"/>
                <a:cs typeface="Times New Roman"/>
              </a:rPr>
              <a:t>attention</a:t>
            </a:r>
            <a:r>
              <a:rPr dirty="0" sz="1000" spc="35">
                <a:latin typeface="Times New Roman"/>
                <a:cs typeface="Times New Roman"/>
              </a:rPr>
              <a:t> </a:t>
            </a:r>
            <a:r>
              <a:rPr dirty="0" sz="1000">
                <a:latin typeface="Times New Roman"/>
                <a:cs typeface="Times New Roman"/>
              </a:rPr>
              <a:t>mechanisms</a:t>
            </a:r>
            <a:r>
              <a:rPr dirty="0" sz="1000" spc="35">
                <a:latin typeface="Times New Roman"/>
                <a:cs typeface="Times New Roman"/>
              </a:rPr>
              <a:t> </a:t>
            </a:r>
            <a:r>
              <a:rPr dirty="0" sz="1000">
                <a:latin typeface="Times New Roman"/>
                <a:cs typeface="Times New Roman"/>
              </a:rPr>
              <a:t>to</a:t>
            </a:r>
            <a:r>
              <a:rPr dirty="0" sz="1000" spc="35">
                <a:latin typeface="Times New Roman"/>
                <a:cs typeface="Times New Roman"/>
              </a:rPr>
              <a:t> </a:t>
            </a:r>
            <a:r>
              <a:rPr dirty="0" sz="1000">
                <a:latin typeface="Times New Roman"/>
                <a:cs typeface="Times New Roman"/>
              </a:rPr>
              <a:t>efficiently</a:t>
            </a:r>
            <a:r>
              <a:rPr dirty="0" sz="1000" spc="35">
                <a:latin typeface="Times New Roman"/>
                <a:cs typeface="Times New Roman"/>
              </a:rPr>
              <a:t> </a:t>
            </a:r>
            <a:r>
              <a:rPr dirty="0" sz="1000">
                <a:latin typeface="Times New Roman"/>
                <a:cs typeface="Times New Roman"/>
              </a:rPr>
              <a:t>handle</a:t>
            </a:r>
            <a:r>
              <a:rPr dirty="0" sz="1000" spc="35">
                <a:latin typeface="Times New Roman"/>
                <a:cs typeface="Times New Roman"/>
              </a:rPr>
              <a:t> </a:t>
            </a:r>
            <a:r>
              <a:rPr dirty="0" sz="1000">
                <a:latin typeface="Times New Roman"/>
                <a:cs typeface="Times New Roman"/>
              </a:rPr>
              <a:t>large</a:t>
            </a:r>
            <a:r>
              <a:rPr dirty="0" sz="1000" spc="35">
                <a:latin typeface="Times New Roman"/>
                <a:cs typeface="Times New Roman"/>
              </a:rPr>
              <a:t> </a:t>
            </a:r>
            <a:r>
              <a:rPr dirty="0" sz="1000">
                <a:latin typeface="Times New Roman"/>
                <a:cs typeface="Times New Roman"/>
              </a:rPr>
              <a:t>inputs</a:t>
            </a:r>
            <a:r>
              <a:rPr dirty="0" sz="1000" spc="35">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spc="-10">
                <a:latin typeface="Times New Roman"/>
                <a:cs typeface="Times New Roman"/>
              </a:rPr>
              <a:t>outputs </a:t>
            </a:r>
            <a:r>
              <a:rPr dirty="0" sz="1000">
                <a:latin typeface="Times New Roman"/>
                <a:cs typeface="Times New Roman"/>
              </a:rPr>
              <a:t>such</a:t>
            </a:r>
            <a:r>
              <a:rPr dirty="0" sz="1000" spc="-35">
                <a:latin typeface="Times New Roman"/>
                <a:cs typeface="Times New Roman"/>
              </a:rPr>
              <a:t> </a:t>
            </a:r>
            <a:r>
              <a:rPr dirty="0" sz="1000">
                <a:latin typeface="Times New Roman"/>
                <a:cs typeface="Times New Roman"/>
              </a:rPr>
              <a:t>as</a:t>
            </a:r>
            <a:r>
              <a:rPr dirty="0" sz="1000" spc="-35">
                <a:latin typeface="Times New Roman"/>
                <a:cs typeface="Times New Roman"/>
              </a:rPr>
              <a:t> </a:t>
            </a:r>
            <a:r>
              <a:rPr dirty="0" sz="1000" spc="-10">
                <a:latin typeface="Times New Roman"/>
                <a:cs typeface="Times New Roman"/>
              </a:rPr>
              <a:t>images,</a:t>
            </a:r>
            <a:r>
              <a:rPr dirty="0" sz="1000" spc="-35">
                <a:latin typeface="Times New Roman"/>
                <a:cs typeface="Times New Roman"/>
              </a:rPr>
              <a:t> </a:t>
            </a:r>
            <a:r>
              <a:rPr dirty="0" sz="1000" spc="-10">
                <a:latin typeface="Times New Roman"/>
                <a:cs typeface="Times New Roman"/>
              </a:rPr>
              <a:t>audio</a:t>
            </a:r>
            <a:r>
              <a:rPr dirty="0" sz="1000" spc="-3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video.</a:t>
            </a:r>
            <a:r>
              <a:rPr dirty="0" sz="1000" spc="15">
                <a:latin typeface="Times New Roman"/>
                <a:cs typeface="Times New Roman"/>
              </a:rPr>
              <a:t> </a:t>
            </a:r>
            <a:r>
              <a:rPr dirty="0" sz="1000" spc="-10">
                <a:latin typeface="Times New Roman"/>
                <a:cs typeface="Times New Roman"/>
              </a:rPr>
              <a:t>Making</a:t>
            </a:r>
            <a:r>
              <a:rPr dirty="0" sz="1000" spc="-35">
                <a:latin typeface="Times New Roman"/>
                <a:cs typeface="Times New Roman"/>
              </a:rPr>
              <a:t> </a:t>
            </a:r>
            <a:r>
              <a:rPr dirty="0" sz="1000" spc="-10">
                <a:latin typeface="Times New Roman"/>
                <a:cs typeface="Times New Roman"/>
              </a:rPr>
              <a:t>generation</a:t>
            </a:r>
            <a:r>
              <a:rPr dirty="0" sz="1000" spc="-30">
                <a:latin typeface="Times New Roman"/>
                <a:cs typeface="Times New Roman"/>
              </a:rPr>
              <a:t> </a:t>
            </a:r>
            <a:r>
              <a:rPr dirty="0" sz="1000">
                <a:latin typeface="Times New Roman"/>
                <a:cs typeface="Times New Roman"/>
              </a:rPr>
              <a:t>less</a:t>
            </a:r>
            <a:r>
              <a:rPr dirty="0" sz="1000" spc="-35">
                <a:latin typeface="Times New Roman"/>
                <a:cs typeface="Times New Roman"/>
              </a:rPr>
              <a:t> </a:t>
            </a:r>
            <a:r>
              <a:rPr dirty="0" sz="1000" spc="-10">
                <a:latin typeface="Times New Roman"/>
                <a:cs typeface="Times New Roman"/>
              </a:rPr>
              <a:t>sequential</a:t>
            </a:r>
            <a:r>
              <a:rPr dirty="0" sz="1000" spc="-35">
                <a:latin typeface="Times New Roman"/>
                <a:cs typeface="Times New Roman"/>
              </a:rPr>
              <a:t> </a:t>
            </a:r>
            <a:r>
              <a:rPr dirty="0" sz="1000">
                <a:latin typeface="Times New Roman"/>
                <a:cs typeface="Times New Roman"/>
              </a:rPr>
              <a:t>is</a:t>
            </a:r>
            <a:r>
              <a:rPr dirty="0" sz="1000" spc="-35">
                <a:latin typeface="Times New Roman"/>
                <a:cs typeface="Times New Roman"/>
              </a:rPr>
              <a:t> </a:t>
            </a:r>
            <a:r>
              <a:rPr dirty="0" sz="1000" spc="-10">
                <a:latin typeface="Times New Roman"/>
                <a:cs typeface="Times New Roman"/>
              </a:rPr>
              <a:t>another</a:t>
            </a:r>
            <a:r>
              <a:rPr dirty="0" sz="1000" spc="-35">
                <a:latin typeface="Times New Roman"/>
                <a:cs typeface="Times New Roman"/>
              </a:rPr>
              <a:t> </a:t>
            </a:r>
            <a:r>
              <a:rPr dirty="0" sz="1000" spc="-10">
                <a:latin typeface="Times New Roman"/>
                <a:cs typeface="Times New Roman"/>
              </a:rPr>
              <a:t>research</a:t>
            </a:r>
            <a:r>
              <a:rPr dirty="0" sz="1000" spc="-25">
                <a:latin typeface="Times New Roman"/>
                <a:cs typeface="Times New Roman"/>
              </a:rPr>
              <a:t> </a:t>
            </a:r>
            <a:r>
              <a:rPr dirty="0" sz="1000" spc="-10">
                <a:latin typeface="Times New Roman"/>
                <a:cs typeface="Times New Roman"/>
              </a:rPr>
              <a:t>goals</a:t>
            </a:r>
            <a:r>
              <a:rPr dirty="0" sz="1000" spc="-35">
                <a:latin typeface="Times New Roman"/>
                <a:cs typeface="Times New Roman"/>
              </a:rPr>
              <a:t> </a:t>
            </a:r>
            <a:r>
              <a:rPr dirty="0" sz="1000">
                <a:latin typeface="Times New Roman"/>
                <a:cs typeface="Times New Roman"/>
              </a:rPr>
              <a:t>of</a:t>
            </a:r>
            <a:r>
              <a:rPr dirty="0" sz="1000" spc="-35">
                <a:latin typeface="Times New Roman"/>
                <a:cs typeface="Times New Roman"/>
              </a:rPr>
              <a:t> </a:t>
            </a:r>
            <a:r>
              <a:rPr dirty="0" sz="1000" spc="-10">
                <a:latin typeface="Times New Roman"/>
                <a:cs typeface="Times New Roman"/>
              </a:rPr>
              <a:t>ours.</a:t>
            </a:r>
            <a:endParaRPr sz="1000">
              <a:latin typeface="Times New Roman"/>
              <a:cs typeface="Times New Roman"/>
            </a:endParaRPr>
          </a:p>
          <a:p>
            <a:pPr algn="just" marL="63500" marR="57785" indent="-4445">
              <a:lnSpc>
                <a:spcPts val="1090"/>
              </a:lnSpc>
              <a:spcBef>
                <a:spcPts val="555"/>
              </a:spcBef>
            </a:pPr>
            <a:r>
              <a:rPr dirty="0" sz="1000">
                <a:latin typeface="Times New Roman"/>
                <a:cs typeface="Times New Roman"/>
              </a:rPr>
              <a:t>The</a:t>
            </a:r>
            <a:r>
              <a:rPr dirty="0" sz="1000" spc="250">
                <a:latin typeface="Times New Roman"/>
                <a:cs typeface="Times New Roman"/>
              </a:rPr>
              <a:t> </a:t>
            </a:r>
            <a:r>
              <a:rPr dirty="0" sz="1000">
                <a:latin typeface="Times New Roman"/>
                <a:cs typeface="Times New Roman"/>
              </a:rPr>
              <a:t>code</a:t>
            </a:r>
            <a:r>
              <a:rPr dirty="0" sz="1000" spc="250">
                <a:latin typeface="Times New Roman"/>
                <a:cs typeface="Times New Roman"/>
              </a:rPr>
              <a:t> </a:t>
            </a:r>
            <a:r>
              <a:rPr dirty="0" sz="1000">
                <a:latin typeface="Times New Roman"/>
                <a:cs typeface="Times New Roman"/>
              </a:rPr>
              <a:t>we</a:t>
            </a:r>
            <a:r>
              <a:rPr dirty="0" sz="1000" spc="254">
                <a:latin typeface="Times New Roman"/>
                <a:cs typeface="Times New Roman"/>
              </a:rPr>
              <a:t> </a:t>
            </a:r>
            <a:r>
              <a:rPr dirty="0" sz="1000">
                <a:latin typeface="Times New Roman"/>
                <a:cs typeface="Times New Roman"/>
              </a:rPr>
              <a:t>used</a:t>
            </a:r>
            <a:r>
              <a:rPr dirty="0" sz="1000" spc="250">
                <a:latin typeface="Times New Roman"/>
                <a:cs typeface="Times New Roman"/>
              </a:rPr>
              <a:t> </a:t>
            </a:r>
            <a:r>
              <a:rPr dirty="0" sz="1000">
                <a:latin typeface="Times New Roman"/>
                <a:cs typeface="Times New Roman"/>
              </a:rPr>
              <a:t>to</a:t>
            </a:r>
            <a:r>
              <a:rPr dirty="0" sz="1000" spc="254">
                <a:latin typeface="Times New Roman"/>
                <a:cs typeface="Times New Roman"/>
              </a:rPr>
              <a:t> </a:t>
            </a:r>
            <a:r>
              <a:rPr dirty="0" sz="1000">
                <a:latin typeface="Times New Roman"/>
                <a:cs typeface="Times New Roman"/>
              </a:rPr>
              <a:t>train</a:t>
            </a:r>
            <a:r>
              <a:rPr dirty="0" sz="1000" spc="250">
                <a:latin typeface="Times New Roman"/>
                <a:cs typeface="Times New Roman"/>
              </a:rPr>
              <a:t> </a:t>
            </a:r>
            <a:r>
              <a:rPr dirty="0" sz="1000">
                <a:latin typeface="Times New Roman"/>
                <a:cs typeface="Times New Roman"/>
              </a:rPr>
              <a:t>and</a:t>
            </a:r>
            <a:r>
              <a:rPr dirty="0" sz="1000" spc="254">
                <a:latin typeface="Times New Roman"/>
                <a:cs typeface="Times New Roman"/>
              </a:rPr>
              <a:t> </a:t>
            </a:r>
            <a:r>
              <a:rPr dirty="0" sz="1000">
                <a:latin typeface="Times New Roman"/>
                <a:cs typeface="Times New Roman"/>
              </a:rPr>
              <a:t>evaluate</a:t>
            </a:r>
            <a:r>
              <a:rPr dirty="0" sz="1000" spc="250">
                <a:latin typeface="Times New Roman"/>
                <a:cs typeface="Times New Roman"/>
              </a:rPr>
              <a:t> </a:t>
            </a:r>
            <a:r>
              <a:rPr dirty="0" sz="1000">
                <a:latin typeface="Times New Roman"/>
                <a:cs typeface="Times New Roman"/>
              </a:rPr>
              <a:t>our</a:t>
            </a:r>
            <a:r>
              <a:rPr dirty="0" sz="1000" spc="254">
                <a:latin typeface="Times New Roman"/>
                <a:cs typeface="Times New Roman"/>
              </a:rPr>
              <a:t> </a:t>
            </a:r>
            <a:r>
              <a:rPr dirty="0" sz="1000">
                <a:latin typeface="Times New Roman"/>
                <a:cs typeface="Times New Roman"/>
              </a:rPr>
              <a:t>models</a:t>
            </a:r>
            <a:r>
              <a:rPr dirty="0" sz="1000" spc="250">
                <a:latin typeface="Times New Roman"/>
                <a:cs typeface="Times New Roman"/>
              </a:rPr>
              <a:t> </a:t>
            </a:r>
            <a:r>
              <a:rPr dirty="0" sz="1000">
                <a:latin typeface="Times New Roman"/>
                <a:cs typeface="Times New Roman"/>
              </a:rPr>
              <a:t>is</a:t>
            </a:r>
            <a:r>
              <a:rPr dirty="0" sz="1000" spc="254">
                <a:latin typeface="Times New Roman"/>
                <a:cs typeface="Times New Roman"/>
              </a:rPr>
              <a:t> </a:t>
            </a:r>
            <a:r>
              <a:rPr dirty="0" sz="1000">
                <a:latin typeface="Times New Roman"/>
                <a:cs typeface="Times New Roman"/>
              </a:rPr>
              <a:t>available</a:t>
            </a:r>
            <a:r>
              <a:rPr dirty="0" sz="1000" spc="250">
                <a:latin typeface="Times New Roman"/>
                <a:cs typeface="Times New Roman"/>
              </a:rPr>
              <a:t> </a:t>
            </a:r>
            <a:r>
              <a:rPr dirty="0" sz="1000">
                <a:latin typeface="Times New Roman"/>
                <a:cs typeface="Times New Roman"/>
              </a:rPr>
              <a:t>at</a:t>
            </a:r>
            <a:r>
              <a:rPr dirty="0" sz="1000" spc="254">
                <a:latin typeface="Times New Roman"/>
                <a:cs typeface="Times New Roman"/>
              </a:rPr>
              <a:t> </a:t>
            </a:r>
            <a:r>
              <a:rPr dirty="0" sz="1000" spc="45">
                <a:latin typeface="Cambria"/>
                <a:cs typeface="Cambria"/>
                <a:hlinkClick r:id="rId2"/>
              </a:rPr>
              <a:t>https://github.com/</a:t>
            </a:r>
            <a:r>
              <a:rPr dirty="0" sz="1000" spc="45">
                <a:latin typeface="Cambria"/>
                <a:cs typeface="Cambria"/>
              </a:rPr>
              <a:t> </a:t>
            </a:r>
            <a:r>
              <a:rPr dirty="0" sz="1000" spc="-10">
                <a:latin typeface="Cambria"/>
                <a:cs typeface="Cambria"/>
                <a:hlinkClick r:id="rId2"/>
              </a:rPr>
              <a:t>tensorflow/tensor2tensor</a:t>
            </a:r>
            <a:r>
              <a:rPr dirty="0" sz="1000" spc="-10">
                <a:latin typeface="Times New Roman"/>
                <a:cs typeface="Times New Roman"/>
              </a:rPr>
              <a:t>.</a:t>
            </a:r>
            <a:endParaRPr sz="1000">
              <a:latin typeface="Times New Roman"/>
              <a:cs typeface="Times New Roman"/>
            </a:endParaRPr>
          </a:p>
          <a:p>
            <a:pPr>
              <a:lnSpc>
                <a:spcPct val="100000"/>
              </a:lnSpc>
              <a:spcBef>
                <a:spcPts val="450"/>
              </a:spcBef>
            </a:pPr>
            <a:endParaRPr sz="1000">
              <a:latin typeface="Times New Roman"/>
              <a:cs typeface="Times New Roman"/>
            </a:endParaRPr>
          </a:p>
          <a:p>
            <a:pPr algn="just" marL="63500" marR="71120">
              <a:lnSpc>
                <a:spcPts val="1090"/>
              </a:lnSpc>
              <a:spcBef>
                <a:spcPts val="5"/>
              </a:spcBef>
            </a:pPr>
            <a:r>
              <a:rPr dirty="0" sz="1000" b="1">
                <a:latin typeface="Times New Roman"/>
                <a:cs typeface="Times New Roman"/>
              </a:rPr>
              <a:t>Acknowledgements</a:t>
            </a:r>
            <a:r>
              <a:rPr dirty="0" sz="1000" spc="250" b="1">
                <a:latin typeface="Times New Roman"/>
                <a:cs typeface="Times New Roman"/>
              </a:rPr>
              <a:t>  </a:t>
            </a:r>
            <a:r>
              <a:rPr dirty="0" sz="1000">
                <a:latin typeface="Times New Roman"/>
                <a:cs typeface="Times New Roman"/>
              </a:rPr>
              <a:t>We</a:t>
            </a:r>
            <a:r>
              <a:rPr dirty="0" sz="1000" spc="50">
                <a:latin typeface="Times New Roman"/>
                <a:cs typeface="Times New Roman"/>
              </a:rPr>
              <a:t> </a:t>
            </a:r>
            <a:r>
              <a:rPr dirty="0" sz="1000">
                <a:latin typeface="Times New Roman"/>
                <a:cs typeface="Times New Roman"/>
              </a:rPr>
              <a:t>are</a:t>
            </a:r>
            <a:r>
              <a:rPr dirty="0" sz="1000" spc="45">
                <a:latin typeface="Times New Roman"/>
                <a:cs typeface="Times New Roman"/>
              </a:rPr>
              <a:t> </a:t>
            </a:r>
            <a:r>
              <a:rPr dirty="0" sz="1000">
                <a:latin typeface="Times New Roman"/>
                <a:cs typeface="Times New Roman"/>
              </a:rPr>
              <a:t>grateful</a:t>
            </a:r>
            <a:r>
              <a:rPr dirty="0" sz="1000" spc="50">
                <a:latin typeface="Times New Roman"/>
                <a:cs typeface="Times New Roman"/>
              </a:rPr>
              <a:t> </a:t>
            </a:r>
            <a:r>
              <a:rPr dirty="0" sz="1000">
                <a:latin typeface="Times New Roman"/>
                <a:cs typeface="Times New Roman"/>
              </a:rPr>
              <a:t>to</a:t>
            </a:r>
            <a:r>
              <a:rPr dirty="0" sz="1000" spc="50">
                <a:latin typeface="Times New Roman"/>
                <a:cs typeface="Times New Roman"/>
              </a:rPr>
              <a:t> </a:t>
            </a:r>
            <a:r>
              <a:rPr dirty="0" sz="1000">
                <a:latin typeface="Times New Roman"/>
                <a:cs typeface="Times New Roman"/>
              </a:rPr>
              <a:t>Nal</a:t>
            </a:r>
            <a:r>
              <a:rPr dirty="0" sz="1000" spc="50">
                <a:latin typeface="Times New Roman"/>
                <a:cs typeface="Times New Roman"/>
              </a:rPr>
              <a:t> </a:t>
            </a:r>
            <a:r>
              <a:rPr dirty="0" sz="1000">
                <a:latin typeface="Times New Roman"/>
                <a:cs typeface="Times New Roman"/>
              </a:rPr>
              <a:t>Kalchbrenner</a:t>
            </a:r>
            <a:r>
              <a:rPr dirty="0" sz="1000" spc="45">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a:latin typeface="Times New Roman"/>
                <a:cs typeface="Times New Roman"/>
              </a:rPr>
              <a:t>Stephan</a:t>
            </a:r>
            <a:r>
              <a:rPr dirty="0" sz="1000" spc="45">
                <a:latin typeface="Times New Roman"/>
                <a:cs typeface="Times New Roman"/>
              </a:rPr>
              <a:t> </a:t>
            </a:r>
            <a:r>
              <a:rPr dirty="0" sz="1000">
                <a:latin typeface="Times New Roman"/>
                <a:cs typeface="Times New Roman"/>
              </a:rPr>
              <a:t>Gouws</a:t>
            </a:r>
            <a:r>
              <a:rPr dirty="0" sz="1000" spc="50">
                <a:latin typeface="Times New Roman"/>
                <a:cs typeface="Times New Roman"/>
              </a:rPr>
              <a:t> </a:t>
            </a:r>
            <a:r>
              <a:rPr dirty="0" sz="1000">
                <a:latin typeface="Times New Roman"/>
                <a:cs typeface="Times New Roman"/>
              </a:rPr>
              <a:t>for</a:t>
            </a:r>
            <a:r>
              <a:rPr dirty="0" sz="1000" spc="50">
                <a:latin typeface="Times New Roman"/>
                <a:cs typeface="Times New Roman"/>
              </a:rPr>
              <a:t> </a:t>
            </a:r>
            <a:r>
              <a:rPr dirty="0" sz="1000">
                <a:latin typeface="Times New Roman"/>
                <a:cs typeface="Times New Roman"/>
              </a:rPr>
              <a:t>their</a:t>
            </a:r>
            <a:r>
              <a:rPr dirty="0" sz="1000" spc="50">
                <a:latin typeface="Times New Roman"/>
                <a:cs typeface="Times New Roman"/>
              </a:rPr>
              <a:t> </a:t>
            </a:r>
            <a:r>
              <a:rPr dirty="0" sz="1000" spc="-10">
                <a:latin typeface="Times New Roman"/>
                <a:cs typeface="Times New Roman"/>
              </a:rPr>
              <a:t>fruitful </a:t>
            </a:r>
            <a:r>
              <a:rPr dirty="0" sz="1000">
                <a:latin typeface="Times New Roman"/>
                <a:cs typeface="Times New Roman"/>
              </a:rPr>
              <a:t>comments,</a:t>
            </a:r>
            <a:r>
              <a:rPr dirty="0" sz="1000" spc="-40">
                <a:latin typeface="Times New Roman"/>
                <a:cs typeface="Times New Roman"/>
              </a:rPr>
              <a:t> </a:t>
            </a:r>
            <a:r>
              <a:rPr dirty="0" sz="1000">
                <a:latin typeface="Times New Roman"/>
                <a:cs typeface="Times New Roman"/>
              </a:rPr>
              <a:t>corrections</a:t>
            </a:r>
            <a:r>
              <a:rPr dirty="0" sz="1000" spc="-40">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spc="-10">
                <a:latin typeface="Times New Roman"/>
                <a:cs typeface="Times New Roman"/>
              </a:rPr>
              <a:t>inspiration.</a:t>
            </a:r>
            <a:endParaRPr sz="10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
          <p:cNvSpPr txBox="1">
            <a:spLocks noGrp="1"/>
          </p:cNvSpPr>
          <p:nvPr>
            <p:ph type="sldNum" idx="7" sz="quarter"/>
          </p:nvPr>
        </p:nvSpPr>
        <p:spPr>
          <a:prstGeom prst="rect"/>
        </p:spPr>
        <p:txBody>
          <a:bodyPr wrap="square" lIns="0" tIns="2540" rIns="0" bIns="0" rtlCol="0" vert="horz">
            <a:spAutoFit/>
          </a:bodyPr>
          <a:lstStyle/>
          <a:p>
            <a:pPr marL="38100">
              <a:lnSpc>
                <a:spcPct val="100000"/>
              </a:lnSpc>
              <a:spcBef>
                <a:spcPts val="20"/>
              </a:spcBef>
            </a:pPr>
            <a:fld id="{81D60167-4931-47E6-BA6A-407CBD079E47}" type="slidenum">
              <a:rPr dirty="0" spc="-25"/>
              <a:t>10</a:t>
            </a:fld>
          </a:p>
        </p:txBody>
      </p:sp>
      <p:sp>
        <p:nvSpPr>
          <p:cNvPr id="2" name="object 2" descr=""/>
          <p:cNvSpPr txBox="1"/>
          <p:nvPr/>
        </p:nvSpPr>
        <p:spPr>
          <a:xfrm>
            <a:off x="1358900" y="793061"/>
            <a:ext cx="5076825" cy="8388985"/>
          </a:xfrm>
          <a:prstGeom prst="rect">
            <a:avLst/>
          </a:prstGeom>
        </p:spPr>
        <p:txBody>
          <a:bodyPr wrap="square" lIns="0" tIns="95250" rIns="0" bIns="0" rtlCol="0" vert="horz">
            <a:spAutoFit/>
          </a:bodyPr>
          <a:lstStyle/>
          <a:p>
            <a:pPr marL="12700">
              <a:lnSpc>
                <a:spcPct val="100000"/>
              </a:lnSpc>
              <a:spcBef>
                <a:spcPts val="750"/>
              </a:spcBef>
            </a:pPr>
            <a:r>
              <a:rPr dirty="0" sz="1200" spc="-10" b="1">
                <a:latin typeface="Times New Roman"/>
                <a:cs typeface="Times New Roman"/>
              </a:rPr>
              <a:t>References</a:t>
            </a:r>
            <a:endParaRPr sz="1200">
              <a:latin typeface="Times New Roman"/>
              <a:cs typeface="Times New Roman"/>
            </a:endParaRPr>
          </a:p>
          <a:p>
            <a:pPr algn="just" marL="286385" marR="26670" indent="-210820">
              <a:lnSpc>
                <a:spcPts val="1090"/>
              </a:lnSpc>
              <a:spcBef>
                <a:spcPts val="670"/>
              </a:spcBef>
              <a:buAutoNum type="arabicPlain"/>
              <a:tabLst>
                <a:tab pos="286385" algn="l"/>
              </a:tabLst>
            </a:pPr>
            <a:r>
              <a:rPr dirty="0" sz="1000">
                <a:latin typeface="Times New Roman"/>
                <a:cs typeface="Times New Roman"/>
              </a:rPr>
              <a:t>Jimmy</a:t>
            </a:r>
            <a:r>
              <a:rPr dirty="0" sz="1000" spc="-50">
                <a:latin typeface="Times New Roman"/>
                <a:cs typeface="Times New Roman"/>
              </a:rPr>
              <a:t> </a:t>
            </a:r>
            <a:r>
              <a:rPr dirty="0" sz="1000">
                <a:latin typeface="Times New Roman"/>
                <a:cs typeface="Times New Roman"/>
              </a:rPr>
              <a:t>Lei</a:t>
            </a:r>
            <a:r>
              <a:rPr dirty="0" sz="1000" spc="-45">
                <a:latin typeface="Times New Roman"/>
                <a:cs typeface="Times New Roman"/>
              </a:rPr>
              <a:t> </a:t>
            </a:r>
            <a:r>
              <a:rPr dirty="0" sz="1000">
                <a:latin typeface="Times New Roman"/>
                <a:cs typeface="Times New Roman"/>
              </a:rPr>
              <a:t>Ba,</a:t>
            </a:r>
            <a:r>
              <a:rPr dirty="0" sz="1000" spc="-40">
                <a:latin typeface="Times New Roman"/>
                <a:cs typeface="Times New Roman"/>
              </a:rPr>
              <a:t> </a:t>
            </a:r>
            <a:r>
              <a:rPr dirty="0" sz="1000">
                <a:latin typeface="Times New Roman"/>
                <a:cs typeface="Times New Roman"/>
              </a:rPr>
              <a:t>Jamie</a:t>
            </a:r>
            <a:r>
              <a:rPr dirty="0" sz="1000" spc="-45">
                <a:latin typeface="Times New Roman"/>
                <a:cs typeface="Times New Roman"/>
              </a:rPr>
              <a:t> </a:t>
            </a:r>
            <a:r>
              <a:rPr dirty="0" sz="1000">
                <a:latin typeface="Times New Roman"/>
                <a:cs typeface="Times New Roman"/>
              </a:rPr>
              <a:t>Ryan</a:t>
            </a:r>
            <a:r>
              <a:rPr dirty="0" sz="1000" spc="-50">
                <a:latin typeface="Times New Roman"/>
                <a:cs typeface="Times New Roman"/>
              </a:rPr>
              <a:t> </a:t>
            </a:r>
            <a:r>
              <a:rPr dirty="0" sz="1000">
                <a:latin typeface="Times New Roman"/>
                <a:cs typeface="Times New Roman"/>
              </a:rPr>
              <a:t>Kiros,</a:t>
            </a:r>
            <a:r>
              <a:rPr dirty="0" sz="1000" spc="-40">
                <a:latin typeface="Times New Roman"/>
                <a:cs typeface="Times New Roman"/>
              </a:rPr>
              <a:t> </a:t>
            </a:r>
            <a:r>
              <a:rPr dirty="0" sz="1000">
                <a:latin typeface="Times New Roman"/>
                <a:cs typeface="Times New Roman"/>
              </a:rPr>
              <a:t>and</a:t>
            </a:r>
            <a:r>
              <a:rPr dirty="0" sz="1000" spc="-45">
                <a:latin typeface="Times New Roman"/>
                <a:cs typeface="Times New Roman"/>
              </a:rPr>
              <a:t> </a:t>
            </a:r>
            <a:r>
              <a:rPr dirty="0" sz="1000" spc="-20">
                <a:latin typeface="Times New Roman"/>
                <a:cs typeface="Times New Roman"/>
              </a:rPr>
              <a:t>Geoffrey</a:t>
            </a:r>
            <a:r>
              <a:rPr dirty="0" sz="1000" spc="-45">
                <a:latin typeface="Times New Roman"/>
                <a:cs typeface="Times New Roman"/>
              </a:rPr>
              <a:t> </a:t>
            </a:r>
            <a:r>
              <a:rPr dirty="0" sz="1000">
                <a:latin typeface="Times New Roman"/>
                <a:cs typeface="Times New Roman"/>
              </a:rPr>
              <a:t>E</a:t>
            </a:r>
            <a:r>
              <a:rPr dirty="0" sz="1000" spc="-40">
                <a:latin typeface="Times New Roman"/>
                <a:cs typeface="Times New Roman"/>
              </a:rPr>
              <a:t> </a:t>
            </a:r>
            <a:r>
              <a:rPr dirty="0" sz="1000">
                <a:latin typeface="Times New Roman"/>
                <a:cs typeface="Times New Roman"/>
              </a:rPr>
              <a:t>Hinton.</a:t>
            </a:r>
            <a:r>
              <a:rPr dirty="0" sz="1000" spc="50">
                <a:latin typeface="Times New Roman"/>
                <a:cs typeface="Times New Roman"/>
              </a:rPr>
              <a:t> </a:t>
            </a:r>
            <a:r>
              <a:rPr dirty="0" sz="1000" spc="-10">
                <a:latin typeface="Times New Roman"/>
                <a:cs typeface="Times New Roman"/>
              </a:rPr>
              <a:t>Layer</a:t>
            </a:r>
            <a:r>
              <a:rPr dirty="0" sz="1000" spc="-45">
                <a:latin typeface="Times New Roman"/>
                <a:cs typeface="Times New Roman"/>
              </a:rPr>
              <a:t> </a:t>
            </a:r>
            <a:r>
              <a:rPr dirty="0" sz="1000">
                <a:latin typeface="Times New Roman"/>
                <a:cs typeface="Times New Roman"/>
              </a:rPr>
              <a:t>normalization.</a:t>
            </a:r>
            <a:r>
              <a:rPr dirty="0" sz="1000" spc="50">
                <a:latin typeface="Times New Roman"/>
                <a:cs typeface="Times New Roman"/>
              </a:rPr>
              <a:t> </a:t>
            </a:r>
            <a:r>
              <a:rPr dirty="0" sz="1000" i="1">
                <a:latin typeface="Times New Roman"/>
                <a:cs typeface="Times New Roman"/>
              </a:rPr>
              <a:t>arXiv</a:t>
            </a:r>
            <a:r>
              <a:rPr dirty="0" sz="1000" spc="-50" i="1">
                <a:latin typeface="Times New Roman"/>
                <a:cs typeface="Times New Roman"/>
              </a:rPr>
              <a:t> </a:t>
            </a:r>
            <a:r>
              <a:rPr dirty="0" sz="1000" spc="-10" i="1">
                <a:latin typeface="Times New Roman"/>
                <a:cs typeface="Times New Roman"/>
              </a:rPr>
              <a:t>preprint arXiv:1607.06450</a:t>
            </a:r>
            <a:r>
              <a:rPr dirty="0" sz="1000" spc="-10">
                <a:latin typeface="Times New Roman"/>
                <a:cs typeface="Times New Roman"/>
              </a:rPr>
              <a:t>,</a:t>
            </a:r>
            <a:r>
              <a:rPr dirty="0" sz="1000" spc="8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6385" marR="22860" indent="-210820">
              <a:lnSpc>
                <a:spcPts val="1090"/>
              </a:lnSpc>
              <a:spcBef>
                <a:spcPts val="855"/>
              </a:spcBef>
              <a:buAutoNum type="arabicPlain"/>
              <a:tabLst>
                <a:tab pos="286385" algn="l"/>
              </a:tabLst>
            </a:pPr>
            <a:r>
              <a:rPr dirty="0" sz="1000" spc="-10">
                <a:latin typeface="Times New Roman"/>
                <a:cs typeface="Times New Roman"/>
              </a:rPr>
              <a:t>Dzmitry</a:t>
            </a:r>
            <a:r>
              <a:rPr dirty="0" sz="1000" spc="-50">
                <a:latin typeface="Times New Roman"/>
                <a:cs typeface="Times New Roman"/>
              </a:rPr>
              <a:t> </a:t>
            </a:r>
            <a:r>
              <a:rPr dirty="0" sz="1000" spc="-20">
                <a:latin typeface="Times New Roman"/>
                <a:cs typeface="Times New Roman"/>
              </a:rPr>
              <a:t>Bahdanau,</a:t>
            </a:r>
            <a:r>
              <a:rPr dirty="0" sz="1000" spc="-30">
                <a:latin typeface="Times New Roman"/>
                <a:cs typeface="Times New Roman"/>
              </a:rPr>
              <a:t> </a:t>
            </a:r>
            <a:r>
              <a:rPr dirty="0" sz="1000" spc="-20">
                <a:latin typeface="Times New Roman"/>
                <a:cs typeface="Times New Roman"/>
              </a:rPr>
              <a:t>Kyunghyun</a:t>
            </a:r>
            <a:r>
              <a:rPr dirty="0" sz="1000" spc="-40">
                <a:latin typeface="Times New Roman"/>
                <a:cs typeface="Times New Roman"/>
              </a:rPr>
              <a:t> </a:t>
            </a:r>
            <a:r>
              <a:rPr dirty="0" sz="1000" spc="-10">
                <a:latin typeface="Times New Roman"/>
                <a:cs typeface="Times New Roman"/>
              </a:rPr>
              <a:t>Cho,</a:t>
            </a:r>
            <a:r>
              <a:rPr dirty="0" sz="1000" spc="-30">
                <a:latin typeface="Times New Roman"/>
                <a:cs typeface="Times New Roman"/>
              </a:rPr>
              <a:t> </a:t>
            </a:r>
            <a:r>
              <a:rPr dirty="0" sz="1000" spc="-10">
                <a:latin typeface="Times New Roman"/>
                <a:cs typeface="Times New Roman"/>
              </a:rPr>
              <a:t>and</a:t>
            </a:r>
            <a:r>
              <a:rPr dirty="0" sz="1000" spc="-35">
                <a:latin typeface="Times New Roman"/>
                <a:cs typeface="Times New Roman"/>
              </a:rPr>
              <a:t> Yoshua</a:t>
            </a:r>
            <a:r>
              <a:rPr dirty="0" sz="1000" spc="-30">
                <a:latin typeface="Times New Roman"/>
                <a:cs typeface="Times New Roman"/>
              </a:rPr>
              <a:t> </a:t>
            </a:r>
            <a:r>
              <a:rPr dirty="0" sz="1000">
                <a:latin typeface="Times New Roman"/>
                <a:cs typeface="Times New Roman"/>
              </a:rPr>
              <a:t>Bengio.</a:t>
            </a:r>
            <a:r>
              <a:rPr dirty="0" sz="1000" spc="45">
                <a:latin typeface="Times New Roman"/>
                <a:cs typeface="Times New Roman"/>
              </a:rPr>
              <a:t> </a:t>
            </a:r>
            <a:r>
              <a:rPr dirty="0" sz="1000" spc="-10">
                <a:latin typeface="Times New Roman"/>
                <a:cs typeface="Times New Roman"/>
              </a:rPr>
              <a:t>Neural</a:t>
            </a:r>
            <a:r>
              <a:rPr dirty="0" sz="1000" spc="-35">
                <a:latin typeface="Times New Roman"/>
                <a:cs typeface="Times New Roman"/>
              </a:rPr>
              <a:t> </a:t>
            </a:r>
            <a:r>
              <a:rPr dirty="0" sz="1000" spc="-10">
                <a:latin typeface="Times New Roman"/>
                <a:cs typeface="Times New Roman"/>
              </a:rPr>
              <a:t>machine</a:t>
            </a:r>
            <a:r>
              <a:rPr dirty="0" sz="1000" spc="-35">
                <a:latin typeface="Times New Roman"/>
                <a:cs typeface="Times New Roman"/>
              </a:rPr>
              <a:t> </a:t>
            </a:r>
            <a:r>
              <a:rPr dirty="0" sz="1000" spc="-10">
                <a:latin typeface="Times New Roman"/>
                <a:cs typeface="Times New Roman"/>
              </a:rPr>
              <a:t>translation</a:t>
            </a:r>
            <a:r>
              <a:rPr dirty="0" sz="1000" spc="-40">
                <a:latin typeface="Times New Roman"/>
                <a:cs typeface="Times New Roman"/>
              </a:rPr>
              <a:t> </a:t>
            </a:r>
            <a:r>
              <a:rPr dirty="0" sz="1000">
                <a:latin typeface="Times New Roman"/>
                <a:cs typeface="Times New Roman"/>
              </a:rPr>
              <a:t>by</a:t>
            </a:r>
            <a:r>
              <a:rPr dirty="0" sz="1000" spc="-35">
                <a:latin typeface="Times New Roman"/>
                <a:cs typeface="Times New Roman"/>
              </a:rPr>
              <a:t> </a:t>
            </a:r>
            <a:r>
              <a:rPr dirty="0" sz="1000" spc="-10">
                <a:latin typeface="Times New Roman"/>
                <a:cs typeface="Times New Roman"/>
              </a:rPr>
              <a:t>jointly </a:t>
            </a:r>
            <a:r>
              <a:rPr dirty="0" sz="1000">
                <a:latin typeface="Times New Roman"/>
                <a:cs typeface="Times New Roman"/>
              </a:rPr>
              <a:t>learning</a:t>
            </a:r>
            <a:r>
              <a:rPr dirty="0" sz="1000" spc="-15">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align</a:t>
            </a:r>
            <a:r>
              <a:rPr dirty="0" sz="1000" spc="-10">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translate.</a:t>
            </a:r>
            <a:r>
              <a:rPr dirty="0" sz="1000" spc="95">
                <a:latin typeface="Times New Roman"/>
                <a:cs typeface="Times New Roman"/>
              </a:rPr>
              <a:t> </a:t>
            </a:r>
            <a:r>
              <a:rPr dirty="0" sz="1000" i="1">
                <a:latin typeface="Times New Roman"/>
                <a:cs typeface="Times New Roman"/>
              </a:rPr>
              <a:t>CoRR</a:t>
            </a:r>
            <a:r>
              <a:rPr dirty="0" sz="1000">
                <a:latin typeface="Times New Roman"/>
                <a:cs typeface="Times New Roman"/>
              </a:rPr>
              <a:t>,</a:t>
            </a:r>
            <a:r>
              <a:rPr dirty="0" sz="1000" spc="-10">
                <a:latin typeface="Times New Roman"/>
                <a:cs typeface="Times New Roman"/>
              </a:rPr>
              <a:t> abs/1409.0473,</a:t>
            </a:r>
            <a:r>
              <a:rPr dirty="0" sz="1000" spc="-15">
                <a:latin typeface="Times New Roman"/>
                <a:cs typeface="Times New Roman"/>
              </a:rPr>
              <a:t> </a:t>
            </a:r>
            <a:r>
              <a:rPr dirty="0" sz="1000" spc="-10">
                <a:latin typeface="Times New Roman"/>
                <a:cs typeface="Times New Roman"/>
              </a:rPr>
              <a:t>2014.</a:t>
            </a:r>
            <a:endParaRPr sz="1000">
              <a:latin typeface="Times New Roman"/>
              <a:cs typeface="Times New Roman"/>
            </a:endParaRPr>
          </a:p>
          <a:p>
            <a:pPr algn="just" marL="286385" marR="26670" indent="-210820">
              <a:lnSpc>
                <a:spcPts val="1090"/>
              </a:lnSpc>
              <a:spcBef>
                <a:spcPts val="855"/>
              </a:spcBef>
              <a:buAutoNum type="arabicPlain"/>
              <a:tabLst>
                <a:tab pos="286385" algn="l"/>
              </a:tabLst>
            </a:pPr>
            <a:r>
              <a:rPr dirty="0" sz="1000" spc="-10">
                <a:latin typeface="Times New Roman"/>
                <a:cs typeface="Times New Roman"/>
              </a:rPr>
              <a:t>Denny</a:t>
            </a:r>
            <a:r>
              <a:rPr dirty="0" sz="1000" spc="-55">
                <a:latin typeface="Times New Roman"/>
                <a:cs typeface="Times New Roman"/>
              </a:rPr>
              <a:t> </a:t>
            </a:r>
            <a:r>
              <a:rPr dirty="0" sz="1000" spc="-10">
                <a:latin typeface="Times New Roman"/>
                <a:cs typeface="Times New Roman"/>
              </a:rPr>
              <a:t>Britz,</a:t>
            </a:r>
            <a:r>
              <a:rPr dirty="0" sz="1000" spc="-50">
                <a:latin typeface="Times New Roman"/>
                <a:cs typeface="Times New Roman"/>
              </a:rPr>
              <a:t> </a:t>
            </a:r>
            <a:r>
              <a:rPr dirty="0" sz="1000" spc="-10">
                <a:latin typeface="Times New Roman"/>
                <a:cs typeface="Times New Roman"/>
              </a:rPr>
              <a:t>Anna</a:t>
            </a:r>
            <a:r>
              <a:rPr dirty="0" sz="1000" spc="-30">
                <a:latin typeface="Times New Roman"/>
                <a:cs typeface="Times New Roman"/>
              </a:rPr>
              <a:t> </a:t>
            </a:r>
            <a:r>
              <a:rPr dirty="0" sz="1000" spc="-10">
                <a:latin typeface="Times New Roman"/>
                <a:cs typeface="Times New Roman"/>
              </a:rPr>
              <a:t>Goldie,</a:t>
            </a:r>
            <a:r>
              <a:rPr dirty="0" sz="1000" spc="-25">
                <a:latin typeface="Times New Roman"/>
                <a:cs typeface="Times New Roman"/>
              </a:rPr>
              <a:t> </a:t>
            </a:r>
            <a:r>
              <a:rPr dirty="0" sz="1000" spc="-15">
                <a:latin typeface="Times New Roman"/>
                <a:cs typeface="Times New Roman"/>
              </a:rPr>
              <a:t>Minh-</a:t>
            </a:r>
            <a:r>
              <a:rPr dirty="0" sz="1000" spc="-10">
                <a:latin typeface="Times New Roman"/>
                <a:cs typeface="Times New Roman"/>
              </a:rPr>
              <a:t>Thang</a:t>
            </a:r>
            <a:r>
              <a:rPr dirty="0" sz="1000" spc="-25">
                <a:latin typeface="Times New Roman"/>
                <a:cs typeface="Times New Roman"/>
              </a:rPr>
              <a:t> </a:t>
            </a:r>
            <a:r>
              <a:rPr dirty="0" sz="1000" spc="-10">
                <a:latin typeface="Times New Roman"/>
                <a:cs typeface="Times New Roman"/>
              </a:rPr>
              <a:t>Luong,</a:t>
            </a:r>
            <a:r>
              <a:rPr dirty="0" sz="1000" spc="-25">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spc="-10">
                <a:latin typeface="Times New Roman"/>
                <a:cs typeface="Times New Roman"/>
              </a:rPr>
              <a:t>Quoc</a:t>
            </a:r>
            <a:r>
              <a:rPr dirty="0" sz="1000" spc="-25">
                <a:latin typeface="Times New Roman"/>
                <a:cs typeface="Times New Roman"/>
              </a:rPr>
              <a:t> </a:t>
            </a:r>
            <a:r>
              <a:rPr dirty="0" sz="1000" spc="-100">
                <a:latin typeface="Times New Roman"/>
                <a:cs typeface="Times New Roman"/>
              </a:rPr>
              <a:t>V.</a:t>
            </a:r>
            <a:r>
              <a:rPr dirty="0" sz="1000" spc="40">
                <a:latin typeface="Times New Roman"/>
                <a:cs typeface="Times New Roman"/>
              </a:rPr>
              <a:t> </a:t>
            </a:r>
            <a:r>
              <a:rPr dirty="0" sz="1000">
                <a:latin typeface="Times New Roman"/>
                <a:cs typeface="Times New Roman"/>
              </a:rPr>
              <a:t>Le.</a:t>
            </a:r>
            <a:r>
              <a:rPr dirty="0" sz="1000" spc="75">
                <a:latin typeface="Times New Roman"/>
                <a:cs typeface="Times New Roman"/>
              </a:rPr>
              <a:t> </a:t>
            </a:r>
            <a:r>
              <a:rPr dirty="0" sz="1000" spc="-20">
                <a:latin typeface="Times New Roman"/>
                <a:cs typeface="Times New Roman"/>
              </a:rPr>
              <a:t>Massive </a:t>
            </a:r>
            <a:r>
              <a:rPr dirty="0" sz="1000" spc="-10">
                <a:latin typeface="Times New Roman"/>
                <a:cs typeface="Times New Roman"/>
              </a:rPr>
              <a:t>exploration</a:t>
            </a:r>
            <a:r>
              <a:rPr dirty="0" sz="1000" spc="-2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spc="-10">
                <a:latin typeface="Times New Roman"/>
                <a:cs typeface="Times New Roman"/>
              </a:rPr>
              <a:t>neural </a:t>
            </a:r>
            <a:r>
              <a:rPr dirty="0" sz="1000">
                <a:latin typeface="Times New Roman"/>
                <a:cs typeface="Times New Roman"/>
              </a:rPr>
              <a:t>machine</a:t>
            </a:r>
            <a:r>
              <a:rPr dirty="0" sz="1000" spc="-20">
                <a:latin typeface="Times New Roman"/>
                <a:cs typeface="Times New Roman"/>
              </a:rPr>
              <a:t> </a:t>
            </a:r>
            <a:r>
              <a:rPr dirty="0" sz="1000">
                <a:latin typeface="Times New Roman"/>
                <a:cs typeface="Times New Roman"/>
              </a:rPr>
              <a:t>translation</a:t>
            </a:r>
            <a:r>
              <a:rPr dirty="0" sz="1000" spc="-20">
                <a:latin typeface="Times New Roman"/>
                <a:cs typeface="Times New Roman"/>
              </a:rPr>
              <a:t> </a:t>
            </a:r>
            <a:r>
              <a:rPr dirty="0" sz="1000">
                <a:latin typeface="Times New Roman"/>
                <a:cs typeface="Times New Roman"/>
              </a:rPr>
              <a:t>architectures.</a:t>
            </a:r>
            <a:r>
              <a:rPr dirty="0" sz="1000" spc="85">
                <a:latin typeface="Times New Roman"/>
                <a:cs typeface="Times New Roman"/>
              </a:rPr>
              <a:t> </a:t>
            </a:r>
            <a:r>
              <a:rPr dirty="0" sz="1000" i="1">
                <a:latin typeface="Times New Roman"/>
                <a:cs typeface="Times New Roman"/>
              </a:rPr>
              <a:t>CoRR</a:t>
            </a:r>
            <a:r>
              <a:rPr dirty="0" sz="1000">
                <a:latin typeface="Times New Roman"/>
                <a:cs typeface="Times New Roman"/>
              </a:rPr>
              <a:t>,</a:t>
            </a:r>
            <a:r>
              <a:rPr dirty="0" sz="1000" spc="-15">
                <a:latin typeface="Times New Roman"/>
                <a:cs typeface="Times New Roman"/>
              </a:rPr>
              <a:t> </a:t>
            </a:r>
            <a:r>
              <a:rPr dirty="0" sz="1000" spc="-10">
                <a:latin typeface="Times New Roman"/>
                <a:cs typeface="Times New Roman"/>
              </a:rPr>
              <a:t>abs/1703.03906,</a:t>
            </a:r>
            <a:r>
              <a:rPr dirty="0" sz="1000" spc="-20">
                <a:latin typeface="Times New Roman"/>
                <a:cs typeface="Times New Roman"/>
              </a:rPr>
              <a:t> </a:t>
            </a:r>
            <a:r>
              <a:rPr dirty="0" sz="1000" spc="-10">
                <a:latin typeface="Times New Roman"/>
                <a:cs typeface="Times New Roman"/>
              </a:rPr>
              <a:t>2017.</a:t>
            </a:r>
            <a:endParaRPr sz="1000">
              <a:latin typeface="Times New Roman"/>
              <a:cs typeface="Times New Roman"/>
            </a:endParaRPr>
          </a:p>
          <a:p>
            <a:pPr algn="just" marL="286385" marR="26670" indent="-210820">
              <a:lnSpc>
                <a:spcPts val="1090"/>
              </a:lnSpc>
              <a:spcBef>
                <a:spcPts val="855"/>
              </a:spcBef>
              <a:buAutoNum type="arabicPlain"/>
              <a:tabLst>
                <a:tab pos="286385" algn="l"/>
              </a:tabLst>
            </a:pPr>
            <a:r>
              <a:rPr dirty="0" sz="1000" spc="-10">
                <a:latin typeface="Times New Roman"/>
                <a:cs typeface="Times New Roman"/>
              </a:rPr>
              <a:t>Jianpeng</a:t>
            </a:r>
            <a:r>
              <a:rPr dirty="0" sz="1000" spc="-30">
                <a:latin typeface="Times New Roman"/>
                <a:cs typeface="Times New Roman"/>
              </a:rPr>
              <a:t> </a:t>
            </a:r>
            <a:r>
              <a:rPr dirty="0" sz="1000" spc="-10">
                <a:latin typeface="Times New Roman"/>
                <a:cs typeface="Times New Roman"/>
              </a:rPr>
              <a:t>Cheng,</a:t>
            </a:r>
            <a:r>
              <a:rPr dirty="0" sz="1000" spc="-30">
                <a:latin typeface="Times New Roman"/>
                <a:cs typeface="Times New Roman"/>
              </a:rPr>
              <a:t> </a:t>
            </a:r>
            <a:r>
              <a:rPr dirty="0" sz="1000">
                <a:latin typeface="Times New Roman"/>
                <a:cs typeface="Times New Roman"/>
              </a:rPr>
              <a:t>Li</a:t>
            </a:r>
            <a:r>
              <a:rPr dirty="0" sz="1000" spc="-30">
                <a:latin typeface="Times New Roman"/>
                <a:cs typeface="Times New Roman"/>
              </a:rPr>
              <a:t> </a:t>
            </a:r>
            <a:r>
              <a:rPr dirty="0" sz="1000" spc="-10">
                <a:latin typeface="Times New Roman"/>
                <a:cs typeface="Times New Roman"/>
              </a:rPr>
              <a:t>Dong,</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spc="-10">
                <a:latin typeface="Times New Roman"/>
                <a:cs typeface="Times New Roman"/>
              </a:rPr>
              <a:t>Mirella</a:t>
            </a:r>
            <a:r>
              <a:rPr dirty="0" sz="1000" spc="-30">
                <a:latin typeface="Times New Roman"/>
                <a:cs typeface="Times New Roman"/>
              </a:rPr>
              <a:t> </a:t>
            </a:r>
            <a:r>
              <a:rPr dirty="0" sz="1000">
                <a:latin typeface="Times New Roman"/>
                <a:cs typeface="Times New Roman"/>
              </a:rPr>
              <a:t>Lapata.</a:t>
            </a:r>
            <a:r>
              <a:rPr dirty="0" sz="1000" spc="65">
                <a:latin typeface="Times New Roman"/>
                <a:cs typeface="Times New Roman"/>
              </a:rPr>
              <a:t> </a:t>
            </a:r>
            <a:r>
              <a:rPr dirty="0" sz="1000" spc="-10">
                <a:latin typeface="Times New Roman"/>
                <a:cs typeface="Times New Roman"/>
              </a:rPr>
              <a:t>Long</a:t>
            </a:r>
            <a:r>
              <a:rPr dirty="0" sz="1000" spc="-30">
                <a:latin typeface="Times New Roman"/>
                <a:cs typeface="Times New Roman"/>
              </a:rPr>
              <a:t> </a:t>
            </a:r>
            <a:r>
              <a:rPr dirty="0" sz="1000" spc="-20">
                <a:latin typeface="Times New Roman"/>
                <a:cs typeface="Times New Roman"/>
              </a:rPr>
              <a:t>short-</a:t>
            </a:r>
            <a:r>
              <a:rPr dirty="0" sz="1000">
                <a:latin typeface="Times New Roman"/>
                <a:cs typeface="Times New Roman"/>
              </a:rPr>
              <a:t>term</a:t>
            </a:r>
            <a:r>
              <a:rPr dirty="0" sz="1000" spc="-30">
                <a:latin typeface="Times New Roman"/>
                <a:cs typeface="Times New Roman"/>
              </a:rPr>
              <a:t> </a:t>
            </a:r>
            <a:r>
              <a:rPr dirty="0" sz="1000" spc="-25">
                <a:latin typeface="Times New Roman"/>
                <a:cs typeface="Times New Roman"/>
              </a:rPr>
              <a:t>memory-</a:t>
            </a:r>
            <a:r>
              <a:rPr dirty="0" sz="1000" spc="-10">
                <a:latin typeface="Times New Roman"/>
                <a:cs typeface="Times New Roman"/>
              </a:rPr>
              <a:t>networks</a:t>
            </a:r>
            <a:r>
              <a:rPr dirty="0" sz="1000" spc="-30">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spc="-10">
                <a:latin typeface="Times New Roman"/>
                <a:cs typeface="Times New Roman"/>
              </a:rPr>
              <a:t>machine </a:t>
            </a:r>
            <a:r>
              <a:rPr dirty="0" sz="1000">
                <a:latin typeface="Times New Roman"/>
                <a:cs typeface="Times New Roman"/>
              </a:rPr>
              <a:t>reading.</a:t>
            </a:r>
            <a:r>
              <a:rPr dirty="0" sz="1000" spc="114">
                <a:latin typeface="Times New Roman"/>
                <a:cs typeface="Times New Roman"/>
              </a:rPr>
              <a:t> </a:t>
            </a:r>
            <a:r>
              <a:rPr dirty="0" sz="1000" i="1">
                <a:latin typeface="Times New Roman"/>
                <a:cs typeface="Times New Roman"/>
              </a:rPr>
              <a:t>arXiv</a:t>
            </a:r>
            <a:r>
              <a:rPr dirty="0" sz="1000" spc="5" i="1">
                <a:latin typeface="Times New Roman"/>
                <a:cs typeface="Times New Roman"/>
              </a:rPr>
              <a:t> </a:t>
            </a:r>
            <a:r>
              <a:rPr dirty="0" sz="1000" spc="-10" i="1">
                <a:latin typeface="Times New Roman"/>
                <a:cs typeface="Times New Roman"/>
              </a:rPr>
              <a:t>preprint</a:t>
            </a:r>
            <a:r>
              <a:rPr dirty="0" sz="1000" spc="5" i="1">
                <a:latin typeface="Times New Roman"/>
                <a:cs typeface="Times New Roman"/>
              </a:rPr>
              <a:t> </a:t>
            </a:r>
            <a:r>
              <a:rPr dirty="0" sz="1000" spc="-10" i="1">
                <a:latin typeface="Times New Roman"/>
                <a:cs typeface="Times New Roman"/>
              </a:rPr>
              <a:t>arXiv:1601.06733</a:t>
            </a:r>
            <a:r>
              <a:rPr dirty="0" sz="1000" spc="-10">
                <a:latin typeface="Times New Roman"/>
                <a:cs typeface="Times New Roman"/>
              </a:rPr>
              <a:t>,</a:t>
            </a:r>
            <a:r>
              <a:rPr dirty="0" sz="1000" spc="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6385" marR="11430" indent="-210820">
              <a:lnSpc>
                <a:spcPts val="1090"/>
              </a:lnSpc>
              <a:spcBef>
                <a:spcPts val="855"/>
              </a:spcBef>
              <a:buAutoNum type="arabicPlain"/>
              <a:tabLst>
                <a:tab pos="286385" algn="l"/>
              </a:tabLst>
            </a:pPr>
            <a:r>
              <a:rPr dirty="0" sz="1000">
                <a:latin typeface="Times New Roman"/>
                <a:cs typeface="Times New Roman"/>
              </a:rPr>
              <a:t>Kyunghyun</a:t>
            </a:r>
            <a:r>
              <a:rPr dirty="0" sz="1000" spc="30">
                <a:latin typeface="Times New Roman"/>
                <a:cs typeface="Times New Roman"/>
              </a:rPr>
              <a:t> </a:t>
            </a:r>
            <a:r>
              <a:rPr dirty="0" sz="1000">
                <a:latin typeface="Times New Roman"/>
                <a:cs typeface="Times New Roman"/>
              </a:rPr>
              <a:t>Cho,</a:t>
            </a:r>
            <a:r>
              <a:rPr dirty="0" sz="1000" spc="35">
                <a:latin typeface="Times New Roman"/>
                <a:cs typeface="Times New Roman"/>
              </a:rPr>
              <a:t> </a:t>
            </a:r>
            <a:r>
              <a:rPr dirty="0" sz="1000">
                <a:latin typeface="Times New Roman"/>
                <a:cs typeface="Times New Roman"/>
              </a:rPr>
              <a:t>Bart</a:t>
            </a:r>
            <a:r>
              <a:rPr dirty="0" sz="1000" spc="30">
                <a:latin typeface="Times New Roman"/>
                <a:cs typeface="Times New Roman"/>
              </a:rPr>
              <a:t> </a:t>
            </a:r>
            <a:r>
              <a:rPr dirty="0" sz="1000">
                <a:latin typeface="Times New Roman"/>
                <a:cs typeface="Times New Roman"/>
              </a:rPr>
              <a:t>van</a:t>
            </a:r>
            <a:r>
              <a:rPr dirty="0" sz="1000" spc="30">
                <a:latin typeface="Times New Roman"/>
                <a:cs typeface="Times New Roman"/>
              </a:rPr>
              <a:t> </a:t>
            </a:r>
            <a:r>
              <a:rPr dirty="0" sz="1000">
                <a:latin typeface="Times New Roman"/>
                <a:cs typeface="Times New Roman"/>
              </a:rPr>
              <a:t>Merrienboer,</a:t>
            </a:r>
            <a:r>
              <a:rPr dirty="0" sz="1000" spc="40">
                <a:latin typeface="Times New Roman"/>
                <a:cs typeface="Times New Roman"/>
              </a:rPr>
              <a:t> </a:t>
            </a:r>
            <a:r>
              <a:rPr dirty="0" sz="1000">
                <a:latin typeface="Times New Roman"/>
                <a:cs typeface="Times New Roman"/>
              </a:rPr>
              <a:t>Caglar</a:t>
            </a:r>
            <a:r>
              <a:rPr dirty="0" sz="1000" spc="30">
                <a:latin typeface="Times New Roman"/>
                <a:cs typeface="Times New Roman"/>
              </a:rPr>
              <a:t> </a:t>
            </a:r>
            <a:r>
              <a:rPr dirty="0" sz="1000">
                <a:latin typeface="Times New Roman"/>
                <a:cs typeface="Times New Roman"/>
              </a:rPr>
              <a:t>Gulcehre,</a:t>
            </a:r>
            <a:r>
              <a:rPr dirty="0" sz="1000" spc="35">
                <a:latin typeface="Times New Roman"/>
                <a:cs typeface="Times New Roman"/>
              </a:rPr>
              <a:t> </a:t>
            </a:r>
            <a:r>
              <a:rPr dirty="0" sz="1000">
                <a:latin typeface="Times New Roman"/>
                <a:cs typeface="Times New Roman"/>
              </a:rPr>
              <a:t>Fethi</a:t>
            </a:r>
            <a:r>
              <a:rPr dirty="0" sz="1000" spc="30">
                <a:latin typeface="Times New Roman"/>
                <a:cs typeface="Times New Roman"/>
              </a:rPr>
              <a:t> </a:t>
            </a:r>
            <a:r>
              <a:rPr dirty="0" sz="1000">
                <a:latin typeface="Times New Roman"/>
                <a:cs typeface="Times New Roman"/>
              </a:rPr>
              <a:t>Bougares,</a:t>
            </a:r>
            <a:r>
              <a:rPr dirty="0" sz="1000" spc="40">
                <a:latin typeface="Times New Roman"/>
                <a:cs typeface="Times New Roman"/>
              </a:rPr>
              <a:t> </a:t>
            </a:r>
            <a:r>
              <a:rPr dirty="0" sz="1000">
                <a:latin typeface="Times New Roman"/>
                <a:cs typeface="Times New Roman"/>
              </a:rPr>
              <a:t>Holger</a:t>
            </a:r>
            <a:r>
              <a:rPr dirty="0" sz="1000" spc="30">
                <a:latin typeface="Times New Roman"/>
                <a:cs typeface="Times New Roman"/>
              </a:rPr>
              <a:t> </a:t>
            </a:r>
            <a:r>
              <a:rPr dirty="0" sz="1000" spc="-10">
                <a:latin typeface="Times New Roman"/>
                <a:cs typeface="Times New Roman"/>
              </a:rPr>
              <a:t>Schwenk, </a:t>
            </a:r>
            <a:r>
              <a:rPr dirty="0" sz="1000">
                <a:latin typeface="Times New Roman"/>
                <a:cs typeface="Times New Roman"/>
              </a:rPr>
              <a:t>and</a:t>
            </a:r>
            <a:r>
              <a:rPr dirty="0" sz="1000" spc="-10">
                <a:latin typeface="Times New Roman"/>
                <a:cs typeface="Times New Roman"/>
              </a:rPr>
              <a:t> </a:t>
            </a:r>
            <a:r>
              <a:rPr dirty="0" sz="1000" spc="-20">
                <a:latin typeface="Times New Roman"/>
                <a:cs typeface="Times New Roman"/>
              </a:rPr>
              <a:t>Yoshua</a:t>
            </a:r>
            <a:r>
              <a:rPr dirty="0" sz="1000" spc="-10">
                <a:latin typeface="Times New Roman"/>
                <a:cs typeface="Times New Roman"/>
              </a:rPr>
              <a:t> </a:t>
            </a:r>
            <a:r>
              <a:rPr dirty="0" sz="1000">
                <a:latin typeface="Times New Roman"/>
                <a:cs typeface="Times New Roman"/>
              </a:rPr>
              <a:t>Bengio.</a:t>
            </a:r>
            <a:r>
              <a:rPr dirty="0" sz="1000" spc="100">
                <a:latin typeface="Times New Roman"/>
                <a:cs typeface="Times New Roman"/>
              </a:rPr>
              <a:t> </a:t>
            </a:r>
            <a:r>
              <a:rPr dirty="0" sz="1000">
                <a:latin typeface="Times New Roman"/>
                <a:cs typeface="Times New Roman"/>
              </a:rPr>
              <a:t>Learning</a:t>
            </a:r>
            <a:r>
              <a:rPr dirty="0" sz="1000" spc="-10">
                <a:latin typeface="Times New Roman"/>
                <a:cs typeface="Times New Roman"/>
              </a:rPr>
              <a:t> </a:t>
            </a:r>
            <a:r>
              <a:rPr dirty="0" sz="1000">
                <a:latin typeface="Times New Roman"/>
                <a:cs typeface="Times New Roman"/>
              </a:rPr>
              <a:t>phrase</a:t>
            </a:r>
            <a:r>
              <a:rPr dirty="0" sz="1000" spc="-5">
                <a:latin typeface="Times New Roman"/>
                <a:cs typeface="Times New Roman"/>
              </a:rPr>
              <a:t> </a:t>
            </a:r>
            <a:r>
              <a:rPr dirty="0" sz="1000" spc="-10">
                <a:latin typeface="Times New Roman"/>
                <a:cs typeface="Times New Roman"/>
              </a:rPr>
              <a:t>representations </a:t>
            </a:r>
            <a:r>
              <a:rPr dirty="0" sz="1000">
                <a:latin typeface="Times New Roman"/>
                <a:cs typeface="Times New Roman"/>
              </a:rPr>
              <a:t>using</a:t>
            </a:r>
            <a:r>
              <a:rPr dirty="0" sz="1000" spc="-10">
                <a:latin typeface="Times New Roman"/>
                <a:cs typeface="Times New Roman"/>
              </a:rPr>
              <a:t> </a:t>
            </a:r>
            <a:r>
              <a:rPr dirty="0" sz="1000">
                <a:latin typeface="Times New Roman"/>
                <a:cs typeface="Times New Roman"/>
              </a:rPr>
              <a:t>rnn</a:t>
            </a:r>
            <a:r>
              <a:rPr dirty="0" sz="1000" spc="-10">
                <a:latin typeface="Times New Roman"/>
                <a:cs typeface="Times New Roman"/>
              </a:rPr>
              <a:t> encoder-</a:t>
            </a:r>
            <a:r>
              <a:rPr dirty="0" sz="1000">
                <a:latin typeface="Times New Roman"/>
                <a:cs typeface="Times New Roman"/>
              </a:rPr>
              <a:t>decoder</a:t>
            </a:r>
            <a:r>
              <a:rPr dirty="0" sz="1000" spc="-10">
                <a:latin typeface="Times New Roman"/>
                <a:cs typeface="Times New Roman"/>
              </a:rPr>
              <a:t> </a:t>
            </a:r>
            <a:r>
              <a:rPr dirty="0" sz="1000">
                <a:latin typeface="Times New Roman"/>
                <a:cs typeface="Times New Roman"/>
              </a:rPr>
              <a:t>for</a:t>
            </a:r>
            <a:r>
              <a:rPr dirty="0" sz="1000" spc="-5">
                <a:latin typeface="Times New Roman"/>
                <a:cs typeface="Times New Roman"/>
              </a:rPr>
              <a:t> </a:t>
            </a:r>
            <a:r>
              <a:rPr dirty="0" sz="1000" spc="-10">
                <a:latin typeface="Times New Roman"/>
                <a:cs typeface="Times New Roman"/>
              </a:rPr>
              <a:t>statistical </a:t>
            </a:r>
            <a:r>
              <a:rPr dirty="0" sz="1000">
                <a:latin typeface="Times New Roman"/>
                <a:cs typeface="Times New Roman"/>
              </a:rPr>
              <a:t>machine</a:t>
            </a:r>
            <a:r>
              <a:rPr dirty="0" sz="1000" spc="-15">
                <a:latin typeface="Times New Roman"/>
                <a:cs typeface="Times New Roman"/>
              </a:rPr>
              <a:t> </a:t>
            </a:r>
            <a:r>
              <a:rPr dirty="0" sz="1000">
                <a:latin typeface="Times New Roman"/>
                <a:cs typeface="Times New Roman"/>
              </a:rPr>
              <a:t>translation.</a:t>
            </a:r>
            <a:r>
              <a:rPr dirty="0" sz="1000" spc="100">
                <a:latin typeface="Times New Roman"/>
                <a:cs typeface="Times New Roman"/>
              </a:rPr>
              <a:t> </a:t>
            </a:r>
            <a:r>
              <a:rPr dirty="0" sz="1000" i="1">
                <a:latin typeface="Times New Roman"/>
                <a:cs typeface="Times New Roman"/>
              </a:rPr>
              <a:t>CoRR</a:t>
            </a:r>
            <a:r>
              <a:rPr dirty="0" sz="1000">
                <a:latin typeface="Times New Roman"/>
                <a:cs typeface="Times New Roman"/>
              </a:rPr>
              <a:t>,</a:t>
            </a:r>
            <a:r>
              <a:rPr dirty="0" sz="1000" spc="-15">
                <a:latin typeface="Times New Roman"/>
                <a:cs typeface="Times New Roman"/>
              </a:rPr>
              <a:t> </a:t>
            </a:r>
            <a:r>
              <a:rPr dirty="0" sz="1000" spc="-10">
                <a:latin typeface="Times New Roman"/>
                <a:cs typeface="Times New Roman"/>
              </a:rPr>
              <a:t>abs/1406.1078, 2014.</a:t>
            </a:r>
            <a:endParaRPr sz="1000">
              <a:latin typeface="Times New Roman"/>
              <a:cs typeface="Times New Roman"/>
            </a:endParaRPr>
          </a:p>
          <a:p>
            <a:pPr algn="just" marL="286385" marR="26670" indent="-210820">
              <a:lnSpc>
                <a:spcPts val="1090"/>
              </a:lnSpc>
              <a:spcBef>
                <a:spcPts val="855"/>
              </a:spcBef>
              <a:buAutoNum type="arabicPlain"/>
              <a:tabLst>
                <a:tab pos="286385" algn="l"/>
              </a:tabLst>
            </a:pPr>
            <a:r>
              <a:rPr dirty="0" sz="1000">
                <a:latin typeface="Times New Roman"/>
                <a:cs typeface="Times New Roman"/>
              </a:rPr>
              <a:t>Francois</a:t>
            </a:r>
            <a:r>
              <a:rPr dirty="0" sz="1000" spc="95">
                <a:latin typeface="Times New Roman"/>
                <a:cs typeface="Times New Roman"/>
              </a:rPr>
              <a:t> </a:t>
            </a:r>
            <a:r>
              <a:rPr dirty="0" sz="1000">
                <a:latin typeface="Times New Roman"/>
                <a:cs typeface="Times New Roman"/>
              </a:rPr>
              <a:t>Chollet.</a:t>
            </a:r>
            <a:r>
              <a:rPr dirty="0" sz="1000" spc="409">
                <a:latin typeface="Times New Roman"/>
                <a:cs typeface="Times New Roman"/>
              </a:rPr>
              <a:t> </a:t>
            </a:r>
            <a:r>
              <a:rPr dirty="0" sz="1000">
                <a:latin typeface="Times New Roman"/>
                <a:cs typeface="Times New Roman"/>
              </a:rPr>
              <a:t>Xception:</a:t>
            </a:r>
            <a:r>
              <a:rPr dirty="0" sz="1000" spc="250">
                <a:latin typeface="Times New Roman"/>
                <a:cs typeface="Times New Roman"/>
              </a:rPr>
              <a:t> </a:t>
            </a:r>
            <a:r>
              <a:rPr dirty="0" sz="1000">
                <a:latin typeface="Times New Roman"/>
                <a:cs typeface="Times New Roman"/>
              </a:rPr>
              <a:t>Deep</a:t>
            </a:r>
            <a:r>
              <a:rPr dirty="0" sz="1000" spc="95">
                <a:latin typeface="Times New Roman"/>
                <a:cs typeface="Times New Roman"/>
              </a:rPr>
              <a:t> </a:t>
            </a:r>
            <a:r>
              <a:rPr dirty="0" sz="1000">
                <a:latin typeface="Times New Roman"/>
                <a:cs typeface="Times New Roman"/>
              </a:rPr>
              <a:t>learning</a:t>
            </a:r>
            <a:r>
              <a:rPr dirty="0" sz="1000" spc="100">
                <a:latin typeface="Times New Roman"/>
                <a:cs typeface="Times New Roman"/>
              </a:rPr>
              <a:t> </a:t>
            </a:r>
            <a:r>
              <a:rPr dirty="0" sz="1000">
                <a:latin typeface="Times New Roman"/>
                <a:cs typeface="Times New Roman"/>
              </a:rPr>
              <a:t>with</a:t>
            </a:r>
            <a:r>
              <a:rPr dirty="0" sz="1000" spc="95">
                <a:latin typeface="Times New Roman"/>
                <a:cs typeface="Times New Roman"/>
              </a:rPr>
              <a:t> </a:t>
            </a:r>
            <a:r>
              <a:rPr dirty="0" sz="1000">
                <a:latin typeface="Times New Roman"/>
                <a:cs typeface="Times New Roman"/>
              </a:rPr>
              <a:t>depthwise</a:t>
            </a:r>
            <a:r>
              <a:rPr dirty="0" sz="1000" spc="95">
                <a:latin typeface="Times New Roman"/>
                <a:cs typeface="Times New Roman"/>
              </a:rPr>
              <a:t> </a:t>
            </a:r>
            <a:r>
              <a:rPr dirty="0" sz="1000">
                <a:latin typeface="Times New Roman"/>
                <a:cs typeface="Times New Roman"/>
              </a:rPr>
              <a:t>separable</a:t>
            </a:r>
            <a:r>
              <a:rPr dirty="0" sz="1000" spc="95">
                <a:latin typeface="Times New Roman"/>
                <a:cs typeface="Times New Roman"/>
              </a:rPr>
              <a:t> </a:t>
            </a:r>
            <a:r>
              <a:rPr dirty="0" sz="1000">
                <a:latin typeface="Times New Roman"/>
                <a:cs typeface="Times New Roman"/>
              </a:rPr>
              <a:t>convolutions.</a:t>
            </a:r>
            <a:r>
              <a:rPr dirty="0" sz="1000" spc="415">
                <a:latin typeface="Times New Roman"/>
                <a:cs typeface="Times New Roman"/>
              </a:rPr>
              <a:t> </a:t>
            </a:r>
            <a:r>
              <a:rPr dirty="0" sz="1000" spc="-10" i="1">
                <a:latin typeface="Times New Roman"/>
                <a:cs typeface="Times New Roman"/>
              </a:rPr>
              <a:t>arXiv preprint</a:t>
            </a:r>
            <a:r>
              <a:rPr dirty="0" sz="1000" spc="45" i="1">
                <a:latin typeface="Times New Roman"/>
                <a:cs typeface="Times New Roman"/>
              </a:rPr>
              <a:t> </a:t>
            </a:r>
            <a:r>
              <a:rPr dirty="0" sz="1000" spc="-10" i="1">
                <a:latin typeface="Times New Roman"/>
                <a:cs typeface="Times New Roman"/>
              </a:rPr>
              <a:t>arXiv:1610.02357</a:t>
            </a:r>
            <a:r>
              <a:rPr dirty="0" sz="1000" spc="-10">
                <a:latin typeface="Times New Roman"/>
                <a:cs typeface="Times New Roman"/>
              </a:rPr>
              <a:t>,</a:t>
            </a:r>
            <a:r>
              <a:rPr dirty="0" sz="1000" spc="45">
                <a:latin typeface="Times New Roman"/>
                <a:cs typeface="Times New Roman"/>
              </a:rPr>
              <a:t> </a:t>
            </a:r>
            <a:r>
              <a:rPr dirty="0" sz="1000" spc="-20">
                <a:latin typeface="Times New Roman"/>
                <a:cs typeface="Times New Roman"/>
              </a:rPr>
              <a:t>2016.</a:t>
            </a:r>
            <a:endParaRPr sz="1000">
              <a:latin typeface="Times New Roman"/>
              <a:cs typeface="Times New Roman"/>
            </a:endParaRPr>
          </a:p>
          <a:p>
            <a:pPr algn="just" marL="286385" marR="26670" indent="-210820">
              <a:lnSpc>
                <a:spcPts val="1090"/>
              </a:lnSpc>
              <a:spcBef>
                <a:spcPts val="855"/>
              </a:spcBef>
              <a:buAutoNum type="arabicPlain"/>
              <a:tabLst>
                <a:tab pos="286385" algn="l"/>
              </a:tabLst>
            </a:pPr>
            <a:r>
              <a:rPr dirty="0" sz="1000" spc="-10">
                <a:latin typeface="Times New Roman"/>
                <a:cs typeface="Times New Roman"/>
              </a:rPr>
              <a:t>Junyoung</a:t>
            </a:r>
            <a:r>
              <a:rPr dirty="0" sz="1000" spc="-50">
                <a:latin typeface="Times New Roman"/>
                <a:cs typeface="Times New Roman"/>
              </a:rPr>
              <a:t> </a:t>
            </a:r>
            <a:r>
              <a:rPr dirty="0" sz="1000">
                <a:latin typeface="Times New Roman"/>
                <a:cs typeface="Times New Roman"/>
              </a:rPr>
              <a:t>Chung,</a:t>
            </a:r>
            <a:r>
              <a:rPr dirty="0" sz="1000" spc="-35">
                <a:latin typeface="Times New Roman"/>
                <a:cs typeface="Times New Roman"/>
              </a:rPr>
              <a:t> </a:t>
            </a:r>
            <a:r>
              <a:rPr dirty="0" sz="1000" spc="-10">
                <a:latin typeface="Times New Roman"/>
                <a:cs typeface="Times New Roman"/>
              </a:rPr>
              <a:t>Çaglar</a:t>
            </a:r>
            <a:r>
              <a:rPr dirty="0" sz="1000" spc="-40">
                <a:latin typeface="Times New Roman"/>
                <a:cs typeface="Times New Roman"/>
              </a:rPr>
              <a:t> </a:t>
            </a:r>
            <a:r>
              <a:rPr dirty="0" sz="1000" spc="-10">
                <a:latin typeface="Times New Roman"/>
                <a:cs typeface="Times New Roman"/>
              </a:rPr>
              <a:t>Gülçehre,</a:t>
            </a:r>
            <a:r>
              <a:rPr dirty="0" sz="1000" spc="-40">
                <a:latin typeface="Times New Roman"/>
                <a:cs typeface="Times New Roman"/>
              </a:rPr>
              <a:t> </a:t>
            </a:r>
            <a:r>
              <a:rPr dirty="0" sz="1000" spc="-20">
                <a:latin typeface="Times New Roman"/>
                <a:cs typeface="Times New Roman"/>
              </a:rPr>
              <a:t>Kyunghyun</a:t>
            </a:r>
            <a:r>
              <a:rPr dirty="0" sz="1000" spc="-40">
                <a:latin typeface="Times New Roman"/>
                <a:cs typeface="Times New Roman"/>
              </a:rPr>
              <a:t> </a:t>
            </a:r>
            <a:r>
              <a:rPr dirty="0" sz="1000">
                <a:latin typeface="Times New Roman"/>
                <a:cs typeface="Times New Roman"/>
              </a:rPr>
              <a:t>Cho,</a:t>
            </a:r>
            <a:r>
              <a:rPr dirty="0" sz="1000" spc="-40">
                <a:latin typeface="Times New Roman"/>
                <a:cs typeface="Times New Roman"/>
              </a:rPr>
              <a:t> </a:t>
            </a:r>
            <a:r>
              <a:rPr dirty="0" sz="1000">
                <a:latin typeface="Times New Roman"/>
                <a:cs typeface="Times New Roman"/>
              </a:rPr>
              <a:t>and</a:t>
            </a:r>
            <a:r>
              <a:rPr dirty="0" sz="1000" spc="-35">
                <a:latin typeface="Times New Roman"/>
                <a:cs typeface="Times New Roman"/>
              </a:rPr>
              <a:t> </a:t>
            </a:r>
            <a:r>
              <a:rPr dirty="0" sz="1000" spc="-30">
                <a:latin typeface="Times New Roman"/>
                <a:cs typeface="Times New Roman"/>
              </a:rPr>
              <a:t>Yoshua</a:t>
            </a:r>
            <a:r>
              <a:rPr dirty="0" sz="1000" spc="-35">
                <a:latin typeface="Times New Roman"/>
                <a:cs typeface="Times New Roman"/>
              </a:rPr>
              <a:t> </a:t>
            </a:r>
            <a:r>
              <a:rPr dirty="0" sz="1000">
                <a:latin typeface="Times New Roman"/>
                <a:cs typeface="Times New Roman"/>
              </a:rPr>
              <a:t>Bengio.</a:t>
            </a:r>
            <a:r>
              <a:rPr dirty="0" sz="1000" spc="60">
                <a:latin typeface="Times New Roman"/>
                <a:cs typeface="Times New Roman"/>
              </a:rPr>
              <a:t> </a:t>
            </a:r>
            <a:r>
              <a:rPr dirty="0" sz="1000" spc="-10">
                <a:latin typeface="Times New Roman"/>
                <a:cs typeface="Times New Roman"/>
              </a:rPr>
              <a:t>Empirical</a:t>
            </a:r>
            <a:r>
              <a:rPr dirty="0" sz="1000" spc="-35">
                <a:latin typeface="Times New Roman"/>
                <a:cs typeface="Times New Roman"/>
              </a:rPr>
              <a:t> </a:t>
            </a:r>
            <a:r>
              <a:rPr dirty="0" sz="1000" spc="-10">
                <a:latin typeface="Times New Roman"/>
                <a:cs typeface="Times New Roman"/>
              </a:rPr>
              <a:t>evaluation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gated</a:t>
            </a:r>
            <a:r>
              <a:rPr dirty="0" sz="1000" spc="-15">
                <a:latin typeface="Times New Roman"/>
                <a:cs typeface="Times New Roman"/>
              </a:rPr>
              <a:t> </a:t>
            </a:r>
            <a:r>
              <a:rPr dirty="0" sz="1000" spc="-10">
                <a:latin typeface="Times New Roman"/>
                <a:cs typeface="Times New Roman"/>
              </a:rPr>
              <a:t>recurrent</a:t>
            </a:r>
            <a:r>
              <a:rPr dirty="0" sz="1000" spc="-20">
                <a:latin typeface="Times New Roman"/>
                <a:cs typeface="Times New Roman"/>
              </a:rPr>
              <a:t> </a:t>
            </a:r>
            <a:r>
              <a:rPr dirty="0" sz="1000">
                <a:latin typeface="Times New Roman"/>
                <a:cs typeface="Times New Roman"/>
              </a:rPr>
              <a:t>neural</a:t>
            </a:r>
            <a:r>
              <a:rPr dirty="0" sz="1000" spc="-15">
                <a:latin typeface="Times New Roman"/>
                <a:cs typeface="Times New Roman"/>
              </a:rPr>
              <a:t> </a:t>
            </a:r>
            <a:r>
              <a:rPr dirty="0" sz="1000">
                <a:latin typeface="Times New Roman"/>
                <a:cs typeface="Times New Roman"/>
              </a:rPr>
              <a:t>networks</a:t>
            </a:r>
            <a:r>
              <a:rPr dirty="0" sz="1000" spc="-20">
                <a:latin typeface="Times New Roman"/>
                <a:cs typeface="Times New Roman"/>
              </a:rPr>
              <a:t> </a:t>
            </a:r>
            <a:r>
              <a:rPr dirty="0" sz="1000">
                <a:latin typeface="Times New Roman"/>
                <a:cs typeface="Times New Roman"/>
              </a:rPr>
              <a:t>on</a:t>
            </a:r>
            <a:r>
              <a:rPr dirty="0" sz="1000" spc="-15">
                <a:latin typeface="Times New Roman"/>
                <a:cs typeface="Times New Roman"/>
              </a:rPr>
              <a:t> </a:t>
            </a:r>
            <a:r>
              <a:rPr dirty="0" sz="1000">
                <a:latin typeface="Times New Roman"/>
                <a:cs typeface="Times New Roman"/>
              </a:rPr>
              <a:t>sequence</a:t>
            </a:r>
            <a:r>
              <a:rPr dirty="0" sz="1000" spc="-20">
                <a:latin typeface="Times New Roman"/>
                <a:cs typeface="Times New Roman"/>
              </a:rPr>
              <a:t> </a:t>
            </a:r>
            <a:r>
              <a:rPr dirty="0" sz="1000">
                <a:latin typeface="Times New Roman"/>
                <a:cs typeface="Times New Roman"/>
              </a:rPr>
              <a:t>modeling.</a:t>
            </a:r>
            <a:r>
              <a:rPr dirty="0" sz="1000" spc="90">
                <a:latin typeface="Times New Roman"/>
                <a:cs typeface="Times New Roman"/>
              </a:rPr>
              <a:t> </a:t>
            </a:r>
            <a:r>
              <a:rPr dirty="0" sz="1000" i="1">
                <a:latin typeface="Times New Roman"/>
                <a:cs typeface="Times New Roman"/>
              </a:rPr>
              <a:t>CoRR</a:t>
            </a:r>
            <a:r>
              <a:rPr dirty="0" sz="1000">
                <a:latin typeface="Times New Roman"/>
                <a:cs typeface="Times New Roman"/>
              </a:rPr>
              <a:t>,</a:t>
            </a:r>
            <a:r>
              <a:rPr dirty="0" sz="1000" spc="-20">
                <a:latin typeface="Times New Roman"/>
                <a:cs typeface="Times New Roman"/>
              </a:rPr>
              <a:t> </a:t>
            </a:r>
            <a:r>
              <a:rPr dirty="0" sz="1000" spc="-10">
                <a:latin typeface="Times New Roman"/>
                <a:cs typeface="Times New Roman"/>
              </a:rPr>
              <a:t>abs/1412.3555,</a:t>
            </a:r>
            <a:r>
              <a:rPr dirty="0" sz="1000" spc="-15">
                <a:latin typeface="Times New Roman"/>
                <a:cs typeface="Times New Roman"/>
              </a:rPr>
              <a:t> </a:t>
            </a:r>
            <a:r>
              <a:rPr dirty="0" sz="1000" spc="-10">
                <a:latin typeface="Times New Roman"/>
                <a:cs typeface="Times New Roman"/>
              </a:rPr>
              <a:t>2014.</a:t>
            </a:r>
            <a:endParaRPr sz="1000">
              <a:latin typeface="Times New Roman"/>
              <a:cs typeface="Times New Roman"/>
            </a:endParaRPr>
          </a:p>
          <a:p>
            <a:pPr algn="just" marL="286385" marR="5715" indent="-210820">
              <a:lnSpc>
                <a:spcPts val="1090"/>
              </a:lnSpc>
              <a:spcBef>
                <a:spcPts val="855"/>
              </a:spcBef>
              <a:buAutoNum type="arabicPlain"/>
              <a:tabLst>
                <a:tab pos="286385" algn="l"/>
              </a:tabLst>
            </a:pPr>
            <a:r>
              <a:rPr dirty="0" sz="1000">
                <a:latin typeface="Times New Roman"/>
                <a:cs typeface="Times New Roman"/>
              </a:rPr>
              <a:t>Jonas</a:t>
            </a:r>
            <a:r>
              <a:rPr dirty="0" sz="1000" spc="-15">
                <a:latin typeface="Times New Roman"/>
                <a:cs typeface="Times New Roman"/>
              </a:rPr>
              <a:t> </a:t>
            </a:r>
            <a:r>
              <a:rPr dirty="0" sz="1000">
                <a:latin typeface="Times New Roman"/>
                <a:cs typeface="Times New Roman"/>
              </a:rPr>
              <a:t>Gehring,</a:t>
            </a:r>
            <a:r>
              <a:rPr dirty="0" sz="1000" spc="-15">
                <a:latin typeface="Times New Roman"/>
                <a:cs typeface="Times New Roman"/>
              </a:rPr>
              <a:t> </a:t>
            </a:r>
            <a:r>
              <a:rPr dirty="0" sz="1000">
                <a:latin typeface="Times New Roman"/>
                <a:cs typeface="Times New Roman"/>
              </a:rPr>
              <a:t>Michael</a:t>
            </a:r>
            <a:r>
              <a:rPr dirty="0" sz="1000" spc="-15">
                <a:latin typeface="Times New Roman"/>
                <a:cs typeface="Times New Roman"/>
              </a:rPr>
              <a:t> </a:t>
            </a:r>
            <a:r>
              <a:rPr dirty="0" sz="1000">
                <a:latin typeface="Times New Roman"/>
                <a:cs typeface="Times New Roman"/>
              </a:rPr>
              <a:t>Auli,</a:t>
            </a:r>
            <a:r>
              <a:rPr dirty="0" sz="1000" spc="-10">
                <a:latin typeface="Times New Roman"/>
                <a:cs typeface="Times New Roman"/>
              </a:rPr>
              <a:t> </a:t>
            </a:r>
            <a:r>
              <a:rPr dirty="0" sz="1000">
                <a:latin typeface="Times New Roman"/>
                <a:cs typeface="Times New Roman"/>
              </a:rPr>
              <a:t>David</a:t>
            </a:r>
            <a:r>
              <a:rPr dirty="0" sz="1000" spc="-15">
                <a:latin typeface="Times New Roman"/>
                <a:cs typeface="Times New Roman"/>
              </a:rPr>
              <a:t> </a:t>
            </a:r>
            <a:r>
              <a:rPr dirty="0" sz="1000">
                <a:latin typeface="Times New Roman"/>
                <a:cs typeface="Times New Roman"/>
              </a:rPr>
              <a:t>Grangier,</a:t>
            </a:r>
            <a:r>
              <a:rPr dirty="0" sz="1000" spc="-15">
                <a:latin typeface="Times New Roman"/>
                <a:cs typeface="Times New Roman"/>
              </a:rPr>
              <a:t> </a:t>
            </a:r>
            <a:r>
              <a:rPr dirty="0" sz="1000">
                <a:latin typeface="Times New Roman"/>
                <a:cs typeface="Times New Roman"/>
              </a:rPr>
              <a:t>Denis</a:t>
            </a:r>
            <a:r>
              <a:rPr dirty="0" sz="1000" spc="-15">
                <a:latin typeface="Times New Roman"/>
                <a:cs typeface="Times New Roman"/>
              </a:rPr>
              <a:t> </a:t>
            </a:r>
            <a:r>
              <a:rPr dirty="0" sz="1000" spc="-10">
                <a:latin typeface="Times New Roman"/>
                <a:cs typeface="Times New Roman"/>
              </a:rPr>
              <a:t>Yarats, </a:t>
            </a:r>
            <a:r>
              <a:rPr dirty="0" sz="1000">
                <a:latin typeface="Times New Roman"/>
                <a:cs typeface="Times New Roman"/>
              </a:rPr>
              <a:t>and</a:t>
            </a:r>
            <a:r>
              <a:rPr dirty="0" sz="1000" spc="-15">
                <a:latin typeface="Times New Roman"/>
                <a:cs typeface="Times New Roman"/>
              </a:rPr>
              <a:t> </a:t>
            </a:r>
            <a:r>
              <a:rPr dirty="0" sz="1000" spc="-20">
                <a:latin typeface="Times New Roman"/>
                <a:cs typeface="Times New Roman"/>
              </a:rPr>
              <a:t>Yann</a:t>
            </a:r>
            <a:r>
              <a:rPr dirty="0" sz="1000" spc="-15">
                <a:latin typeface="Times New Roman"/>
                <a:cs typeface="Times New Roman"/>
              </a:rPr>
              <a:t> </a:t>
            </a:r>
            <a:r>
              <a:rPr dirty="0" sz="1000">
                <a:latin typeface="Times New Roman"/>
                <a:cs typeface="Times New Roman"/>
              </a:rPr>
              <a:t>N.</a:t>
            </a:r>
            <a:r>
              <a:rPr dirty="0" sz="1000" spc="-10">
                <a:latin typeface="Times New Roman"/>
                <a:cs typeface="Times New Roman"/>
              </a:rPr>
              <a:t> </a:t>
            </a:r>
            <a:r>
              <a:rPr dirty="0" sz="1000">
                <a:latin typeface="Times New Roman"/>
                <a:cs typeface="Times New Roman"/>
              </a:rPr>
              <a:t>Dauphin.</a:t>
            </a:r>
            <a:r>
              <a:rPr dirty="0" sz="1000" spc="90">
                <a:latin typeface="Times New Roman"/>
                <a:cs typeface="Times New Roman"/>
              </a:rPr>
              <a:t> </a:t>
            </a:r>
            <a:r>
              <a:rPr dirty="0" sz="1000" spc="-10">
                <a:latin typeface="Times New Roman"/>
                <a:cs typeface="Times New Roman"/>
              </a:rPr>
              <a:t>Convolu- </a:t>
            </a:r>
            <a:r>
              <a:rPr dirty="0" sz="1000">
                <a:latin typeface="Times New Roman"/>
                <a:cs typeface="Times New Roman"/>
              </a:rPr>
              <a:t>tional</a:t>
            </a:r>
            <a:r>
              <a:rPr dirty="0" sz="1000" spc="-10">
                <a:latin typeface="Times New Roman"/>
                <a:cs typeface="Times New Roman"/>
              </a:rPr>
              <a:t> </a:t>
            </a:r>
            <a:r>
              <a:rPr dirty="0" sz="1000">
                <a:latin typeface="Times New Roman"/>
                <a:cs typeface="Times New Roman"/>
              </a:rPr>
              <a:t>sequence</a:t>
            </a:r>
            <a:r>
              <a:rPr dirty="0" sz="1000" spc="-10">
                <a:latin typeface="Times New Roman"/>
                <a:cs typeface="Times New Roman"/>
              </a:rPr>
              <a:t> </a:t>
            </a:r>
            <a:r>
              <a:rPr dirty="0" sz="1000">
                <a:latin typeface="Times New Roman"/>
                <a:cs typeface="Times New Roman"/>
              </a:rPr>
              <a:t>to</a:t>
            </a:r>
            <a:r>
              <a:rPr dirty="0" sz="1000" spc="-10">
                <a:latin typeface="Times New Roman"/>
                <a:cs typeface="Times New Roman"/>
              </a:rPr>
              <a:t> </a:t>
            </a:r>
            <a:r>
              <a:rPr dirty="0" sz="1000">
                <a:latin typeface="Times New Roman"/>
                <a:cs typeface="Times New Roman"/>
              </a:rPr>
              <a:t>sequence</a:t>
            </a:r>
            <a:r>
              <a:rPr dirty="0" sz="1000" spc="-10">
                <a:latin typeface="Times New Roman"/>
                <a:cs typeface="Times New Roman"/>
              </a:rPr>
              <a:t> </a:t>
            </a:r>
            <a:r>
              <a:rPr dirty="0" sz="1000">
                <a:latin typeface="Times New Roman"/>
                <a:cs typeface="Times New Roman"/>
              </a:rPr>
              <a:t>learning.</a:t>
            </a:r>
            <a:r>
              <a:rPr dirty="0" sz="1000" spc="95">
                <a:latin typeface="Times New Roman"/>
                <a:cs typeface="Times New Roman"/>
              </a:rPr>
              <a:t> </a:t>
            </a:r>
            <a:r>
              <a:rPr dirty="0" sz="1000" i="1">
                <a:latin typeface="Times New Roman"/>
                <a:cs typeface="Times New Roman"/>
              </a:rPr>
              <a:t>arXiv</a:t>
            </a:r>
            <a:r>
              <a:rPr dirty="0" sz="1000" spc="-10" i="1">
                <a:latin typeface="Times New Roman"/>
                <a:cs typeface="Times New Roman"/>
              </a:rPr>
              <a:t> preprint arXiv:1705.03122v2</a:t>
            </a:r>
            <a:r>
              <a:rPr dirty="0" sz="1000" spc="-10">
                <a:latin typeface="Times New Roman"/>
                <a:cs typeface="Times New Roman"/>
              </a:rPr>
              <a:t>, 2017.</a:t>
            </a:r>
            <a:endParaRPr sz="1000">
              <a:latin typeface="Times New Roman"/>
              <a:cs typeface="Times New Roman"/>
            </a:endParaRPr>
          </a:p>
          <a:p>
            <a:pPr algn="just" marL="286385" marR="27305" indent="-210820">
              <a:lnSpc>
                <a:spcPts val="1090"/>
              </a:lnSpc>
              <a:spcBef>
                <a:spcPts val="855"/>
              </a:spcBef>
              <a:buAutoNum type="arabicPlain"/>
              <a:tabLst>
                <a:tab pos="286385" algn="l"/>
              </a:tabLst>
            </a:pPr>
            <a:r>
              <a:rPr dirty="0" sz="1000">
                <a:latin typeface="Times New Roman"/>
                <a:cs typeface="Times New Roman"/>
              </a:rPr>
              <a:t>Alex</a:t>
            </a:r>
            <a:r>
              <a:rPr dirty="0" sz="1000" spc="285">
                <a:latin typeface="Times New Roman"/>
                <a:cs typeface="Times New Roman"/>
              </a:rPr>
              <a:t> </a:t>
            </a:r>
            <a:r>
              <a:rPr dirty="0" sz="1000">
                <a:latin typeface="Times New Roman"/>
                <a:cs typeface="Times New Roman"/>
              </a:rPr>
              <a:t>Graves.</a:t>
            </a:r>
            <a:r>
              <a:rPr dirty="0" sz="1000" spc="390">
                <a:latin typeface="Times New Roman"/>
                <a:cs typeface="Times New Roman"/>
              </a:rPr>
              <a:t>  </a:t>
            </a:r>
            <a:r>
              <a:rPr dirty="0" sz="1000">
                <a:latin typeface="Times New Roman"/>
                <a:cs typeface="Times New Roman"/>
              </a:rPr>
              <a:t>Generating</a:t>
            </a:r>
            <a:r>
              <a:rPr dirty="0" sz="1000" spc="295">
                <a:latin typeface="Times New Roman"/>
                <a:cs typeface="Times New Roman"/>
              </a:rPr>
              <a:t> </a:t>
            </a:r>
            <a:r>
              <a:rPr dirty="0" sz="1000">
                <a:latin typeface="Times New Roman"/>
                <a:cs typeface="Times New Roman"/>
              </a:rPr>
              <a:t>sequences</a:t>
            </a:r>
            <a:r>
              <a:rPr dirty="0" sz="1000" spc="285">
                <a:latin typeface="Times New Roman"/>
                <a:cs typeface="Times New Roman"/>
              </a:rPr>
              <a:t> </a:t>
            </a:r>
            <a:r>
              <a:rPr dirty="0" sz="1000">
                <a:latin typeface="Times New Roman"/>
                <a:cs typeface="Times New Roman"/>
              </a:rPr>
              <a:t>with</a:t>
            </a:r>
            <a:r>
              <a:rPr dirty="0" sz="1000" spc="290">
                <a:latin typeface="Times New Roman"/>
                <a:cs typeface="Times New Roman"/>
              </a:rPr>
              <a:t> </a:t>
            </a:r>
            <a:r>
              <a:rPr dirty="0" sz="1000">
                <a:latin typeface="Times New Roman"/>
                <a:cs typeface="Times New Roman"/>
              </a:rPr>
              <a:t>recurrent</a:t>
            </a:r>
            <a:r>
              <a:rPr dirty="0" sz="1000" spc="290">
                <a:latin typeface="Times New Roman"/>
                <a:cs typeface="Times New Roman"/>
              </a:rPr>
              <a:t> </a:t>
            </a:r>
            <a:r>
              <a:rPr dirty="0" sz="1000">
                <a:latin typeface="Times New Roman"/>
                <a:cs typeface="Times New Roman"/>
              </a:rPr>
              <a:t>neural</a:t>
            </a:r>
            <a:r>
              <a:rPr dirty="0" sz="1000" spc="285">
                <a:latin typeface="Times New Roman"/>
                <a:cs typeface="Times New Roman"/>
              </a:rPr>
              <a:t> </a:t>
            </a:r>
            <a:r>
              <a:rPr dirty="0" sz="1000">
                <a:latin typeface="Times New Roman"/>
                <a:cs typeface="Times New Roman"/>
              </a:rPr>
              <a:t>networks.</a:t>
            </a:r>
            <a:r>
              <a:rPr dirty="0" sz="1000" spc="390">
                <a:latin typeface="Times New Roman"/>
                <a:cs typeface="Times New Roman"/>
              </a:rPr>
              <a:t>  </a:t>
            </a:r>
            <a:r>
              <a:rPr dirty="0" sz="1000" i="1">
                <a:latin typeface="Times New Roman"/>
                <a:cs typeface="Times New Roman"/>
              </a:rPr>
              <a:t>arXiv</a:t>
            </a:r>
            <a:r>
              <a:rPr dirty="0" sz="1000" spc="295" i="1">
                <a:latin typeface="Times New Roman"/>
                <a:cs typeface="Times New Roman"/>
              </a:rPr>
              <a:t> </a:t>
            </a:r>
            <a:r>
              <a:rPr dirty="0" sz="1000" spc="-10" i="1">
                <a:latin typeface="Times New Roman"/>
                <a:cs typeface="Times New Roman"/>
              </a:rPr>
              <a:t>preprint arXiv:1308.0850</a:t>
            </a:r>
            <a:r>
              <a:rPr dirty="0" sz="1000" spc="-10">
                <a:latin typeface="Times New Roman"/>
                <a:cs typeface="Times New Roman"/>
              </a:rPr>
              <a:t>,</a:t>
            </a:r>
            <a:r>
              <a:rPr dirty="0" sz="1000" spc="80">
                <a:latin typeface="Times New Roman"/>
                <a:cs typeface="Times New Roman"/>
              </a:rPr>
              <a:t> </a:t>
            </a:r>
            <a:r>
              <a:rPr dirty="0" sz="1000" spc="-10">
                <a:latin typeface="Times New Roman"/>
                <a:cs typeface="Times New Roman"/>
              </a:rPr>
              <a:t>2013.</a:t>
            </a:r>
            <a:endParaRPr sz="1000">
              <a:latin typeface="Times New Roman"/>
              <a:cs typeface="Times New Roman"/>
            </a:endParaRPr>
          </a:p>
          <a:p>
            <a:pPr algn="just" marL="282575" marR="5715" indent="-270510">
              <a:lnSpc>
                <a:spcPts val="1090"/>
              </a:lnSpc>
              <a:spcBef>
                <a:spcPts val="855"/>
              </a:spcBef>
              <a:buAutoNum type="arabicPlain"/>
              <a:tabLst>
                <a:tab pos="282575" algn="l"/>
                <a:tab pos="285115" algn="l"/>
              </a:tabLst>
            </a:pPr>
            <a:r>
              <a:rPr dirty="0" sz="1000">
                <a:latin typeface="Times New Roman"/>
                <a:cs typeface="Times New Roman"/>
              </a:rPr>
              <a:t>	Kaiming</a:t>
            </a:r>
            <a:r>
              <a:rPr dirty="0" sz="1000" spc="70">
                <a:latin typeface="Times New Roman"/>
                <a:cs typeface="Times New Roman"/>
              </a:rPr>
              <a:t> </a:t>
            </a:r>
            <a:r>
              <a:rPr dirty="0" sz="1000">
                <a:latin typeface="Times New Roman"/>
                <a:cs typeface="Times New Roman"/>
              </a:rPr>
              <a:t>He,</a:t>
            </a:r>
            <a:r>
              <a:rPr dirty="0" sz="1000" spc="90">
                <a:latin typeface="Times New Roman"/>
                <a:cs typeface="Times New Roman"/>
              </a:rPr>
              <a:t> </a:t>
            </a:r>
            <a:r>
              <a:rPr dirty="0" sz="1000">
                <a:latin typeface="Times New Roman"/>
                <a:cs typeface="Times New Roman"/>
              </a:rPr>
              <a:t>Xiangyu</a:t>
            </a:r>
            <a:r>
              <a:rPr dirty="0" sz="1000" spc="75">
                <a:latin typeface="Times New Roman"/>
                <a:cs typeface="Times New Roman"/>
              </a:rPr>
              <a:t> </a:t>
            </a:r>
            <a:r>
              <a:rPr dirty="0" sz="1000">
                <a:latin typeface="Times New Roman"/>
                <a:cs typeface="Times New Roman"/>
              </a:rPr>
              <a:t>Zhang,</a:t>
            </a:r>
            <a:r>
              <a:rPr dirty="0" sz="1000" spc="90">
                <a:latin typeface="Times New Roman"/>
                <a:cs typeface="Times New Roman"/>
              </a:rPr>
              <a:t> </a:t>
            </a:r>
            <a:r>
              <a:rPr dirty="0" sz="1000">
                <a:latin typeface="Times New Roman"/>
                <a:cs typeface="Times New Roman"/>
              </a:rPr>
              <a:t>Shaoqing</a:t>
            </a:r>
            <a:r>
              <a:rPr dirty="0" sz="1000" spc="75">
                <a:latin typeface="Times New Roman"/>
                <a:cs typeface="Times New Roman"/>
              </a:rPr>
              <a:t> </a:t>
            </a:r>
            <a:r>
              <a:rPr dirty="0" sz="1000">
                <a:latin typeface="Times New Roman"/>
                <a:cs typeface="Times New Roman"/>
              </a:rPr>
              <a:t>Ren,</a:t>
            </a:r>
            <a:r>
              <a:rPr dirty="0" sz="1000" spc="90">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Jian</a:t>
            </a:r>
            <a:r>
              <a:rPr dirty="0" sz="1000" spc="75">
                <a:latin typeface="Times New Roman"/>
                <a:cs typeface="Times New Roman"/>
              </a:rPr>
              <a:t> </a:t>
            </a:r>
            <a:r>
              <a:rPr dirty="0" sz="1000">
                <a:latin typeface="Times New Roman"/>
                <a:cs typeface="Times New Roman"/>
              </a:rPr>
              <a:t>Sun.</a:t>
            </a:r>
            <a:r>
              <a:rPr dirty="0" sz="1000" spc="335">
                <a:latin typeface="Times New Roman"/>
                <a:cs typeface="Times New Roman"/>
              </a:rPr>
              <a:t> </a:t>
            </a:r>
            <a:r>
              <a:rPr dirty="0" sz="1000">
                <a:latin typeface="Times New Roman"/>
                <a:cs typeface="Times New Roman"/>
              </a:rPr>
              <a:t>Deep</a:t>
            </a:r>
            <a:r>
              <a:rPr dirty="0" sz="1000" spc="70">
                <a:latin typeface="Times New Roman"/>
                <a:cs typeface="Times New Roman"/>
              </a:rPr>
              <a:t> </a:t>
            </a:r>
            <a:r>
              <a:rPr dirty="0" sz="1000">
                <a:latin typeface="Times New Roman"/>
                <a:cs typeface="Times New Roman"/>
              </a:rPr>
              <a:t>residual</a:t>
            </a:r>
            <a:r>
              <a:rPr dirty="0" sz="1000" spc="75">
                <a:latin typeface="Times New Roman"/>
                <a:cs typeface="Times New Roman"/>
              </a:rPr>
              <a:t> </a:t>
            </a:r>
            <a:r>
              <a:rPr dirty="0" sz="1000">
                <a:latin typeface="Times New Roman"/>
                <a:cs typeface="Times New Roman"/>
              </a:rPr>
              <a:t>learning</a:t>
            </a:r>
            <a:r>
              <a:rPr dirty="0" sz="1000" spc="75">
                <a:latin typeface="Times New Roman"/>
                <a:cs typeface="Times New Roman"/>
              </a:rPr>
              <a:t> </a:t>
            </a:r>
            <a:r>
              <a:rPr dirty="0" sz="1000">
                <a:latin typeface="Times New Roman"/>
                <a:cs typeface="Times New Roman"/>
              </a:rPr>
              <a:t>for</a:t>
            </a:r>
            <a:r>
              <a:rPr dirty="0" sz="1000" spc="75">
                <a:latin typeface="Times New Roman"/>
                <a:cs typeface="Times New Roman"/>
              </a:rPr>
              <a:t> </a:t>
            </a:r>
            <a:r>
              <a:rPr dirty="0" sz="1000" spc="-25">
                <a:latin typeface="Times New Roman"/>
                <a:cs typeface="Times New Roman"/>
              </a:rPr>
              <a:t>im- </a:t>
            </a:r>
            <a:r>
              <a:rPr dirty="0" sz="1000">
                <a:latin typeface="Times New Roman"/>
                <a:cs typeface="Times New Roman"/>
              </a:rPr>
              <a:t>age</a:t>
            </a:r>
            <a:r>
              <a:rPr dirty="0" sz="1000" spc="90">
                <a:latin typeface="Times New Roman"/>
                <a:cs typeface="Times New Roman"/>
              </a:rPr>
              <a:t> </a:t>
            </a:r>
            <a:r>
              <a:rPr dirty="0" sz="1000">
                <a:latin typeface="Times New Roman"/>
                <a:cs typeface="Times New Roman"/>
              </a:rPr>
              <a:t>recognition.</a:t>
            </a:r>
            <a:r>
              <a:rPr dirty="0" sz="1000" spc="395">
                <a:latin typeface="Times New Roman"/>
                <a:cs typeface="Times New Roman"/>
              </a:rPr>
              <a:t> </a:t>
            </a:r>
            <a:r>
              <a:rPr dirty="0" sz="1000">
                <a:latin typeface="Times New Roman"/>
                <a:cs typeface="Times New Roman"/>
              </a:rPr>
              <a:t>In</a:t>
            </a:r>
            <a:r>
              <a:rPr dirty="0" sz="1000" spc="90">
                <a:latin typeface="Times New Roman"/>
                <a:cs typeface="Times New Roman"/>
              </a:rPr>
              <a:t> </a:t>
            </a:r>
            <a:r>
              <a:rPr dirty="0" sz="1000" i="1">
                <a:latin typeface="Times New Roman"/>
                <a:cs typeface="Times New Roman"/>
              </a:rPr>
              <a:t>Proceedings</a:t>
            </a:r>
            <a:r>
              <a:rPr dirty="0" sz="1000" spc="90" i="1">
                <a:latin typeface="Times New Roman"/>
                <a:cs typeface="Times New Roman"/>
              </a:rPr>
              <a:t> </a:t>
            </a:r>
            <a:r>
              <a:rPr dirty="0" sz="1000" i="1">
                <a:latin typeface="Times New Roman"/>
                <a:cs typeface="Times New Roman"/>
              </a:rPr>
              <a:t>of</a:t>
            </a:r>
            <a:r>
              <a:rPr dirty="0" sz="1000" spc="90" i="1">
                <a:latin typeface="Times New Roman"/>
                <a:cs typeface="Times New Roman"/>
              </a:rPr>
              <a:t> </a:t>
            </a:r>
            <a:r>
              <a:rPr dirty="0" sz="1000" i="1">
                <a:latin typeface="Times New Roman"/>
                <a:cs typeface="Times New Roman"/>
              </a:rPr>
              <a:t>the</a:t>
            </a:r>
            <a:r>
              <a:rPr dirty="0" sz="1000" spc="90" i="1">
                <a:latin typeface="Times New Roman"/>
                <a:cs typeface="Times New Roman"/>
              </a:rPr>
              <a:t> </a:t>
            </a:r>
            <a:r>
              <a:rPr dirty="0" sz="1000" i="1">
                <a:latin typeface="Times New Roman"/>
                <a:cs typeface="Times New Roman"/>
              </a:rPr>
              <a:t>IEEE</a:t>
            </a:r>
            <a:r>
              <a:rPr dirty="0" sz="1000" spc="90" i="1">
                <a:latin typeface="Times New Roman"/>
                <a:cs typeface="Times New Roman"/>
              </a:rPr>
              <a:t> </a:t>
            </a:r>
            <a:r>
              <a:rPr dirty="0" sz="1000" i="1">
                <a:latin typeface="Times New Roman"/>
                <a:cs typeface="Times New Roman"/>
              </a:rPr>
              <a:t>Conference</a:t>
            </a:r>
            <a:r>
              <a:rPr dirty="0" sz="1000" spc="90" i="1">
                <a:latin typeface="Times New Roman"/>
                <a:cs typeface="Times New Roman"/>
              </a:rPr>
              <a:t> </a:t>
            </a:r>
            <a:r>
              <a:rPr dirty="0" sz="1000" i="1">
                <a:latin typeface="Times New Roman"/>
                <a:cs typeface="Times New Roman"/>
              </a:rPr>
              <a:t>on</a:t>
            </a:r>
            <a:r>
              <a:rPr dirty="0" sz="1000" spc="90" i="1">
                <a:latin typeface="Times New Roman"/>
                <a:cs typeface="Times New Roman"/>
              </a:rPr>
              <a:t> </a:t>
            </a:r>
            <a:r>
              <a:rPr dirty="0" sz="1000" i="1">
                <a:latin typeface="Times New Roman"/>
                <a:cs typeface="Times New Roman"/>
              </a:rPr>
              <a:t>Computer</a:t>
            </a:r>
            <a:r>
              <a:rPr dirty="0" sz="1000" spc="90" i="1">
                <a:latin typeface="Times New Roman"/>
                <a:cs typeface="Times New Roman"/>
              </a:rPr>
              <a:t> </a:t>
            </a:r>
            <a:r>
              <a:rPr dirty="0" sz="1000" i="1">
                <a:latin typeface="Times New Roman"/>
                <a:cs typeface="Times New Roman"/>
              </a:rPr>
              <a:t>Vision</a:t>
            </a:r>
            <a:r>
              <a:rPr dirty="0" sz="1000" spc="90" i="1">
                <a:latin typeface="Times New Roman"/>
                <a:cs typeface="Times New Roman"/>
              </a:rPr>
              <a:t> </a:t>
            </a:r>
            <a:r>
              <a:rPr dirty="0" sz="1000" i="1">
                <a:latin typeface="Times New Roman"/>
                <a:cs typeface="Times New Roman"/>
              </a:rPr>
              <a:t>and</a:t>
            </a:r>
            <a:r>
              <a:rPr dirty="0" sz="1000" spc="90" i="1">
                <a:latin typeface="Times New Roman"/>
                <a:cs typeface="Times New Roman"/>
              </a:rPr>
              <a:t> </a:t>
            </a:r>
            <a:r>
              <a:rPr dirty="0" sz="1000" spc="-10" i="1">
                <a:latin typeface="Times New Roman"/>
                <a:cs typeface="Times New Roman"/>
              </a:rPr>
              <a:t>Pattern Recognition</a:t>
            </a:r>
            <a:r>
              <a:rPr dirty="0" sz="1000" spc="-10">
                <a:latin typeface="Times New Roman"/>
                <a:cs typeface="Times New Roman"/>
              </a:rPr>
              <a:t>,</a:t>
            </a:r>
            <a:r>
              <a:rPr dirty="0" sz="1000" spc="-15">
                <a:latin typeface="Times New Roman"/>
                <a:cs typeface="Times New Roman"/>
              </a:rPr>
              <a:t> </a:t>
            </a:r>
            <a:r>
              <a:rPr dirty="0" sz="1000">
                <a:latin typeface="Times New Roman"/>
                <a:cs typeface="Times New Roman"/>
              </a:rPr>
              <a:t>pages</a:t>
            </a:r>
            <a:r>
              <a:rPr dirty="0" sz="1000" spc="-10">
                <a:latin typeface="Times New Roman"/>
                <a:cs typeface="Times New Roman"/>
              </a:rPr>
              <a:t> </a:t>
            </a:r>
            <a:r>
              <a:rPr dirty="0" sz="1000">
                <a:latin typeface="Times New Roman"/>
                <a:cs typeface="Times New Roman"/>
              </a:rPr>
              <a:t>770–778,</a:t>
            </a:r>
            <a:r>
              <a:rPr dirty="0" sz="1000" spc="-1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5115" marR="26670" indent="-273050">
              <a:lnSpc>
                <a:spcPts val="1090"/>
              </a:lnSpc>
              <a:spcBef>
                <a:spcPts val="855"/>
              </a:spcBef>
              <a:buAutoNum type="arabicPlain"/>
              <a:tabLst>
                <a:tab pos="286385" algn="l"/>
              </a:tabLst>
            </a:pPr>
            <a:r>
              <a:rPr dirty="0" sz="1000">
                <a:latin typeface="Times New Roman"/>
                <a:cs typeface="Times New Roman"/>
              </a:rPr>
              <a:t>Sepp</a:t>
            </a:r>
            <a:r>
              <a:rPr dirty="0" sz="1000" spc="-10">
                <a:latin typeface="Times New Roman"/>
                <a:cs typeface="Times New Roman"/>
              </a:rPr>
              <a:t> </a:t>
            </a:r>
            <a:r>
              <a:rPr dirty="0" sz="1000">
                <a:latin typeface="Times New Roman"/>
                <a:cs typeface="Times New Roman"/>
              </a:rPr>
              <a:t>Hochreiter,</a:t>
            </a:r>
            <a:r>
              <a:rPr dirty="0" sz="1000" spc="-10">
                <a:latin typeface="Times New Roman"/>
                <a:cs typeface="Times New Roman"/>
              </a:rPr>
              <a:t> Yoshua </a:t>
            </a:r>
            <a:r>
              <a:rPr dirty="0" sz="1000">
                <a:latin typeface="Times New Roman"/>
                <a:cs typeface="Times New Roman"/>
              </a:rPr>
              <a:t>Bengio,</a:t>
            </a:r>
            <a:r>
              <a:rPr dirty="0" sz="1000" spc="-10">
                <a:latin typeface="Times New Roman"/>
                <a:cs typeface="Times New Roman"/>
              </a:rPr>
              <a:t> </a:t>
            </a:r>
            <a:r>
              <a:rPr dirty="0" sz="1000">
                <a:latin typeface="Times New Roman"/>
                <a:cs typeface="Times New Roman"/>
              </a:rPr>
              <a:t>Paolo</a:t>
            </a:r>
            <a:r>
              <a:rPr dirty="0" sz="1000" spc="-5">
                <a:latin typeface="Times New Roman"/>
                <a:cs typeface="Times New Roman"/>
              </a:rPr>
              <a:t> </a:t>
            </a:r>
            <a:r>
              <a:rPr dirty="0" sz="1000">
                <a:latin typeface="Times New Roman"/>
                <a:cs typeface="Times New Roman"/>
              </a:rPr>
              <a:t>Frasconi,</a:t>
            </a:r>
            <a:r>
              <a:rPr dirty="0" sz="1000" spc="-10">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Jürgen</a:t>
            </a:r>
            <a:r>
              <a:rPr dirty="0" sz="1000" spc="-10">
                <a:latin typeface="Times New Roman"/>
                <a:cs typeface="Times New Roman"/>
              </a:rPr>
              <a:t> </a:t>
            </a:r>
            <a:r>
              <a:rPr dirty="0" sz="1000">
                <a:latin typeface="Times New Roman"/>
                <a:cs typeface="Times New Roman"/>
              </a:rPr>
              <a:t>Schmidhuber.</a:t>
            </a:r>
            <a:r>
              <a:rPr dirty="0" sz="1000" spc="100">
                <a:latin typeface="Times New Roman"/>
                <a:cs typeface="Times New Roman"/>
              </a:rPr>
              <a:t> </a:t>
            </a:r>
            <a:r>
              <a:rPr dirty="0" sz="1000">
                <a:latin typeface="Times New Roman"/>
                <a:cs typeface="Times New Roman"/>
              </a:rPr>
              <a:t>Gradient</a:t>
            </a:r>
            <a:r>
              <a:rPr dirty="0" sz="1000" spc="-10">
                <a:latin typeface="Times New Roman"/>
                <a:cs typeface="Times New Roman"/>
              </a:rPr>
              <a:t> flow</a:t>
            </a:r>
            <a:r>
              <a:rPr dirty="0" sz="1000" spc="-5">
                <a:latin typeface="Times New Roman"/>
                <a:cs typeface="Times New Roman"/>
              </a:rPr>
              <a:t> </a:t>
            </a:r>
            <a:r>
              <a:rPr dirty="0" sz="1000" spc="-25">
                <a:latin typeface="Times New Roman"/>
                <a:cs typeface="Times New Roman"/>
              </a:rPr>
              <a:t>in </a:t>
            </a:r>
            <a:r>
              <a:rPr dirty="0" sz="1000" spc="-25">
                <a:latin typeface="Times New Roman"/>
                <a:cs typeface="Times New Roman"/>
              </a:rPr>
              <a:t>	</a:t>
            </a:r>
            <a:r>
              <a:rPr dirty="0" sz="1000" spc="-10">
                <a:latin typeface="Times New Roman"/>
                <a:cs typeface="Times New Roman"/>
              </a:rPr>
              <a:t>recurrent</a:t>
            </a:r>
            <a:r>
              <a:rPr dirty="0" sz="1000" spc="-20">
                <a:latin typeface="Times New Roman"/>
                <a:cs typeface="Times New Roman"/>
              </a:rPr>
              <a:t> </a:t>
            </a:r>
            <a:r>
              <a:rPr dirty="0" sz="1000">
                <a:latin typeface="Times New Roman"/>
                <a:cs typeface="Times New Roman"/>
              </a:rPr>
              <a:t>nets:</a:t>
            </a:r>
            <a:r>
              <a:rPr dirty="0" sz="1000" spc="35">
                <a:latin typeface="Times New Roman"/>
                <a:cs typeface="Times New Roman"/>
              </a:rPr>
              <a:t> </a:t>
            </a:r>
            <a:r>
              <a:rPr dirty="0" sz="1000">
                <a:latin typeface="Times New Roman"/>
                <a:cs typeface="Times New Roman"/>
              </a:rPr>
              <a:t>the</a:t>
            </a:r>
            <a:r>
              <a:rPr dirty="0" sz="1000" spc="-20">
                <a:latin typeface="Times New Roman"/>
                <a:cs typeface="Times New Roman"/>
              </a:rPr>
              <a:t> </a:t>
            </a:r>
            <a:r>
              <a:rPr dirty="0" sz="1000" spc="-10">
                <a:latin typeface="Times New Roman"/>
                <a:cs typeface="Times New Roman"/>
              </a:rPr>
              <a:t>difficulty</a:t>
            </a:r>
            <a:r>
              <a:rPr dirty="0" sz="1000" spc="-15">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learning</a:t>
            </a:r>
            <a:r>
              <a:rPr dirty="0" sz="1000" spc="-20">
                <a:latin typeface="Times New Roman"/>
                <a:cs typeface="Times New Roman"/>
              </a:rPr>
              <a:t> </a:t>
            </a:r>
            <a:r>
              <a:rPr dirty="0" sz="1000" spc="-10">
                <a:latin typeface="Times New Roman"/>
                <a:cs typeface="Times New Roman"/>
              </a:rPr>
              <a:t>long-</a:t>
            </a:r>
            <a:r>
              <a:rPr dirty="0" sz="1000">
                <a:latin typeface="Times New Roman"/>
                <a:cs typeface="Times New Roman"/>
              </a:rPr>
              <a:t>term</a:t>
            </a:r>
            <a:r>
              <a:rPr dirty="0" sz="1000" spc="-20">
                <a:latin typeface="Times New Roman"/>
                <a:cs typeface="Times New Roman"/>
              </a:rPr>
              <a:t> </a:t>
            </a:r>
            <a:r>
              <a:rPr dirty="0" sz="1000">
                <a:latin typeface="Times New Roman"/>
                <a:cs typeface="Times New Roman"/>
              </a:rPr>
              <a:t>dependencies,</a:t>
            </a:r>
            <a:r>
              <a:rPr dirty="0" sz="1000" spc="-20">
                <a:latin typeface="Times New Roman"/>
                <a:cs typeface="Times New Roman"/>
              </a:rPr>
              <a:t> </a:t>
            </a:r>
            <a:r>
              <a:rPr dirty="0" sz="1000" spc="-10">
                <a:latin typeface="Times New Roman"/>
                <a:cs typeface="Times New Roman"/>
              </a:rPr>
              <a:t>2001.</a:t>
            </a:r>
            <a:endParaRPr sz="1000">
              <a:latin typeface="Times New Roman"/>
              <a:cs typeface="Times New Roman"/>
            </a:endParaRPr>
          </a:p>
          <a:p>
            <a:pPr algn="just" marL="285115" marR="11430" indent="-273050">
              <a:lnSpc>
                <a:spcPts val="1090"/>
              </a:lnSpc>
              <a:spcBef>
                <a:spcPts val="855"/>
              </a:spcBef>
              <a:buAutoNum type="arabicPlain"/>
              <a:tabLst>
                <a:tab pos="286385" algn="l"/>
              </a:tabLst>
            </a:pPr>
            <a:r>
              <a:rPr dirty="0" sz="1000">
                <a:latin typeface="Times New Roman"/>
                <a:cs typeface="Times New Roman"/>
              </a:rPr>
              <a:t>Sepp</a:t>
            </a:r>
            <a:r>
              <a:rPr dirty="0" sz="1000" spc="70">
                <a:latin typeface="Times New Roman"/>
                <a:cs typeface="Times New Roman"/>
              </a:rPr>
              <a:t> </a:t>
            </a:r>
            <a:r>
              <a:rPr dirty="0" sz="1000">
                <a:latin typeface="Times New Roman"/>
                <a:cs typeface="Times New Roman"/>
              </a:rPr>
              <a:t>Hochreiter</a:t>
            </a:r>
            <a:r>
              <a:rPr dirty="0" sz="1000" spc="70">
                <a:latin typeface="Times New Roman"/>
                <a:cs typeface="Times New Roman"/>
              </a:rPr>
              <a:t> </a:t>
            </a:r>
            <a:r>
              <a:rPr dirty="0" sz="1000">
                <a:latin typeface="Times New Roman"/>
                <a:cs typeface="Times New Roman"/>
              </a:rPr>
              <a:t>and</a:t>
            </a:r>
            <a:r>
              <a:rPr dirty="0" sz="1000" spc="75">
                <a:latin typeface="Times New Roman"/>
                <a:cs typeface="Times New Roman"/>
              </a:rPr>
              <a:t> </a:t>
            </a:r>
            <a:r>
              <a:rPr dirty="0" sz="1000">
                <a:latin typeface="Times New Roman"/>
                <a:cs typeface="Times New Roman"/>
              </a:rPr>
              <a:t>Jürgen</a:t>
            </a:r>
            <a:r>
              <a:rPr dirty="0" sz="1000" spc="70">
                <a:latin typeface="Times New Roman"/>
                <a:cs typeface="Times New Roman"/>
              </a:rPr>
              <a:t> </a:t>
            </a:r>
            <a:r>
              <a:rPr dirty="0" sz="1000">
                <a:latin typeface="Times New Roman"/>
                <a:cs typeface="Times New Roman"/>
              </a:rPr>
              <a:t>Schmidhuber.</a:t>
            </a:r>
            <a:r>
              <a:rPr dirty="0" sz="1000" spc="330">
                <a:latin typeface="Times New Roman"/>
                <a:cs typeface="Times New Roman"/>
              </a:rPr>
              <a:t> </a:t>
            </a:r>
            <a:r>
              <a:rPr dirty="0" sz="1000">
                <a:latin typeface="Times New Roman"/>
                <a:cs typeface="Times New Roman"/>
              </a:rPr>
              <a:t>Long</a:t>
            </a:r>
            <a:r>
              <a:rPr dirty="0" sz="1000" spc="75">
                <a:latin typeface="Times New Roman"/>
                <a:cs typeface="Times New Roman"/>
              </a:rPr>
              <a:t> </a:t>
            </a:r>
            <a:r>
              <a:rPr dirty="0" sz="1000">
                <a:latin typeface="Times New Roman"/>
                <a:cs typeface="Times New Roman"/>
              </a:rPr>
              <a:t>short-term</a:t>
            </a:r>
            <a:r>
              <a:rPr dirty="0" sz="1000" spc="70">
                <a:latin typeface="Times New Roman"/>
                <a:cs typeface="Times New Roman"/>
              </a:rPr>
              <a:t> </a:t>
            </a:r>
            <a:r>
              <a:rPr dirty="0" sz="1000">
                <a:latin typeface="Times New Roman"/>
                <a:cs typeface="Times New Roman"/>
              </a:rPr>
              <a:t>memory.</a:t>
            </a:r>
            <a:r>
              <a:rPr dirty="0" sz="1000" spc="330">
                <a:latin typeface="Times New Roman"/>
                <a:cs typeface="Times New Roman"/>
              </a:rPr>
              <a:t> </a:t>
            </a:r>
            <a:r>
              <a:rPr dirty="0" sz="1000" i="1">
                <a:latin typeface="Times New Roman"/>
                <a:cs typeface="Times New Roman"/>
              </a:rPr>
              <a:t>Neural</a:t>
            </a:r>
            <a:r>
              <a:rPr dirty="0" sz="1000" spc="70" i="1">
                <a:latin typeface="Times New Roman"/>
                <a:cs typeface="Times New Roman"/>
              </a:rPr>
              <a:t> </a:t>
            </a:r>
            <a:r>
              <a:rPr dirty="0" sz="1000" spc="-10" i="1">
                <a:latin typeface="Times New Roman"/>
                <a:cs typeface="Times New Roman"/>
              </a:rPr>
              <a:t>computation</a:t>
            </a:r>
            <a:r>
              <a:rPr dirty="0" sz="1000" spc="-10">
                <a:latin typeface="Times New Roman"/>
                <a:cs typeface="Times New Roman"/>
              </a:rPr>
              <a:t>, 	9(8):1735–1780,</a:t>
            </a:r>
            <a:r>
              <a:rPr dirty="0" sz="1000" spc="75">
                <a:latin typeface="Times New Roman"/>
                <a:cs typeface="Times New Roman"/>
              </a:rPr>
              <a:t> </a:t>
            </a:r>
            <a:r>
              <a:rPr dirty="0" sz="1000" spc="-10">
                <a:latin typeface="Times New Roman"/>
                <a:cs typeface="Times New Roman"/>
              </a:rPr>
              <a:t>1997.</a:t>
            </a:r>
            <a:endParaRPr sz="1000">
              <a:latin typeface="Times New Roman"/>
              <a:cs typeface="Times New Roman"/>
            </a:endParaRPr>
          </a:p>
          <a:p>
            <a:pPr algn="just" marL="285115" marR="26670" indent="-273050">
              <a:lnSpc>
                <a:spcPts val="1090"/>
              </a:lnSpc>
              <a:spcBef>
                <a:spcPts val="855"/>
              </a:spcBef>
              <a:buAutoNum type="arabicPlain"/>
              <a:tabLst>
                <a:tab pos="286385" algn="l"/>
              </a:tabLst>
            </a:pPr>
            <a:r>
              <a:rPr dirty="0" sz="1000">
                <a:latin typeface="Times New Roman"/>
                <a:cs typeface="Times New Roman"/>
              </a:rPr>
              <a:t>Rafal</a:t>
            </a:r>
            <a:r>
              <a:rPr dirty="0" sz="1000" spc="-25">
                <a:latin typeface="Times New Roman"/>
                <a:cs typeface="Times New Roman"/>
              </a:rPr>
              <a:t> </a:t>
            </a:r>
            <a:r>
              <a:rPr dirty="0" sz="1000">
                <a:latin typeface="Times New Roman"/>
                <a:cs typeface="Times New Roman"/>
              </a:rPr>
              <a:t>Jozefowicz,</a:t>
            </a:r>
            <a:r>
              <a:rPr dirty="0" sz="1000" spc="-25">
                <a:latin typeface="Times New Roman"/>
                <a:cs typeface="Times New Roman"/>
              </a:rPr>
              <a:t> </a:t>
            </a:r>
            <a:r>
              <a:rPr dirty="0" sz="1000">
                <a:latin typeface="Times New Roman"/>
                <a:cs typeface="Times New Roman"/>
              </a:rPr>
              <a:t>Oriol</a:t>
            </a:r>
            <a:r>
              <a:rPr dirty="0" sz="1000" spc="-25">
                <a:latin typeface="Times New Roman"/>
                <a:cs typeface="Times New Roman"/>
              </a:rPr>
              <a:t> </a:t>
            </a:r>
            <a:r>
              <a:rPr dirty="0" sz="1000" spc="-10">
                <a:latin typeface="Times New Roman"/>
                <a:cs typeface="Times New Roman"/>
              </a:rPr>
              <a:t>Vinyals,</a:t>
            </a:r>
            <a:r>
              <a:rPr dirty="0" sz="1000" spc="-25">
                <a:latin typeface="Times New Roman"/>
                <a:cs typeface="Times New Roman"/>
              </a:rPr>
              <a:t> </a:t>
            </a:r>
            <a:r>
              <a:rPr dirty="0" sz="1000">
                <a:latin typeface="Times New Roman"/>
                <a:cs typeface="Times New Roman"/>
              </a:rPr>
              <a:t>Mike</a:t>
            </a:r>
            <a:r>
              <a:rPr dirty="0" sz="1000" spc="-20">
                <a:latin typeface="Times New Roman"/>
                <a:cs typeface="Times New Roman"/>
              </a:rPr>
              <a:t> </a:t>
            </a:r>
            <a:r>
              <a:rPr dirty="0" sz="1000">
                <a:latin typeface="Times New Roman"/>
                <a:cs typeface="Times New Roman"/>
              </a:rPr>
              <a:t>Schuster,</a:t>
            </a:r>
            <a:r>
              <a:rPr dirty="0" sz="1000" spc="-25">
                <a:latin typeface="Times New Roman"/>
                <a:cs typeface="Times New Roman"/>
              </a:rPr>
              <a:t> </a:t>
            </a:r>
            <a:r>
              <a:rPr dirty="0" sz="1000">
                <a:latin typeface="Times New Roman"/>
                <a:cs typeface="Times New Roman"/>
              </a:rPr>
              <a:t>Noam</a:t>
            </a:r>
            <a:r>
              <a:rPr dirty="0" sz="1000" spc="-25">
                <a:latin typeface="Times New Roman"/>
                <a:cs typeface="Times New Roman"/>
              </a:rPr>
              <a:t> </a:t>
            </a:r>
            <a:r>
              <a:rPr dirty="0" sz="1000">
                <a:latin typeface="Times New Roman"/>
                <a:cs typeface="Times New Roman"/>
              </a:rPr>
              <a:t>Shazeer,</a:t>
            </a:r>
            <a:r>
              <a:rPr dirty="0" sz="1000" spc="-25">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spc="-10">
                <a:latin typeface="Times New Roman"/>
                <a:cs typeface="Times New Roman"/>
              </a:rPr>
              <a:t>Yonghui</a:t>
            </a:r>
            <a:r>
              <a:rPr dirty="0" sz="1000" spc="-25">
                <a:latin typeface="Times New Roman"/>
                <a:cs typeface="Times New Roman"/>
              </a:rPr>
              <a:t> </a:t>
            </a:r>
            <a:r>
              <a:rPr dirty="0" sz="1000">
                <a:latin typeface="Times New Roman"/>
                <a:cs typeface="Times New Roman"/>
              </a:rPr>
              <a:t>Wu.</a:t>
            </a:r>
            <a:r>
              <a:rPr dirty="0" sz="1000" spc="70">
                <a:latin typeface="Times New Roman"/>
                <a:cs typeface="Times New Roman"/>
              </a:rPr>
              <a:t> </a:t>
            </a:r>
            <a:r>
              <a:rPr dirty="0" sz="1000" spc="-10">
                <a:latin typeface="Times New Roman"/>
                <a:cs typeface="Times New Roman"/>
              </a:rPr>
              <a:t>Exploring </a:t>
            </a:r>
            <a:r>
              <a:rPr dirty="0" sz="1000" spc="-10">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limits</a:t>
            </a:r>
            <a:r>
              <a:rPr dirty="0" sz="1000" spc="-5">
                <a:latin typeface="Times New Roman"/>
                <a:cs typeface="Times New Roman"/>
              </a:rPr>
              <a:t> </a:t>
            </a:r>
            <a:r>
              <a:rPr dirty="0" sz="1000">
                <a:latin typeface="Times New Roman"/>
                <a:cs typeface="Times New Roman"/>
              </a:rPr>
              <a:t>of</a:t>
            </a:r>
            <a:r>
              <a:rPr dirty="0" sz="1000" spc="-10">
                <a:latin typeface="Times New Roman"/>
                <a:cs typeface="Times New Roman"/>
              </a:rPr>
              <a:t> </a:t>
            </a:r>
            <a:r>
              <a:rPr dirty="0" sz="1000">
                <a:latin typeface="Times New Roman"/>
                <a:cs typeface="Times New Roman"/>
              </a:rPr>
              <a:t>language</a:t>
            </a:r>
            <a:r>
              <a:rPr dirty="0" sz="1000" spc="-5">
                <a:latin typeface="Times New Roman"/>
                <a:cs typeface="Times New Roman"/>
              </a:rPr>
              <a:t> </a:t>
            </a:r>
            <a:r>
              <a:rPr dirty="0" sz="1000">
                <a:latin typeface="Times New Roman"/>
                <a:cs typeface="Times New Roman"/>
              </a:rPr>
              <a:t>modeling.</a:t>
            </a:r>
            <a:r>
              <a:rPr dirty="0" sz="1000" spc="100">
                <a:latin typeface="Times New Roman"/>
                <a:cs typeface="Times New Roman"/>
              </a:rPr>
              <a:t> </a:t>
            </a:r>
            <a:r>
              <a:rPr dirty="0" sz="1000" i="1">
                <a:latin typeface="Times New Roman"/>
                <a:cs typeface="Times New Roman"/>
              </a:rPr>
              <a:t>arXiv</a:t>
            </a:r>
            <a:r>
              <a:rPr dirty="0" sz="1000" spc="-5" i="1">
                <a:latin typeface="Times New Roman"/>
                <a:cs typeface="Times New Roman"/>
              </a:rPr>
              <a:t> </a:t>
            </a:r>
            <a:r>
              <a:rPr dirty="0" sz="1000" spc="-10" i="1">
                <a:latin typeface="Times New Roman"/>
                <a:cs typeface="Times New Roman"/>
              </a:rPr>
              <a:t>preprint arXiv:1602.02410</a:t>
            </a:r>
            <a:r>
              <a:rPr dirty="0" sz="1000" spc="-10">
                <a:latin typeface="Times New Roman"/>
                <a:cs typeface="Times New Roman"/>
              </a:rPr>
              <a:t>,</a:t>
            </a:r>
            <a:r>
              <a:rPr dirty="0" sz="1000" spc="-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5115" marR="26670" indent="-273050">
              <a:lnSpc>
                <a:spcPts val="1090"/>
              </a:lnSpc>
              <a:spcBef>
                <a:spcPts val="850"/>
              </a:spcBef>
              <a:buAutoNum type="arabicPlain"/>
              <a:tabLst>
                <a:tab pos="286385" algn="l"/>
              </a:tabLst>
            </a:pPr>
            <a:r>
              <a:rPr dirty="0" sz="1000" spc="-10">
                <a:latin typeface="Times New Roman"/>
                <a:cs typeface="Times New Roman"/>
              </a:rPr>
              <a:t>Łukasz</a:t>
            </a:r>
            <a:r>
              <a:rPr dirty="0" sz="1000" spc="-40">
                <a:latin typeface="Times New Roman"/>
                <a:cs typeface="Times New Roman"/>
              </a:rPr>
              <a:t> </a:t>
            </a:r>
            <a:r>
              <a:rPr dirty="0" sz="1000">
                <a:latin typeface="Times New Roman"/>
                <a:cs typeface="Times New Roman"/>
              </a:rPr>
              <a:t>Kaiser</a:t>
            </a:r>
            <a:r>
              <a:rPr dirty="0" sz="1000" spc="-40">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a:latin typeface="Times New Roman"/>
                <a:cs typeface="Times New Roman"/>
              </a:rPr>
              <a:t>Ilya</a:t>
            </a:r>
            <a:r>
              <a:rPr dirty="0" sz="1000" spc="-40">
                <a:latin typeface="Times New Roman"/>
                <a:cs typeface="Times New Roman"/>
              </a:rPr>
              <a:t> </a:t>
            </a:r>
            <a:r>
              <a:rPr dirty="0" sz="1000" spc="-10">
                <a:latin typeface="Times New Roman"/>
                <a:cs typeface="Times New Roman"/>
              </a:rPr>
              <a:t>Sutskever.</a:t>
            </a:r>
            <a:r>
              <a:rPr dirty="0" sz="1000" spc="60">
                <a:latin typeface="Times New Roman"/>
                <a:cs typeface="Times New Roman"/>
              </a:rPr>
              <a:t> </a:t>
            </a:r>
            <a:r>
              <a:rPr dirty="0" sz="1000">
                <a:latin typeface="Times New Roman"/>
                <a:cs typeface="Times New Roman"/>
              </a:rPr>
              <a:t>Neural</a:t>
            </a:r>
            <a:r>
              <a:rPr dirty="0" sz="1000" spc="-40">
                <a:latin typeface="Times New Roman"/>
                <a:cs typeface="Times New Roman"/>
              </a:rPr>
              <a:t> </a:t>
            </a:r>
            <a:r>
              <a:rPr dirty="0" sz="1000">
                <a:latin typeface="Times New Roman"/>
                <a:cs typeface="Times New Roman"/>
              </a:rPr>
              <a:t>GPUs</a:t>
            </a:r>
            <a:r>
              <a:rPr dirty="0" sz="1000" spc="-40">
                <a:latin typeface="Times New Roman"/>
                <a:cs typeface="Times New Roman"/>
              </a:rPr>
              <a:t> </a:t>
            </a:r>
            <a:r>
              <a:rPr dirty="0" sz="1000">
                <a:latin typeface="Times New Roman"/>
                <a:cs typeface="Times New Roman"/>
              </a:rPr>
              <a:t>learn</a:t>
            </a:r>
            <a:r>
              <a:rPr dirty="0" sz="1000" spc="-40">
                <a:latin typeface="Times New Roman"/>
                <a:cs typeface="Times New Roman"/>
              </a:rPr>
              <a:t> </a:t>
            </a:r>
            <a:r>
              <a:rPr dirty="0" sz="1000">
                <a:latin typeface="Times New Roman"/>
                <a:cs typeface="Times New Roman"/>
              </a:rPr>
              <a:t>algorithms.</a:t>
            </a:r>
            <a:r>
              <a:rPr dirty="0" sz="1000" spc="55">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spc="-10" i="1">
                <a:latin typeface="Times New Roman"/>
                <a:cs typeface="Times New Roman"/>
              </a:rPr>
              <a:t>International</a:t>
            </a:r>
            <a:r>
              <a:rPr dirty="0" sz="1000" spc="-40" i="1">
                <a:latin typeface="Times New Roman"/>
                <a:cs typeface="Times New Roman"/>
              </a:rPr>
              <a:t> </a:t>
            </a:r>
            <a:r>
              <a:rPr dirty="0" sz="1000" spc="-10" i="1">
                <a:latin typeface="Times New Roman"/>
                <a:cs typeface="Times New Roman"/>
              </a:rPr>
              <a:t>Conference </a:t>
            </a:r>
            <a:r>
              <a:rPr dirty="0" sz="1000" spc="-10" i="1">
                <a:latin typeface="Times New Roman"/>
                <a:cs typeface="Times New Roman"/>
              </a:rPr>
              <a:t>	</a:t>
            </a:r>
            <a:r>
              <a:rPr dirty="0" sz="1000" i="1">
                <a:latin typeface="Times New Roman"/>
                <a:cs typeface="Times New Roman"/>
              </a:rPr>
              <a:t>on</a:t>
            </a:r>
            <a:r>
              <a:rPr dirty="0" sz="1000" spc="-15" i="1">
                <a:latin typeface="Times New Roman"/>
                <a:cs typeface="Times New Roman"/>
              </a:rPr>
              <a:t> </a:t>
            </a:r>
            <a:r>
              <a:rPr dirty="0" sz="1000" i="1">
                <a:latin typeface="Times New Roman"/>
                <a:cs typeface="Times New Roman"/>
              </a:rPr>
              <a:t>Learning</a:t>
            </a:r>
            <a:r>
              <a:rPr dirty="0" sz="1000" spc="-15" i="1">
                <a:latin typeface="Times New Roman"/>
                <a:cs typeface="Times New Roman"/>
              </a:rPr>
              <a:t> </a:t>
            </a:r>
            <a:r>
              <a:rPr dirty="0" sz="1000" spc="-10" i="1">
                <a:latin typeface="Times New Roman"/>
                <a:cs typeface="Times New Roman"/>
              </a:rPr>
              <a:t>Representations</a:t>
            </a:r>
            <a:r>
              <a:rPr dirty="0" sz="1000" spc="-15" i="1">
                <a:latin typeface="Times New Roman"/>
                <a:cs typeface="Times New Roman"/>
              </a:rPr>
              <a:t> </a:t>
            </a:r>
            <a:r>
              <a:rPr dirty="0" sz="1000" i="1">
                <a:latin typeface="Times New Roman"/>
                <a:cs typeface="Times New Roman"/>
              </a:rPr>
              <a:t>(ICLR)</a:t>
            </a:r>
            <a:r>
              <a:rPr dirty="0" sz="1000">
                <a:latin typeface="Times New Roman"/>
                <a:cs typeface="Times New Roman"/>
              </a:rPr>
              <a:t>,</a:t>
            </a:r>
            <a:r>
              <a:rPr dirty="0" sz="1000" spc="-1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5115" marR="5715" indent="-273050">
              <a:lnSpc>
                <a:spcPts val="1090"/>
              </a:lnSpc>
              <a:spcBef>
                <a:spcPts val="855"/>
              </a:spcBef>
              <a:buAutoNum type="arabicPlain"/>
              <a:tabLst>
                <a:tab pos="286385" algn="l"/>
              </a:tabLst>
            </a:pPr>
            <a:r>
              <a:rPr dirty="0" sz="1000" spc="-10">
                <a:latin typeface="Times New Roman"/>
                <a:cs typeface="Times New Roman"/>
              </a:rPr>
              <a:t>Nal</a:t>
            </a:r>
            <a:r>
              <a:rPr dirty="0" sz="1000" spc="-30">
                <a:latin typeface="Times New Roman"/>
                <a:cs typeface="Times New Roman"/>
              </a:rPr>
              <a:t> </a:t>
            </a:r>
            <a:r>
              <a:rPr dirty="0" sz="1000" spc="-20">
                <a:latin typeface="Times New Roman"/>
                <a:cs typeface="Times New Roman"/>
              </a:rPr>
              <a:t>Kalchbrenner, </a:t>
            </a:r>
            <a:r>
              <a:rPr dirty="0" sz="1000" spc="-10">
                <a:latin typeface="Times New Roman"/>
                <a:cs typeface="Times New Roman"/>
              </a:rPr>
              <a:t>Lasse</a:t>
            </a:r>
            <a:r>
              <a:rPr dirty="0" sz="1000" spc="-25">
                <a:latin typeface="Times New Roman"/>
                <a:cs typeface="Times New Roman"/>
              </a:rPr>
              <a:t> </a:t>
            </a:r>
            <a:r>
              <a:rPr dirty="0" sz="1000" spc="-10">
                <a:latin typeface="Times New Roman"/>
                <a:cs typeface="Times New Roman"/>
              </a:rPr>
              <a:t>Espeholt,</a:t>
            </a:r>
            <a:r>
              <a:rPr dirty="0" sz="1000" spc="-20">
                <a:latin typeface="Times New Roman"/>
                <a:cs typeface="Times New Roman"/>
              </a:rPr>
              <a:t> Karen</a:t>
            </a:r>
            <a:r>
              <a:rPr dirty="0" sz="1000" spc="-25">
                <a:latin typeface="Times New Roman"/>
                <a:cs typeface="Times New Roman"/>
              </a:rPr>
              <a:t> </a:t>
            </a:r>
            <a:r>
              <a:rPr dirty="0" sz="1000" spc="-20">
                <a:latin typeface="Times New Roman"/>
                <a:cs typeface="Times New Roman"/>
              </a:rPr>
              <a:t>Simonyan, </a:t>
            </a:r>
            <a:r>
              <a:rPr dirty="0" sz="1000" spc="-10">
                <a:latin typeface="Times New Roman"/>
                <a:cs typeface="Times New Roman"/>
              </a:rPr>
              <a:t>Aaron</a:t>
            </a:r>
            <a:r>
              <a:rPr dirty="0" sz="1000" spc="-25">
                <a:latin typeface="Times New Roman"/>
                <a:cs typeface="Times New Roman"/>
              </a:rPr>
              <a:t> </a:t>
            </a:r>
            <a:r>
              <a:rPr dirty="0" sz="1000" spc="-20">
                <a:latin typeface="Times New Roman"/>
                <a:cs typeface="Times New Roman"/>
              </a:rPr>
              <a:t>van</a:t>
            </a:r>
            <a:r>
              <a:rPr dirty="0" sz="1000" spc="-25">
                <a:latin typeface="Times New Roman"/>
                <a:cs typeface="Times New Roman"/>
              </a:rPr>
              <a:t> </a:t>
            </a:r>
            <a:r>
              <a:rPr dirty="0" sz="1000" spc="-10">
                <a:latin typeface="Times New Roman"/>
                <a:cs typeface="Times New Roman"/>
              </a:rPr>
              <a:t>den</a:t>
            </a:r>
            <a:r>
              <a:rPr dirty="0" sz="1000" spc="-25">
                <a:latin typeface="Times New Roman"/>
                <a:cs typeface="Times New Roman"/>
              </a:rPr>
              <a:t> </a:t>
            </a:r>
            <a:r>
              <a:rPr dirty="0" sz="1000" spc="-10">
                <a:latin typeface="Times New Roman"/>
                <a:cs typeface="Times New Roman"/>
              </a:rPr>
              <a:t>Oord,</a:t>
            </a:r>
            <a:r>
              <a:rPr dirty="0" sz="1000" spc="-20">
                <a:latin typeface="Times New Roman"/>
                <a:cs typeface="Times New Roman"/>
              </a:rPr>
              <a:t> Alex</a:t>
            </a:r>
            <a:r>
              <a:rPr dirty="0" sz="1000" spc="-25">
                <a:latin typeface="Times New Roman"/>
                <a:cs typeface="Times New Roman"/>
              </a:rPr>
              <a:t> Graves,</a:t>
            </a:r>
            <a:r>
              <a:rPr dirty="0" sz="1000" spc="-20">
                <a:latin typeface="Times New Roman"/>
                <a:cs typeface="Times New Roman"/>
              </a:rPr>
              <a:t> </a:t>
            </a:r>
            <a:r>
              <a:rPr dirty="0" sz="1000" spc="-10">
                <a:latin typeface="Times New Roman"/>
                <a:cs typeface="Times New Roman"/>
              </a:rPr>
              <a:t>and</a:t>
            </a:r>
            <a:r>
              <a:rPr dirty="0" sz="1000" spc="-25">
                <a:latin typeface="Times New Roman"/>
                <a:cs typeface="Times New Roman"/>
              </a:rPr>
              <a:t> Ko- </a:t>
            </a:r>
            <a:r>
              <a:rPr dirty="0" sz="1000" spc="-25">
                <a:latin typeface="Times New Roman"/>
                <a:cs typeface="Times New Roman"/>
              </a:rPr>
              <a:t>	</a:t>
            </a:r>
            <a:r>
              <a:rPr dirty="0" sz="1000" spc="-20">
                <a:latin typeface="Times New Roman"/>
                <a:cs typeface="Times New Roman"/>
              </a:rPr>
              <a:t>ray</a:t>
            </a:r>
            <a:r>
              <a:rPr dirty="0" sz="1000" spc="-25">
                <a:latin typeface="Times New Roman"/>
                <a:cs typeface="Times New Roman"/>
              </a:rPr>
              <a:t> </a:t>
            </a:r>
            <a:r>
              <a:rPr dirty="0" sz="1000" spc="-20">
                <a:latin typeface="Times New Roman"/>
                <a:cs typeface="Times New Roman"/>
              </a:rPr>
              <a:t>Kavukcuoglu.</a:t>
            </a:r>
            <a:r>
              <a:rPr dirty="0" sz="1000" spc="50">
                <a:latin typeface="Times New Roman"/>
                <a:cs typeface="Times New Roman"/>
              </a:rPr>
              <a:t> </a:t>
            </a:r>
            <a:r>
              <a:rPr dirty="0" sz="1000" spc="-20">
                <a:latin typeface="Times New Roman"/>
                <a:cs typeface="Times New Roman"/>
              </a:rPr>
              <a:t>Neural machine</a:t>
            </a:r>
            <a:r>
              <a:rPr dirty="0" sz="1000" spc="-25">
                <a:latin typeface="Times New Roman"/>
                <a:cs typeface="Times New Roman"/>
              </a:rPr>
              <a:t> </a:t>
            </a:r>
            <a:r>
              <a:rPr dirty="0" sz="1000" spc="-20">
                <a:latin typeface="Times New Roman"/>
                <a:cs typeface="Times New Roman"/>
              </a:rPr>
              <a:t>translation </a:t>
            </a:r>
            <a:r>
              <a:rPr dirty="0" sz="1000" spc="-10">
                <a:latin typeface="Times New Roman"/>
                <a:cs typeface="Times New Roman"/>
              </a:rPr>
              <a:t>in</a:t>
            </a:r>
            <a:r>
              <a:rPr dirty="0" sz="1000" spc="-20">
                <a:latin typeface="Times New Roman"/>
                <a:cs typeface="Times New Roman"/>
              </a:rPr>
              <a:t> linear </a:t>
            </a:r>
            <a:r>
              <a:rPr dirty="0" sz="1000">
                <a:latin typeface="Times New Roman"/>
                <a:cs typeface="Times New Roman"/>
              </a:rPr>
              <a:t>time.</a:t>
            </a:r>
            <a:r>
              <a:rPr dirty="0" sz="1000" spc="45">
                <a:latin typeface="Times New Roman"/>
                <a:cs typeface="Times New Roman"/>
              </a:rPr>
              <a:t> </a:t>
            </a:r>
            <a:r>
              <a:rPr dirty="0" sz="1000" spc="-20" i="1">
                <a:latin typeface="Times New Roman"/>
                <a:cs typeface="Times New Roman"/>
              </a:rPr>
              <a:t>arXiv </a:t>
            </a:r>
            <a:r>
              <a:rPr dirty="0" sz="1000" spc="-25" i="1">
                <a:latin typeface="Times New Roman"/>
                <a:cs typeface="Times New Roman"/>
              </a:rPr>
              <a:t>preprint</a:t>
            </a:r>
            <a:r>
              <a:rPr dirty="0" sz="1000" spc="-20" i="1">
                <a:latin typeface="Times New Roman"/>
                <a:cs typeface="Times New Roman"/>
              </a:rPr>
              <a:t> </a:t>
            </a:r>
            <a:r>
              <a:rPr dirty="0" sz="1000" spc="-10" i="1">
                <a:latin typeface="Times New Roman"/>
                <a:cs typeface="Times New Roman"/>
              </a:rPr>
              <a:t>arXiv:1610.10099v2</a:t>
            </a:r>
            <a:r>
              <a:rPr dirty="0" sz="1000" spc="-10">
                <a:latin typeface="Times New Roman"/>
                <a:cs typeface="Times New Roman"/>
              </a:rPr>
              <a:t>, 	2017.</a:t>
            </a:r>
            <a:endParaRPr sz="1000">
              <a:latin typeface="Times New Roman"/>
              <a:cs typeface="Times New Roman"/>
            </a:endParaRPr>
          </a:p>
          <a:p>
            <a:pPr algn="just" marL="285115" marR="5080" indent="-273050">
              <a:lnSpc>
                <a:spcPts val="1090"/>
              </a:lnSpc>
              <a:spcBef>
                <a:spcPts val="860"/>
              </a:spcBef>
              <a:buAutoNum type="arabicPlain"/>
              <a:tabLst>
                <a:tab pos="286385" algn="l"/>
              </a:tabLst>
            </a:pPr>
            <a:r>
              <a:rPr dirty="0" sz="1000" spc="-40">
                <a:latin typeface="Times New Roman"/>
                <a:cs typeface="Times New Roman"/>
              </a:rPr>
              <a:t>Yoon</a:t>
            </a:r>
            <a:r>
              <a:rPr dirty="0" sz="1000" spc="-25">
                <a:latin typeface="Times New Roman"/>
                <a:cs typeface="Times New Roman"/>
              </a:rPr>
              <a:t> </a:t>
            </a:r>
            <a:r>
              <a:rPr dirty="0" sz="1000">
                <a:latin typeface="Times New Roman"/>
                <a:cs typeface="Times New Roman"/>
              </a:rPr>
              <a:t>Kim,</a:t>
            </a:r>
            <a:r>
              <a:rPr dirty="0" sz="1000" spc="-20">
                <a:latin typeface="Times New Roman"/>
                <a:cs typeface="Times New Roman"/>
              </a:rPr>
              <a:t> </a:t>
            </a:r>
            <a:r>
              <a:rPr dirty="0" sz="1000">
                <a:latin typeface="Times New Roman"/>
                <a:cs typeface="Times New Roman"/>
              </a:rPr>
              <a:t>Carl</a:t>
            </a:r>
            <a:r>
              <a:rPr dirty="0" sz="1000" spc="-20">
                <a:latin typeface="Times New Roman"/>
                <a:cs typeface="Times New Roman"/>
              </a:rPr>
              <a:t> </a:t>
            </a:r>
            <a:r>
              <a:rPr dirty="0" sz="1000" spc="-10">
                <a:latin typeface="Times New Roman"/>
                <a:cs typeface="Times New Roman"/>
              </a:rPr>
              <a:t>Denton,</a:t>
            </a:r>
            <a:r>
              <a:rPr dirty="0" sz="1000" spc="-20">
                <a:latin typeface="Times New Roman"/>
                <a:cs typeface="Times New Roman"/>
              </a:rPr>
              <a:t> </a:t>
            </a:r>
            <a:r>
              <a:rPr dirty="0" sz="1000" spc="-10">
                <a:latin typeface="Times New Roman"/>
                <a:cs typeface="Times New Roman"/>
              </a:rPr>
              <a:t>Luong</a:t>
            </a:r>
            <a:r>
              <a:rPr dirty="0" sz="1000" spc="-20">
                <a:latin typeface="Times New Roman"/>
                <a:cs typeface="Times New Roman"/>
              </a:rPr>
              <a:t> </a:t>
            </a:r>
            <a:r>
              <a:rPr dirty="0" sz="1000" spc="-10">
                <a:latin typeface="Times New Roman"/>
                <a:cs typeface="Times New Roman"/>
              </a:rPr>
              <a:t>Hoang,</a:t>
            </a:r>
            <a:r>
              <a:rPr dirty="0" sz="1000" spc="-20">
                <a:latin typeface="Times New Roman"/>
                <a:cs typeface="Times New Roman"/>
              </a:rPr>
              <a:t> </a:t>
            </a:r>
            <a:r>
              <a:rPr dirty="0" sz="1000">
                <a:latin typeface="Times New Roman"/>
                <a:cs typeface="Times New Roman"/>
              </a:rPr>
              <a:t>and</a:t>
            </a:r>
            <a:r>
              <a:rPr dirty="0" sz="1000" spc="-25">
                <a:latin typeface="Times New Roman"/>
                <a:cs typeface="Times New Roman"/>
              </a:rPr>
              <a:t> </a:t>
            </a:r>
            <a:r>
              <a:rPr dirty="0" sz="1000" spc="-20">
                <a:latin typeface="Times New Roman"/>
                <a:cs typeface="Times New Roman"/>
              </a:rPr>
              <a:t>Alexander </a:t>
            </a:r>
            <a:r>
              <a:rPr dirty="0" sz="1000">
                <a:latin typeface="Times New Roman"/>
                <a:cs typeface="Times New Roman"/>
              </a:rPr>
              <a:t>M.</a:t>
            </a:r>
            <a:r>
              <a:rPr dirty="0" sz="1000" spc="-20">
                <a:latin typeface="Times New Roman"/>
                <a:cs typeface="Times New Roman"/>
              </a:rPr>
              <a:t> </a:t>
            </a:r>
            <a:r>
              <a:rPr dirty="0" sz="1000">
                <a:latin typeface="Times New Roman"/>
                <a:cs typeface="Times New Roman"/>
              </a:rPr>
              <a:t>Rush.</a:t>
            </a:r>
            <a:r>
              <a:rPr dirty="0" sz="1000" spc="80">
                <a:latin typeface="Times New Roman"/>
                <a:cs typeface="Times New Roman"/>
              </a:rPr>
              <a:t> </a:t>
            </a:r>
            <a:r>
              <a:rPr dirty="0" sz="1000" spc="-10">
                <a:latin typeface="Times New Roman"/>
                <a:cs typeface="Times New Roman"/>
              </a:rPr>
              <a:t>Structured</a:t>
            </a:r>
            <a:r>
              <a:rPr dirty="0" sz="1000" spc="-20">
                <a:latin typeface="Times New Roman"/>
                <a:cs typeface="Times New Roman"/>
              </a:rPr>
              <a:t> </a:t>
            </a:r>
            <a:r>
              <a:rPr dirty="0" sz="1000" spc="-10">
                <a:latin typeface="Times New Roman"/>
                <a:cs typeface="Times New Roman"/>
              </a:rPr>
              <a:t>attention</a:t>
            </a:r>
            <a:r>
              <a:rPr dirty="0" sz="1000" spc="-20">
                <a:latin typeface="Times New Roman"/>
                <a:cs typeface="Times New Roman"/>
              </a:rPr>
              <a:t> </a:t>
            </a:r>
            <a:r>
              <a:rPr dirty="0" sz="1000" spc="-10">
                <a:latin typeface="Times New Roman"/>
                <a:cs typeface="Times New Roman"/>
              </a:rPr>
              <a:t>networks. </a:t>
            </a:r>
            <a:r>
              <a:rPr dirty="0" sz="1000" spc="-10">
                <a:latin typeface="Times New Roman"/>
                <a:cs typeface="Times New Roman"/>
              </a:rPr>
              <a:t>	</a:t>
            </a:r>
            <a:r>
              <a:rPr dirty="0" sz="1000">
                <a:latin typeface="Times New Roman"/>
                <a:cs typeface="Times New Roman"/>
              </a:rPr>
              <a:t>In</a:t>
            </a:r>
            <a:r>
              <a:rPr dirty="0" sz="1000" spc="-20">
                <a:latin typeface="Times New Roman"/>
                <a:cs typeface="Times New Roman"/>
              </a:rPr>
              <a:t> </a:t>
            </a:r>
            <a:r>
              <a:rPr dirty="0" sz="1000" i="1">
                <a:latin typeface="Times New Roman"/>
                <a:cs typeface="Times New Roman"/>
              </a:rPr>
              <a:t>International</a:t>
            </a:r>
            <a:r>
              <a:rPr dirty="0" sz="1000" spc="-15" i="1">
                <a:latin typeface="Times New Roman"/>
                <a:cs typeface="Times New Roman"/>
              </a:rPr>
              <a:t> </a:t>
            </a:r>
            <a:r>
              <a:rPr dirty="0" sz="1000" spc="-10" i="1">
                <a:latin typeface="Times New Roman"/>
                <a:cs typeface="Times New Roman"/>
              </a:rPr>
              <a:t>Conference</a:t>
            </a:r>
            <a:r>
              <a:rPr dirty="0" sz="1000" spc="-15" i="1">
                <a:latin typeface="Times New Roman"/>
                <a:cs typeface="Times New Roman"/>
              </a:rPr>
              <a:t> </a:t>
            </a:r>
            <a:r>
              <a:rPr dirty="0" sz="1000" i="1">
                <a:latin typeface="Times New Roman"/>
                <a:cs typeface="Times New Roman"/>
              </a:rPr>
              <a:t>on</a:t>
            </a:r>
            <a:r>
              <a:rPr dirty="0" sz="1000" spc="-15" i="1">
                <a:latin typeface="Times New Roman"/>
                <a:cs typeface="Times New Roman"/>
              </a:rPr>
              <a:t> </a:t>
            </a:r>
            <a:r>
              <a:rPr dirty="0" sz="1000" i="1">
                <a:latin typeface="Times New Roman"/>
                <a:cs typeface="Times New Roman"/>
              </a:rPr>
              <a:t>Learning</a:t>
            </a:r>
            <a:r>
              <a:rPr dirty="0" sz="1000" spc="-15" i="1">
                <a:latin typeface="Times New Roman"/>
                <a:cs typeface="Times New Roman"/>
              </a:rPr>
              <a:t> </a:t>
            </a:r>
            <a:r>
              <a:rPr dirty="0" sz="1000" spc="-10" i="1">
                <a:latin typeface="Times New Roman"/>
                <a:cs typeface="Times New Roman"/>
              </a:rPr>
              <a:t>Representations</a:t>
            </a:r>
            <a:r>
              <a:rPr dirty="0" sz="1000" spc="-10">
                <a:latin typeface="Times New Roman"/>
                <a:cs typeface="Times New Roman"/>
              </a:rPr>
              <a:t>,</a:t>
            </a:r>
            <a:r>
              <a:rPr dirty="0" sz="1000" spc="-15">
                <a:latin typeface="Times New Roman"/>
                <a:cs typeface="Times New Roman"/>
              </a:rPr>
              <a:t> </a:t>
            </a:r>
            <a:r>
              <a:rPr dirty="0" sz="1000" spc="-10">
                <a:latin typeface="Times New Roman"/>
                <a:cs typeface="Times New Roman"/>
              </a:rPr>
              <a:t>2017.</a:t>
            </a:r>
            <a:endParaRPr sz="1000">
              <a:latin typeface="Times New Roman"/>
              <a:cs typeface="Times New Roman"/>
            </a:endParaRPr>
          </a:p>
          <a:p>
            <a:pPr marL="285750" indent="-273050">
              <a:lnSpc>
                <a:spcPct val="100000"/>
              </a:lnSpc>
              <a:spcBef>
                <a:spcPts val="725"/>
              </a:spcBef>
              <a:buAutoNum type="arabicPlain"/>
              <a:tabLst>
                <a:tab pos="285750" algn="l"/>
              </a:tabLst>
            </a:pPr>
            <a:r>
              <a:rPr dirty="0" sz="1000" spc="-10">
                <a:latin typeface="Times New Roman"/>
                <a:cs typeface="Times New Roman"/>
              </a:rPr>
              <a:t>Diederik</a:t>
            </a:r>
            <a:r>
              <a:rPr dirty="0" sz="1000" spc="-35">
                <a:latin typeface="Times New Roman"/>
                <a:cs typeface="Times New Roman"/>
              </a:rPr>
              <a:t> </a:t>
            </a:r>
            <a:r>
              <a:rPr dirty="0" sz="1000" spc="-10">
                <a:latin typeface="Times New Roman"/>
                <a:cs typeface="Times New Roman"/>
              </a:rPr>
              <a:t>Kingma</a:t>
            </a:r>
            <a:r>
              <a:rPr dirty="0" sz="1000" spc="-30">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Jimmy</a:t>
            </a:r>
            <a:r>
              <a:rPr dirty="0" sz="1000" spc="-30">
                <a:latin typeface="Times New Roman"/>
                <a:cs typeface="Times New Roman"/>
              </a:rPr>
              <a:t> </a:t>
            </a:r>
            <a:r>
              <a:rPr dirty="0" sz="1000">
                <a:latin typeface="Times New Roman"/>
                <a:cs typeface="Times New Roman"/>
              </a:rPr>
              <a:t>Ba.</a:t>
            </a:r>
            <a:r>
              <a:rPr dirty="0" sz="1000" spc="70">
                <a:latin typeface="Times New Roman"/>
                <a:cs typeface="Times New Roman"/>
              </a:rPr>
              <a:t> </a:t>
            </a:r>
            <a:r>
              <a:rPr dirty="0" sz="1000">
                <a:latin typeface="Times New Roman"/>
                <a:cs typeface="Times New Roman"/>
              </a:rPr>
              <a:t>Adam:</a:t>
            </a:r>
            <a:r>
              <a:rPr dirty="0" sz="1000" spc="20">
                <a:latin typeface="Times New Roman"/>
                <a:cs typeface="Times New Roman"/>
              </a:rPr>
              <a:t> </a:t>
            </a:r>
            <a:r>
              <a:rPr dirty="0" sz="1000">
                <a:latin typeface="Times New Roman"/>
                <a:cs typeface="Times New Roman"/>
              </a:rPr>
              <a:t>A</a:t>
            </a:r>
            <a:r>
              <a:rPr dirty="0" sz="1000" spc="-30">
                <a:latin typeface="Times New Roman"/>
                <a:cs typeface="Times New Roman"/>
              </a:rPr>
              <a:t> </a:t>
            </a:r>
            <a:r>
              <a:rPr dirty="0" sz="1000" spc="-10">
                <a:latin typeface="Times New Roman"/>
                <a:cs typeface="Times New Roman"/>
              </a:rPr>
              <a:t>method</a:t>
            </a:r>
            <a:r>
              <a:rPr dirty="0" sz="1000" spc="-30">
                <a:latin typeface="Times New Roman"/>
                <a:cs typeface="Times New Roman"/>
              </a:rPr>
              <a:t> </a:t>
            </a:r>
            <a:r>
              <a:rPr dirty="0" sz="1000">
                <a:latin typeface="Times New Roman"/>
                <a:cs typeface="Times New Roman"/>
              </a:rPr>
              <a:t>for</a:t>
            </a:r>
            <a:r>
              <a:rPr dirty="0" sz="1000" spc="-30">
                <a:latin typeface="Times New Roman"/>
                <a:cs typeface="Times New Roman"/>
              </a:rPr>
              <a:t> </a:t>
            </a:r>
            <a:r>
              <a:rPr dirty="0" sz="1000" spc="-10">
                <a:latin typeface="Times New Roman"/>
                <a:cs typeface="Times New Roman"/>
              </a:rPr>
              <a:t>stochastic</a:t>
            </a:r>
            <a:r>
              <a:rPr dirty="0" sz="1000" spc="-30">
                <a:latin typeface="Times New Roman"/>
                <a:cs typeface="Times New Roman"/>
              </a:rPr>
              <a:t> </a:t>
            </a:r>
            <a:r>
              <a:rPr dirty="0" sz="1000">
                <a:latin typeface="Times New Roman"/>
                <a:cs typeface="Times New Roman"/>
              </a:rPr>
              <a:t>optimization.</a:t>
            </a:r>
            <a:r>
              <a:rPr dirty="0" sz="1000" spc="70">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i="1">
                <a:latin typeface="Times New Roman"/>
                <a:cs typeface="Times New Roman"/>
              </a:rPr>
              <a:t>ICLR</a:t>
            </a:r>
            <a:r>
              <a:rPr dirty="0" sz="1000">
                <a:latin typeface="Times New Roman"/>
                <a:cs typeface="Times New Roman"/>
              </a:rPr>
              <a:t>,</a:t>
            </a:r>
            <a:r>
              <a:rPr dirty="0" sz="1000" spc="-30">
                <a:latin typeface="Times New Roman"/>
                <a:cs typeface="Times New Roman"/>
              </a:rPr>
              <a:t> </a:t>
            </a:r>
            <a:r>
              <a:rPr dirty="0" sz="1000" spc="-10">
                <a:latin typeface="Times New Roman"/>
                <a:cs typeface="Times New Roman"/>
              </a:rPr>
              <a:t>2015.</a:t>
            </a:r>
            <a:endParaRPr sz="1000">
              <a:latin typeface="Times New Roman"/>
              <a:cs typeface="Times New Roman"/>
            </a:endParaRPr>
          </a:p>
          <a:p>
            <a:pPr algn="just" marL="285115" marR="26670" indent="-273050">
              <a:lnSpc>
                <a:spcPts val="1090"/>
              </a:lnSpc>
              <a:spcBef>
                <a:spcPts val="869"/>
              </a:spcBef>
              <a:buAutoNum type="arabicPlain"/>
              <a:tabLst>
                <a:tab pos="286385" algn="l"/>
              </a:tabLst>
            </a:pPr>
            <a:r>
              <a:rPr dirty="0" sz="1000" spc="-10">
                <a:latin typeface="Times New Roman"/>
                <a:cs typeface="Times New Roman"/>
              </a:rPr>
              <a:t>Oleksii</a:t>
            </a:r>
            <a:r>
              <a:rPr dirty="0" sz="1000" spc="-45">
                <a:latin typeface="Times New Roman"/>
                <a:cs typeface="Times New Roman"/>
              </a:rPr>
              <a:t> </a:t>
            </a:r>
            <a:r>
              <a:rPr dirty="0" sz="1000" spc="-10">
                <a:latin typeface="Times New Roman"/>
                <a:cs typeface="Times New Roman"/>
              </a:rPr>
              <a:t>Kuchaiev</a:t>
            </a:r>
            <a:r>
              <a:rPr dirty="0" sz="1000" spc="-45">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a:latin typeface="Times New Roman"/>
                <a:cs typeface="Times New Roman"/>
              </a:rPr>
              <a:t>Boris</a:t>
            </a:r>
            <a:r>
              <a:rPr dirty="0" sz="1000" spc="-45">
                <a:latin typeface="Times New Roman"/>
                <a:cs typeface="Times New Roman"/>
              </a:rPr>
              <a:t> </a:t>
            </a:r>
            <a:r>
              <a:rPr dirty="0" sz="1000">
                <a:latin typeface="Times New Roman"/>
                <a:cs typeface="Times New Roman"/>
              </a:rPr>
              <a:t>Ginsburg.</a:t>
            </a:r>
            <a:r>
              <a:rPr dirty="0" sz="1000" spc="55">
                <a:latin typeface="Times New Roman"/>
                <a:cs typeface="Times New Roman"/>
              </a:rPr>
              <a:t> </a:t>
            </a:r>
            <a:r>
              <a:rPr dirty="0" sz="1000" spc="-10">
                <a:latin typeface="Times New Roman"/>
                <a:cs typeface="Times New Roman"/>
              </a:rPr>
              <a:t>Factorization</a:t>
            </a:r>
            <a:r>
              <a:rPr dirty="0" sz="1000" spc="-45">
                <a:latin typeface="Times New Roman"/>
                <a:cs typeface="Times New Roman"/>
              </a:rPr>
              <a:t> </a:t>
            </a:r>
            <a:r>
              <a:rPr dirty="0" sz="1000">
                <a:latin typeface="Times New Roman"/>
                <a:cs typeface="Times New Roman"/>
              </a:rPr>
              <a:t>tricks</a:t>
            </a:r>
            <a:r>
              <a:rPr dirty="0" sz="1000" spc="-40">
                <a:latin typeface="Times New Roman"/>
                <a:cs typeface="Times New Roman"/>
              </a:rPr>
              <a:t> </a:t>
            </a:r>
            <a:r>
              <a:rPr dirty="0" sz="1000">
                <a:latin typeface="Times New Roman"/>
                <a:cs typeface="Times New Roman"/>
              </a:rPr>
              <a:t>for</a:t>
            </a:r>
            <a:r>
              <a:rPr dirty="0" sz="1000" spc="-45">
                <a:latin typeface="Times New Roman"/>
                <a:cs typeface="Times New Roman"/>
              </a:rPr>
              <a:t> </a:t>
            </a:r>
            <a:r>
              <a:rPr dirty="0" sz="1000">
                <a:latin typeface="Times New Roman"/>
                <a:cs typeface="Times New Roman"/>
              </a:rPr>
              <a:t>LSTM</a:t>
            </a:r>
            <a:r>
              <a:rPr dirty="0" sz="1000" spc="-45">
                <a:latin typeface="Times New Roman"/>
                <a:cs typeface="Times New Roman"/>
              </a:rPr>
              <a:t> </a:t>
            </a:r>
            <a:r>
              <a:rPr dirty="0" sz="1000">
                <a:latin typeface="Times New Roman"/>
                <a:cs typeface="Times New Roman"/>
              </a:rPr>
              <a:t>networks.</a:t>
            </a:r>
            <a:r>
              <a:rPr dirty="0" sz="1000" spc="55">
                <a:latin typeface="Times New Roman"/>
                <a:cs typeface="Times New Roman"/>
              </a:rPr>
              <a:t> </a:t>
            </a:r>
            <a:r>
              <a:rPr dirty="0" sz="1000" i="1">
                <a:latin typeface="Times New Roman"/>
                <a:cs typeface="Times New Roman"/>
              </a:rPr>
              <a:t>arXiv</a:t>
            </a:r>
            <a:r>
              <a:rPr dirty="0" sz="1000" spc="-45" i="1">
                <a:latin typeface="Times New Roman"/>
                <a:cs typeface="Times New Roman"/>
              </a:rPr>
              <a:t> </a:t>
            </a:r>
            <a:r>
              <a:rPr dirty="0" sz="1000" spc="-10" i="1">
                <a:latin typeface="Times New Roman"/>
                <a:cs typeface="Times New Roman"/>
              </a:rPr>
              <a:t>preprint 	arXiv:1703.10722</a:t>
            </a:r>
            <a:r>
              <a:rPr dirty="0" sz="1000" spc="-10">
                <a:latin typeface="Times New Roman"/>
                <a:cs typeface="Times New Roman"/>
              </a:rPr>
              <a:t>,</a:t>
            </a:r>
            <a:r>
              <a:rPr dirty="0" sz="1000" spc="85">
                <a:latin typeface="Times New Roman"/>
                <a:cs typeface="Times New Roman"/>
              </a:rPr>
              <a:t> </a:t>
            </a:r>
            <a:r>
              <a:rPr dirty="0" sz="1000" spc="-10">
                <a:latin typeface="Times New Roman"/>
                <a:cs typeface="Times New Roman"/>
              </a:rPr>
              <a:t>2017.</a:t>
            </a:r>
            <a:endParaRPr sz="1000">
              <a:latin typeface="Times New Roman"/>
              <a:cs typeface="Times New Roman"/>
            </a:endParaRPr>
          </a:p>
          <a:p>
            <a:pPr algn="just" marL="285115" marR="26670" indent="-273050">
              <a:lnSpc>
                <a:spcPts val="1090"/>
              </a:lnSpc>
              <a:spcBef>
                <a:spcPts val="855"/>
              </a:spcBef>
              <a:buAutoNum type="arabicPlain"/>
              <a:tabLst>
                <a:tab pos="286385" algn="l"/>
              </a:tabLst>
            </a:pPr>
            <a:r>
              <a:rPr dirty="0" sz="1000">
                <a:latin typeface="Times New Roman"/>
                <a:cs typeface="Times New Roman"/>
              </a:rPr>
              <a:t>Zhouhan</a:t>
            </a:r>
            <a:r>
              <a:rPr dirty="0" sz="1000" spc="200">
                <a:latin typeface="Times New Roman"/>
                <a:cs typeface="Times New Roman"/>
              </a:rPr>
              <a:t> </a:t>
            </a:r>
            <a:r>
              <a:rPr dirty="0" sz="1000">
                <a:latin typeface="Times New Roman"/>
                <a:cs typeface="Times New Roman"/>
              </a:rPr>
              <a:t>Lin,</a:t>
            </a:r>
            <a:r>
              <a:rPr dirty="0" sz="1000" spc="245">
                <a:latin typeface="Times New Roman"/>
                <a:cs typeface="Times New Roman"/>
              </a:rPr>
              <a:t> </a:t>
            </a:r>
            <a:r>
              <a:rPr dirty="0" sz="1000">
                <a:latin typeface="Times New Roman"/>
                <a:cs typeface="Times New Roman"/>
              </a:rPr>
              <a:t>Minwei</a:t>
            </a:r>
            <a:r>
              <a:rPr dirty="0" sz="1000" spc="200">
                <a:latin typeface="Times New Roman"/>
                <a:cs typeface="Times New Roman"/>
              </a:rPr>
              <a:t> </a:t>
            </a:r>
            <a:r>
              <a:rPr dirty="0" sz="1000">
                <a:latin typeface="Times New Roman"/>
                <a:cs typeface="Times New Roman"/>
              </a:rPr>
              <a:t>Feng,</a:t>
            </a:r>
            <a:r>
              <a:rPr dirty="0" sz="1000" spc="245">
                <a:latin typeface="Times New Roman"/>
                <a:cs typeface="Times New Roman"/>
              </a:rPr>
              <a:t> </a:t>
            </a:r>
            <a:r>
              <a:rPr dirty="0" sz="1000">
                <a:latin typeface="Times New Roman"/>
                <a:cs typeface="Times New Roman"/>
              </a:rPr>
              <a:t>Cicero</a:t>
            </a:r>
            <a:r>
              <a:rPr dirty="0" sz="1000" spc="200">
                <a:latin typeface="Times New Roman"/>
                <a:cs typeface="Times New Roman"/>
              </a:rPr>
              <a:t> </a:t>
            </a:r>
            <a:r>
              <a:rPr dirty="0" sz="1000">
                <a:latin typeface="Times New Roman"/>
                <a:cs typeface="Times New Roman"/>
              </a:rPr>
              <a:t>Nogueira</a:t>
            </a:r>
            <a:r>
              <a:rPr dirty="0" sz="1000" spc="204">
                <a:latin typeface="Times New Roman"/>
                <a:cs typeface="Times New Roman"/>
              </a:rPr>
              <a:t> </a:t>
            </a:r>
            <a:r>
              <a:rPr dirty="0" sz="1000">
                <a:latin typeface="Times New Roman"/>
                <a:cs typeface="Times New Roman"/>
              </a:rPr>
              <a:t>dos</a:t>
            </a:r>
            <a:r>
              <a:rPr dirty="0" sz="1000" spc="200">
                <a:latin typeface="Times New Roman"/>
                <a:cs typeface="Times New Roman"/>
              </a:rPr>
              <a:t> </a:t>
            </a:r>
            <a:r>
              <a:rPr dirty="0" sz="1000">
                <a:latin typeface="Times New Roman"/>
                <a:cs typeface="Times New Roman"/>
              </a:rPr>
              <a:t>Santos,</a:t>
            </a:r>
            <a:r>
              <a:rPr dirty="0" sz="1000" spc="245">
                <a:latin typeface="Times New Roman"/>
                <a:cs typeface="Times New Roman"/>
              </a:rPr>
              <a:t> </a:t>
            </a:r>
            <a:r>
              <a:rPr dirty="0" sz="1000">
                <a:latin typeface="Times New Roman"/>
                <a:cs typeface="Times New Roman"/>
              </a:rPr>
              <a:t>Mo</a:t>
            </a:r>
            <a:r>
              <a:rPr dirty="0" sz="1000" spc="200">
                <a:latin typeface="Times New Roman"/>
                <a:cs typeface="Times New Roman"/>
              </a:rPr>
              <a:t> </a:t>
            </a:r>
            <a:r>
              <a:rPr dirty="0" sz="1000">
                <a:latin typeface="Times New Roman"/>
                <a:cs typeface="Times New Roman"/>
              </a:rPr>
              <a:t>Yu,</a:t>
            </a:r>
            <a:r>
              <a:rPr dirty="0" sz="1000" spc="245">
                <a:latin typeface="Times New Roman"/>
                <a:cs typeface="Times New Roman"/>
              </a:rPr>
              <a:t> </a:t>
            </a:r>
            <a:r>
              <a:rPr dirty="0" sz="1000">
                <a:latin typeface="Times New Roman"/>
                <a:cs typeface="Times New Roman"/>
              </a:rPr>
              <a:t>Bing</a:t>
            </a:r>
            <a:r>
              <a:rPr dirty="0" sz="1000" spc="204">
                <a:latin typeface="Times New Roman"/>
                <a:cs typeface="Times New Roman"/>
              </a:rPr>
              <a:t> </a:t>
            </a:r>
            <a:r>
              <a:rPr dirty="0" sz="1000">
                <a:latin typeface="Times New Roman"/>
                <a:cs typeface="Times New Roman"/>
              </a:rPr>
              <a:t>Xiang,</a:t>
            </a:r>
            <a:r>
              <a:rPr dirty="0" sz="1000" spc="245">
                <a:latin typeface="Times New Roman"/>
                <a:cs typeface="Times New Roman"/>
              </a:rPr>
              <a:t> </a:t>
            </a:r>
            <a:r>
              <a:rPr dirty="0" sz="1000" spc="-10">
                <a:latin typeface="Times New Roman"/>
                <a:cs typeface="Times New Roman"/>
              </a:rPr>
              <a:t>Bowen </a:t>
            </a:r>
            <a:r>
              <a:rPr dirty="0" sz="1000" spc="-10">
                <a:latin typeface="Times New Roman"/>
                <a:cs typeface="Times New Roman"/>
              </a:rPr>
              <a:t>	</a:t>
            </a:r>
            <a:r>
              <a:rPr dirty="0" sz="1000">
                <a:latin typeface="Times New Roman"/>
                <a:cs typeface="Times New Roman"/>
              </a:rPr>
              <a:t>Zhou,</a:t>
            </a:r>
            <a:r>
              <a:rPr dirty="0" sz="1000" spc="75">
                <a:latin typeface="Times New Roman"/>
                <a:cs typeface="Times New Roman"/>
              </a:rPr>
              <a:t> </a:t>
            </a:r>
            <a:r>
              <a:rPr dirty="0" sz="1000">
                <a:latin typeface="Times New Roman"/>
                <a:cs typeface="Times New Roman"/>
              </a:rPr>
              <a:t>and</a:t>
            </a:r>
            <a:r>
              <a:rPr dirty="0" sz="1000" spc="60">
                <a:latin typeface="Times New Roman"/>
                <a:cs typeface="Times New Roman"/>
              </a:rPr>
              <a:t> </a:t>
            </a:r>
            <a:r>
              <a:rPr dirty="0" sz="1000">
                <a:latin typeface="Times New Roman"/>
                <a:cs typeface="Times New Roman"/>
              </a:rPr>
              <a:t>Yoshua</a:t>
            </a:r>
            <a:r>
              <a:rPr dirty="0" sz="1000" spc="65">
                <a:latin typeface="Times New Roman"/>
                <a:cs typeface="Times New Roman"/>
              </a:rPr>
              <a:t> </a:t>
            </a:r>
            <a:r>
              <a:rPr dirty="0" sz="1000">
                <a:latin typeface="Times New Roman"/>
                <a:cs typeface="Times New Roman"/>
              </a:rPr>
              <a:t>Bengio.</a:t>
            </a:r>
            <a:r>
              <a:rPr dirty="0" sz="1000" spc="300">
                <a:latin typeface="Times New Roman"/>
                <a:cs typeface="Times New Roman"/>
              </a:rPr>
              <a:t> </a:t>
            </a:r>
            <a:r>
              <a:rPr dirty="0" sz="1000">
                <a:latin typeface="Times New Roman"/>
                <a:cs typeface="Times New Roman"/>
              </a:rPr>
              <a:t>A</a:t>
            </a:r>
            <a:r>
              <a:rPr dirty="0" sz="1000" spc="60">
                <a:latin typeface="Times New Roman"/>
                <a:cs typeface="Times New Roman"/>
              </a:rPr>
              <a:t> </a:t>
            </a:r>
            <a:r>
              <a:rPr dirty="0" sz="1000">
                <a:latin typeface="Times New Roman"/>
                <a:cs typeface="Times New Roman"/>
              </a:rPr>
              <a:t>structured</a:t>
            </a:r>
            <a:r>
              <a:rPr dirty="0" sz="1000" spc="65">
                <a:latin typeface="Times New Roman"/>
                <a:cs typeface="Times New Roman"/>
              </a:rPr>
              <a:t> </a:t>
            </a:r>
            <a:r>
              <a:rPr dirty="0" sz="1000">
                <a:latin typeface="Times New Roman"/>
                <a:cs typeface="Times New Roman"/>
              </a:rPr>
              <a:t>self-attentive</a:t>
            </a:r>
            <a:r>
              <a:rPr dirty="0" sz="1000" spc="60">
                <a:latin typeface="Times New Roman"/>
                <a:cs typeface="Times New Roman"/>
              </a:rPr>
              <a:t> </a:t>
            </a:r>
            <a:r>
              <a:rPr dirty="0" sz="1000">
                <a:latin typeface="Times New Roman"/>
                <a:cs typeface="Times New Roman"/>
              </a:rPr>
              <a:t>sentence</a:t>
            </a:r>
            <a:r>
              <a:rPr dirty="0" sz="1000" spc="65">
                <a:latin typeface="Times New Roman"/>
                <a:cs typeface="Times New Roman"/>
              </a:rPr>
              <a:t> </a:t>
            </a:r>
            <a:r>
              <a:rPr dirty="0" sz="1000">
                <a:latin typeface="Times New Roman"/>
                <a:cs typeface="Times New Roman"/>
              </a:rPr>
              <a:t>embedding.</a:t>
            </a:r>
            <a:r>
              <a:rPr dirty="0" sz="1000" spc="300">
                <a:latin typeface="Times New Roman"/>
                <a:cs typeface="Times New Roman"/>
              </a:rPr>
              <a:t> </a:t>
            </a:r>
            <a:r>
              <a:rPr dirty="0" sz="1000" i="1">
                <a:latin typeface="Times New Roman"/>
                <a:cs typeface="Times New Roman"/>
              </a:rPr>
              <a:t>arXiv</a:t>
            </a:r>
            <a:r>
              <a:rPr dirty="0" sz="1000" spc="60" i="1">
                <a:latin typeface="Times New Roman"/>
                <a:cs typeface="Times New Roman"/>
              </a:rPr>
              <a:t> </a:t>
            </a:r>
            <a:r>
              <a:rPr dirty="0" sz="1000" spc="-10" i="1">
                <a:latin typeface="Times New Roman"/>
                <a:cs typeface="Times New Roman"/>
              </a:rPr>
              <a:t>preprint 	arXiv:1703.03130</a:t>
            </a:r>
            <a:r>
              <a:rPr dirty="0" sz="1000" spc="-10">
                <a:latin typeface="Times New Roman"/>
                <a:cs typeface="Times New Roman"/>
              </a:rPr>
              <a:t>,</a:t>
            </a:r>
            <a:r>
              <a:rPr dirty="0" sz="1000" spc="85">
                <a:latin typeface="Times New Roman"/>
                <a:cs typeface="Times New Roman"/>
              </a:rPr>
              <a:t> </a:t>
            </a:r>
            <a:r>
              <a:rPr dirty="0" sz="1000" spc="-10">
                <a:latin typeface="Times New Roman"/>
                <a:cs typeface="Times New Roman"/>
              </a:rPr>
              <a:t>2017.</a:t>
            </a:r>
            <a:endParaRPr sz="1000">
              <a:latin typeface="Times New Roman"/>
              <a:cs typeface="Times New Roman"/>
            </a:endParaRPr>
          </a:p>
          <a:p>
            <a:pPr algn="just" marL="284480" marR="26670" indent="-272415">
              <a:lnSpc>
                <a:spcPts val="1090"/>
              </a:lnSpc>
              <a:spcBef>
                <a:spcPts val="855"/>
              </a:spcBef>
              <a:buAutoNum type="arabicPlain"/>
              <a:tabLst>
                <a:tab pos="284480" algn="l"/>
              </a:tabLst>
            </a:pPr>
            <a:r>
              <a:rPr dirty="0" sz="1000">
                <a:latin typeface="Times New Roman"/>
                <a:cs typeface="Times New Roman"/>
              </a:rPr>
              <a:t>Samy</a:t>
            </a:r>
            <a:r>
              <a:rPr dirty="0" sz="1000" spc="30">
                <a:latin typeface="Times New Roman"/>
                <a:cs typeface="Times New Roman"/>
              </a:rPr>
              <a:t> </a:t>
            </a:r>
            <a:r>
              <a:rPr dirty="0" sz="1000">
                <a:latin typeface="Times New Roman"/>
                <a:cs typeface="Times New Roman"/>
              </a:rPr>
              <a:t>Bengio</a:t>
            </a:r>
            <a:r>
              <a:rPr dirty="0" sz="1000" spc="35">
                <a:latin typeface="Times New Roman"/>
                <a:cs typeface="Times New Roman"/>
              </a:rPr>
              <a:t> </a:t>
            </a:r>
            <a:r>
              <a:rPr dirty="0" sz="1000">
                <a:latin typeface="Times New Roman"/>
                <a:cs typeface="Times New Roman"/>
              </a:rPr>
              <a:t>Łukasz</a:t>
            </a:r>
            <a:r>
              <a:rPr dirty="0" sz="1000" spc="30">
                <a:latin typeface="Times New Roman"/>
                <a:cs typeface="Times New Roman"/>
              </a:rPr>
              <a:t> </a:t>
            </a:r>
            <a:r>
              <a:rPr dirty="0" sz="1000">
                <a:latin typeface="Times New Roman"/>
                <a:cs typeface="Times New Roman"/>
              </a:rPr>
              <a:t>Kaiser.</a:t>
            </a:r>
            <a:r>
              <a:rPr dirty="0" sz="1000" spc="210">
                <a:latin typeface="Times New Roman"/>
                <a:cs typeface="Times New Roman"/>
              </a:rPr>
              <a:t> </a:t>
            </a:r>
            <a:r>
              <a:rPr dirty="0" sz="1000">
                <a:latin typeface="Times New Roman"/>
                <a:cs typeface="Times New Roman"/>
              </a:rPr>
              <a:t>Can</a:t>
            </a:r>
            <a:r>
              <a:rPr dirty="0" sz="1000" spc="30">
                <a:latin typeface="Times New Roman"/>
                <a:cs typeface="Times New Roman"/>
              </a:rPr>
              <a:t> </a:t>
            </a:r>
            <a:r>
              <a:rPr dirty="0" sz="1000">
                <a:latin typeface="Times New Roman"/>
                <a:cs typeface="Times New Roman"/>
              </a:rPr>
              <a:t>active</a:t>
            </a:r>
            <a:r>
              <a:rPr dirty="0" sz="1000" spc="35">
                <a:latin typeface="Times New Roman"/>
                <a:cs typeface="Times New Roman"/>
              </a:rPr>
              <a:t> </a:t>
            </a:r>
            <a:r>
              <a:rPr dirty="0" sz="1000">
                <a:latin typeface="Times New Roman"/>
                <a:cs typeface="Times New Roman"/>
              </a:rPr>
              <a:t>memory</a:t>
            </a:r>
            <a:r>
              <a:rPr dirty="0" sz="1000" spc="35">
                <a:latin typeface="Times New Roman"/>
                <a:cs typeface="Times New Roman"/>
              </a:rPr>
              <a:t> </a:t>
            </a:r>
            <a:r>
              <a:rPr dirty="0" sz="1000">
                <a:latin typeface="Times New Roman"/>
                <a:cs typeface="Times New Roman"/>
              </a:rPr>
              <a:t>replace</a:t>
            </a:r>
            <a:r>
              <a:rPr dirty="0" sz="1000" spc="30">
                <a:latin typeface="Times New Roman"/>
                <a:cs typeface="Times New Roman"/>
              </a:rPr>
              <a:t> </a:t>
            </a:r>
            <a:r>
              <a:rPr dirty="0" sz="1000">
                <a:latin typeface="Times New Roman"/>
                <a:cs typeface="Times New Roman"/>
              </a:rPr>
              <a:t>attention?</a:t>
            </a:r>
            <a:r>
              <a:rPr dirty="0" sz="1000" spc="320">
                <a:latin typeface="Times New Roman"/>
                <a:cs typeface="Times New Roman"/>
              </a:rPr>
              <a:t> </a:t>
            </a:r>
            <a:r>
              <a:rPr dirty="0" sz="1000">
                <a:latin typeface="Times New Roman"/>
                <a:cs typeface="Times New Roman"/>
              </a:rPr>
              <a:t>In</a:t>
            </a:r>
            <a:r>
              <a:rPr dirty="0" sz="1000" spc="30">
                <a:latin typeface="Times New Roman"/>
                <a:cs typeface="Times New Roman"/>
              </a:rPr>
              <a:t> </a:t>
            </a:r>
            <a:r>
              <a:rPr dirty="0" sz="1000" i="1">
                <a:latin typeface="Times New Roman"/>
                <a:cs typeface="Times New Roman"/>
              </a:rPr>
              <a:t>Advances</a:t>
            </a:r>
            <a:r>
              <a:rPr dirty="0" sz="1000" spc="35" i="1">
                <a:latin typeface="Times New Roman"/>
                <a:cs typeface="Times New Roman"/>
              </a:rPr>
              <a:t> </a:t>
            </a:r>
            <a:r>
              <a:rPr dirty="0" sz="1000" i="1">
                <a:latin typeface="Times New Roman"/>
                <a:cs typeface="Times New Roman"/>
              </a:rPr>
              <a:t>in</a:t>
            </a:r>
            <a:r>
              <a:rPr dirty="0" sz="1000" spc="35" i="1">
                <a:latin typeface="Times New Roman"/>
                <a:cs typeface="Times New Roman"/>
              </a:rPr>
              <a:t> </a:t>
            </a:r>
            <a:r>
              <a:rPr dirty="0" sz="1000" spc="-10" i="1">
                <a:latin typeface="Times New Roman"/>
                <a:cs typeface="Times New Roman"/>
              </a:rPr>
              <a:t>Neural </a:t>
            </a:r>
            <a:r>
              <a:rPr dirty="0" sz="1000" i="1">
                <a:latin typeface="Times New Roman"/>
                <a:cs typeface="Times New Roman"/>
              </a:rPr>
              <a:t>Information</a:t>
            </a:r>
            <a:r>
              <a:rPr dirty="0" sz="1000" spc="-35" i="1">
                <a:latin typeface="Times New Roman"/>
                <a:cs typeface="Times New Roman"/>
              </a:rPr>
              <a:t> </a:t>
            </a:r>
            <a:r>
              <a:rPr dirty="0" sz="1000" spc="-10" i="1">
                <a:latin typeface="Times New Roman"/>
                <a:cs typeface="Times New Roman"/>
              </a:rPr>
              <a:t>Processing</a:t>
            </a:r>
            <a:r>
              <a:rPr dirty="0" sz="1000" spc="-30" i="1">
                <a:latin typeface="Times New Roman"/>
                <a:cs typeface="Times New Roman"/>
              </a:rPr>
              <a:t> </a:t>
            </a:r>
            <a:r>
              <a:rPr dirty="0" sz="1000" i="1">
                <a:latin typeface="Times New Roman"/>
                <a:cs typeface="Times New Roman"/>
              </a:rPr>
              <a:t>Systems,</a:t>
            </a:r>
            <a:r>
              <a:rPr dirty="0" sz="1000" spc="-35" i="1">
                <a:latin typeface="Times New Roman"/>
                <a:cs typeface="Times New Roman"/>
              </a:rPr>
              <a:t> </a:t>
            </a:r>
            <a:r>
              <a:rPr dirty="0" sz="1000" i="1">
                <a:latin typeface="Times New Roman"/>
                <a:cs typeface="Times New Roman"/>
              </a:rPr>
              <a:t>(NIPS)</a:t>
            </a:r>
            <a:r>
              <a:rPr dirty="0" sz="1000">
                <a:latin typeface="Times New Roman"/>
                <a:cs typeface="Times New Roman"/>
              </a:rPr>
              <a:t>,</a:t>
            </a:r>
            <a:r>
              <a:rPr dirty="0" sz="1000" spc="-30">
                <a:latin typeface="Times New Roman"/>
                <a:cs typeface="Times New Roman"/>
              </a:rPr>
              <a:t> </a:t>
            </a:r>
            <a:r>
              <a:rPr dirty="0" sz="1000" spc="-10">
                <a:latin typeface="Times New Roman"/>
                <a:cs typeface="Times New Roman"/>
              </a:rPr>
              <a:t>2016.</a:t>
            </a:r>
            <a:endParaRPr sz="10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
          <p:cNvSpPr txBox="1">
            <a:spLocks noGrp="1"/>
          </p:cNvSpPr>
          <p:nvPr>
            <p:ph type="sldNum" idx="7" sz="quarter"/>
          </p:nvPr>
        </p:nvSpPr>
        <p:spPr>
          <a:prstGeom prst="rect"/>
        </p:spPr>
        <p:txBody>
          <a:bodyPr wrap="square" lIns="0" tIns="2540" rIns="0" bIns="0" rtlCol="0" vert="horz">
            <a:spAutoFit/>
          </a:bodyPr>
          <a:lstStyle/>
          <a:p>
            <a:pPr marL="38100">
              <a:lnSpc>
                <a:spcPct val="100000"/>
              </a:lnSpc>
              <a:spcBef>
                <a:spcPts val="20"/>
              </a:spcBef>
            </a:pPr>
            <a:fld id="{81D60167-4931-47E6-BA6A-407CBD079E47}" type="slidenum">
              <a:rPr dirty="0" spc="-25"/>
              <a:t>10</a:t>
            </a:fld>
          </a:p>
        </p:txBody>
      </p:sp>
      <p:sp>
        <p:nvSpPr>
          <p:cNvPr id="2" name="object 2" descr=""/>
          <p:cNvSpPr txBox="1"/>
          <p:nvPr/>
        </p:nvSpPr>
        <p:spPr>
          <a:xfrm>
            <a:off x="1358900" y="901705"/>
            <a:ext cx="5076825" cy="5308600"/>
          </a:xfrm>
          <a:prstGeom prst="rect">
            <a:avLst/>
          </a:prstGeom>
        </p:spPr>
        <p:txBody>
          <a:bodyPr wrap="square" lIns="0" tIns="28575" rIns="0" bIns="0" rtlCol="0" vert="horz">
            <a:spAutoFit/>
          </a:bodyPr>
          <a:lstStyle/>
          <a:p>
            <a:pPr algn="just" marL="285115" marR="5715" indent="-273050">
              <a:lnSpc>
                <a:spcPts val="1090"/>
              </a:lnSpc>
              <a:spcBef>
                <a:spcPts val="225"/>
              </a:spcBef>
              <a:buAutoNum type="arabicPlain" startAt="21"/>
              <a:tabLst>
                <a:tab pos="286385" algn="l"/>
              </a:tabLst>
            </a:pPr>
            <a:r>
              <a:rPr dirty="0" sz="1000" spc="-15">
                <a:latin typeface="Times New Roman"/>
                <a:cs typeface="Times New Roman"/>
              </a:rPr>
              <a:t>Minh-</a:t>
            </a:r>
            <a:r>
              <a:rPr dirty="0" sz="1000" spc="-10">
                <a:latin typeface="Times New Roman"/>
                <a:cs typeface="Times New Roman"/>
              </a:rPr>
              <a:t>Thang</a:t>
            </a:r>
            <a:r>
              <a:rPr dirty="0" sz="1000" spc="-35">
                <a:latin typeface="Times New Roman"/>
                <a:cs typeface="Times New Roman"/>
              </a:rPr>
              <a:t> </a:t>
            </a:r>
            <a:r>
              <a:rPr dirty="0" sz="1000" spc="-10">
                <a:latin typeface="Times New Roman"/>
                <a:cs typeface="Times New Roman"/>
              </a:rPr>
              <a:t>Luong,</a:t>
            </a:r>
            <a:r>
              <a:rPr dirty="0" sz="1000" spc="-30">
                <a:latin typeface="Times New Roman"/>
                <a:cs typeface="Times New Roman"/>
              </a:rPr>
              <a:t> </a:t>
            </a:r>
            <a:r>
              <a:rPr dirty="0" sz="1000" spc="-10">
                <a:latin typeface="Times New Roman"/>
                <a:cs typeface="Times New Roman"/>
              </a:rPr>
              <a:t>Hieu</a:t>
            </a:r>
            <a:r>
              <a:rPr dirty="0" sz="1000" spc="-30">
                <a:latin typeface="Times New Roman"/>
                <a:cs typeface="Times New Roman"/>
              </a:rPr>
              <a:t> </a:t>
            </a:r>
            <a:r>
              <a:rPr dirty="0" sz="1000" spc="-10">
                <a:latin typeface="Times New Roman"/>
                <a:cs typeface="Times New Roman"/>
              </a:rPr>
              <a:t>Pham,</a:t>
            </a:r>
            <a:r>
              <a:rPr dirty="0" sz="1000" spc="-30">
                <a:latin typeface="Times New Roman"/>
                <a:cs typeface="Times New Roman"/>
              </a:rPr>
              <a:t> </a:t>
            </a:r>
            <a:r>
              <a:rPr dirty="0" sz="1000" spc="-10">
                <a:latin typeface="Times New Roman"/>
                <a:cs typeface="Times New Roman"/>
              </a:rPr>
              <a:t>and</a:t>
            </a:r>
            <a:r>
              <a:rPr dirty="0" sz="1000" spc="-30">
                <a:latin typeface="Times New Roman"/>
                <a:cs typeface="Times New Roman"/>
              </a:rPr>
              <a:t> </a:t>
            </a:r>
            <a:r>
              <a:rPr dirty="0" sz="1000" spc="-20">
                <a:latin typeface="Times New Roman"/>
                <a:cs typeface="Times New Roman"/>
              </a:rPr>
              <a:t>Christopher</a:t>
            </a:r>
            <a:r>
              <a:rPr dirty="0" sz="1000" spc="-35">
                <a:latin typeface="Times New Roman"/>
                <a:cs typeface="Times New Roman"/>
              </a:rPr>
              <a:t> </a:t>
            </a:r>
            <a:r>
              <a:rPr dirty="0" sz="1000">
                <a:latin typeface="Times New Roman"/>
                <a:cs typeface="Times New Roman"/>
              </a:rPr>
              <a:t>D</a:t>
            </a:r>
            <a:r>
              <a:rPr dirty="0" sz="1000" spc="-35">
                <a:latin typeface="Times New Roman"/>
                <a:cs typeface="Times New Roman"/>
              </a:rPr>
              <a:t> </a:t>
            </a:r>
            <a:r>
              <a:rPr dirty="0" sz="1000">
                <a:latin typeface="Times New Roman"/>
                <a:cs typeface="Times New Roman"/>
              </a:rPr>
              <a:t>Manning.</a:t>
            </a:r>
            <a:r>
              <a:rPr dirty="0" sz="1000" spc="50">
                <a:latin typeface="Times New Roman"/>
                <a:cs typeface="Times New Roman"/>
              </a:rPr>
              <a:t> </a:t>
            </a:r>
            <a:r>
              <a:rPr dirty="0" sz="1000" spc="-25">
                <a:latin typeface="Times New Roman"/>
                <a:cs typeface="Times New Roman"/>
              </a:rPr>
              <a:t>Effective</a:t>
            </a:r>
            <a:r>
              <a:rPr dirty="0" sz="1000" spc="-30">
                <a:latin typeface="Times New Roman"/>
                <a:cs typeface="Times New Roman"/>
              </a:rPr>
              <a:t> </a:t>
            </a:r>
            <a:r>
              <a:rPr dirty="0" sz="1000" spc="-20">
                <a:latin typeface="Times New Roman"/>
                <a:cs typeface="Times New Roman"/>
              </a:rPr>
              <a:t>approaches</a:t>
            </a:r>
            <a:r>
              <a:rPr dirty="0" sz="1000" spc="-35">
                <a:latin typeface="Times New Roman"/>
                <a:cs typeface="Times New Roman"/>
              </a:rPr>
              <a:t> </a:t>
            </a:r>
            <a:r>
              <a:rPr dirty="0" sz="1000">
                <a:latin typeface="Times New Roman"/>
                <a:cs typeface="Times New Roman"/>
              </a:rPr>
              <a:t>to</a:t>
            </a:r>
            <a:r>
              <a:rPr dirty="0" sz="1000" spc="-30">
                <a:latin typeface="Times New Roman"/>
                <a:cs typeface="Times New Roman"/>
              </a:rPr>
              <a:t> </a:t>
            </a:r>
            <a:r>
              <a:rPr dirty="0" sz="1000" spc="-10">
                <a:latin typeface="Times New Roman"/>
                <a:cs typeface="Times New Roman"/>
              </a:rPr>
              <a:t>attention- </a:t>
            </a:r>
            <a:r>
              <a:rPr dirty="0" sz="1000" spc="-10">
                <a:latin typeface="Times New Roman"/>
                <a:cs typeface="Times New Roman"/>
              </a:rPr>
              <a:t>	</a:t>
            </a:r>
            <a:r>
              <a:rPr dirty="0" sz="1000">
                <a:latin typeface="Times New Roman"/>
                <a:cs typeface="Times New Roman"/>
              </a:rPr>
              <a:t>based</a:t>
            </a:r>
            <a:r>
              <a:rPr dirty="0" sz="1000" spc="-15">
                <a:latin typeface="Times New Roman"/>
                <a:cs typeface="Times New Roman"/>
              </a:rPr>
              <a:t> </a:t>
            </a:r>
            <a:r>
              <a:rPr dirty="0" sz="1000">
                <a:latin typeface="Times New Roman"/>
                <a:cs typeface="Times New Roman"/>
              </a:rPr>
              <a:t>neural</a:t>
            </a:r>
            <a:r>
              <a:rPr dirty="0" sz="1000" spc="-10">
                <a:latin typeface="Times New Roman"/>
                <a:cs typeface="Times New Roman"/>
              </a:rPr>
              <a:t> </a:t>
            </a:r>
            <a:r>
              <a:rPr dirty="0" sz="1000">
                <a:latin typeface="Times New Roman"/>
                <a:cs typeface="Times New Roman"/>
              </a:rPr>
              <a:t>machine</a:t>
            </a:r>
            <a:r>
              <a:rPr dirty="0" sz="1000" spc="-15">
                <a:latin typeface="Times New Roman"/>
                <a:cs typeface="Times New Roman"/>
              </a:rPr>
              <a:t> </a:t>
            </a:r>
            <a:r>
              <a:rPr dirty="0" sz="1000">
                <a:latin typeface="Times New Roman"/>
                <a:cs typeface="Times New Roman"/>
              </a:rPr>
              <a:t>translation.</a:t>
            </a:r>
            <a:r>
              <a:rPr dirty="0" sz="1000" spc="95">
                <a:latin typeface="Times New Roman"/>
                <a:cs typeface="Times New Roman"/>
              </a:rPr>
              <a:t> </a:t>
            </a:r>
            <a:r>
              <a:rPr dirty="0" sz="1000" i="1">
                <a:latin typeface="Times New Roman"/>
                <a:cs typeface="Times New Roman"/>
              </a:rPr>
              <a:t>arXiv</a:t>
            </a:r>
            <a:r>
              <a:rPr dirty="0" sz="1000" spc="-10" i="1">
                <a:latin typeface="Times New Roman"/>
                <a:cs typeface="Times New Roman"/>
              </a:rPr>
              <a:t> preprint</a:t>
            </a:r>
            <a:r>
              <a:rPr dirty="0" sz="1000" spc="-15" i="1">
                <a:latin typeface="Times New Roman"/>
                <a:cs typeface="Times New Roman"/>
              </a:rPr>
              <a:t> </a:t>
            </a:r>
            <a:r>
              <a:rPr dirty="0" sz="1000" spc="-10" i="1">
                <a:latin typeface="Times New Roman"/>
                <a:cs typeface="Times New Roman"/>
              </a:rPr>
              <a:t>arXiv:1508.04025</a:t>
            </a:r>
            <a:r>
              <a:rPr dirty="0" sz="1000" spc="-10">
                <a:latin typeface="Times New Roman"/>
                <a:cs typeface="Times New Roman"/>
              </a:rPr>
              <a:t>, 2015.</a:t>
            </a:r>
            <a:endParaRPr sz="1000">
              <a:latin typeface="Times New Roman"/>
              <a:cs typeface="Times New Roman"/>
            </a:endParaRPr>
          </a:p>
          <a:p>
            <a:pPr algn="just" marL="285115" marR="26670" indent="-273050">
              <a:lnSpc>
                <a:spcPts val="1090"/>
              </a:lnSpc>
              <a:spcBef>
                <a:spcPts val="795"/>
              </a:spcBef>
              <a:buAutoNum type="arabicPlain" startAt="21"/>
              <a:tabLst>
                <a:tab pos="286385" algn="l"/>
              </a:tabLst>
            </a:pPr>
            <a:r>
              <a:rPr dirty="0" sz="1000" spc="-10">
                <a:latin typeface="Times New Roman"/>
                <a:cs typeface="Times New Roman"/>
              </a:rPr>
              <a:t>Ankur</a:t>
            </a:r>
            <a:r>
              <a:rPr dirty="0" sz="1000" spc="-45">
                <a:latin typeface="Times New Roman"/>
                <a:cs typeface="Times New Roman"/>
              </a:rPr>
              <a:t> </a:t>
            </a:r>
            <a:r>
              <a:rPr dirty="0" sz="1000" spc="-10">
                <a:latin typeface="Times New Roman"/>
                <a:cs typeface="Times New Roman"/>
              </a:rPr>
              <a:t>Parikh,</a:t>
            </a:r>
            <a:r>
              <a:rPr dirty="0" sz="1000" spc="-35">
                <a:latin typeface="Times New Roman"/>
                <a:cs typeface="Times New Roman"/>
              </a:rPr>
              <a:t> </a:t>
            </a:r>
            <a:r>
              <a:rPr dirty="0" sz="1000" spc="-20">
                <a:latin typeface="Times New Roman"/>
                <a:cs typeface="Times New Roman"/>
              </a:rPr>
              <a:t>Oscar</a:t>
            </a:r>
            <a:r>
              <a:rPr dirty="0" sz="1000" spc="-40">
                <a:latin typeface="Times New Roman"/>
                <a:cs typeface="Times New Roman"/>
              </a:rPr>
              <a:t> </a:t>
            </a:r>
            <a:r>
              <a:rPr dirty="0" sz="1000" spc="-10">
                <a:latin typeface="Times New Roman"/>
                <a:cs typeface="Times New Roman"/>
              </a:rPr>
              <a:t>Täckström,</a:t>
            </a:r>
            <a:r>
              <a:rPr dirty="0" sz="1000" spc="-45">
                <a:latin typeface="Times New Roman"/>
                <a:cs typeface="Times New Roman"/>
              </a:rPr>
              <a:t> </a:t>
            </a:r>
            <a:r>
              <a:rPr dirty="0" sz="1000" spc="-10">
                <a:latin typeface="Times New Roman"/>
                <a:cs typeface="Times New Roman"/>
              </a:rPr>
              <a:t>Dipanjan</a:t>
            </a:r>
            <a:r>
              <a:rPr dirty="0" sz="1000" spc="-40">
                <a:latin typeface="Times New Roman"/>
                <a:cs typeface="Times New Roman"/>
              </a:rPr>
              <a:t> </a:t>
            </a:r>
            <a:r>
              <a:rPr dirty="0" sz="1000" spc="-10">
                <a:latin typeface="Times New Roman"/>
                <a:cs typeface="Times New Roman"/>
              </a:rPr>
              <a:t>Das,</a:t>
            </a:r>
            <a:r>
              <a:rPr dirty="0" sz="1000" spc="-40">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spc="-10">
                <a:latin typeface="Times New Roman"/>
                <a:cs typeface="Times New Roman"/>
              </a:rPr>
              <a:t>Jakob</a:t>
            </a:r>
            <a:r>
              <a:rPr dirty="0" sz="1000" spc="-40">
                <a:latin typeface="Times New Roman"/>
                <a:cs typeface="Times New Roman"/>
              </a:rPr>
              <a:t> </a:t>
            </a:r>
            <a:r>
              <a:rPr dirty="0" sz="1000">
                <a:latin typeface="Times New Roman"/>
                <a:cs typeface="Times New Roman"/>
              </a:rPr>
              <a:t>Uszkoreit.</a:t>
            </a:r>
            <a:r>
              <a:rPr dirty="0" sz="1000" spc="40">
                <a:latin typeface="Times New Roman"/>
                <a:cs typeface="Times New Roman"/>
              </a:rPr>
              <a:t> </a:t>
            </a:r>
            <a:r>
              <a:rPr dirty="0" sz="1000">
                <a:latin typeface="Times New Roman"/>
                <a:cs typeface="Times New Roman"/>
              </a:rPr>
              <a:t>A</a:t>
            </a:r>
            <a:r>
              <a:rPr dirty="0" sz="1000" spc="-40">
                <a:latin typeface="Times New Roman"/>
                <a:cs typeface="Times New Roman"/>
              </a:rPr>
              <a:t> </a:t>
            </a:r>
            <a:r>
              <a:rPr dirty="0" sz="1000" spc="-20">
                <a:latin typeface="Times New Roman"/>
                <a:cs typeface="Times New Roman"/>
              </a:rPr>
              <a:t>decomposable</a:t>
            </a:r>
            <a:r>
              <a:rPr dirty="0" sz="1000" spc="-40">
                <a:latin typeface="Times New Roman"/>
                <a:cs typeface="Times New Roman"/>
              </a:rPr>
              <a:t> </a:t>
            </a:r>
            <a:r>
              <a:rPr dirty="0" sz="1000" spc="-10">
                <a:latin typeface="Times New Roman"/>
                <a:cs typeface="Times New Roman"/>
              </a:rPr>
              <a:t>attention </a:t>
            </a:r>
            <a:r>
              <a:rPr dirty="0" sz="1000" spc="-10">
                <a:latin typeface="Times New Roman"/>
                <a:cs typeface="Times New Roman"/>
              </a:rPr>
              <a:t>	</a:t>
            </a:r>
            <a:r>
              <a:rPr dirty="0" sz="1000">
                <a:latin typeface="Times New Roman"/>
                <a:cs typeface="Times New Roman"/>
              </a:rPr>
              <a:t>model.</a:t>
            </a:r>
            <a:r>
              <a:rPr dirty="0" sz="1000" spc="85">
                <a:latin typeface="Times New Roman"/>
                <a:cs typeface="Times New Roman"/>
              </a:rPr>
              <a:t> </a:t>
            </a:r>
            <a:r>
              <a:rPr dirty="0" sz="1000">
                <a:latin typeface="Times New Roman"/>
                <a:cs typeface="Times New Roman"/>
              </a:rPr>
              <a:t>In</a:t>
            </a:r>
            <a:r>
              <a:rPr dirty="0" sz="1000" spc="-15">
                <a:latin typeface="Times New Roman"/>
                <a:cs typeface="Times New Roman"/>
              </a:rPr>
              <a:t> </a:t>
            </a:r>
            <a:r>
              <a:rPr dirty="0" sz="1000" i="1">
                <a:latin typeface="Times New Roman"/>
                <a:cs typeface="Times New Roman"/>
              </a:rPr>
              <a:t>Empirical</a:t>
            </a:r>
            <a:r>
              <a:rPr dirty="0" sz="1000" spc="-15" i="1">
                <a:latin typeface="Times New Roman"/>
                <a:cs typeface="Times New Roman"/>
              </a:rPr>
              <a:t> </a:t>
            </a:r>
            <a:r>
              <a:rPr dirty="0" sz="1000" i="1">
                <a:latin typeface="Times New Roman"/>
                <a:cs typeface="Times New Roman"/>
              </a:rPr>
              <a:t>Methods</a:t>
            </a:r>
            <a:r>
              <a:rPr dirty="0" sz="1000" spc="-20" i="1">
                <a:latin typeface="Times New Roman"/>
                <a:cs typeface="Times New Roman"/>
              </a:rPr>
              <a:t> </a:t>
            </a:r>
            <a:r>
              <a:rPr dirty="0" sz="1000" i="1">
                <a:latin typeface="Times New Roman"/>
                <a:cs typeface="Times New Roman"/>
              </a:rPr>
              <a:t>in</a:t>
            </a:r>
            <a:r>
              <a:rPr dirty="0" sz="1000" spc="-15" i="1">
                <a:latin typeface="Times New Roman"/>
                <a:cs typeface="Times New Roman"/>
              </a:rPr>
              <a:t> </a:t>
            </a:r>
            <a:r>
              <a:rPr dirty="0" sz="1000" i="1">
                <a:latin typeface="Times New Roman"/>
                <a:cs typeface="Times New Roman"/>
              </a:rPr>
              <a:t>Natural</a:t>
            </a:r>
            <a:r>
              <a:rPr dirty="0" sz="1000" spc="-15" i="1">
                <a:latin typeface="Times New Roman"/>
                <a:cs typeface="Times New Roman"/>
              </a:rPr>
              <a:t> </a:t>
            </a:r>
            <a:r>
              <a:rPr dirty="0" sz="1000" spc="-10" i="1">
                <a:latin typeface="Times New Roman"/>
                <a:cs typeface="Times New Roman"/>
              </a:rPr>
              <a:t>Language</a:t>
            </a:r>
            <a:r>
              <a:rPr dirty="0" sz="1000" spc="-20" i="1">
                <a:latin typeface="Times New Roman"/>
                <a:cs typeface="Times New Roman"/>
              </a:rPr>
              <a:t> </a:t>
            </a:r>
            <a:r>
              <a:rPr dirty="0" sz="1000" spc="-10" i="1">
                <a:latin typeface="Times New Roman"/>
                <a:cs typeface="Times New Roman"/>
              </a:rPr>
              <a:t>Processing</a:t>
            </a:r>
            <a:r>
              <a:rPr dirty="0" sz="1000" spc="-10">
                <a:latin typeface="Times New Roman"/>
                <a:cs typeface="Times New Roman"/>
              </a:rPr>
              <a:t>,</a:t>
            </a:r>
            <a:r>
              <a:rPr dirty="0" sz="1000" spc="-1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5115" marR="26670" indent="-273050">
              <a:lnSpc>
                <a:spcPts val="1090"/>
              </a:lnSpc>
              <a:spcBef>
                <a:spcPts val="800"/>
              </a:spcBef>
              <a:buAutoNum type="arabicPlain" startAt="21"/>
              <a:tabLst>
                <a:tab pos="286385" algn="l"/>
              </a:tabLst>
            </a:pPr>
            <a:r>
              <a:rPr dirty="0" sz="1000">
                <a:latin typeface="Times New Roman"/>
                <a:cs typeface="Times New Roman"/>
              </a:rPr>
              <a:t>Romain</a:t>
            </a:r>
            <a:r>
              <a:rPr dirty="0" sz="1000" spc="-35">
                <a:latin typeface="Times New Roman"/>
                <a:cs typeface="Times New Roman"/>
              </a:rPr>
              <a:t> </a:t>
            </a:r>
            <a:r>
              <a:rPr dirty="0" sz="1000">
                <a:latin typeface="Times New Roman"/>
                <a:cs typeface="Times New Roman"/>
              </a:rPr>
              <a:t>Paulus,</a:t>
            </a:r>
            <a:r>
              <a:rPr dirty="0" sz="1000" spc="-35">
                <a:latin typeface="Times New Roman"/>
                <a:cs typeface="Times New Roman"/>
              </a:rPr>
              <a:t> </a:t>
            </a:r>
            <a:r>
              <a:rPr dirty="0" sz="1000">
                <a:latin typeface="Times New Roman"/>
                <a:cs typeface="Times New Roman"/>
              </a:rPr>
              <a:t>Caiming</a:t>
            </a:r>
            <a:r>
              <a:rPr dirty="0" sz="1000" spc="-30">
                <a:latin typeface="Times New Roman"/>
                <a:cs typeface="Times New Roman"/>
              </a:rPr>
              <a:t> </a:t>
            </a:r>
            <a:r>
              <a:rPr dirty="0" sz="1000">
                <a:latin typeface="Times New Roman"/>
                <a:cs typeface="Times New Roman"/>
              </a:rPr>
              <a:t>Xiong,</a:t>
            </a:r>
            <a:r>
              <a:rPr dirty="0" sz="1000" spc="-35">
                <a:latin typeface="Times New Roman"/>
                <a:cs typeface="Times New Roman"/>
              </a:rPr>
              <a:t> </a:t>
            </a:r>
            <a:r>
              <a:rPr dirty="0" sz="1000">
                <a:latin typeface="Times New Roman"/>
                <a:cs typeface="Times New Roman"/>
              </a:rPr>
              <a:t>and</a:t>
            </a:r>
            <a:r>
              <a:rPr dirty="0" sz="1000" spc="-30">
                <a:latin typeface="Times New Roman"/>
                <a:cs typeface="Times New Roman"/>
              </a:rPr>
              <a:t> </a:t>
            </a:r>
            <a:r>
              <a:rPr dirty="0" sz="1000">
                <a:latin typeface="Times New Roman"/>
                <a:cs typeface="Times New Roman"/>
              </a:rPr>
              <a:t>Richard</a:t>
            </a:r>
            <a:r>
              <a:rPr dirty="0" sz="1000" spc="-35">
                <a:latin typeface="Times New Roman"/>
                <a:cs typeface="Times New Roman"/>
              </a:rPr>
              <a:t> </a:t>
            </a:r>
            <a:r>
              <a:rPr dirty="0" sz="1000">
                <a:latin typeface="Times New Roman"/>
                <a:cs typeface="Times New Roman"/>
              </a:rPr>
              <a:t>Socher.</a:t>
            </a:r>
            <a:r>
              <a:rPr dirty="0" sz="1000" spc="65">
                <a:latin typeface="Times New Roman"/>
                <a:cs typeface="Times New Roman"/>
              </a:rPr>
              <a:t> </a:t>
            </a:r>
            <a:r>
              <a:rPr dirty="0" sz="1000">
                <a:latin typeface="Times New Roman"/>
                <a:cs typeface="Times New Roman"/>
              </a:rPr>
              <a:t>A</a:t>
            </a:r>
            <a:r>
              <a:rPr dirty="0" sz="1000" spc="-30">
                <a:latin typeface="Times New Roman"/>
                <a:cs typeface="Times New Roman"/>
              </a:rPr>
              <a:t> </a:t>
            </a:r>
            <a:r>
              <a:rPr dirty="0" sz="1000">
                <a:latin typeface="Times New Roman"/>
                <a:cs typeface="Times New Roman"/>
              </a:rPr>
              <a:t>deep</a:t>
            </a:r>
            <a:r>
              <a:rPr dirty="0" sz="1000" spc="-35">
                <a:latin typeface="Times New Roman"/>
                <a:cs typeface="Times New Roman"/>
              </a:rPr>
              <a:t> </a:t>
            </a:r>
            <a:r>
              <a:rPr dirty="0" sz="1000" spc="-10">
                <a:latin typeface="Times New Roman"/>
                <a:cs typeface="Times New Roman"/>
              </a:rPr>
              <a:t>reinforced</a:t>
            </a:r>
            <a:r>
              <a:rPr dirty="0" sz="1000" spc="-30">
                <a:latin typeface="Times New Roman"/>
                <a:cs typeface="Times New Roman"/>
              </a:rPr>
              <a:t> </a:t>
            </a:r>
            <a:r>
              <a:rPr dirty="0" sz="1000">
                <a:latin typeface="Times New Roman"/>
                <a:cs typeface="Times New Roman"/>
              </a:rPr>
              <a:t>model</a:t>
            </a:r>
            <a:r>
              <a:rPr dirty="0" sz="1000" spc="-35">
                <a:latin typeface="Times New Roman"/>
                <a:cs typeface="Times New Roman"/>
              </a:rPr>
              <a:t> </a:t>
            </a:r>
            <a:r>
              <a:rPr dirty="0" sz="1000">
                <a:latin typeface="Times New Roman"/>
                <a:cs typeface="Times New Roman"/>
              </a:rPr>
              <a:t>for</a:t>
            </a:r>
            <a:r>
              <a:rPr dirty="0" sz="1000" spc="-35">
                <a:latin typeface="Times New Roman"/>
                <a:cs typeface="Times New Roman"/>
              </a:rPr>
              <a:t> </a:t>
            </a:r>
            <a:r>
              <a:rPr dirty="0" sz="1000" spc="-10">
                <a:latin typeface="Times New Roman"/>
                <a:cs typeface="Times New Roman"/>
              </a:rPr>
              <a:t>abstractive </a:t>
            </a:r>
            <a:r>
              <a:rPr dirty="0" sz="1000" spc="-10">
                <a:latin typeface="Times New Roman"/>
                <a:cs typeface="Times New Roman"/>
              </a:rPr>
              <a:t>	</a:t>
            </a:r>
            <a:r>
              <a:rPr dirty="0" sz="1000">
                <a:latin typeface="Times New Roman"/>
                <a:cs typeface="Times New Roman"/>
              </a:rPr>
              <a:t>summarization.</a:t>
            </a:r>
            <a:r>
              <a:rPr dirty="0" sz="1000" spc="105">
                <a:latin typeface="Times New Roman"/>
                <a:cs typeface="Times New Roman"/>
              </a:rPr>
              <a:t> </a:t>
            </a:r>
            <a:r>
              <a:rPr dirty="0" sz="1000" i="1">
                <a:latin typeface="Times New Roman"/>
                <a:cs typeface="Times New Roman"/>
              </a:rPr>
              <a:t>arXiv </a:t>
            </a:r>
            <a:r>
              <a:rPr dirty="0" sz="1000" spc="-10" i="1">
                <a:latin typeface="Times New Roman"/>
                <a:cs typeface="Times New Roman"/>
              </a:rPr>
              <a:t>preprint</a:t>
            </a:r>
            <a:r>
              <a:rPr dirty="0" sz="1000" spc="-5" i="1">
                <a:latin typeface="Times New Roman"/>
                <a:cs typeface="Times New Roman"/>
              </a:rPr>
              <a:t> </a:t>
            </a:r>
            <a:r>
              <a:rPr dirty="0" sz="1000" spc="-10" i="1">
                <a:latin typeface="Times New Roman"/>
                <a:cs typeface="Times New Roman"/>
              </a:rPr>
              <a:t>arXiv:1705.04304</a:t>
            </a:r>
            <a:r>
              <a:rPr dirty="0" sz="1000" spc="-10">
                <a:latin typeface="Times New Roman"/>
                <a:cs typeface="Times New Roman"/>
              </a:rPr>
              <a:t>,</a:t>
            </a:r>
            <a:r>
              <a:rPr dirty="0" sz="1000">
                <a:latin typeface="Times New Roman"/>
                <a:cs typeface="Times New Roman"/>
              </a:rPr>
              <a:t> </a:t>
            </a:r>
            <a:r>
              <a:rPr dirty="0" sz="1000" spc="-10">
                <a:latin typeface="Times New Roman"/>
                <a:cs typeface="Times New Roman"/>
              </a:rPr>
              <a:t>2017.</a:t>
            </a:r>
            <a:endParaRPr sz="1000">
              <a:latin typeface="Times New Roman"/>
              <a:cs typeface="Times New Roman"/>
            </a:endParaRPr>
          </a:p>
          <a:p>
            <a:pPr algn="just" marL="285115" marR="26670" indent="-273050">
              <a:lnSpc>
                <a:spcPts val="1090"/>
              </a:lnSpc>
              <a:spcBef>
                <a:spcPts val="800"/>
              </a:spcBef>
              <a:buAutoNum type="arabicPlain" startAt="21"/>
              <a:tabLst>
                <a:tab pos="286385" algn="l"/>
              </a:tabLst>
            </a:pPr>
            <a:r>
              <a:rPr dirty="0" sz="1000">
                <a:latin typeface="Times New Roman"/>
                <a:cs typeface="Times New Roman"/>
              </a:rPr>
              <a:t>Ofir</a:t>
            </a:r>
            <a:r>
              <a:rPr dirty="0" sz="1000" spc="40">
                <a:latin typeface="Times New Roman"/>
                <a:cs typeface="Times New Roman"/>
              </a:rPr>
              <a:t> </a:t>
            </a:r>
            <a:r>
              <a:rPr dirty="0" sz="1000">
                <a:latin typeface="Times New Roman"/>
                <a:cs typeface="Times New Roman"/>
              </a:rPr>
              <a:t>Press</a:t>
            </a:r>
            <a:r>
              <a:rPr dirty="0" sz="1000" spc="45">
                <a:latin typeface="Times New Roman"/>
                <a:cs typeface="Times New Roman"/>
              </a:rPr>
              <a:t> </a:t>
            </a:r>
            <a:r>
              <a:rPr dirty="0" sz="1000">
                <a:latin typeface="Times New Roman"/>
                <a:cs typeface="Times New Roman"/>
              </a:rPr>
              <a:t>and</a:t>
            </a:r>
            <a:r>
              <a:rPr dirty="0" sz="1000" spc="40">
                <a:latin typeface="Times New Roman"/>
                <a:cs typeface="Times New Roman"/>
              </a:rPr>
              <a:t> </a:t>
            </a:r>
            <a:r>
              <a:rPr dirty="0" sz="1000">
                <a:latin typeface="Times New Roman"/>
                <a:cs typeface="Times New Roman"/>
              </a:rPr>
              <a:t>Lior</a:t>
            </a:r>
            <a:r>
              <a:rPr dirty="0" sz="1000" spc="45">
                <a:latin typeface="Times New Roman"/>
                <a:cs typeface="Times New Roman"/>
              </a:rPr>
              <a:t> </a:t>
            </a:r>
            <a:r>
              <a:rPr dirty="0" sz="1000">
                <a:latin typeface="Times New Roman"/>
                <a:cs typeface="Times New Roman"/>
              </a:rPr>
              <a:t>Wolf.</a:t>
            </a:r>
            <a:r>
              <a:rPr dirty="0" sz="1000" spc="245">
                <a:latin typeface="Times New Roman"/>
                <a:cs typeface="Times New Roman"/>
              </a:rPr>
              <a:t> </a:t>
            </a:r>
            <a:r>
              <a:rPr dirty="0" sz="1000">
                <a:latin typeface="Times New Roman"/>
                <a:cs typeface="Times New Roman"/>
              </a:rPr>
              <a:t>Using</a:t>
            </a:r>
            <a:r>
              <a:rPr dirty="0" sz="1000" spc="45">
                <a:latin typeface="Times New Roman"/>
                <a:cs typeface="Times New Roman"/>
              </a:rPr>
              <a:t> </a:t>
            </a:r>
            <a:r>
              <a:rPr dirty="0" sz="1000">
                <a:latin typeface="Times New Roman"/>
                <a:cs typeface="Times New Roman"/>
              </a:rPr>
              <a:t>the</a:t>
            </a:r>
            <a:r>
              <a:rPr dirty="0" sz="1000" spc="40">
                <a:latin typeface="Times New Roman"/>
                <a:cs typeface="Times New Roman"/>
              </a:rPr>
              <a:t> </a:t>
            </a:r>
            <a:r>
              <a:rPr dirty="0" sz="1000">
                <a:latin typeface="Times New Roman"/>
                <a:cs typeface="Times New Roman"/>
              </a:rPr>
              <a:t>output</a:t>
            </a:r>
            <a:r>
              <a:rPr dirty="0" sz="1000" spc="45">
                <a:latin typeface="Times New Roman"/>
                <a:cs typeface="Times New Roman"/>
              </a:rPr>
              <a:t> </a:t>
            </a:r>
            <a:r>
              <a:rPr dirty="0" sz="1000">
                <a:latin typeface="Times New Roman"/>
                <a:cs typeface="Times New Roman"/>
              </a:rPr>
              <a:t>embedding</a:t>
            </a:r>
            <a:r>
              <a:rPr dirty="0" sz="1000" spc="45">
                <a:latin typeface="Times New Roman"/>
                <a:cs typeface="Times New Roman"/>
              </a:rPr>
              <a:t> </a:t>
            </a:r>
            <a:r>
              <a:rPr dirty="0" sz="1000">
                <a:latin typeface="Times New Roman"/>
                <a:cs typeface="Times New Roman"/>
              </a:rPr>
              <a:t>to</a:t>
            </a:r>
            <a:r>
              <a:rPr dirty="0" sz="1000" spc="40">
                <a:latin typeface="Times New Roman"/>
                <a:cs typeface="Times New Roman"/>
              </a:rPr>
              <a:t> </a:t>
            </a:r>
            <a:r>
              <a:rPr dirty="0" sz="1000">
                <a:latin typeface="Times New Roman"/>
                <a:cs typeface="Times New Roman"/>
              </a:rPr>
              <a:t>improve</a:t>
            </a:r>
            <a:r>
              <a:rPr dirty="0" sz="1000" spc="45">
                <a:latin typeface="Times New Roman"/>
                <a:cs typeface="Times New Roman"/>
              </a:rPr>
              <a:t> </a:t>
            </a:r>
            <a:r>
              <a:rPr dirty="0" sz="1000">
                <a:latin typeface="Times New Roman"/>
                <a:cs typeface="Times New Roman"/>
              </a:rPr>
              <a:t>language</a:t>
            </a:r>
            <a:r>
              <a:rPr dirty="0" sz="1000" spc="45">
                <a:latin typeface="Times New Roman"/>
                <a:cs typeface="Times New Roman"/>
              </a:rPr>
              <a:t> </a:t>
            </a:r>
            <a:r>
              <a:rPr dirty="0" sz="1000">
                <a:latin typeface="Times New Roman"/>
                <a:cs typeface="Times New Roman"/>
              </a:rPr>
              <a:t>models.</a:t>
            </a:r>
            <a:r>
              <a:rPr dirty="0" sz="1000" spc="240">
                <a:latin typeface="Times New Roman"/>
                <a:cs typeface="Times New Roman"/>
              </a:rPr>
              <a:t> </a:t>
            </a:r>
            <a:r>
              <a:rPr dirty="0" sz="1000" spc="-10" i="1">
                <a:latin typeface="Times New Roman"/>
                <a:cs typeface="Times New Roman"/>
              </a:rPr>
              <a:t>arXiv 	preprint</a:t>
            </a:r>
            <a:r>
              <a:rPr dirty="0" sz="1000" spc="45" i="1">
                <a:latin typeface="Times New Roman"/>
                <a:cs typeface="Times New Roman"/>
              </a:rPr>
              <a:t> </a:t>
            </a:r>
            <a:r>
              <a:rPr dirty="0" sz="1000" spc="-10" i="1">
                <a:latin typeface="Times New Roman"/>
                <a:cs typeface="Times New Roman"/>
              </a:rPr>
              <a:t>arXiv:1608.05859</a:t>
            </a:r>
            <a:r>
              <a:rPr dirty="0" sz="1000" spc="-10">
                <a:latin typeface="Times New Roman"/>
                <a:cs typeface="Times New Roman"/>
              </a:rPr>
              <a:t>,</a:t>
            </a:r>
            <a:r>
              <a:rPr dirty="0" sz="1000" spc="4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1940" marR="26670" indent="-269875">
              <a:lnSpc>
                <a:spcPts val="1090"/>
              </a:lnSpc>
              <a:spcBef>
                <a:spcPts val="800"/>
              </a:spcBef>
              <a:buAutoNum type="arabicPlain" startAt="21"/>
              <a:tabLst>
                <a:tab pos="281940" algn="l"/>
                <a:tab pos="285115" algn="l"/>
              </a:tabLst>
            </a:pPr>
            <a:r>
              <a:rPr dirty="0" sz="1000">
                <a:latin typeface="Times New Roman"/>
                <a:cs typeface="Times New Roman"/>
              </a:rPr>
              <a:t>	Rico</a:t>
            </a:r>
            <a:r>
              <a:rPr dirty="0" sz="1000" spc="-25">
                <a:latin typeface="Times New Roman"/>
                <a:cs typeface="Times New Roman"/>
              </a:rPr>
              <a:t> </a:t>
            </a:r>
            <a:r>
              <a:rPr dirty="0" sz="1000" spc="-10">
                <a:latin typeface="Times New Roman"/>
                <a:cs typeface="Times New Roman"/>
              </a:rPr>
              <a:t>Sennrich,</a:t>
            </a:r>
            <a:r>
              <a:rPr dirty="0" sz="1000" spc="-20">
                <a:latin typeface="Times New Roman"/>
                <a:cs typeface="Times New Roman"/>
              </a:rPr>
              <a:t> </a:t>
            </a:r>
            <a:r>
              <a:rPr dirty="0" sz="1000">
                <a:latin typeface="Times New Roman"/>
                <a:cs typeface="Times New Roman"/>
              </a:rPr>
              <a:t>Barry</a:t>
            </a:r>
            <a:r>
              <a:rPr dirty="0" sz="1000" spc="-25">
                <a:latin typeface="Times New Roman"/>
                <a:cs typeface="Times New Roman"/>
              </a:rPr>
              <a:t> </a:t>
            </a:r>
            <a:r>
              <a:rPr dirty="0" sz="1000" spc="-20">
                <a:latin typeface="Times New Roman"/>
                <a:cs typeface="Times New Roman"/>
              </a:rPr>
              <a:t>Haddow, </a:t>
            </a:r>
            <a:r>
              <a:rPr dirty="0" sz="1000">
                <a:latin typeface="Times New Roman"/>
                <a:cs typeface="Times New Roman"/>
              </a:rPr>
              <a:t>and</a:t>
            </a:r>
            <a:r>
              <a:rPr dirty="0" sz="1000" spc="-20">
                <a:latin typeface="Times New Roman"/>
                <a:cs typeface="Times New Roman"/>
              </a:rPr>
              <a:t> </a:t>
            </a:r>
            <a:r>
              <a:rPr dirty="0" sz="1000" spc="-10">
                <a:latin typeface="Times New Roman"/>
                <a:cs typeface="Times New Roman"/>
              </a:rPr>
              <a:t>Alexandra</a:t>
            </a:r>
            <a:r>
              <a:rPr dirty="0" sz="1000" spc="-25">
                <a:latin typeface="Times New Roman"/>
                <a:cs typeface="Times New Roman"/>
              </a:rPr>
              <a:t> </a:t>
            </a:r>
            <a:r>
              <a:rPr dirty="0" sz="1000">
                <a:latin typeface="Times New Roman"/>
                <a:cs typeface="Times New Roman"/>
              </a:rPr>
              <a:t>Birch.</a:t>
            </a:r>
            <a:r>
              <a:rPr dirty="0" sz="1000" spc="80">
                <a:latin typeface="Times New Roman"/>
                <a:cs typeface="Times New Roman"/>
              </a:rPr>
              <a:t> </a:t>
            </a:r>
            <a:r>
              <a:rPr dirty="0" sz="1000">
                <a:latin typeface="Times New Roman"/>
                <a:cs typeface="Times New Roman"/>
              </a:rPr>
              <a:t>Neural</a:t>
            </a:r>
            <a:r>
              <a:rPr dirty="0" sz="1000" spc="-20">
                <a:latin typeface="Times New Roman"/>
                <a:cs typeface="Times New Roman"/>
              </a:rPr>
              <a:t> </a:t>
            </a:r>
            <a:r>
              <a:rPr dirty="0" sz="1000" spc="-10">
                <a:latin typeface="Times New Roman"/>
                <a:cs typeface="Times New Roman"/>
              </a:rPr>
              <a:t>machine</a:t>
            </a:r>
            <a:r>
              <a:rPr dirty="0" sz="1000" spc="-25">
                <a:latin typeface="Times New Roman"/>
                <a:cs typeface="Times New Roman"/>
              </a:rPr>
              <a:t> </a:t>
            </a:r>
            <a:r>
              <a:rPr dirty="0" sz="1000" spc="-10">
                <a:latin typeface="Times New Roman"/>
                <a:cs typeface="Times New Roman"/>
              </a:rPr>
              <a:t>translation</a:t>
            </a:r>
            <a:r>
              <a:rPr dirty="0" sz="1000" spc="-20">
                <a:latin typeface="Times New Roman"/>
                <a:cs typeface="Times New Roman"/>
              </a:rPr>
              <a:t> </a:t>
            </a:r>
            <a:r>
              <a:rPr dirty="0" sz="1000">
                <a:latin typeface="Times New Roman"/>
                <a:cs typeface="Times New Roman"/>
              </a:rPr>
              <a:t>of</a:t>
            </a:r>
            <a:r>
              <a:rPr dirty="0" sz="1000" spc="-20">
                <a:latin typeface="Times New Roman"/>
                <a:cs typeface="Times New Roman"/>
              </a:rPr>
              <a:t> </a:t>
            </a:r>
            <a:r>
              <a:rPr dirty="0" sz="1000">
                <a:latin typeface="Times New Roman"/>
                <a:cs typeface="Times New Roman"/>
              </a:rPr>
              <a:t>rare</a:t>
            </a:r>
            <a:r>
              <a:rPr dirty="0" sz="1000" spc="-25">
                <a:latin typeface="Times New Roman"/>
                <a:cs typeface="Times New Roman"/>
              </a:rPr>
              <a:t> </a:t>
            </a:r>
            <a:r>
              <a:rPr dirty="0" sz="1000" spc="-10">
                <a:latin typeface="Times New Roman"/>
                <a:cs typeface="Times New Roman"/>
              </a:rPr>
              <a:t>words </a:t>
            </a:r>
            <a:r>
              <a:rPr dirty="0" sz="1000">
                <a:latin typeface="Times New Roman"/>
                <a:cs typeface="Times New Roman"/>
              </a:rPr>
              <a:t>with</a:t>
            </a:r>
            <a:r>
              <a:rPr dirty="0" sz="1000" spc="-10">
                <a:latin typeface="Times New Roman"/>
                <a:cs typeface="Times New Roman"/>
              </a:rPr>
              <a:t> </a:t>
            </a:r>
            <a:r>
              <a:rPr dirty="0" sz="1000">
                <a:latin typeface="Times New Roman"/>
                <a:cs typeface="Times New Roman"/>
              </a:rPr>
              <a:t>subword</a:t>
            </a:r>
            <a:r>
              <a:rPr dirty="0" sz="1000" spc="-5">
                <a:latin typeface="Times New Roman"/>
                <a:cs typeface="Times New Roman"/>
              </a:rPr>
              <a:t> </a:t>
            </a:r>
            <a:r>
              <a:rPr dirty="0" sz="1000">
                <a:latin typeface="Times New Roman"/>
                <a:cs typeface="Times New Roman"/>
              </a:rPr>
              <a:t>units.</a:t>
            </a:r>
            <a:r>
              <a:rPr dirty="0" sz="1000" spc="100">
                <a:latin typeface="Times New Roman"/>
                <a:cs typeface="Times New Roman"/>
              </a:rPr>
              <a:t> </a:t>
            </a:r>
            <a:r>
              <a:rPr dirty="0" sz="1000" i="1">
                <a:latin typeface="Times New Roman"/>
                <a:cs typeface="Times New Roman"/>
              </a:rPr>
              <a:t>arXiv</a:t>
            </a:r>
            <a:r>
              <a:rPr dirty="0" sz="1000" spc="-5" i="1">
                <a:latin typeface="Times New Roman"/>
                <a:cs typeface="Times New Roman"/>
              </a:rPr>
              <a:t> </a:t>
            </a:r>
            <a:r>
              <a:rPr dirty="0" sz="1000" spc="-10" i="1">
                <a:latin typeface="Times New Roman"/>
                <a:cs typeface="Times New Roman"/>
              </a:rPr>
              <a:t>preprint</a:t>
            </a:r>
            <a:r>
              <a:rPr dirty="0" sz="1000" spc="-5" i="1">
                <a:latin typeface="Times New Roman"/>
                <a:cs typeface="Times New Roman"/>
              </a:rPr>
              <a:t> </a:t>
            </a:r>
            <a:r>
              <a:rPr dirty="0" sz="1000" spc="-10" i="1">
                <a:latin typeface="Times New Roman"/>
                <a:cs typeface="Times New Roman"/>
              </a:rPr>
              <a:t>arXiv:1508.07909</a:t>
            </a:r>
            <a:r>
              <a:rPr dirty="0" sz="1000" spc="-10">
                <a:latin typeface="Times New Roman"/>
                <a:cs typeface="Times New Roman"/>
              </a:rPr>
              <a:t>,</a:t>
            </a:r>
            <a:r>
              <a:rPr dirty="0" sz="1000" spc="-5">
                <a:latin typeface="Times New Roman"/>
                <a:cs typeface="Times New Roman"/>
              </a:rPr>
              <a:t> </a:t>
            </a:r>
            <a:r>
              <a:rPr dirty="0" sz="1000" spc="-10">
                <a:latin typeface="Times New Roman"/>
                <a:cs typeface="Times New Roman"/>
              </a:rPr>
              <a:t>2015.</a:t>
            </a:r>
            <a:endParaRPr sz="1000">
              <a:latin typeface="Times New Roman"/>
              <a:cs typeface="Times New Roman"/>
            </a:endParaRPr>
          </a:p>
          <a:p>
            <a:pPr algn="just" marL="285115" marR="10795" indent="-273050">
              <a:lnSpc>
                <a:spcPts val="1090"/>
              </a:lnSpc>
              <a:spcBef>
                <a:spcPts val="795"/>
              </a:spcBef>
              <a:buAutoNum type="arabicPlain" startAt="21"/>
              <a:tabLst>
                <a:tab pos="286385" algn="l"/>
              </a:tabLst>
            </a:pPr>
            <a:r>
              <a:rPr dirty="0" sz="1000">
                <a:latin typeface="Times New Roman"/>
                <a:cs typeface="Times New Roman"/>
              </a:rPr>
              <a:t>Noam</a:t>
            </a:r>
            <a:r>
              <a:rPr dirty="0" sz="1000" spc="-30">
                <a:latin typeface="Times New Roman"/>
                <a:cs typeface="Times New Roman"/>
              </a:rPr>
              <a:t> </a:t>
            </a:r>
            <a:r>
              <a:rPr dirty="0" sz="1000" spc="-20">
                <a:latin typeface="Times New Roman"/>
                <a:cs typeface="Times New Roman"/>
              </a:rPr>
              <a:t>Shazeer,</a:t>
            </a:r>
            <a:r>
              <a:rPr dirty="0" sz="1000" spc="-25">
                <a:latin typeface="Times New Roman"/>
                <a:cs typeface="Times New Roman"/>
              </a:rPr>
              <a:t> </a:t>
            </a:r>
            <a:r>
              <a:rPr dirty="0" sz="1000" spc="-10">
                <a:latin typeface="Times New Roman"/>
                <a:cs typeface="Times New Roman"/>
              </a:rPr>
              <a:t>Azalia</a:t>
            </a:r>
            <a:r>
              <a:rPr dirty="0" sz="1000" spc="-25">
                <a:latin typeface="Times New Roman"/>
                <a:cs typeface="Times New Roman"/>
              </a:rPr>
              <a:t> </a:t>
            </a:r>
            <a:r>
              <a:rPr dirty="0" sz="1000" spc="-10">
                <a:latin typeface="Times New Roman"/>
                <a:cs typeface="Times New Roman"/>
              </a:rPr>
              <a:t>Mirhoseini,</a:t>
            </a:r>
            <a:r>
              <a:rPr dirty="0" sz="1000" spc="-25">
                <a:latin typeface="Times New Roman"/>
                <a:cs typeface="Times New Roman"/>
              </a:rPr>
              <a:t> </a:t>
            </a:r>
            <a:r>
              <a:rPr dirty="0" sz="1000" spc="-10">
                <a:latin typeface="Times New Roman"/>
                <a:cs typeface="Times New Roman"/>
              </a:rPr>
              <a:t>Krzysztof</a:t>
            </a:r>
            <a:r>
              <a:rPr dirty="0" sz="1000" spc="-25">
                <a:latin typeface="Times New Roman"/>
                <a:cs typeface="Times New Roman"/>
              </a:rPr>
              <a:t> </a:t>
            </a:r>
            <a:r>
              <a:rPr dirty="0" sz="1000" spc="-10">
                <a:latin typeface="Times New Roman"/>
                <a:cs typeface="Times New Roman"/>
              </a:rPr>
              <a:t>Maziarz,</a:t>
            </a:r>
            <a:r>
              <a:rPr dirty="0" sz="1000" spc="-25">
                <a:latin typeface="Times New Roman"/>
                <a:cs typeface="Times New Roman"/>
              </a:rPr>
              <a:t> </a:t>
            </a:r>
            <a:r>
              <a:rPr dirty="0" sz="1000">
                <a:latin typeface="Times New Roman"/>
                <a:cs typeface="Times New Roman"/>
              </a:rPr>
              <a:t>Andy</a:t>
            </a:r>
            <a:r>
              <a:rPr dirty="0" sz="1000" spc="-25">
                <a:latin typeface="Times New Roman"/>
                <a:cs typeface="Times New Roman"/>
              </a:rPr>
              <a:t> </a:t>
            </a:r>
            <a:r>
              <a:rPr dirty="0" sz="1000" spc="-10">
                <a:latin typeface="Times New Roman"/>
                <a:cs typeface="Times New Roman"/>
              </a:rPr>
              <a:t>Davis,</a:t>
            </a:r>
            <a:r>
              <a:rPr dirty="0" sz="1000" spc="-25">
                <a:latin typeface="Times New Roman"/>
                <a:cs typeface="Times New Roman"/>
              </a:rPr>
              <a:t> </a:t>
            </a:r>
            <a:r>
              <a:rPr dirty="0" sz="1000">
                <a:latin typeface="Times New Roman"/>
                <a:cs typeface="Times New Roman"/>
              </a:rPr>
              <a:t>Quoc</a:t>
            </a:r>
            <a:r>
              <a:rPr dirty="0" sz="1000" spc="-25">
                <a:latin typeface="Times New Roman"/>
                <a:cs typeface="Times New Roman"/>
              </a:rPr>
              <a:t> </a:t>
            </a:r>
            <a:r>
              <a:rPr dirty="0" sz="1000">
                <a:latin typeface="Times New Roman"/>
                <a:cs typeface="Times New Roman"/>
              </a:rPr>
              <a:t>Le,</a:t>
            </a:r>
            <a:r>
              <a:rPr dirty="0" sz="1000" spc="-25">
                <a:latin typeface="Times New Roman"/>
                <a:cs typeface="Times New Roman"/>
              </a:rPr>
              <a:t> </a:t>
            </a:r>
            <a:r>
              <a:rPr dirty="0" sz="1000" spc="-20">
                <a:latin typeface="Times New Roman"/>
                <a:cs typeface="Times New Roman"/>
              </a:rPr>
              <a:t>Geoffrey</a:t>
            </a:r>
            <a:r>
              <a:rPr dirty="0" sz="1000" spc="-25">
                <a:latin typeface="Times New Roman"/>
                <a:cs typeface="Times New Roman"/>
              </a:rPr>
              <a:t> </a:t>
            </a:r>
            <a:r>
              <a:rPr dirty="0" sz="1000" spc="-10">
                <a:latin typeface="Times New Roman"/>
                <a:cs typeface="Times New Roman"/>
              </a:rPr>
              <a:t>Hinton, </a:t>
            </a:r>
            <a:r>
              <a:rPr dirty="0" sz="1000" spc="-10">
                <a:latin typeface="Times New Roman"/>
                <a:cs typeface="Times New Roman"/>
              </a:rPr>
              <a:t>	</a:t>
            </a:r>
            <a:r>
              <a:rPr dirty="0" sz="1000">
                <a:latin typeface="Times New Roman"/>
                <a:cs typeface="Times New Roman"/>
              </a:rPr>
              <a:t>and</a:t>
            </a:r>
            <a:r>
              <a:rPr dirty="0" sz="1000" spc="60">
                <a:latin typeface="Times New Roman"/>
                <a:cs typeface="Times New Roman"/>
              </a:rPr>
              <a:t> </a:t>
            </a:r>
            <a:r>
              <a:rPr dirty="0" sz="1000">
                <a:latin typeface="Times New Roman"/>
                <a:cs typeface="Times New Roman"/>
              </a:rPr>
              <a:t>Jeff</a:t>
            </a:r>
            <a:r>
              <a:rPr dirty="0" sz="1000" spc="65">
                <a:latin typeface="Times New Roman"/>
                <a:cs typeface="Times New Roman"/>
              </a:rPr>
              <a:t> </a:t>
            </a:r>
            <a:r>
              <a:rPr dirty="0" sz="1000">
                <a:latin typeface="Times New Roman"/>
                <a:cs typeface="Times New Roman"/>
              </a:rPr>
              <a:t>Dean.</a:t>
            </a:r>
            <a:r>
              <a:rPr dirty="0" sz="1000" spc="290">
                <a:latin typeface="Times New Roman"/>
                <a:cs typeface="Times New Roman"/>
              </a:rPr>
              <a:t> </a:t>
            </a:r>
            <a:r>
              <a:rPr dirty="0" sz="1000">
                <a:latin typeface="Times New Roman"/>
                <a:cs typeface="Times New Roman"/>
              </a:rPr>
              <a:t>Outrageously</a:t>
            </a:r>
            <a:r>
              <a:rPr dirty="0" sz="1000" spc="65">
                <a:latin typeface="Times New Roman"/>
                <a:cs typeface="Times New Roman"/>
              </a:rPr>
              <a:t> </a:t>
            </a:r>
            <a:r>
              <a:rPr dirty="0" sz="1000">
                <a:latin typeface="Times New Roman"/>
                <a:cs typeface="Times New Roman"/>
              </a:rPr>
              <a:t>large</a:t>
            </a:r>
            <a:r>
              <a:rPr dirty="0" sz="1000" spc="60">
                <a:latin typeface="Times New Roman"/>
                <a:cs typeface="Times New Roman"/>
              </a:rPr>
              <a:t> </a:t>
            </a:r>
            <a:r>
              <a:rPr dirty="0" sz="1000">
                <a:latin typeface="Times New Roman"/>
                <a:cs typeface="Times New Roman"/>
              </a:rPr>
              <a:t>neural</a:t>
            </a:r>
            <a:r>
              <a:rPr dirty="0" sz="1000" spc="65">
                <a:latin typeface="Times New Roman"/>
                <a:cs typeface="Times New Roman"/>
              </a:rPr>
              <a:t> </a:t>
            </a:r>
            <a:r>
              <a:rPr dirty="0" sz="1000">
                <a:latin typeface="Times New Roman"/>
                <a:cs typeface="Times New Roman"/>
              </a:rPr>
              <a:t>networks:</a:t>
            </a:r>
            <a:r>
              <a:rPr dirty="0" sz="1000" spc="180">
                <a:latin typeface="Times New Roman"/>
                <a:cs typeface="Times New Roman"/>
              </a:rPr>
              <a:t> </a:t>
            </a:r>
            <a:r>
              <a:rPr dirty="0" sz="1000">
                <a:latin typeface="Times New Roman"/>
                <a:cs typeface="Times New Roman"/>
              </a:rPr>
              <a:t>The</a:t>
            </a:r>
            <a:r>
              <a:rPr dirty="0" sz="1000" spc="60">
                <a:latin typeface="Times New Roman"/>
                <a:cs typeface="Times New Roman"/>
              </a:rPr>
              <a:t> </a:t>
            </a:r>
            <a:r>
              <a:rPr dirty="0" sz="1000">
                <a:latin typeface="Times New Roman"/>
                <a:cs typeface="Times New Roman"/>
              </a:rPr>
              <a:t>sparsely-gated</a:t>
            </a:r>
            <a:r>
              <a:rPr dirty="0" sz="1000" spc="65">
                <a:latin typeface="Times New Roman"/>
                <a:cs typeface="Times New Roman"/>
              </a:rPr>
              <a:t> </a:t>
            </a:r>
            <a:r>
              <a:rPr dirty="0" sz="1000">
                <a:latin typeface="Times New Roman"/>
                <a:cs typeface="Times New Roman"/>
              </a:rPr>
              <a:t>mixture-of-</a:t>
            </a:r>
            <a:r>
              <a:rPr dirty="0" sz="1000" spc="-10">
                <a:latin typeface="Times New Roman"/>
                <a:cs typeface="Times New Roman"/>
              </a:rPr>
              <a:t>experts </a:t>
            </a:r>
            <a:r>
              <a:rPr dirty="0" sz="1000" spc="-10">
                <a:latin typeface="Times New Roman"/>
                <a:cs typeface="Times New Roman"/>
              </a:rPr>
              <a:t>	</a:t>
            </a:r>
            <a:r>
              <a:rPr dirty="0" sz="1000">
                <a:latin typeface="Times New Roman"/>
                <a:cs typeface="Times New Roman"/>
              </a:rPr>
              <a:t>layer.</a:t>
            </a:r>
            <a:r>
              <a:rPr dirty="0" sz="1000" spc="95">
                <a:latin typeface="Times New Roman"/>
                <a:cs typeface="Times New Roman"/>
              </a:rPr>
              <a:t> </a:t>
            </a:r>
            <a:r>
              <a:rPr dirty="0" sz="1000" i="1">
                <a:latin typeface="Times New Roman"/>
                <a:cs typeface="Times New Roman"/>
              </a:rPr>
              <a:t>arXiv</a:t>
            </a:r>
            <a:r>
              <a:rPr dirty="0" sz="1000" spc="-10" i="1">
                <a:latin typeface="Times New Roman"/>
                <a:cs typeface="Times New Roman"/>
              </a:rPr>
              <a:t> preprint</a:t>
            </a:r>
            <a:r>
              <a:rPr dirty="0" sz="1000" spc="-5" i="1">
                <a:latin typeface="Times New Roman"/>
                <a:cs typeface="Times New Roman"/>
              </a:rPr>
              <a:t> </a:t>
            </a:r>
            <a:r>
              <a:rPr dirty="0" sz="1000" spc="-10" i="1">
                <a:latin typeface="Times New Roman"/>
                <a:cs typeface="Times New Roman"/>
              </a:rPr>
              <a:t>arXiv:1701.06538</a:t>
            </a:r>
            <a:r>
              <a:rPr dirty="0" sz="1000" spc="-10">
                <a:latin typeface="Times New Roman"/>
                <a:cs typeface="Times New Roman"/>
              </a:rPr>
              <a:t>, 2017.</a:t>
            </a:r>
            <a:endParaRPr sz="1000">
              <a:latin typeface="Times New Roman"/>
              <a:cs typeface="Times New Roman"/>
            </a:endParaRPr>
          </a:p>
          <a:p>
            <a:pPr algn="just" marL="283210" marR="5715" indent="-270510">
              <a:lnSpc>
                <a:spcPts val="1090"/>
              </a:lnSpc>
              <a:spcBef>
                <a:spcPts val="800"/>
              </a:spcBef>
              <a:buAutoNum type="arabicPlain" startAt="21"/>
              <a:tabLst>
                <a:tab pos="283210" algn="l"/>
                <a:tab pos="285750" algn="l"/>
              </a:tabLst>
            </a:pPr>
            <a:r>
              <a:rPr dirty="0" sz="1000">
                <a:latin typeface="Times New Roman"/>
                <a:cs typeface="Times New Roman"/>
              </a:rPr>
              <a:t>	Nitish</a:t>
            </a:r>
            <a:r>
              <a:rPr dirty="0" sz="1000" spc="-15">
                <a:latin typeface="Times New Roman"/>
                <a:cs typeface="Times New Roman"/>
              </a:rPr>
              <a:t> </a:t>
            </a:r>
            <a:r>
              <a:rPr dirty="0" sz="1000" spc="-20">
                <a:latin typeface="Times New Roman"/>
                <a:cs typeface="Times New Roman"/>
              </a:rPr>
              <a:t>Srivastava,</a:t>
            </a:r>
            <a:r>
              <a:rPr dirty="0" sz="1000" spc="-15">
                <a:latin typeface="Times New Roman"/>
                <a:cs typeface="Times New Roman"/>
              </a:rPr>
              <a:t> </a:t>
            </a:r>
            <a:r>
              <a:rPr dirty="0" sz="1000" spc="-10">
                <a:latin typeface="Times New Roman"/>
                <a:cs typeface="Times New Roman"/>
              </a:rPr>
              <a:t>Geoffrey</a:t>
            </a:r>
            <a:r>
              <a:rPr dirty="0" sz="1000" spc="-15">
                <a:latin typeface="Times New Roman"/>
                <a:cs typeface="Times New Roman"/>
              </a:rPr>
              <a:t> </a:t>
            </a:r>
            <a:r>
              <a:rPr dirty="0" sz="1000">
                <a:latin typeface="Times New Roman"/>
                <a:cs typeface="Times New Roman"/>
              </a:rPr>
              <a:t>E</a:t>
            </a:r>
            <a:r>
              <a:rPr dirty="0" sz="1000" spc="-15">
                <a:latin typeface="Times New Roman"/>
                <a:cs typeface="Times New Roman"/>
              </a:rPr>
              <a:t> </a:t>
            </a:r>
            <a:r>
              <a:rPr dirty="0" sz="1000">
                <a:latin typeface="Times New Roman"/>
                <a:cs typeface="Times New Roman"/>
              </a:rPr>
              <a:t>Hinton,</a:t>
            </a:r>
            <a:r>
              <a:rPr dirty="0" sz="1000" spc="-15">
                <a:latin typeface="Times New Roman"/>
                <a:cs typeface="Times New Roman"/>
              </a:rPr>
              <a:t> </a:t>
            </a:r>
            <a:r>
              <a:rPr dirty="0" sz="1000">
                <a:latin typeface="Times New Roman"/>
                <a:cs typeface="Times New Roman"/>
              </a:rPr>
              <a:t>Alex</a:t>
            </a:r>
            <a:r>
              <a:rPr dirty="0" sz="1000" spc="-15">
                <a:latin typeface="Times New Roman"/>
                <a:cs typeface="Times New Roman"/>
              </a:rPr>
              <a:t> </a:t>
            </a:r>
            <a:r>
              <a:rPr dirty="0" sz="1000" spc="-20">
                <a:latin typeface="Times New Roman"/>
                <a:cs typeface="Times New Roman"/>
              </a:rPr>
              <a:t>Krizhevsky,</a:t>
            </a:r>
            <a:r>
              <a:rPr dirty="0" sz="1000" spc="-15">
                <a:latin typeface="Times New Roman"/>
                <a:cs typeface="Times New Roman"/>
              </a:rPr>
              <a:t> </a:t>
            </a:r>
            <a:r>
              <a:rPr dirty="0" sz="1000">
                <a:latin typeface="Times New Roman"/>
                <a:cs typeface="Times New Roman"/>
              </a:rPr>
              <a:t>Ilya</a:t>
            </a:r>
            <a:r>
              <a:rPr dirty="0" sz="1000" spc="-10">
                <a:latin typeface="Times New Roman"/>
                <a:cs typeface="Times New Roman"/>
              </a:rPr>
              <a:t> </a:t>
            </a:r>
            <a:r>
              <a:rPr dirty="0" sz="1000" spc="-20">
                <a:latin typeface="Times New Roman"/>
                <a:cs typeface="Times New Roman"/>
              </a:rPr>
              <a:t>Sutskever,</a:t>
            </a:r>
            <a:r>
              <a:rPr dirty="0" sz="1000" spc="-15">
                <a:latin typeface="Times New Roman"/>
                <a:cs typeface="Times New Roman"/>
              </a:rPr>
              <a:t> </a:t>
            </a:r>
            <a:r>
              <a:rPr dirty="0" sz="1000">
                <a:latin typeface="Times New Roman"/>
                <a:cs typeface="Times New Roman"/>
              </a:rPr>
              <a:t>and</a:t>
            </a:r>
            <a:r>
              <a:rPr dirty="0" sz="1000" spc="-15">
                <a:latin typeface="Times New Roman"/>
                <a:cs typeface="Times New Roman"/>
              </a:rPr>
              <a:t> </a:t>
            </a:r>
            <a:r>
              <a:rPr dirty="0" sz="1000">
                <a:latin typeface="Times New Roman"/>
                <a:cs typeface="Times New Roman"/>
              </a:rPr>
              <a:t>Ruslan</a:t>
            </a:r>
            <a:r>
              <a:rPr dirty="0" sz="1000" spc="-15">
                <a:latin typeface="Times New Roman"/>
                <a:cs typeface="Times New Roman"/>
              </a:rPr>
              <a:t> </a:t>
            </a:r>
            <a:r>
              <a:rPr dirty="0" sz="1000" spc="-10">
                <a:latin typeface="Times New Roman"/>
                <a:cs typeface="Times New Roman"/>
              </a:rPr>
              <a:t>Salakhutdi- </a:t>
            </a:r>
            <a:r>
              <a:rPr dirty="0" sz="1000">
                <a:latin typeface="Times New Roman"/>
                <a:cs typeface="Times New Roman"/>
              </a:rPr>
              <a:t>nov.</a:t>
            </a:r>
            <a:r>
              <a:rPr dirty="0" sz="1000" spc="70">
                <a:latin typeface="Times New Roman"/>
                <a:cs typeface="Times New Roman"/>
              </a:rPr>
              <a:t> </a:t>
            </a:r>
            <a:r>
              <a:rPr dirty="0" sz="1000">
                <a:latin typeface="Times New Roman"/>
                <a:cs typeface="Times New Roman"/>
              </a:rPr>
              <a:t>Dropout:</a:t>
            </a:r>
            <a:r>
              <a:rPr dirty="0" sz="1000" spc="40">
                <a:latin typeface="Times New Roman"/>
                <a:cs typeface="Times New Roman"/>
              </a:rPr>
              <a:t> </a:t>
            </a:r>
            <a:r>
              <a:rPr dirty="0" sz="1000">
                <a:latin typeface="Times New Roman"/>
                <a:cs typeface="Times New Roman"/>
              </a:rPr>
              <a:t>a</a:t>
            </a:r>
            <a:r>
              <a:rPr dirty="0" sz="1000" spc="-20">
                <a:latin typeface="Times New Roman"/>
                <a:cs typeface="Times New Roman"/>
              </a:rPr>
              <a:t> </a:t>
            </a:r>
            <a:r>
              <a:rPr dirty="0" sz="1000">
                <a:latin typeface="Times New Roman"/>
                <a:cs typeface="Times New Roman"/>
              </a:rPr>
              <a:t>simple</a:t>
            </a:r>
            <a:r>
              <a:rPr dirty="0" sz="1000" spc="-20">
                <a:latin typeface="Times New Roman"/>
                <a:cs typeface="Times New Roman"/>
              </a:rPr>
              <a:t> </a:t>
            </a:r>
            <a:r>
              <a:rPr dirty="0" sz="1000">
                <a:latin typeface="Times New Roman"/>
                <a:cs typeface="Times New Roman"/>
              </a:rPr>
              <a:t>way</a:t>
            </a:r>
            <a:r>
              <a:rPr dirty="0" sz="1000" spc="-20">
                <a:latin typeface="Times New Roman"/>
                <a:cs typeface="Times New Roman"/>
              </a:rPr>
              <a:t> </a:t>
            </a:r>
            <a:r>
              <a:rPr dirty="0" sz="1000">
                <a:latin typeface="Times New Roman"/>
                <a:cs typeface="Times New Roman"/>
              </a:rPr>
              <a:t>to</a:t>
            </a:r>
            <a:r>
              <a:rPr dirty="0" sz="1000" spc="-15">
                <a:latin typeface="Times New Roman"/>
                <a:cs typeface="Times New Roman"/>
              </a:rPr>
              <a:t> </a:t>
            </a:r>
            <a:r>
              <a:rPr dirty="0" sz="1000">
                <a:latin typeface="Times New Roman"/>
                <a:cs typeface="Times New Roman"/>
              </a:rPr>
              <a:t>prevent</a:t>
            </a:r>
            <a:r>
              <a:rPr dirty="0" sz="1000" spc="-20">
                <a:latin typeface="Times New Roman"/>
                <a:cs typeface="Times New Roman"/>
              </a:rPr>
              <a:t> </a:t>
            </a:r>
            <a:r>
              <a:rPr dirty="0" sz="1000">
                <a:latin typeface="Times New Roman"/>
                <a:cs typeface="Times New Roman"/>
              </a:rPr>
              <a:t>neural</a:t>
            </a:r>
            <a:r>
              <a:rPr dirty="0" sz="1000" spc="-20">
                <a:latin typeface="Times New Roman"/>
                <a:cs typeface="Times New Roman"/>
              </a:rPr>
              <a:t> </a:t>
            </a:r>
            <a:r>
              <a:rPr dirty="0" sz="1000">
                <a:latin typeface="Times New Roman"/>
                <a:cs typeface="Times New Roman"/>
              </a:rPr>
              <a:t>networks</a:t>
            </a:r>
            <a:r>
              <a:rPr dirty="0" sz="1000" spc="-20">
                <a:latin typeface="Times New Roman"/>
                <a:cs typeface="Times New Roman"/>
              </a:rPr>
              <a:t> </a:t>
            </a:r>
            <a:r>
              <a:rPr dirty="0" sz="1000">
                <a:latin typeface="Times New Roman"/>
                <a:cs typeface="Times New Roman"/>
              </a:rPr>
              <a:t>from</a:t>
            </a:r>
            <a:r>
              <a:rPr dirty="0" sz="1000" spc="-20">
                <a:latin typeface="Times New Roman"/>
                <a:cs typeface="Times New Roman"/>
              </a:rPr>
              <a:t> </a:t>
            </a:r>
            <a:r>
              <a:rPr dirty="0" sz="1000">
                <a:latin typeface="Times New Roman"/>
                <a:cs typeface="Times New Roman"/>
              </a:rPr>
              <a:t>overfitting.</a:t>
            </a:r>
            <a:r>
              <a:rPr dirty="0" sz="1000" spc="85">
                <a:latin typeface="Times New Roman"/>
                <a:cs typeface="Times New Roman"/>
              </a:rPr>
              <a:t> </a:t>
            </a:r>
            <a:r>
              <a:rPr dirty="0" sz="1000" i="1">
                <a:latin typeface="Times New Roman"/>
                <a:cs typeface="Times New Roman"/>
              </a:rPr>
              <a:t>Journal</a:t>
            </a:r>
            <a:r>
              <a:rPr dirty="0" sz="1000" spc="-20" i="1">
                <a:latin typeface="Times New Roman"/>
                <a:cs typeface="Times New Roman"/>
              </a:rPr>
              <a:t> </a:t>
            </a:r>
            <a:r>
              <a:rPr dirty="0" sz="1000" i="1">
                <a:latin typeface="Times New Roman"/>
                <a:cs typeface="Times New Roman"/>
              </a:rPr>
              <a:t>of</a:t>
            </a:r>
            <a:r>
              <a:rPr dirty="0" sz="1000" spc="-15" i="1">
                <a:latin typeface="Times New Roman"/>
                <a:cs typeface="Times New Roman"/>
              </a:rPr>
              <a:t> </a:t>
            </a:r>
            <a:r>
              <a:rPr dirty="0" sz="1000" spc="-10" i="1">
                <a:latin typeface="Times New Roman"/>
                <a:cs typeface="Times New Roman"/>
              </a:rPr>
              <a:t>Machine </a:t>
            </a:r>
            <a:r>
              <a:rPr dirty="0" sz="1000" i="1">
                <a:latin typeface="Times New Roman"/>
                <a:cs typeface="Times New Roman"/>
              </a:rPr>
              <a:t>Learning</a:t>
            </a:r>
            <a:r>
              <a:rPr dirty="0" sz="1000" spc="5" i="1">
                <a:latin typeface="Times New Roman"/>
                <a:cs typeface="Times New Roman"/>
              </a:rPr>
              <a:t> </a:t>
            </a:r>
            <a:r>
              <a:rPr dirty="0" sz="1000" spc="-10" i="1">
                <a:latin typeface="Times New Roman"/>
                <a:cs typeface="Times New Roman"/>
              </a:rPr>
              <a:t>Research</a:t>
            </a:r>
            <a:r>
              <a:rPr dirty="0" sz="1000" spc="-10">
                <a:latin typeface="Times New Roman"/>
                <a:cs typeface="Times New Roman"/>
              </a:rPr>
              <a:t>,</a:t>
            </a:r>
            <a:r>
              <a:rPr dirty="0" sz="1000" spc="10">
                <a:latin typeface="Times New Roman"/>
                <a:cs typeface="Times New Roman"/>
              </a:rPr>
              <a:t> </a:t>
            </a:r>
            <a:r>
              <a:rPr dirty="0" sz="1000" spc="-10">
                <a:latin typeface="Times New Roman"/>
                <a:cs typeface="Times New Roman"/>
              </a:rPr>
              <a:t>15(1):1929–1958,</a:t>
            </a:r>
            <a:r>
              <a:rPr dirty="0" sz="1000" spc="10">
                <a:latin typeface="Times New Roman"/>
                <a:cs typeface="Times New Roman"/>
              </a:rPr>
              <a:t> </a:t>
            </a:r>
            <a:r>
              <a:rPr dirty="0" sz="1000" spc="-10">
                <a:latin typeface="Times New Roman"/>
                <a:cs typeface="Times New Roman"/>
              </a:rPr>
              <a:t>2014.</a:t>
            </a:r>
            <a:endParaRPr sz="1000">
              <a:latin typeface="Times New Roman"/>
              <a:cs typeface="Times New Roman"/>
            </a:endParaRPr>
          </a:p>
          <a:p>
            <a:pPr algn="just" marL="278765" marR="10795" indent="-266700">
              <a:lnSpc>
                <a:spcPts val="1090"/>
              </a:lnSpc>
              <a:spcBef>
                <a:spcPts val="800"/>
              </a:spcBef>
              <a:buAutoNum type="arabicPlain" startAt="21"/>
              <a:tabLst>
                <a:tab pos="278765" algn="l"/>
                <a:tab pos="285115" algn="l"/>
              </a:tabLst>
            </a:pPr>
            <a:r>
              <a:rPr dirty="0" sz="1000">
                <a:latin typeface="Times New Roman"/>
                <a:cs typeface="Times New Roman"/>
              </a:rPr>
              <a:t>	Sainbayar</a:t>
            </a:r>
            <a:r>
              <a:rPr dirty="0" sz="1000" spc="110">
                <a:latin typeface="Times New Roman"/>
                <a:cs typeface="Times New Roman"/>
              </a:rPr>
              <a:t> </a:t>
            </a:r>
            <a:r>
              <a:rPr dirty="0" sz="1000">
                <a:latin typeface="Times New Roman"/>
                <a:cs typeface="Times New Roman"/>
              </a:rPr>
              <a:t>Sukhbaatar,</a:t>
            </a:r>
            <a:r>
              <a:rPr dirty="0" sz="1000" spc="140">
                <a:latin typeface="Times New Roman"/>
                <a:cs typeface="Times New Roman"/>
              </a:rPr>
              <a:t> </a:t>
            </a:r>
            <a:r>
              <a:rPr dirty="0" sz="1000">
                <a:latin typeface="Times New Roman"/>
                <a:cs typeface="Times New Roman"/>
              </a:rPr>
              <a:t>arthur</a:t>
            </a:r>
            <a:r>
              <a:rPr dirty="0" sz="1000" spc="114">
                <a:latin typeface="Times New Roman"/>
                <a:cs typeface="Times New Roman"/>
              </a:rPr>
              <a:t> </a:t>
            </a:r>
            <a:r>
              <a:rPr dirty="0" sz="1000">
                <a:latin typeface="Times New Roman"/>
                <a:cs typeface="Times New Roman"/>
              </a:rPr>
              <a:t>szlam,</a:t>
            </a:r>
            <a:r>
              <a:rPr dirty="0" sz="1000" spc="140">
                <a:latin typeface="Times New Roman"/>
                <a:cs typeface="Times New Roman"/>
              </a:rPr>
              <a:t> </a:t>
            </a:r>
            <a:r>
              <a:rPr dirty="0" sz="1000">
                <a:latin typeface="Times New Roman"/>
                <a:cs typeface="Times New Roman"/>
              </a:rPr>
              <a:t>Jason</a:t>
            </a:r>
            <a:r>
              <a:rPr dirty="0" sz="1000" spc="110">
                <a:latin typeface="Times New Roman"/>
                <a:cs typeface="Times New Roman"/>
              </a:rPr>
              <a:t> </a:t>
            </a:r>
            <a:r>
              <a:rPr dirty="0" sz="1000">
                <a:latin typeface="Times New Roman"/>
                <a:cs typeface="Times New Roman"/>
              </a:rPr>
              <a:t>Weston,</a:t>
            </a:r>
            <a:r>
              <a:rPr dirty="0" sz="1000" spc="140">
                <a:latin typeface="Times New Roman"/>
                <a:cs typeface="Times New Roman"/>
              </a:rPr>
              <a:t> </a:t>
            </a:r>
            <a:r>
              <a:rPr dirty="0" sz="1000">
                <a:latin typeface="Times New Roman"/>
                <a:cs typeface="Times New Roman"/>
              </a:rPr>
              <a:t>and</a:t>
            </a:r>
            <a:r>
              <a:rPr dirty="0" sz="1000" spc="114">
                <a:latin typeface="Times New Roman"/>
                <a:cs typeface="Times New Roman"/>
              </a:rPr>
              <a:t> </a:t>
            </a:r>
            <a:r>
              <a:rPr dirty="0" sz="1000">
                <a:latin typeface="Times New Roman"/>
                <a:cs typeface="Times New Roman"/>
              </a:rPr>
              <a:t>Rob</a:t>
            </a:r>
            <a:r>
              <a:rPr dirty="0" sz="1000" spc="114">
                <a:latin typeface="Times New Roman"/>
                <a:cs typeface="Times New Roman"/>
              </a:rPr>
              <a:t> </a:t>
            </a:r>
            <a:r>
              <a:rPr dirty="0" sz="1000">
                <a:latin typeface="Times New Roman"/>
                <a:cs typeface="Times New Roman"/>
              </a:rPr>
              <a:t>Fergus.</a:t>
            </a:r>
            <a:r>
              <a:rPr dirty="0" sz="1000" spc="455">
                <a:latin typeface="Times New Roman"/>
                <a:cs typeface="Times New Roman"/>
              </a:rPr>
              <a:t> </a:t>
            </a:r>
            <a:r>
              <a:rPr dirty="0" sz="1000">
                <a:latin typeface="Times New Roman"/>
                <a:cs typeface="Times New Roman"/>
              </a:rPr>
              <a:t>End-to-end</a:t>
            </a:r>
            <a:r>
              <a:rPr dirty="0" sz="1000" spc="110">
                <a:latin typeface="Times New Roman"/>
                <a:cs typeface="Times New Roman"/>
              </a:rPr>
              <a:t> </a:t>
            </a:r>
            <a:r>
              <a:rPr dirty="0" sz="1000" spc="-10">
                <a:latin typeface="Times New Roman"/>
                <a:cs typeface="Times New Roman"/>
              </a:rPr>
              <a:t>memory </a:t>
            </a:r>
            <a:r>
              <a:rPr dirty="0" sz="1000">
                <a:latin typeface="Times New Roman"/>
                <a:cs typeface="Times New Roman"/>
              </a:rPr>
              <a:t>networks.</a:t>
            </a:r>
            <a:r>
              <a:rPr dirty="0" sz="1000" spc="280">
                <a:latin typeface="Times New Roman"/>
                <a:cs typeface="Times New Roman"/>
              </a:rPr>
              <a:t> </a:t>
            </a:r>
            <a:r>
              <a:rPr dirty="0" sz="1000">
                <a:latin typeface="Times New Roman"/>
                <a:cs typeface="Times New Roman"/>
              </a:rPr>
              <a:t>In</a:t>
            </a:r>
            <a:r>
              <a:rPr dirty="0" sz="1000" spc="60">
                <a:latin typeface="Times New Roman"/>
                <a:cs typeface="Times New Roman"/>
              </a:rPr>
              <a:t> </a:t>
            </a:r>
            <a:r>
              <a:rPr dirty="0" sz="1000">
                <a:latin typeface="Times New Roman"/>
                <a:cs typeface="Times New Roman"/>
              </a:rPr>
              <a:t>C.</a:t>
            </a:r>
            <a:r>
              <a:rPr dirty="0" sz="1000" spc="60">
                <a:latin typeface="Times New Roman"/>
                <a:cs typeface="Times New Roman"/>
              </a:rPr>
              <a:t> </a:t>
            </a:r>
            <a:r>
              <a:rPr dirty="0" sz="1000">
                <a:latin typeface="Times New Roman"/>
                <a:cs typeface="Times New Roman"/>
              </a:rPr>
              <a:t>Cortes,</a:t>
            </a:r>
            <a:r>
              <a:rPr dirty="0" sz="1000" spc="70">
                <a:latin typeface="Times New Roman"/>
                <a:cs typeface="Times New Roman"/>
              </a:rPr>
              <a:t> </a:t>
            </a:r>
            <a:r>
              <a:rPr dirty="0" sz="1000">
                <a:latin typeface="Times New Roman"/>
                <a:cs typeface="Times New Roman"/>
              </a:rPr>
              <a:t>N.</a:t>
            </a:r>
            <a:r>
              <a:rPr dirty="0" sz="1000" spc="60">
                <a:latin typeface="Times New Roman"/>
                <a:cs typeface="Times New Roman"/>
              </a:rPr>
              <a:t> </a:t>
            </a:r>
            <a:r>
              <a:rPr dirty="0" sz="1000">
                <a:latin typeface="Times New Roman"/>
                <a:cs typeface="Times New Roman"/>
              </a:rPr>
              <a:t>D.</a:t>
            </a:r>
            <a:r>
              <a:rPr dirty="0" sz="1000" spc="55">
                <a:latin typeface="Times New Roman"/>
                <a:cs typeface="Times New Roman"/>
              </a:rPr>
              <a:t> </a:t>
            </a:r>
            <a:r>
              <a:rPr dirty="0" sz="1000">
                <a:latin typeface="Times New Roman"/>
                <a:cs typeface="Times New Roman"/>
              </a:rPr>
              <a:t>Lawrence,</a:t>
            </a:r>
            <a:r>
              <a:rPr dirty="0" sz="1000" spc="70">
                <a:latin typeface="Times New Roman"/>
                <a:cs typeface="Times New Roman"/>
              </a:rPr>
              <a:t> </a:t>
            </a:r>
            <a:r>
              <a:rPr dirty="0" sz="1000">
                <a:latin typeface="Times New Roman"/>
                <a:cs typeface="Times New Roman"/>
              </a:rPr>
              <a:t>D.</a:t>
            </a:r>
            <a:r>
              <a:rPr dirty="0" sz="1000" spc="60">
                <a:latin typeface="Times New Roman"/>
                <a:cs typeface="Times New Roman"/>
              </a:rPr>
              <a:t> </a:t>
            </a:r>
            <a:r>
              <a:rPr dirty="0" sz="1000">
                <a:latin typeface="Times New Roman"/>
                <a:cs typeface="Times New Roman"/>
              </a:rPr>
              <a:t>D.</a:t>
            </a:r>
            <a:r>
              <a:rPr dirty="0" sz="1000" spc="60">
                <a:latin typeface="Times New Roman"/>
                <a:cs typeface="Times New Roman"/>
              </a:rPr>
              <a:t> </a:t>
            </a:r>
            <a:r>
              <a:rPr dirty="0" sz="1000">
                <a:latin typeface="Times New Roman"/>
                <a:cs typeface="Times New Roman"/>
              </a:rPr>
              <a:t>Lee,</a:t>
            </a:r>
            <a:r>
              <a:rPr dirty="0" sz="1000" spc="70">
                <a:latin typeface="Times New Roman"/>
                <a:cs typeface="Times New Roman"/>
              </a:rPr>
              <a:t> </a:t>
            </a:r>
            <a:r>
              <a:rPr dirty="0" sz="1000">
                <a:latin typeface="Times New Roman"/>
                <a:cs typeface="Times New Roman"/>
              </a:rPr>
              <a:t>M.</a:t>
            </a:r>
            <a:r>
              <a:rPr dirty="0" sz="1000" spc="60">
                <a:latin typeface="Times New Roman"/>
                <a:cs typeface="Times New Roman"/>
              </a:rPr>
              <a:t> </a:t>
            </a:r>
            <a:r>
              <a:rPr dirty="0" sz="1000">
                <a:latin typeface="Times New Roman"/>
                <a:cs typeface="Times New Roman"/>
              </a:rPr>
              <a:t>Sugiyama,</a:t>
            </a:r>
            <a:r>
              <a:rPr dirty="0" sz="1000" spc="70">
                <a:latin typeface="Times New Roman"/>
                <a:cs typeface="Times New Roman"/>
              </a:rPr>
              <a:t> </a:t>
            </a:r>
            <a:r>
              <a:rPr dirty="0" sz="1000">
                <a:latin typeface="Times New Roman"/>
                <a:cs typeface="Times New Roman"/>
              </a:rPr>
              <a:t>and</a:t>
            </a:r>
            <a:r>
              <a:rPr dirty="0" sz="1000" spc="55">
                <a:latin typeface="Times New Roman"/>
                <a:cs typeface="Times New Roman"/>
              </a:rPr>
              <a:t> </a:t>
            </a:r>
            <a:r>
              <a:rPr dirty="0" sz="1000">
                <a:latin typeface="Times New Roman"/>
                <a:cs typeface="Times New Roman"/>
              </a:rPr>
              <a:t>R.</a:t>
            </a:r>
            <a:r>
              <a:rPr dirty="0" sz="1000" spc="60">
                <a:latin typeface="Times New Roman"/>
                <a:cs typeface="Times New Roman"/>
              </a:rPr>
              <a:t> </a:t>
            </a:r>
            <a:r>
              <a:rPr dirty="0" sz="1000">
                <a:latin typeface="Times New Roman"/>
                <a:cs typeface="Times New Roman"/>
              </a:rPr>
              <a:t>Garnett,</a:t>
            </a:r>
            <a:r>
              <a:rPr dirty="0" sz="1000" spc="70">
                <a:latin typeface="Times New Roman"/>
                <a:cs typeface="Times New Roman"/>
              </a:rPr>
              <a:t> </a:t>
            </a:r>
            <a:r>
              <a:rPr dirty="0" sz="1000" spc="-10">
                <a:latin typeface="Times New Roman"/>
                <a:cs typeface="Times New Roman"/>
              </a:rPr>
              <a:t>editors, </a:t>
            </a:r>
            <a:r>
              <a:rPr dirty="0" sz="1000" i="1">
                <a:latin typeface="Times New Roman"/>
                <a:cs typeface="Times New Roman"/>
              </a:rPr>
              <a:t>Advances</a:t>
            </a:r>
            <a:r>
              <a:rPr dirty="0" sz="1000" spc="-35" i="1">
                <a:latin typeface="Times New Roman"/>
                <a:cs typeface="Times New Roman"/>
              </a:rPr>
              <a:t> </a:t>
            </a:r>
            <a:r>
              <a:rPr dirty="0" sz="1000" i="1">
                <a:latin typeface="Times New Roman"/>
                <a:cs typeface="Times New Roman"/>
              </a:rPr>
              <a:t>in</a:t>
            </a:r>
            <a:r>
              <a:rPr dirty="0" sz="1000" spc="-30" i="1">
                <a:latin typeface="Times New Roman"/>
                <a:cs typeface="Times New Roman"/>
              </a:rPr>
              <a:t> </a:t>
            </a:r>
            <a:r>
              <a:rPr dirty="0" sz="1000" i="1">
                <a:latin typeface="Times New Roman"/>
                <a:cs typeface="Times New Roman"/>
              </a:rPr>
              <a:t>Neural</a:t>
            </a:r>
            <a:r>
              <a:rPr dirty="0" sz="1000" spc="-35" i="1">
                <a:latin typeface="Times New Roman"/>
                <a:cs typeface="Times New Roman"/>
              </a:rPr>
              <a:t> </a:t>
            </a:r>
            <a:r>
              <a:rPr dirty="0" sz="1000" i="1">
                <a:latin typeface="Times New Roman"/>
                <a:cs typeface="Times New Roman"/>
              </a:rPr>
              <a:t>Information</a:t>
            </a:r>
            <a:r>
              <a:rPr dirty="0" sz="1000" spc="-30" i="1">
                <a:latin typeface="Times New Roman"/>
                <a:cs typeface="Times New Roman"/>
              </a:rPr>
              <a:t> </a:t>
            </a:r>
            <a:r>
              <a:rPr dirty="0" sz="1000" spc="-10" i="1">
                <a:latin typeface="Times New Roman"/>
                <a:cs typeface="Times New Roman"/>
              </a:rPr>
              <a:t>Processing</a:t>
            </a:r>
            <a:r>
              <a:rPr dirty="0" sz="1000" spc="-35" i="1">
                <a:latin typeface="Times New Roman"/>
                <a:cs typeface="Times New Roman"/>
              </a:rPr>
              <a:t> </a:t>
            </a:r>
            <a:r>
              <a:rPr dirty="0" sz="1000" i="1">
                <a:latin typeface="Times New Roman"/>
                <a:cs typeface="Times New Roman"/>
              </a:rPr>
              <a:t>Systems</a:t>
            </a:r>
            <a:r>
              <a:rPr dirty="0" sz="1000" spc="-30" i="1">
                <a:latin typeface="Times New Roman"/>
                <a:cs typeface="Times New Roman"/>
              </a:rPr>
              <a:t> </a:t>
            </a:r>
            <a:r>
              <a:rPr dirty="0" sz="1000" i="1">
                <a:latin typeface="Times New Roman"/>
                <a:cs typeface="Times New Roman"/>
              </a:rPr>
              <a:t>28</a:t>
            </a:r>
            <a:r>
              <a:rPr dirty="0" sz="1000">
                <a:latin typeface="Times New Roman"/>
                <a:cs typeface="Times New Roman"/>
              </a:rPr>
              <a:t>,</a:t>
            </a:r>
            <a:r>
              <a:rPr dirty="0" sz="1000" spc="-35">
                <a:latin typeface="Times New Roman"/>
                <a:cs typeface="Times New Roman"/>
              </a:rPr>
              <a:t> </a:t>
            </a:r>
            <a:r>
              <a:rPr dirty="0" sz="1000">
                <a:latin typeface="Times New Roman"/>
                <a:cs typeface="Times New Roman"/>
              </a:rPr>
              <a:t>pages</a:t>
            </a:r>
            <a:r>
              <a:rPr dirty="0" sz="1000" spc="-30">
                <a:latin typeface="Times New Roman"/>
                <a:cs typeface="Times New Roman"/>
              </a:rPr>
              <a:t> </a:t>
            </a:r>
            <a:r>
              <a:rPr dirty="0" sz="1000">
                <a:latin typeface="Times New Roman"/>
                <a:cs typeface="Times New Roman"/>
              </a:rPr>
              <a:t>2440–2448.</a:t>
            </a:r>
            <a:r>
              <a:rPr dirty="0" sz="1000" spc="-35">
                <a:latin typeface="Times New Roman"/>
                <a:cs typeface="Times New Roman"/>
              </a:rPr>
              <a:t> </a:t>
            </a:r>
            <a:r>
              <a:rPr dirty="0" sz="1000">
                <a:latin typeface="Times New Roman"/>
                <a:cs typeface="Times New Roman"/>
              </a:rPr>
              <a:t>Curran</a:t>
            </a:r>
            <a:r>
              <a:rPr dirty="0" sz="1000" spc="-30">
                <a:latin typeface="Times New Roman"/>
                <a:cs typeface="Times New Roman"/>
              </a:rPr>
              <a:t> </a:t>
            </a:r>
            <a:r>
              <a:rPr dirty="0" sz="1000" spc="-10">
                <a:latin typeface="Times New Roman"/>
                <a:cs typeface="Times New Roman"/>
              </a:rPr>
              <a:t>Associates, </a:t>
            </a:r>
            <a:r>
              <a:rPr dirty="0" sz="1000">
                <a:latin typeface="Times New Roman"/>
                <a:cs typeface="Times New Roman"/>
              </a:rPr>
              <a:t>Inc.,</a:t>
            </a:r>
            <a:r>
              <a:rPr dirty="0" sz="1000" spc="-25">
                <a:latin typeface="Times New Roman"/>
                <a:cs typeface="Times New Roman"/>
              </a:rPr>
              <a:t> </a:t>
            </a:r>
            <a:r>
              <a:rPr dirty="0" sz="1000" spc="-10">
                <a:latin typeface="Times New Roman"/>
                <a:cs typeface="Times New Roman"/>
              </a:rPr>
              <a:t>2015.</a:t>
            </a:r>
            <a:endParaRPr sz="1000">
              <a:latin typeface="Times New Roman"/>
              <a:cs typeface="Times New Roman"/>
            </a:endParaRPr>
          </a:p>
          <a:p>
            <a:pPr algn="just" marL="285115" marR="26670" indent="-273050">
              <a:lnSpc>
                <a:spcPts val="1090"/>
              </a:lnSpc>
              <a:spcBef>
                <a:spcPts val="800"/>
              </a:spcBef>
              <a:buAutoNum type="arabicPlain" startAt="21"/>
              <a:tabLst>
                <a:tab pos="286385" algn="l"/>
              </a:tabLst>
            </a:pPr>
            <a:r>
              <a:rPr dirty="0" sz="1000">
                <a:latin typeface="Times New Roman"/>
                <a:cs typeface="Times New Roman"/>
              </a:rPr>
              <a:t>Ilya</a:t>
            </a:r>
            <a:r>
              <a:rPr dirty="0" sz="1000" spc="20">
                <a:latin typeface="Times New Roman"/>
                <a:cs typeface="Times New Roman"/>
              </a:rPr>
              <a:t> </a:t>
            </a:r>
            <a:r>
              <a:rPr dirty="0" sz="1000">
                <a:latin typeface="Times New Roman"/>
                <a:cs typeface="Times New Roman"/>
              </a:rPr>
              <a:t>Sutskever,</a:t>
            </a:r>
            <a:r>
              <a:rPr dirty="0" sz="1000" spc="30">
                <a:latin typeface="Times New Roman"/>
                <a:cs typeface="Times New Roman"/>
              </a:rPr>
              <a:t> </a:t>
            </a:r>
            <a:r>
              <a:rPr dirty="0" sz="1000">
                <a:latin typeface="Times New Roman"/>
                <a:cs typeface="Times New Roman"/>
              </a:rPr>
              <a:t>Oriol</a:t>
            </a:r>
            <a:r>
              <a:rPr dirty="0" sz="1000" spc="25">
                <a:latin typeface="Times New Roman"/>
                <a:cs typeface="Times New Roman"/>
              </a:rPr>
              <a:t> </a:t>
            </a:r>
            <a:r>
              <a:rPr dirty="0" sz="1000">
                <a:latin typeface="Times New Roman"/>
                <a:cs typeface="Times New Roman"/>
              </a:rPr>
              <a:t>Vinyals,</a:t>
            </a:r>
            <a:r>
              <a:rPr dirty="0" sz="1000" spc="30">
                <a:latin typeface="Times New Roman"/>
                <a:cs typeface="Times New Roman"/>
              </a:rPr>
              <a:t> </a:t>
            </a:r>
            <a:r>
              <a:rPr dirty="0" sz="1000">
                <a:latin typeface="Times New Roman"/>
                <a:cs typeface="Times New Roman"/>
              </a:rPr>
              <a:t>and</a:t>
            </a:r>
            <a:r>
              <a:rPr dirty="0" sz="1000" spc="20">
                <a:latin typeface="Times New Roman"/>
                <a:cs typeface="Times New Roman"/>
              </a:rPr>
              <a:t> </a:t>
            </a:r>
            <a:r>
              <a:rPr dirty="0" sz="1000">
                <a:latin typeface="Times New Roman"/>
                <a:cs typeface="Times New Roman"/>
              </a:rPr>
              <a:t>Quoc</a:t>
            </a:r>
            <a:r>
              <a:rPr dirty="0" sz="1000" spc="25">
                <a:latin typeface="Times New Roman"/>
                <a:cs typeface="Times New Roman"/>
              </a:rPr>
              <a:t> </a:t>
            </a:r>
            <a:r>
              <a:rPr dirty="0" sz="1000">
                <a:latin typeface="Times New Roman"/>
                <a:cs typeface="Times New Roman"/>
              </a:rPr>
              <a:t>VV</a:t>
            </a:r>
            <a:r>
              <a:rPr dirty="0" sz="1000" spc="25">
                <a:latin typeface="Times New Roman"/>
                <a:cs typeface="Times New Roman"/>
              </a:rPr>
              <a:t> </a:t>
            </a:r>
            <a:r>
              <a:rPr dirty="0" sz="1000">
                <a:latin typeface="Times New Roman"/>
                <a:cs typeface="Times New Roman"/>
              </a:rPr>
              <a:t>Le.</a:t>
            </a:r>
            <a:r>
              <a:rPr dirty="0" sz="1000" spc="180">
                <a:latin typeface="Times New Roman"/>
                <a:cs typeface="Times New Roman"/>
              </a:rPr>
              <a:t> </a:t>
            </a:r>
            <a:r>
              <a:rPr dirty="0" sz="1000">
                <a:latin typeface="Times New Roman"/>
                <a:cs typeface="Times New Roman"/>
              </a:rPr>
              <a:t>Sequence</a:t>
            </a:r>
            <a:r>
              <a:rPr dirty="0" sz="1000" spc="25">
                <a:latin typeface="Times New Roman"/>
                <a:cs typeface="Times New Roman"/>
              </a:rPr>
              <a:t> </a:t>
            </a:r>
            <a:r>
              <a:rPr dirty="0" sz="1000">
                <a:latin typeface="Times New Roman"/>
                <a:cs typeface="Times New Roman"/>
              </a:rPr>
              <a:t>to</a:t>
            </a:r>
            <a:r>
              <a:rPr dirty="0" sz="1000" spc="25">
                <a:latin typeface="Times New Roman"/>
                <a:cs typeface="Times New Roman"/>
              </a:rPr>
              <a:t> </a:t>
            </a:r>
            <a:r>
              <a:rPr dirty="0" sz="1000">
                <a:latin typeface="Times New Roman"/>
                <a:cs typeface="Times New Roman"/>
              </a:rPr>
              <a:t>sequence</a:t>
            </a:r>
            <a:r>
              <a:rPr dirty="0" sz="1000" spc="25">
                <a:latin typeface="Times New Roman"/>
                <a:cs typeface="Times New Roman"/>
              </a:rPr>
              <a:t> </a:t>
            </a:r>
            <a:r>
              <a:rPr dirty="0" sz="1000">
                <a:latin typeface="Times New Roman"/>
                <a:cs typeface="Times New Roman"/>
              </a:rPr>
              <a:t>learning</a:t>
            </a:r>
            <a:r>
              <a:rPr dirty="0" sz="1000" spc="20">
                <a:latin typeface="Times New Roman"/>
                <a:cs typeface="Times New Roman"/>
              </a:rPr>
              <a:t> </a:t>
            </a:r>
            <a:r>
              <a:rPr dirty="0" sz="1000">
                <a:latin typeface="Times New Roman"/>
                <a:cs typeface="Times New Roman"/>
              </a:rPr>
              <a:t>with</a:t>
            </a:r>
            <a:r>
              <a:rPr dirty="0" sz="1000" spc="25">
                <a:latin typeface="Times New Roman"/>
                <a:cs typeface="Times New Roman"/>
              </a:rPr>
              <a:t> </a:t>
            </a:r>
            <a:r>
              <a:rPr dirty="0" sz="1000" spc="-10">
                <a:latin typeface="Times New Roman"/>
                <a:cs typeface="Times New Roman"/>
              </a:rPr>
              <a:t>neural </a:t>
            </a:r>
            <a:r>
              <a:rPr dirty="0" sz="1000" spc="-10">
                <a:latin typeface="Times New Roman"/>
                <a:cs typeface="Times New Roman"/>
              </a:rPr>
              <a:t>	</a:t>
            </a:r>
            <a:r>
              <a:rPr dirty="0" sz="1000">
                <a:latin typeface="Times New Roman"/>
                <a:cs typeface="Times New Roman"/>
              </a:rPr>
              <a:t>networks.</a:t>
            </a:r>
            <a:r>
              <a:rPr dirty="0" sz="1000" spc="65">
                <a:latin typeface="Times New Roman"/>
                <a:cs typeface="Times New Roman"/>
              </a:rPr>
              <a:t> </a:t>
            </a:r>
            <a:r>
              <a:rPr dirty="0" sz="1000">
                <a:latin typeface="Times New Roman"/>
                <a:cs typeface="Times New Roman"/>
              </a:rPr>
              <a:t>In</a:t>
            </a:r>
            <a:r>
              <a:rPr dirty="0" sz="1000" spc="-35">
                <a:latin typeface="Times New Roman"/>
                <a:cs typeface="Times New Roman"/>
              </a:rPr>
              <a:t> </a:t>
            </a:r>
            <a:r>
              <a:rPr dirty="0" sz="1000" i="1">
                <a:latin typeface="Times New Roman"/>
                <a:cs typeface="Times New Roman"/>
              </a:rPr>
              <a:t>Advances</a:t>
            </a:r>
            <a:r>
              <a:rPr dirty="0" sz="1000" spc="-30" i="1">
                <a:latin typeface="Times New Roman"/>
                <a:cs typeface="Times New Roman"/>
              </a:rPr>
              <a:t> </a:t>
            </a:r>
            <a:r>
              <a:rPr dirty="0" sz="1000" i="1">
                <a:latin typeface="Times New Roman"/>
                <a:cs typeface="Times New Roman"/>
              </a:rPr>
              <a:t>in</a:t>
            </a:r>
            <a:r>
              <a:rPr dirty="0" sz="1000" spc="-30" i="1">
                <a:latin typeface="Times New Roman"/>
                <a:cs typeface="Times New Roman"/>
              </a:rPr>
              <a:t> </a:t>
            </a:r>
            <a:r>
              <a:rPr dirty="0" sz="1000" i="1">
                <a:latin typeface="Times New Roman"/>
                <a:cs typeface="Times New Roman"/>
              </a:rPr>
              <a:t>Neural</a:t>
            </a:r>
            <a:r>
              <a:rPr dirty="0" sz="1000" spc="-30" i="1">
                <a:latin typeface="Times New Roman"/>
                <a:cs typeface="Times New Roman"/>
              </a:rPr>
              <a:t> </a:t>
            </a:r>
            <a:r>
              <a:rPr dirty="0" sz="1000" i="1">
                <a:latin typeface="Times New Roman"/>
                <a:cs typeface="Times New Roman"/>
              </a:rPr>
              <a:t>Information</a:t>
            </a:r>
            <a:r>
              <a:rPr dirty="0" sz="1000" spc="-35" i="1">
                <a:latin typeface="Times New Roman"/>
                <a:cs typeface="Times New Roman"/>
              </a:rPr>
              <a:t> </a:t>
            </a:r>
            <a:r>
              <a:rPr dirty="0" sz="1000" spc="-10" i="1">
                <a:latin typeface="Times New Roman"/>
                <a:cs typeface="Times New Roman"/>
              </a:rPr>
              <a:t>Processing</a:t>
            </a:r>
            <a:r>
              <a:rPr dirty="0" sz="1000" spc="-30" i="1">
                <a:latin typeface="Times New Roman"/>
                <a:cs typeface="Times New Roman"/>
              </a:rPr>
              <a:t> </a:t>
            </a:r>
            <a:r>
              <a:rPr dirty="0" sz="1000" i="1">
                <a:latin typeface="Times New Roman"/>
                <a:cs typeface="Times New Roman"/>
              </a:rPr>
              <a:t>Systems</a:t>
            </a:r>
            <a:r>
              <a:rPr dirty="0" sz="1000">
                <a:latin typeface="Times New Roman"/>
                <a:cs typeface="Times New Roman"/>
              </a:rPr>
              <a:t>,</a:t>
            </a:r>
            <a:r>
              <a:rPr dirty="0" sz="1000" spc="-30">
                <a:latin typeface="Times New Roman"/>
                <a:cs typeface="Times New Roman"/>
              </a:rPr>
              <a:t> </a:t>
            </a:r>
            <a:r>
              <a:rPr dirty="0" sz="1000">
                <a:latin typeface="Times New Roman"/>
                <a:cs typeface="Times New Roman"/>
              </a:rPr>
              <a:t>pages</a:t>
            </a:r>
            <a:r>
              <a:rPr dirty="0" sz="1000" spc="-35">
                <a:latin typeface="Times New Roman"/>
                <a:cs typeface="Times New Roman"/>
              </a:rPr>
              <a:t> </a:t>
            </a:r>
            <a:r>
              <a:rPr dirty="0" sz="1000">
                <a:latin typeface="Times New Roman"/>
                <a:cs typeface="Times New Roman"/>
              </a:rPr>
              <a:t>3104–3112,</a:t>
            </a:r>
            <a:r>
              <a:rPr dirty="0" sz="1000" spc="-30">
                <a:latin typeface="Times New Roman"/>
                <a:cs typeface="Times New Roman"/>
              </a:rPr>
              <a:t> </a:t>
            </a:r>
            <a:r>
              <a:rPr dirty="0" sz="1000" spc="-10">
                <a:latin typeface="Times New Roman"/>
                <a:cs typeface="Times New Roman"/>
              </a:rPr>
              <a:t>2014.</a:t>
            </a:r>
            <a:endParaRPr sz="1000">
              <a:latin typeface="Times New Roman"/>
              <a:cs typeface="Times New Roman"/>
            </a:endParaRPr>
          </a:p>
          <a:p>
            <a:pPr algn="just" marL="285115" marR="5080" indent="-273050">
              <a:lnSpc>
                <a:spcPts val="1090"/>
              </a:lnSpc>
              <a:spcBef>
                <a:spcPts val="800"/>
              </a:spcBef>
              <a:buAutoNum type="arabicPlain" startAt="21"/>
              <a:tabLst>
                <a:tab pos="286385" algn="l"/>
              </a:tabLst>
            </a:pPr>
            <a:r>
              <a:rPr dirty="0" sz="1000">
                <a:latin typeface="Times New Roman"/>
                <a:cs typeface="Times New Roman"/>
              </a:rPr>
              <a:t>Christian Szegedy, Vincent </a:t>
            </a:r>
            <a:r>
              <a:rPr dirty="0" sz="1000" spc="-10">
                <a:latin typeface="Times New Roman"/>
                <a:cs typeface="Times New Roman"/>
              </a:rPr>
              <a:t>Vanhoucke,</a:t>
            </a:r>
            <a:r>
              <a:rPr dirty="0" sz="1000">
                <a:latin typeface="Times New Roman"/>
                <a:cs typeface="Times New Roman"/>
              </a:rPr>
              <a:t> Sergey Ioffe, Jonathon Shlens, and Zbigniew </a:t>
            </a:r>
            <a:r>
              <a:rPr dirty="0" sz="1000" spc="-10">
                <a:latin typeface="Times New Roman"/>
                <a:cs typeface="Times New Roman"/>
              </a:rPr>
              <a:t>Wojna. </a:t>
            </a:r>
            <a:r>
              <a:rPr dirty="0" sz="1000" spc="-10">
                <a:latin typeface="Times New Roman"/>
                <a:cs typeface="Times New Roman"/>
              </a:rPr>
              <a:t>	</a:t>
            </a:r>
            <a:r>
              <a:rPr dirty="0" sz="1000">
                <a:latin typeface="Times New Roman"/>
                <a:cs typeface="Times New Roman"/>
              </a:rPr>
              <a:t>Rethinking</a:t>
            </a:r>
            <a:r>
              <a:rPr dirty="0" sz="1000" spc="-20">
                <a:latin typeface="Times New Roman"/>
                <a:cs typeface="Times New Roman"/>
              </a:rPr>
              <a:t> </a:t>
            </a:r>
            <a:r>
              <a:rPr dirty="0" sz="1000">
                <a:latin typeface="Times New Roman"/>
                <a:cs typeface="Times New Roman"/>
              </a:rPr>
              <a:t>the</a:t>
            </a:r>
            <a:r>
              <a:rPr dirty="0" sz="1000" spc="-15">
                <a:latin typeface="Times New Roman"/>
                <a:cs typeface="Times New Roman"/>
              </a:rPr>
              <a:t> </a:t>
            </a:r>
            <a:r>
              <a:rPr dirty="0" sz="1000">
                <a:latin typeface="Times New Roman"/>
                <a:cs typeface="Times New Roman"/>
              </a:rPr>
              <a:t>inception</a:t>
            </a:r>
            <a:r>
              <a:rPr dirty="0" sz="1000" spc="-15">
                <a:latin typeface="Times New Roman"/>
                <a:cs typeface="Times New Roman"/>
              </a:rPr>
              <a:t> </a:t>
            </a:r>
            <a:r>
              <a:rPr dirty="0" sz="1000" spc="-10">
                <a:latin typeface="Times New Roman"/>
                <a:cs typeface="Times New Roman"/>
              </a:rPr>
              <a:t>architecture</a:t>
            </a:r>
            <a:r>
              <a:rPr dirty="0" sz="1000" spc="-15">
                <a:latin typeface="Times New Roman"/>
                <a:cs typeface="Times New Roman"/>
              </a:rPr>
              <a:t> </a:t>
            </a:r>
            <a:r>
              <a:rPr dirty="0" sz="1000">
                <a:latin typeface="Times New Roman"/>
                <a:cs typeface="Times New Roman"/>
              </a:rPr>
              <a:t>for</a:t>
            </a:r>
            <a:r>
              <a:rPr dirty="0" sz="1000" spc="-15">
                <a:latin typeface="Times New Roman"/>
                <a:cs typeface="Times New Roman"/>
              </a:rPr>
              <a:t> </a:t>
            </a:r>
            <a:r>
              <a:rPr dirty="0" sz="1000">
                <a:latin typeface="Times New Roman"/>
                <a:cs typeface="Times New Roman"/>
              </a:rPr>
              <a:t>computer</a:t>
            </a:r>
            <a:r>
              <a:rPr dirty="0" sz="1000" spc="-15">
                <a:latin typeface="Times New Roman"/>
                <a:cs typeface="Times New Roman"/>
              </a:rPr>
              <a:t> </a:t>
            </a:r>
            <a:r>
              <a:rPr dirty="0" sz="1000">
                <a:latin typeface="Times New Roman"/>
                <a:cs typeface="Times New Roman"/>
              </a:rPr>
              <a:t>vision.</a:t>
            </a:r>
            <a:r>
              <a:rPr dirty="0" sz="1000" spc="90">
                <a:latin typeface="Times New Roman"/>
                <a:cs typeface="Times New Roman"/>
              </a:rPr>
              <a:t> </a:t>
            </a:r>
            <a:r>
              <a:rPr dirty="0" sz="1000" i="1">
                <a:latin typeface="Times New Roman"/>
                <a:cs typeface="Times New Roman"/>
              </a:rPr>
              <a:t>CoRR</a:t>
            </a:r>
            <a:r>
              <a:rPr dirty="0" sz="1000">
                <a:latin typeface="Times New Roman"/>
                <a:cs typeface="Times New Roman"/>
              </a:rPr>
              <a:t>,</a:t>
            </a:r>
            <a:r>
              <a:rPr dirty="0" sz="1000" spc="-15">
                <a:latin typeface="Times New Roman"/>
                <a:cs typeface="Times New Roman"/>
              </a:rPr>
              <a:t> </a:t>
            </a:r>
            <a:r>
              <a:rPr dirty="0" sz="1000" spc="-10">
                <a:latin typeface="Times New Roman"/>
                <a:cs typeface="Times New Roman"/>
              </a:rPr>
              <a:t>abs/1512.00567,</a:t>
            </a:r>
            <a:r>
              <a:rPr dirty="0" sz="1000" spc="-15">
                <a:latin typeface="Times New Roman"/>
                <a:cs typeface="Times New Roman"/>
              </a:rPr>
              <a:t> </a:t>
            </a:r>
            <a:r>
              <a:rPr dirty="0" sz="1000" spc="-10">
                <a:latin typeface="Times New Roman"/>
                <a:cs typeface="Times New Roman"/>
              </a:rPr>
              <a:t>2015.</a:t>
            </a:r>
            <a:endParaRPr sz="1000">
              <a:latin typeface="Times New Roman"/>
              <a:cs typeface="Times New Roman"/>
            </a:endParaRPr>
          </a:p>
          <a:p>
            <a:pPr algn="just" marL="285115" marR="26670" indent="-273050">
              <a:lnSpc>
                <a:spcPts val="1090"/>
              </a:lnSpc>
              <a:spcBef>
                <a:spcPts val="800"/>
              </a:spcBef>
              <a:buAutoNum type="arabicPlain" startAt="21"/>
              <a:tabLst>
                <a:tab pos="286385" algn="l"/>
              </a:tabLst>
            </a:pPr>
            <a:r>
              <a:rPr dirty="0" sz="1000">
                <a:latin typeface="Times New Roman"/>
                <a:cs typeface="Times New Roman"/>
              </a:rPr>
              <a:t>Yonghui</a:t>
            </a:r>
            <a:r>
              <a:rPr dirty="0" sz="1000" spc="114">
                <a:latin typeface="Times New Roman"/>
                <a:cs typeface="Times New Roman"/>
              </a:rPr>
              <a:t> </a:t>
            </a:r>
            <a:r>
              <a:rPr dirty="0" sz="1000">
                <a:latin typeface="Times New Roman"/>
                <a:cs typeface="Times New Roman"/>
              </a:rPr>
              <a:t>Wu,</a:t>
            </a:r>
            <a:r>
              <a:rPr dirty="0" sz="1000" spc="145">
                <a:latin typeface="Times New Roman"/>
                <a:cs typeface="Times New Roman"/>
              </a:rPr>
              <a:t> </a:t>
            </a:r>
            <a:r>
              <a:rPr dirty="0" sz="1000">
                <a:latin typeface="Times New Roman"/>
                <a:cs typeface="Times New Roman"/>
              </a:rPr>
              <a:t>Mike</a:t>
            </a:r>
            <a:r>
              <a:rPr dirty="0" sz="1000" spc="114">
                <a:latin typeface="Times New Roman"/>
                <a:cs typeface="Times New Roman"/>
              </a:rPr>
              <a:t> </a:t>
            </a:r>
            <a:r>
              <a:rPr dirty="0" sz="1000">
                <a:latin typeface="Times New Roman"/>
                <a:cs typeface="Times New Roman"/>
              </a:rPr>
              <a:t>Schuster,</a:t>
            </a:r>
            <a:r>
              <a:rPr dirty="0" sz="1000" spc="145">
                <a:latin typeface="Times New Roman"/>
                <a:cs typeface="Times New Roman"/>
              </a:rPr>
              <a:t> </a:t>
            </a:r>
            <a:r>
              <a:rPr dirty="0" sz="1000">
                <a:latin typeface="Times New Roman"/>
                <a:cs typeface="Times New Roman"/>
              </a:rPr>
              <a:t>Zhifeng</a:t>
            </a:r>
            <a:r>
              <a:rPr dirty="0" sz="1000" spc="114">
                <a:latin typeface="Times New Roman"/>
                <a:cs typeface="Times New Roman"/>
              </a:rPr>
              <a:t> </a:t>
            </a:r>
            <a:r>
              <a:rPr dirty="0" sz="1000">
                <a:latin typeface="Times New Roman"/>
                <a:cs typeface="Times New Roman"/>
              </a:rPr>
              <a:t>Chen,</a:t>
            </a:r>
            <a:r>
              <a:rPr dirty="0" sz="1000" spc="145">
                <a:latin typeface="Times New Roman"/>
                <a:cs typeface="Times New Roman"/>
              </a:rPr>
              <a:t> </a:t>
            </a:r>
            <a:r>
              <a:rPr dirty="0" sz="1000">
                <a:latin typeface="Times New Roman"/>
                <a:cs typeface="Times New Roman"/>
              </a:rPr>
              <a:t>Quoc</a:t>
            </a:r>
            <a:r>
              <a:rPr dirty="0" sz="1000" spc="114">
                <a:latin typeface="Times New Roman"/>
                <a:cs typeface="Times New Roman"/>
              </a:rPr>
              <a:t> </a:t>
            </a:r>
            <a:r>
              <a:rPr dirty="0" sz="1000">
                <a:latin typeface="Times New Roman"/>
                <a:cs typeface="Times New Roman"/>
              </a:rPr>
              <a:t>V</a:t>
            </a:r>
            <a:r>
              <a:rPr dirty="0" sz="1000" spc="120">
                <a:latin typeface="Times New Roman"/>
                <a:cs typeface="Times New Roman"/>
              </a:rPr>
              <a:t> </a:t>
            </a:r>
            <a:r>
              <a:rPr dirty="0" sz="1000">
                <a:latin typeface="Times New Roman"/>
                <a:cs typeface="Times New Roman"/>
              </a:rPr>
              <a:t>Le,</a:t>
            </a:r>
            <a:r>
              <a:rPr dirty="0" sz="1000" spc="145">
                <a:latin typeface="Times New Roman"/>
                <a:cs typeface="Times New Roman"/>
              </a:rPr>
              <a:t> </a:t>
            </a:r>
            <a:r>
              <a:rPr dirty="0" sz="1000">
                <a:latin typeface="Times New Roman"/>
                <a:cs typeface="Times New Roman"/>
              </a:rPr>
              <a:t>Mohammad</a:t>
            </a:r>
            <a:r>
              <a:rPr dirty="0" sz="1000" spc="114">
                <a:latin typeface="Times New Roman"/>
                <a:cs typeface="Times New Roman"/>
              </a:rPr>
              <a:t> </a:t>
            </a:r>
            <a:r>
              <a:rPr dirty="0" sz="1000">
                <a:latin typeface="Times New Roman"/>
                <a:cs typeface="Times New Roman"/>
              </a:rPr>
              <a:t>Norouzi,</a:t>
            </a:r>
            <a:r>
              <a:rPr dirty="0" sz="1000" spc="145">
                <a:latin typeface="Times New Roman"/>
                <a:cs typeface="Times New Roman"/>
              </a:rPr>
              <a:t> </a:t>
            </a:r>
            <a:r>
              <a:rPr dirty="0" sz="1000" spc="-10">
                <a:latin typeface="Times New Roman"/>
                <a:cs typeface="Times New Roman"/>
              </a:rPr>
              <a:t>Wolfgang </a:t>
            </a:r>
            <a:r>
              <a:rPr dirty="0" sz="1000" spc="-10">
                <a:latin typeface="Times New Roman"/>
                <a:cs typeface="Times New Roman"/>
              </a:rPr>
              <a:t>	</a:t>
            </a:r>
            <a:r>
              <a:rPr dirty="0" sz="1000" spc="-30">
                <a:latin typeface="Times New Roman"/>
                <a:cs typeface="Times New Roman"/>
              </a:rPr>
              <a:t>Macherey,</a:t>
            </a:r>
            <a:r>
              <a:rPr dirty="0" sz="1000" spc="-35">
                <a:latin typeface="Times New Roman"/>
                <a:cs typeface="Times New Roman"/>
              </a:rPr>
              <a:t> </a:t>
            </a:r>
            <a:r>
              <a:rPr dirty="0" sz="1000" spc="-20">
                <a:latin typeface="Times New Roman"/>
                <a:cs typeface="Times New Roman"/>
              </a:rPr>
              <a:t>Maxim</a:t>
            </a:r>
            <a:r>
              <a:rPr dirty="0" sz="1000" spc="-25">
                <a:latin typeface="Times New Roman"/>
                <a:cs typeface="Times New Roman"/>
              </a:rPr>
              <a:t> </a:t>
            </a:r>
            <a:r>
              <a:rPr dirty="0" sz="1000" spc="-10">
                <a:latin typeface="Times New Roman"/>
                <a:cs typeface="Times New Roman"/>
              </a:rPr>
              <a:t>Krikun,</a:t>
            </a:r>
            <a:r>
              <a:rPr dirty="0" sz="1000" spc="-25">
                <a:latin typeface="Times New Roman"/>
                <a:cs typeface="Times New Roman"/>
              </a:rPr>
              <a:t> </a:t>
            </a:r>
            <a:r>
              <a:rPr dirty="0" sz="1000" spc="-50">
                <a:latin typeface="Times New Roman"/>
                <a:cs typeface="Times New Roman"/>
              </a:rPr>
              <a:t>Yuan</a:t>
            </a:r>
            <a:r>
              <a:rPr dirty="0" sz="1000" spc="-10">
                <a:latin typeface="Times New Roman"/>
                <a:cs typeface="Times New Roman"/>
              </a:rPr>
              <a:t> Cao,</a:t>
            </a:r>
            <a:r>
              <a:rPr dirty="0" sz="1000" spc="-25">
                <a:latin typeface="Times New Roman"/>
                <a:cs typeface="Times New Roman"/>
              </a:rPr>
              <a:t> </a:t>
            </a:r>
            <a:r>
              <a:rPr dirty="0" sz="1000" spc="-10">
                <a:latin typeface="Times New Roman"/>
                <a:cs typeface="Times New Roman"/>
              </a:rPr>
              <a:t>Qin</a:t>
            </a:r>
            <a:r>
              <a:rPr dirty="0" sz="1000" spc="-25">
                <a:latin typeface="Times New Roman"/>
                <a:cs typeface="Times New Roman"/>
              </a:rPr>
              <a:t> </a:t>
            </a:r>
            <a:r>
              <a:rPr dirty="0" sz="1000" spc="-10">
                <a:latin typeface="Times New Roman"/>
                <a:cs typeface="Times New Roman"/>
              </a:rPr>
              <a:t>Gao,</a:t>
            </a:r>
            <a:r>
              <a:rPr dirty="0" sz="1000" spc="-25">
                <a:latin typeface="Times New Roman"/>
                <a:cs typeface="Times New Roman"/>
              </a:rPr>
              <a:t> </a:t>
            </a:r>
            <a:r>
              <a:rPr dirty="0" sz="1000" spc="-10">
                <a:latin typeface="Times New Roman"/>
                <a:cs typeface="Times New Roman"/>
              </a:rPr>
              <a:t>Klaus</a:t>
            </a:r>
            <a:r>
              <a:rPr dirty="0" sz="1000" spc="-25">
                <a:latin typeface="Times New Roman"/>
                <a:cs typeface="Times New Roman"/>
              </a:rPr>
              <a:t> </a:t>
            </a:r>
            <a:r>
              <a:rPr dirty="0" sz="1000" spc="-30">
                <a:latin typeface="Times New Roman"/>
                <a:cs typeface="Times New Roman"/>
              </a:rPr>
              <a:t>Macherey,</a:t>
            </a:r>
            <a:r>
              <a:rPr dirty="0" sz="1000" spc="-25">
                <a:latin typeface="Times New Roman"/>
                <a:cs typeface="Times New Roman"/>
              </a:rPr>
              <a:t> </a:t>
            </a:r>
            <a:r>
              <a:rPr dirty="0" sz="1000">
                <a:latin typeface="Times New Roman"/>
                <a:cs typeface="Times New Roman"/>
              </a:rPr>
              <a:t>et</a:t>
            </a:r>
            <a:r>
              <a:rPr dirty="0" sz="1000" spc="-25">
                <a:latin typeface="Times New Roman"/>
                <a:cs typeface="Times New Roman"/>
              </a:rPr>
              <a:t> </a:t>
            </a:r>
            <a:r>
              <a:rPr dirty="0" sz="1000">
                <a:latin typeface="Times New Roman"/>
                <a:cs typeface="Times New Roman"/>
              </a:rPr>
              <a:t>al.</a:t>
            </a:r>
            <a:r>
              <a:rPr dirty="0" sz="1000" spc="60">
                <a:latin typeface="Times New Roman"/>
                <a:cs typeface="Times New Roman"/>
              </a:rPr>
              <a:t> </a:t>
            </a:r>
            <a:r>
              <a:rPr dirty="0" sz="1000" spc="-20">
                <a:latin typeface="Times New Roman"/>
                <a:cs typeface="Times New Roman"/>
              </a:rPr>
              <a:t>Google’s</a:t>
            </a:r>
            <a:r>
              <a:rPr dirty="0" sz="1000" spc="-25">
                <a:latin typeface="Times New Roman"/>
                <a:cs typeface="Times New Roman"/>
              </a:rPr>
              <a:t> </a:t>
            </a:r>
            <a:r>
              <a:rPr dirty="0" sz="1000" spc="-10">
                <a:latin typeface="Times New Roman"/>
                <a:cs typeface="Times New Roman"/>
              </a:rPr>
              <a:t>neural</a:t>
            </a:r>
            <a:r>
              <a:rPr dirty="0" sz="1000" spc="-25">
                <a:latin typeface="Times New Roman"/>
                <a:cs typeface="Times New Roman"/>
              </a:rPr>
              <a:t> </a:t>
            </a:r>
            <a:r>
              <a:rPr dirty="0" sz="1000" spc="-10">
                <a:latin typeface="Times New Roman"/>
                <a:cs typeface="Times New Roman"/>
              </a:rPr>
              <a:t>machine </a:t>
            </a:r>
            <a:r>
              <a:rPr dirty="0" sz="1000" spc="-10">
                <a:latin typeface="Times New Roman"/>
                <a:cs typeface="Times New Roman"/>
              </a:rPr>
              <a:t>	</a:t>
            </a:r>
            <a:r>
              <a:rPr dirty="0" sz="1000">
                <a:latin typeface="Times New Roman"/>
                <a:cs typeface="Times New Roman"/>
              </a:rPr>
              <a:t>translation</a:t>
            </a:r>
            <a:r>
              <a:rPr dirty="0" sz="1000" spc="-10">
                <a:latin typeface="Times New Roman"/>
                <a:cs typeface="Times New Roman"/>
              </a:rPr>
              <a:t> </a:t>
            </a:r>
            <a:r>
              <a:rPr dirty="0" sz="1000">
                <a:latin typeface="Times New Roman"/>
                <a:cs typeface="Times New Roman"/>
              </a:rPr>
              <a:t>system:</a:t>
            </a:r>
            <a:r>
              <a:rPr dirty="0" sz="1000" spc="55">
                <a:latin typeface="Times New Roman"/>
                <a:cs typeface="Times New Roman"/>
              </a:rPr>
              <a:t> </a:t>
            </a:r>
            <a:r>
              <a:rPr dirty="0" sz="1000">
                <a:latin typeface="Times New Roman"/>
                <a:cs typeface="Times New Roman"/>
              </a:rPr>
              <a:t>Bridging</a:t>
            </a:r>
            <a:r>
              <a:rPr dirty="0" sz="1000" spc="-5">
                <a:latin typeface="Times New Roman"/>
                <a:cs typeface="Times New Roman"/>
              </a:rPr>
              <a:t> </a:t>
            </a:r>
            <a:r>
              <a:rPr dirty="0" sz="1000">
                <a:latin typeface="Times New Roman"/>
                <a:cs typeface="Times New Roman"/>
              </a:rPr>
              <a:t>the</a:t>
            </a:r>
            <a:r>
              <a:rPr dirty="0" sz="1000" spc="-10">
                <a:latin typeface="Times New Roman"/>
                <a:cs typeface="Times New Roman"/>
              </a:rPr>
              <a:t> </a:t>
            </a:r>
            <a:r>
              <a:rPr dirty="0" sz="1000">
                <a:latin typeface="Times New Roman"/>
                <a:cs typeface="Times New Roman"/>
              </a:rPr>
              <a:t>gap</a:t>
            </a:r>
            <a:r>
              <a:rPr dirty="0" sz="1000" spc="-5">
                <a:latin typeface="Times New Roman"/>
                <a:cs typeface="Times New Roman"/>
              </a:rPr>
              <a:t> </a:t>
            </a:r>
            <a:r>
              <a:rPr dirty="0" sz="1000">
                <a:latin typeface="Times New Roman"/>
                <a:cs typeface="Times New Roman"/>
              </a:rPr>
              <a:t>between</a:t>
            </a:r>
            <a:r>
              <a:rPr dirty="0" sz="1000" spc="-5">
                <a:latin typeface="Times New Roman"/>
                <a:cs typeface="Times New Roman"/>
              </a:rPr>
              <a:t> </a:t>
            </a:r>
            <a:r>
              <a:rPr dirty="0" sz="1000">
                <a:latin typeface="Times New Roman"/>
                <a:cs typeface="Times New Roman"/>
              </a:rPr>
              <a:t>human</a:t>
            </a:r>
            <a:r>
              <a:rPr dirty="0" sz="1000" spc="-5">
                <a:latin typeface="Times New Roman"/>
                <a:cs typeface="Times New Roman"/>
              </a:rPr>
              <a:t> </a:t>
            </a:r>
            <a:r>
              <a:rPr dirty="0" sz="1000">
                <a:latin typeface="Times New Roman"/>
                <a:cs typeface="Times New Roman"/>
              </a:rPr>
              <a:t>and</a:t>
            </a:r>
            <a:r>
              <a:rPr dirty="0" sz="1000" spc="-10">
                <a:latin typeface="Times New Roman"/>
                <a:cs typeface="Times New Roman"/>
              </a:rPr>
              <a:t> </a:t>
            </a:r>
            <a:r>
              <a:rPr dirty="0" sz="1000">
                <a:latin typeface="Times New Roman"/>
                <a:cs typeface="Times New Roman"/>
              </a:rPr>
              <a:t>machine</a:t>
            </a:r>
            <a:r>
              <a:rPr dirty="0" sz="1000" spc="-5">
                <a:latin typeface="Times New Roman"/>
                <a:cs typeface="Times New Roman"/>
              </a:rPr>
              <a:t> </a:t>
            </a:r>
            <a:r>
              <a:rPr dirty="0" sz="1000">
                <a:latin typeface="Times New Roman"/>
                <a:cs typeface="Times New Roman"/>
              </a:rPr>
              <a:t>translation.</a:t>
            </a:r>
            <a:r>
              <a:rPr dirty="0" sz="1000" spc="105">
                <a:latin typeface="Times New Roman"/>
                <a:cs typeface="Times New Roman"/>
              </a:rPr>
              <a:t> </a:t>
            </a:r>
            <a:r>
              <a:rPr dirty="0" sz="1000" i="1">
                <a:latin typeface="Times New Roman"/>
                <a:cs typeface="Times New Roman"/>
              </a:rPr>
              <a:t>arXiv</a:t>
            </a:r>
            <a:r>
              <a:rPr dirty="0" sz="1000" spc="-5" i="1">
                <a:latin typeface="Times New Roman"/>
                <a:cs typeface="Times New Roman"/>
              </a:rPr>
              <a:t> </a:t>
            </a:r>
            <a:r>
              <a:rPr dirty="0" sz="1000" spc="-10" i="1">
                <a:latin typeface="Times New Roman"/>
                <a:cs typeface="Times New Roman"/>
              </a:rPr>
              <a:t>preprint 	arXiv:1609.08144</a:t>
            </a:r>
            <a:r>
              <a:rPr dirty="0" sz="1000" spc="-10">
                <a:latin typeface="Times New Roman"/>
                <a:cs typeface="Times New Roman"/>
              </a:rPr>
              <a:t>,</a:t>
            </a:r>
            <a:r>
              <a:rPr dirty="0" sz="1000" spc="85">
                <a:latin typeface="Times New Roman"/>
                <a:cs typeface="Times New Roman"/>
              </a:rPr>
              <a:t> </a:t>
            </a:r>
            <a:r>
              <a:rPr dirty="0" sz="1000" spc="-10">
                <a:latin typeface="Times New Roman"/>
                <a:cs typeface="Times New Roman"/>
              </a:rPr>
              <a:t>2016.</a:t>
            </a:r>
            <a:endParaRPr sz="1000">
              <a:latin typeface="Times New Roman"/>
              <a:cs typeface="Times New Roman"/>
            </a:endParaRPr>
          </a:p>
          <a:p>
            <a:pPr algn="just" marL="285115" marR="26670" indent="-273050">
              <a:lnSpc>
                <a:spcPts val="1090"/>
              </a:lnSpc>
              <a:spcBef>
                <a:spcPts val="800"/>
              </a:spcBef>
              <a:buAutoNum type="arabicPlain" startAt="21"/>
              <a:tabLst>
                <a:tab pos="286385" algn="l"/>
              </a:tabLst>
            </a:pPr>
            <a:r>
              <a:rPr dirty="0" sz="1000">
                <a:latin typeface="Times New Roman"/>
                <a:cs typeface="Times New Roman"/>
              </a:rPr>
              <a:t>Jie</a:t>
            </a:r>
            <a:r>
              <a:rPr dirty="0" sz="1000" spc="95">
                <a:latin typeface="Times New Roman"/>
                <a:cs typeface="Times New Roman"/>
              </a:rPr>
              <a:t> </a:t>
            </a:r>
            <a:r>
              <a:rPr dirty="0" sz="1000">
                <a:latin typeface="Times New Roman"/>
                <a:cs typeface="Times New Roman"/>
              </a:rPr>
              <a:t>Zhou,</a:t>
            </a:r>
            <a:r>
              <a:rPr dirty="0" sz="1000" spc="130">
                <a:latin typeface="Times New Roman"/>
                <a:cs typeface="Times New Roman"/>
              </a:rPr>
              <a:t> </a:t>
            </a:r>
            <a:r>
              <a:rPr dirty="0" sz="1000">
                <a:latin typeface="Times New Roman"/>
                <a:cs typeface="Times New Roman"/>
              </a:rPr>
              <a:t>Ying</a:t>
            </a:r>
            <a:r>
              <a:rPr dirty="0" sz="1000" spc="100">
                <a:latin typeface="Times New Roman"/>
                <a:cs typeface="Times New Roman"/>
              </a:rPr>
              <a:t> </a:t>
            </a:r>
            <a:r>
              <a:rPr dirty="0" sz="1000">
                <a:latin typeface="Times New Roman"/>
                <a:cs typeface="Times New Roman"/>
              </a:rPr>
              <a:t>Cao,</a:t>
            </a:r>
            <a:r>
              <a:rPr dirty="0" sz="1000" spc="130">
                <a:latin typeface="Times New Roman"/>
                <a:cs typeface="Times New Roman"/>
              </a:rPr>
              <a:t> </a:t>
            </a:r>
            <a:r>
              <a:rPr dirty="0" sz="1000">
                <a:latin typeface="Times New Roman"/>
                <a:cs typeface="Times New Roman"/>
              </a:rPr>
              <a:t>Xuguang</a:t>
            </a:r>
            <a:r>
              <a:rPr dirty="0" sz="1000" spc="100">
                <a:latin typeface="Times New Roman"/>
                <a:cs typeface="Times New Roman"/>
              </a:rPr>
              <a:t> </a:t>
            </a:r>
            <a:r>
              <a:rPr dirty="0" sz="1000">
                <a:latin typeface="Times New Roman"/>
                <a:cs typeface="Times New Roman"/>
              </a:rPr>
              <a:t>Wang,</a:t>
            </a:r>
            <a:r>
              <a:rPr dirty="0" sz="1000" spc="130">
                <a:latin typeface="Times New Roman"/>
                <a:cs typeface="Times New Roman"/>
              </a:rPr>
              <a:t> </a:t>
            </a:r>
            <a:r>
              <a:rPr dirty="0" sz="1000">
                <a:latin typeface="Times New Roman"/>
                <a:cs typeface="Times New Roman"/>
              </a:rPr>
              <a:t>Peng</a:t>
            </a:r>
            <a:r>
              <a:rPr dirty="0" sz="1000" spc="100">
                <a:latin typeface="Times New Roman"/>
                <a:cs typeface="Times New Roman"/>
              </a:rPr>
              <a:t> </a:t>
            </a:r>
            <a:r>
              <a:rPr dirty="0" sz="1000">
                <a:latin typeface="Times New Roman"/>
                <a:cs typeface="Times New Roman"/>
              </a:rPr>
              <a:t>Li,</a:t>
            </a:r>
            <a:r>
              <a:rPr dirty="0" sz="1000" spc="130">
                <a:latin typeface="Times New Roman"/>
                <a:cs typeface="Times New Roman"/>
              </a:rPr>
              <a:t> </a:t>
            </a:r>
            <a:r>
              <a:rPr dirty="0" sz="1000">
                <a:latin typeface="Times New Roman"/>
                <a:cs typeface="Times New Roman"/>
              </a:rPr>
              <a:t>and</a:t>
            </a:r>
            <a:r>
              <a:rPr dirty="0" sz="1000" spc="100">
                <a:latin typeface="Times New Roman"/>
                <a:cs typeface="Times New Roman"/>
              </a:rPr>
              <a:t> </a:t>
            </a:r>
            <a:r>
              <a:rPr dirty="0" sz="1000">
                <a:latin typeface="Times New Roman"/>
                <a:cs typeface="Times New Roman"/>
              </a:rPr>
              <a:t>Wei</a:t>
            </a:r>
            <a:r>
              <a:rPr dirty="0" sz="1000" spc="100">
                <a:latin typeface="Times New Roman"/>
                <a:cs typeface="Times New Roman"/>
              </a:rPr>
              <a:t> </a:t>
            </a:r>
            <a:r>
              <a:rPr dirty="0" sz="1000">
                <a:latin typeface="Times New Roman"/>
                <a:cs typeface="Times New Roman"/>
              </a:rPr>
              <a:t>Xu.</a:t>
            </a:r>
            <a:r>
              <a:rPr dirty="0" sz="1000" spc="440">
                <a:latin typeface="Times New Roman"/>
                <a:cs typeface="Times New Roman"/>
              </a:rPr>
              <a:t> </a:t>
            </a:r>
            <a:r>
              <a:rPr dirty="0" sz="1000">
                <a:latin typeface="Times New Roman"/>
                <a:cs typeface="Times New Roman"/>
              </a:rPr>
              <a:t>Deep</a:t>
            </a:r>
            <a:r>
              <a:rPr dirty="0" sz="1000" spc="100">
                <a:latin typeface="Times New Roman"/>
                <a:cs typeface="Times New Roman"/>
              </a:rPr>
              <a:t> </a:t>
            </a:r>
            <a:r>
              <a:rPr dirty="0" sz="1000">
                <a:latin typeface="Times New Roman"/>
                <a:cs typeface="Times New Roman"/>
              </a:rPr>
              <a:t>recurrent</a:t>
            </a:r>
            <a:r>
              <a:rPr dirty="0" sz="1000" spc="100">
                <a:latin typeface="Times New Roman"/>
                <a:cs typeface="Times New Roman"/>
              </a:rPr>
              <a:t> </a:t>
            </a:r>
            <a:r>
              <a:rPr dirty="0" sz="1000">
                <a:latin typeface="Times New Roman"/>
                <a:cs typeface="Times New Roman"/>
              </a:rPr>
              <a:t>models</a:t>
            </a:r>
            <a:r>
              <a:rPr dirty="0" sz="1000" spc="100">
                <a:latin typeface="Times New Roman"/>
                <a:cs typeface="Times New Roman"/>
              </a:rPr>
              <a:t> </a:t>
            </a:r>
            <a:r>
              <a:rPr dirty="0" sz="1000" spc="-20">
                <a:latin typeface="Times New Roman"/>
                <a:cs typeface="Times New Roman"/>
              </a:rPr>
              <a:t>with </a:t>
            </a:r>
            <a:r>
              <a:rPr dirty="0" sz="1000" spc="-20">
                <a:latin typeface="Times New Roman"/>
                <a:cs typeface="Times New Roman"/>
              </a:rPr>
              <a:t>	</a:t>
            </a:r>
            <a:r>
              <a:rPr dirty="0" sz="1000" spc="-10">
                <a:latin typeface="Times New Roman"/>
                <a:cs typeface="Times New Roman"/>
              </a:rPr>
              <a:t>fast-</a:t>
            </a:r>
            <a:r>
              <a:rPr dirty="0" sz="1000">
                <a:latin typeface="Times New Roman"/>
                <a:cs typeface="Times New Roman"/>
              </a:rPr>
              <a:t>forward</a:t>
            </a:r>
            <a:r>
              <a:rPr dirty="0" sz="1000" spc="-25">
                <a:latin typeface="Times New Roman"/>
                <a:cs typeface="Times New Roman"/>
              </a:rPr>
              <a:t> </a:t>
            </a:r>
            <a:r>
              <a:rPr dirty="0" sz="1000">
                <a:latin typeface="Times New Roman"/>
                <a:cs typeface="Times New Roman"/>
              </a:rPr>
              <a:t>connections</a:t>
            </a:r>
            <a:r>
              <a:rPr dirty="0" sz="1000" spc="-25">
                <a:latin typeface="Times New Roman"/>
                <a:cs typeface="Times New Roman"/>
              </a:rPr>
              <a:t> </a:t>
            </a:r>
            <a:r>
              <a:rPr dirty="0" sz="1000">
                <a:latin typeface="Times New Roman"/>
                <a:cs typeface="Times New Roman"/>
              </a:rPr>
              <a:t>for</a:t>
            </a:r>
            <a:r>
              <a:rPr dirty="0" sz="1000" spc="-20">
                <a:latin typeface="Times New Roman"/>
                <a:cs typeface="Times New Roman"/>
              </a:rPr>
              <a:t> </a:t>
            </a:r>
            <a:r>
              <a:rPr dirty="0" sz="1000">
                <a:latin typeface="Times New Roman"/>
                <a:cs typeface="Times New Roman"/>
              </a:rPr>
              <a:t>neural</a:t>
            </a:r>
            <a:r>
              <a:rPr dirty="0" sz="1000" spc="-25">
                <a:latin typeface="Times New Roman"/>
                <a:cs typeface="Times New Roman"/>
              </a:rPr>
              <a:t> </a:t>
            </a:r>
            <a:r>
              <a:rPr dirty="0" sz="1000">
                <a:latin typeface="Times New Roman"/>
                <a:cs typeface="Times New Roman"/>
              </a:rPr>
              <a:t>machine</a:t>
            </a:r>
            <a:r>
              <a:rPr dirty="0" sz="1000" spc="-25">
                <a:latin typeface="Times New Roman"/>
                <a:cs typeface="Times New Roman"/>
              </a:rPr>
              <a:t> </a:t>
            </a:r>
            <a:r>
              <a:rPr dirty="0" sz="1000">
                <a:latin typeface="Times New Roman"/>
                <a:cs typeface="Times New Roman"/>
              </a:rPr>
              <a:t>translation.</a:t>
            </a:r>
            <a:r>
              <a:rPr dirty="0" sz="1000" spc="80">
                <a:latin typeface="Times New Roman"/>
                <a:cs typeface="Times New Roman"/>
              </a:rPr>
              <a:t> </a:t>
            </a:r>
            <a:r>
              <a:rPr dirty="0" sz="1000" i="1">
                <a:latin typeface="Times New Roman"/>
                <a:cs typeface="Times New Roman"/>
              </a:rPr>
              <a:t>CoRR</a:t>
            </a:r>
            <a:r>
              <a:rPr dirty="0" sz="1000">
                <a:latin typeface="Times New Roman"/>
                <a:cs typeface="Times New Roman"/>
              </a:rPr>
              <a:t>,</a:t>
            </a:r>
            <a:r>
              <a:rPr dirty="0" sz="1000" spc="-25">
                <a:latin typeface="Times New Roman"/>
                <a:cs typeface="Times New Roman"/>
              </a:rPr>
              <a:t> </a:t>
            </a:r>
            <a:r>
              <a:rPr dirty="0" sz="1000" spc="-10">
                <a:latin typeface="Times New Roman"/>
                <a:cs typeface="Times New Roman"/>
              </a:rPr>
              <a:t>abs/1606.04199,</a:t>
            </a:r>
            <a:r>
              <a:rPr dirty="0" sz="1000" spc="-20">
                <a:latin typeface="Times New Roman"/>
                <a:cs typeface="Times New Roman"/>
              </a:rPr>
              <a:t> </a:t>
            </a:r>
            <a:r>
              <a:rPr dirty="0" sz="1000" spc="-10">
                <a:latin typeface="Times New Roman"/>
                <a:cs typeface="Times New Roman"/>
              </a:rPr>
              <a:t>2016.</a:t>
            </a:r>
            <a:endParaRPr sz="10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Ashish Vaswani, Noam Shazeer, Niki Parmar, Jakob Uszkoreit, Llion Jones, Aidan N. Gomez, Łukasz Kaiser, Illia Polosukhin</dc:creator>
  <dc:subject>Neural Information Processing Systems http://nips.cc/</dc:subject>
  <dc:title>Attention is All you Need</dc:title>
  <dcterms:created xsi:type="dcterms:W3CDTF">2025-12-04T01:28:52Z</dcterms:created>
  <dcterms:modified xsi:type="dcterms:W3CDTF">2025-12-04T01:28:52Z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ook">
    <vt:lpwstr>Advances in Neural Information Processing Systems 30</vt:lpwstr>
  </property>
  <property fmtid="{D5CDD505-2E9C-101B-9397-08002B2CF9AE}" pid="3" name="Created">
    <vt:filetime>2025-12-04T00:00:00Z</vt:filetime>
  </property>
  <property fmtid="{D5CDD505-2E9C-101B-9397-08002B2CF9AE}" pid="4" name="Date">
    <vt:lpwstr>2017</vt:lpwstr>
  </property>
  <property fmtid="{D5CDD505-2E9C-101B-9397-08002B2CF9AE}" pid="5" name="Description">
    <vt:lpwstr>Paper accepted and presented at the Neural Information Processing Systems Conference (http://nips.cc/)</vt:lpwstr>
  </property>
  <property fmtid="{D5CDD505-2E9C-101B-9397-08002B2CF9AE}" pid="6" name="Description-Abstract">
    <vt:lpwstr>The dominant sequence transduction models are based on complex recurrent orconvolutional neural networks in an encoder and decoder configuration. The best performing such models also connect the encoder and decoder through an attentionm echanisms.  We propose a novel, simple network architecture based solely onan attention mechanism, dispensing with recurrence and convolutions entirely.Experiments on two machine translation tasks show these models to be superiorin quality while being more parallelizable and requiring significantly less timeto train. Our single model with 165 million parameters, achieves 27.5 BLEU onEnglish-to-German translation, improving over the existing best ensemble result by over 1 BLEU. On English-to-French translation, we outperform the previoussingle state-of-the-art with model by 0.7 BLEU, achieving a BLEU score of 41.1.</vt:lpwstr>
  </property>
  <property fmtid="{D5CDD505-2E9C-101B-9397-08002B2CF9AE}" pid="7" name="Editors">
    <vt:lpwstr>I. Guyon and U.V. Luxburg and S. Bengio and H. Wallach and R. Fergus and S. Vishwanathan and R. Garnett</vt:lpwstr>
  </property>
  <property fmtid="{D5CDD505-2E9C-101B-9397-08002B2CF9AE}" pid="8" name="EventType">
    <vt:lpwstr>Poster</vt:lpwstr>
  </property>
  <property fmtid="{D5CDD505-2E9C-101B-9397-08002B2CF9AE}" pid="9" name="Language">
    <vt:lpwstr>en-US</vt:lpwstr>
  </property>
  <property fmtid="{D5CDD505-2E9C-101B-9397-08002B2CF9AE}" pid="10" name="LastSaved">
    <vt:filetime>2025-12-04T00:00:00Z</vt:filetime>
  </property>
  <property fmtid="{D5CDD505-2E9C-101B-9397-08002B2CF9AE}" pid="11" name="Producer">
    <vt:lpwstr>PyPDF2</vt:lpwstr>
  </property>
  <property fmtid="{D5CDD505-2E9C-101B-9397-08002B2CF9AE}" pid="12" name="Published">
    <vt:lpwstr>2017</vt:lpwstr>
  </property>
  <property fmtid="{D5CDD505-2E9C-101B-9397-08002B2CF9AE}" pid="13" name="Publisher">
    <vt:lpwstr>Curran Associates, Inc.</vt:lpwstr>
  </property>
  <property fmtid="{D5CDD505-2E9C-101B-9397-08002B2CF9AE}" pid="14" name="Type">
    <vt:lpwstr>Conference Proceedings</vt:lpwstr>
  </property>
  <property fmtid="{D5CDD505-2E9C-101B-9397-08002B2CF9AE}" pid="15" name="firstpage">
    <vt:lpwstr>5998</vt:lpwstr>
  </property>
  <property fmtid="{D5CDD505-2E9C-101B-9397-08002B2CF9AE}" pid="16" name="lastpage">
    <vt:lpwstr>6008</vt:lpwstr>
  </property>
</Properties>
</file>